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5" r:id="rId6"/>
    <p:sldId id="266" r:id="rId7"/>
    <p:sldId id="267" r:id="rId8"/>
    <p:sldId id="26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1525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../media/image13.png"/><Relationship Id="rId3" Type="http://schemas.openxmlformats.org/officeDocument/2006/relationships/image" Target="NULL"/><Relationship Id="rId7" Type="http://schemas.openxmlformats.org/officeDocument/2006/relationships/image" Target="../media/image11.png"/><Relationship Id="rId12" Type="http://schemas.openxmlformats.org/officeDocument/2006/relationships/image" Target="../media/image12.png"/><Relationship Id="rId17" Type="http://schemas.openxmlformats.org/officeDocument/2006/relationships/image" Target="NULL"/><Relationship Id="rId2" Type="http://schemas.openxmlformats.org/officeDocument/2006/relationships/notesSlide" Target="../notesSlides/notesSlide6.xml"/><Relationship Id="rId16" Type="http://schemas.openxmlformats.org/officeDocument/2006/relationships/image" Target="NULL"/><Relationship Id="rId1" Type="http://schemas.openxmlformats.org/officeDocument/2006/relationships/slideLayout" Target="../slideLayouts/slideLayout1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../media/image10.png"/><Relationship Id="rId1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../media/image9.png"/><Relationship Id="rId9" Type="http://schemas.openxmlformats.org/officeDocument/2006/relationships/image" Target="NULL"/><Relationship Id="rId1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NUL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NULL"/><Relationship Id="rId4" Type="http://schemas.openxmlformats.org/officeDocument/2006/relationships/image" Target="../media/image16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 txBox="1"/>
          <p:nvPr/>
        </p:nvSpPr>
        <p:spPr>
          <a:xfrm>
            <a:off x="822960" y="18745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4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TRIENNALE IN FISICA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simulation of molecular spin systems on quantum hardware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92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Samuele Schiavi</a:t>
            </a:r>
            <a:endParaRPr lang="en-US" sz="2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Prof. Alessandro Chiesa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126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Parma  —  Corso di Laurea in Fisica</a:t>
            </a:r>
            <a:endParaRPr lang="en-US" sz="13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9F5F2E-936A-C9B2-9AFA-42B5F9070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460" y="342900"/>
            <a:ext cx="1564919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3014121" y="1640591"/>
            <a:ext cx="2392528" cy="189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■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molecolari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basati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spin ½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accoppiati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costuiscono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privilegiate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studio di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fenomeni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quantistici</a:t>
            </a:r>
            <a:endParaRPr lang="en-US" sz="1600" dirty="0">
              <a:solidFill>
                <a:srgbClr val="1623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3014121" y="3855515"/>
            <a:ext cx="2392528" cy="189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■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computer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mappando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ciascuno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spin ½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direttamente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qubit,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offrono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aggirare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en-US" sz="1600" b="0" dirty="0">
              <a:solidFill>
                <a:srgbClr val="1623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9141248" y="3505371"/>
            <a:ext cx="2392528" cy="189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■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Essi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permettono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quantistica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delle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proprietà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statiche e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dinamiche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spin ½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accoppiati</a:t>
            </a:r>
            <a:endParaRPr lang="en-US" sz="1600" dirty="0"/>
          </a:p>
        </p:txBody>
      </p:sp>
      <p:pic>
        <p:nvPicPr>
          <p:cNvPr id="10" name="Image 3" descr="/home/claude/deck/assets/hilbert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753" y="1897076"/>
            <a:ext cx="2606040" cy="171382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159087" y="1490472"/>
            <a:ext cx="2392528" cy="189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■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loro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diventa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rapidamente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intrattabile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crescere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spin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coinvolti</a:t>
            </a:r>
            <a:endParaRPr lang="en-US" sz="1600" dirty="0"/>
          </a:p>
        </p:txBody>
      </p:sp>
      <p:sp>
        <p:nvSpPr>
          <p:cNvPr id="12" name="Shape 6"/>
          <p:cNvSpPr/>
          <p:nvPr/>
        </p:nvSpPr>
        <p:spPr>
          <a:xfrm>
            <a:off x="640080" y="598932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 txBox="1"/>
          <p:nvPr/>
        </p:nvSpPr>
        <p:spPr>
          <a:xfrm>
            <a:off x="640080" y="59893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</a:t>
            </a:r>
            <a:r>
              <a:rPr lang="en-US" sz="14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spazio</a:t>
            </a:r>
            <a:r>
              <a:rPr lang="en-US" sz="14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Hilbert </a:t>
            </a:r>
            <a:r>
              <a:rPr lang="en-US" sz="14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ℋ</a:t>
            </a:r>
            <a:r>
              <a:rPr lang="en-US" sz="14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</a:t>
            </a:r>
            <a:r>
              <a:rPr lang="en-US" sz="14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come 2</a:t>
            </a:r>
            <a:r>
              <a:rPr lang="en-US" sz="1400" b="1" baseline="30000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 N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spin). La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diagonalizzazione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già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poche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decine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particelle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esaurisce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risorse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supercomputers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classici</a:t>
            </a:r>
            <a:endParaRPr lang="en-US" sz="1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6C853E2-69BB-A737-4158-C200FBF94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40591"/>
            <a:ext cx="1991478" cy="1999476"/>
          </a:xfrm>
          <a:prstGeom prst="rect">
            <a:avLst/>
          </a:prstGeom>
        </p:spPr>
      </p:pic>
      <p:pic>
        <p:nvPicPr>
          <p:cNvPr id="17" name="Picture 16" descr="The image depicts a polar coordinate diagram with a circle, an arrow indicating direction, and a point marked at a specific position, likely illustrating complex numbers or vector direction in polar form.&#10;&#10;AI-generated content may be incorrect.">
            <a:extLst>
              <a:ext uri="{FF2B5EF4-FFF2-40B4-BE49-F238E27FC236}">
                <a16:creationId xmlns:a16="http://schemas.microsoft.com/office/drawing/2014/main" id="{827E5CC9-23E0-D692-7E01-D78C8D5ADE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866003"/>
            <a:ext cx="1990800" cy="1764791"/>
          </a:xfrm>
          <a:prstGeom prst="rect">
            <a:avLst/>
          </a:prstGeom>
        </p:spPr>
      </p:pic>
      <p:pic>
        <p:nvPicPr>
          <p:cNvPr id="19" name="Picture 18" descr="The diagram illustrates a phase diagram with axes for S (spin quantum number) and M (magnetic quantum number), depicting transitions between different quantum states and their corresponding energy levels.&#10;&#10;AI-generated content may be incorrect.">
            <a:extLst>
              <a:ext uri="{FF2B5EF4-FFF2-40B4-BE49-F238E27FC236}">
                <a16:creationId xmlns:a16="http://schemas.microsoft.com/office/drawing/2014/main" id="{6CABA6C0-B66E-87A8-99AE-2A8C18B295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079" y="3908104"/>
            <a:ext cx="1691961" cy="1090581"/>
          </a:xfrm>
          <a:prstGeom prst="rect">
            <a:avLst/>
          </a:prstGeom>
        </p:spPr>
      </p:pic>
      <p:pic>
        <p:nvPicPr>
          <p:cNvPr id="21" name="Picture 20" descr="The diagram shows a comparison of magnetization over time for different numbers of turns in a coil, illustrating the relationship between coil turns and magnetic field strength.&#10;&#10;AI-generated content may be incorrect.">
            <a:extLst>
              <a:ext uri="{FF2B5EF4-FFF2-40B4-BE49-F238E27FC236}">
                <a16:creationId xmlns:a16="http://schemas.microsoft.com/office/drawing/2014/main" id="{62D8E6C9-4CC4-8295-1935-46A8632501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768" y="4595979"/>
            <a:ext cx="1781023" cy="103481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8788" y="711105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34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quantistica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5727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dello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spazio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Hilbert al </a:t>
            </a:r>
            <a:r>
              <a:rPr lang="en-US" sz="155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crescere</a:t>
            </a:r>
            <a:r>
              <a:rPr lang="en-US" sz="155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N ha una risposta: non calcolare H, riprodurla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60691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■"/>
            </a:pP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di Feynman (1982): un sistema quantistico controllabile riproduce 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 txBox="1"/>
              <p:nvPr/>
            </p:nvSpPr>
            <p:spPr>
              <a:xfrm>
                <a:off x="628788" y="3708921"/>
                <a:ext cx="5029200" cy="10482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279400" indent="-279400">
                  <a:buSzPct val="100000"/>
                  <a:buChar char="■"/>
                </a:pP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 gradi di libertà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fisici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(spin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per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sistemi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qua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studiati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sono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mappati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ai qubit in modo diretto, nessun mapping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fermionico</a:t>
                </a:r>
                <a:endParaRPr lang="en-US" dirty="0"/>
              </a:p>
            </p:txBody>
          </p:sp>
        </mc:Choice>
        <mc:Fallback xmlns=""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788" y="3708921"/>
                <a:ext cx="5029200" cy="1048230"/>
              </a:xfrm>
              <a:prstGeom prst="rect">
                <a:avLst/>
              </a:prstGeom>
              <a:blipFill>
                <a:blip r:embed="rId3"/>
                <a:stretch>
                  <a:fillRect l="-2545" b="-872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 txBox="1"/>
          <p:nvPr/>
        </p:nvSpPr>
        <p:spPr>
          <a:xfrm>
            <a:off x="640080" y="4757150"/>
            <a:ext cx="5029200" cy="1578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■"/>
            </a:pP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dell’evoluzione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termporale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richiede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preparazione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accurate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dello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fondamentale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D4417A-549E-413E-0F47-6D041EBACBFD}"/>
              </a:ext>
            </a:extLst>
          </p:cNvPr>
          <p:cNvSpPr txBox="1"/>
          <p:nvPr/>
        </p:nvSpPr>
        <p:spPr>
          <a:xfrm>
            <a:off x="5959362" y="3770725"/>
            <a:ext cx="559224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Mentre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 bit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può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solo 0 o 1, un qubit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può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0, 1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oppure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entrambi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contemporaneamente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grazie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alla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sovrapposizione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quantistica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qubit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mantiene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questa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natura "doppia"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finché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non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viene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osservato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misurato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nel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momento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esatto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della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lettura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il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collassa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definendosi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modo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definitivo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come 0 o 1.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1D78E-2635-CA71-64D6-1587924DA2D3}"/>
              </a:ext>
            </a:extLst>
          </p:cNvPr>
          <p:cNvSpPr txBox="1"/>
          <p:nvPr/>
        </p:nvSpPr>
        <p:spPr>
          <a:xfrm>
            <a:off x="5959364" y="5123937"/>
            <a:ext cx="5592247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Determinazione </a:t>
            </a:r>
            <a:r>
              <a:rPr lang="en-US" sz="1600" dirty="0" err="1"/>
              <a:t>dello</a:t>
            </a:r>
            <a:r>
              <a:rPr lang="en-US" sz="1600" dirty="0"/>
              <a:t> </a:t>
            </a:r>
            <a:r>
              <a:rPr lang="en-US" sz="1600" b="1" dirty="0" err="1"/>
              <a:t>stato</a:t>
            </a:r>
            <a:r>
              <a:rPr lang="en-US" sz="1600" b="1" dirty="0"/>
              <a:t> </a:t>
            </a:r>
            <a:r>
              <a:rPr lang="en-US" sz="1600" b="1" dirty="0" err="1"/>
              <a:t>fondamentale</a:t>
            </a:r>
            <a:r>
              <a:rPr lang="en-US" sz="1600" dirty="0"/>
              <a:t> per lo studio </a:t>
            </a:r>
            <a:r>
              <a:rPr lang="en-US" sz="1600" dirty="0" err="1"/>
              <a:t>statico</a:t>
            </a:r>
            <a:r>
              <a:rPr lang="en-US" sz="1600" dirty="0"/>
              <a:t> del </a:t>
            </a:r>
            <a:r>
              <a:rPr lang="en-US" sz="1600" dirty="0" err="1"/>
              <a:t>sistema</a:t>
            </a:r>
            <a:r>
              <a:rPr lang="en-US" sz="1600" dirty="0"/>
              <a:t>, e </a:t>
            </a:r>
            <a:r>
              <a:rPr lang="en-US" sz="1600" dirty="0" err="1"/>
              <a:t>simulazione</a:t>
            </a:r>
            <a:r>
              <a:rPr lang="en-US" sz="1600" dirty="0"/>
              <a:t> delle </a:t>
            </a:r>
            <a:r>
              <a:rPr lang="en-US" sz="1600" dirty="0" err="1"/>
              <a:t>proprietà</a:t>
            </a:r>
            <a:r>
              <a:rPr lang="en-US" sz="1600" dirty="0"/>
              <a:t> </a:t>
            </a:r>
            <a:r>
              <a:rPr lang="en-US" sz="1600" dirty="0" err="1"/>
              <a:t>dinamiche</a:t>
            </a:r>
            <a:r>
              <a:rPr lang="en-US" sz="1600" dirty="0"/>
              <a:t> come </a:t>
            </a:r>
            <a:r>
              <a:rPr lang="en-US" sz="1600" b="1" dirty="0" err="1"/>
              <a:t>evoluzione</a:t>
            </a:r>
            <a:r>
              <a:rPr lang="en-US" sz="1600" b="1" dirty="0"/>
              <a:t> </a:t>
            </a:r>
            <a:r>
              <a:rPr lang="en-US" sz="1600" b="1" dirty="0" err="1"/>
              <a:t>temporale</a:t>
            </a:r>
            <a:r>
              <a:rPr lang="en-US" sz="1600" b="1" dirty="0"/>
              <a:t> </a:t>
            </a:r>
            <a:r>
              <a:rPr lang="en-US" sz="1600" dirty="0" err="1"/>
              <a:t>approssimata</a:t>
            </a:r>
            <a:r>
              <a:rPr lang="en-US" sz="1600" dirty="0"/>
              <a:t> con la </a:t>
            </a:r>
            <a:r>
              <a:rPr lang="en-US" sz="1600" dirty="0" err="1"/>
              <a:t>decomposizione</a:t>
            </a:r>
            <a:r>
              <a:rPr lang="en-US" sz="1600" dirty="0"/>
              <a:t> di </a:t>
            </a:r>
            <a:r>
              <a:rPr lang="en-US" sz="1600" b="1" dirty="0"/>
              <a:t>Suzuki–Trotter</a:t>
            </a:r>
            <a:br>
              <a:rPr lang="en-US" sz="1400" dirty="0"/>
            </a:b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2C4C30-539D-7809-69F6-71DB02378B85}"/>
                  </a:ext>
                </a:extLst>
              </p:cNvPr>
              <p:cNvSpPr txBox="1"/>
              <p:nvPr/>
            </p:nvSpPr>
            <p:spPr>
              <a:xfrm>
                <a:off x="5970965" y="2763521"/>
                <a:ext cx="5592247" cy="3096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usa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sistema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quantistico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per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simularne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un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altro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costruisce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un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dispositivo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quantistico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controllabile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la cui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evoluzione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riproduce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direttamente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quella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del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sistema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target:</a:t>
                </a:r>
                <a:br>
                  <a:rPr lang="en-US" sz="1600" dirty="0"/>
                </a:br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i="0"/>
                            <m:t>sim</m:t>
                          </m:r>
                        </m:sub>
                      </m:sSub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 i="0"/>
                                <m:t>sim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1600" i="0"/>
                        <m:t>  </m:t>
                      </m:r>
                      <m:r>
                        <a:rPr lang="en-US" sz="1600">
                          <a:latin typeface="Cambria Math" panose="02040503050406030204" pitchFamily="18" charset="0"/>
                        </a:rPr>
                        <m:t>⟷</m:t>
                      </m:r>
                      <m:r>
                        <m:rPr>
                          <m:nor/>
                        </m:rPr>
                        <a:rPr lang="en-US" sz="1600" i="0"/>
                        <m:t>  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</m:oMath>
                  </m:oMathPara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 la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Hamiltoniana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è 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locale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—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ovvero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ogni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particella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interagisce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solo con un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ristretto di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altre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particelle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vicine o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specifiche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solitamente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coppie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— il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costo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termini di tempo di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calcolo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e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di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porte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logiche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non è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più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esponenziale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ma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polinomiale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nel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6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di qubit</a:t>
                </a:r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2C4C30-539D-7809-69F6-71DB02378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965" y="2763521"/>
                <a:ext cx="5592247" cy="3096104"/>
              </a:xfrm>
              <a:prstGeom prst="rect">
                <a:avLst/>
              </a:prstGeom>
              <a:blipFill>
                <a:blip r:embed="rId5"/>
                <a:stretch>
                  <a:fillRect l="-545" t="-591" r="-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1">
            <a:extLst>
              <a:ext uri="{FF2B5EF4-FFF2-40B4-BE49-F238E27FC236}">
                <a16:creationId xmlns:a16="http://schemas.microsoft.com/office/drawing/2014/main" id="{D4FCE515-3D44-86BF-7E9B-48050D860483}"/>
              </a:ext>
            </a:extLst>
          </p:cNvPr>
          <p:cNvSpPr txBox="1"/>
          <p:nvPr/>
        </p:nvSpPr>
        <p:spPr>
          <a:xfrm>
            <a:off x="6059271" y="2281215"/>
            <a:ext cx="5732341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/>
      <p:bldP spid="13" grpId="1"/>
      <p:bldP spid="15" grpId="0"/>
      <p:bldP spid="16" grpId="0"/>
      <p:bldP spid="16" grpId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515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70560" y="2804301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Estendere</a:t>
            </a:r>
            <a:r>
              <a:rPr lang="en-US" dirty="0"/>
              <a:t> la </a:t>
            </a:r>
            <a:r>
              <a:rPr lang="en-US" dirty="0" err="1"/>
              <a:t>simulazione</a:t>
            </a:r>
            <a:r>
              <a:rPr lang="en-US" dirty="0"/>
              <a:t> </a:t>
            </a:r>
            <a:r>
              <a:rPr lang="en-US" dirty="0" err="1"/>
              <a:t>quantistica</a:t>
            </a:r>
            <a:r>
              <a:rPr lang="en-US" dirty="0"/>
              <a:t> dal dimero al trimero di spin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40080" y="385819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/>
              <a:t>I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punti</a:t>
            </a:r>
            <a:r>
              <a:rPr lang="en-US" dirty="0"/>
              <a:t> </a:t>
            </a:r>
            <a:r>
              <a:rPr lang="en-US" dirty="0" err="1"/>
              <a:t>precedenti</a:t>
            </a:r>
            <a:r>
              <a:rPr lang="en-US" dirty="0"/>
              <a:t> in </a:t>
            </a:r>
            <a:r>
              <a:rPr lang="en-US" dirty="0" err="1"/>
              <a:t>ambiente</a:t>
            </a:r>
            <a:r>
              <a:rPr lang="en-US" dirty="0"/>
              <a:t> </a:t>
            </a:r>
            <a:r>
              <a:rPr lang="en-US" dirty="0" err="1"/>
              <a:t>protetto</a:t>
            </a:r>
            <a:r>
              <a:rPr lang="en-US" dirty="0"/>
              <a:t> (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chiuso</a:t>
            </a:r>
            <a:r>
              <a:rPr lang="en-US" dirty="0"/>
              <a:t>): </a:t>
            </a:r>
            <a:r>
              <a:rPr lang="en-US" dirty="0" err="1"/>
              <a:t>evoluzione</a:t>
            </a:r>
            <a:r>
              <a:rPr lang="en-US" dirty="0"/>
              <a:t> </a:t>
            </a:r>
            <a:r>
              <a:rPr lang="en-US" dirty="0" err="1"/>
              <a:t>unitaria</a:t>
            </a:r>
            <a:r>
              <a:rPr lang="en-US" dirty="0"/>
              <a:t> pura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4950879"/>
            <a:ext cx="5120640" cy="11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Affrontare</a:t>
            </a:r>
            <a:r>
              <a:rPr lang="en-US" dirty="0"/>
              <a:t> i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punti</a:t>
            </a:r>
            <a:r>
              <a:rPr lang="en-US" dirty="0"/>
              <a:t> </a:t>
            </a:r>
            <a:r>
              <a:rPr lang="en-US" dirty="0" err="1"/>
              <a:t>precedenti</a:t>
            </a:r>
            <a:r>
              <a:rPr lang="en-US" dirty="0"/>
              <a:t> </a:t>
            </a:r>
            <a:r>
              <a:rPr lang="en-US" dirty="0" err="1"/>
              <a:t>estendendo</a:t>
            </a:r>
            <a:r>
              <a:rPr lang="en-US" dirty="0"/>
              <a:t> la </a:t>
            </a:r>
            <a:r>
              <a:rPr lang="en-US" dirty="0" err="1"/>
              <a:t>simulazione</a:t>
            </a:r>
            <a:r>
              <a:rPr lang="en-US" dirty="0"/>
              <a:t> alla </a:t>
            </a:r>
            <a:r>
              <a:rPr lang="en-US" dirty="0" err="1"/>
              <a:t>fisica</a:t>
            </a:r>
            <a:r>
              <a:rPr lang="en-US" dirty="0"/>
              <a:t> di un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aperto</a:t>
            </a:r>
            <a:r>
              <a:rPr lang="en-US" dirty="0"/>
              <a:t> </a:t>
            </a:r>
            <a:r>
              <a:rPr lang="en-US" dirty="0" err="1"/>
              <a:t>introducendo</a:t>
            </a:r>
            <a:r>
              <a:rPr lang="en-US" dirty="0"/>
              <a:t> </a:t>
            </a:r>
            <a:r>
              <a:rPr lang="en-US" dirty="0" err="1"/>
              <a:t>l’interazione</a:t>
            </a:r>
            <a:r>
              <a:rPr lang="en-US" dirty="0"/>
              <a:t> con </a:t>
            </a:r>
            <a:r>
              <a:rPr lang="en-US" dirty="0" err="1"/>
              <a:t>l’ambiente</a:t>
            </a:r>
            <a:r>
              <a:rPr lang="en-US" dirty="0"/>
              <a:t> (</a:t>
            </a:r>
            <a:r>
              <a:rPr lang="en-US" dirty="0" err="1"/>
              <a:t>rumore</a:t>
            </a:r>
            <a:r>
              <a:rPr lang="en-US" dirty="0"/>
              <a:t>)</a:t>
            </a: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8C972C1-A68F-A424-B6E8-E8E790D220C1}"/>
              </a:ext>
            </a:extLst>
          </p:cNvPr>
          <p:cNvSpPr txBox="1"/>
          <p:nvPr/>
        </p:nvSpPr>
        <p:spPr>
          <a:xfrm>
            <a:off x="670560" y="1792224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Applicare</a:t>
            </a:r>
            <a:r>
              <a:rPr lang="en-US" dirty="0"/>
              <a:t> la </a:t>
            </a:r>
            <a:r>
              <a:rPr lang="en-US" dirty="0" err="1"/>
              <a:t>simulazione</a:t>
            </a:r>
            <a:r>
              <a:rPr lang="en-US" dirty="0"/>
              <a:t> </a:t>
            </a:r>
            <a:r>
              <a:rPr lang="en-US" dirty="0" err="1"/>
              <a:t>quantistica</a:t>
            </a:r>
            <a:r>
              <a:rPr lang="en-US" dirty="0"/>
              <a:t> al </a:t>
            </a:r>
            <a:r>
              <a:rPr lang="en-US" dirty="0" err="1"/>
              <a:t>dimero</a:t>
            </a:r>
            <a:r>
              <a:rPr lang="en-US" dirty="0"/>
              <a:t> di spin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DE1FD8-EB97-E210-0592-6017625E3919}"/>
                  </a:ext>
                </a:extLst>
              </p:cNvPr>
              <p:cNvSpPr txBox="1"/>
              <p:nvPr/>
            </p:nvSpPr>
            <p:spPr>
              <a:xfrm>
                <a:off x="6095998" y="1876138"/>
                <a:ext cx="5793303" cy="21635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Due soli spin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600" dirty="0"/>
                  <a:t> </a:t>
                </a:r>
                <a:r>
                  <a:rPr lang="en-US" sz="1600" dirty="0" err="1"/>
                  <a:t>accoppiati</a:t>
                </a:r>
                <a:r>
                  <a:rPr lang="en-US" sz="1600" dirty="0"/>
                  <a:t>, </a:t>
                </a:r>
                <a:r>
                  <a:rPr lang="en-US" sz="1600" dirty="0" err="1"/>
                  <a:t>mappati</a:t>
                </a:r>
                <a:r>
                  <a:rPr lang="en-US" sz="1600" dirty="0"/>
                  <a:t> </a:t>
                </a:r>
                <a:r>
                  <a:rPr lang="en-US" sz="1600" dirty="0" err="1"/>
                  <a:t>direttamente</a:t>
                </a:r>
                <a:r>
                  <a:rPr lang="en-US" sz="1600" dirty="0"/>
                  <a:t> </a:t>
                </a:r>
                <a:r>
                  <a:rPr lang="en-US" sz="1600" dirty="0" err="1"/>
                  <a:t>su</a:t>
                </a:r>
                <a:r>
                  <a:rPr lang="en-US" sz="1600" dirty="0"/>
                  <a:t> </a:t>
                </a:r>
                <a:r>
                  <a:rPr lang="en-US" sz="1600" b="1" dirty="0"/>
                  <a:t>2 qubit</a:t>
                </a:r>
                <a:r>
                  <a:rPr lang="en-US" sz="1600" dirty="0"/>
                  <a:t>.</a:t>
                </a:r>
              </a:p>
              <a:p>
                <a:r>
                  <a:rPr lang="en-US" sz="1600" dirty="0" err="1"/>
                  <a:t>Hamiltoniana</a:t>
                </a:r>
                <a:r>
                  <a:rPr lang="en-US" sz="1600" dirty="0"/>
                  <a:t> in termini delle </a:t>
                </a:r>
                <a:r>
                  <a:rPr lang="en-US" sz="1600" dirty="0" err="1"/>
                  <a:t>matrici</a:t>
                </a:r>
                <a:r>
                  <a:rPr lang="en-US" sz="1600" dirty="0"/>
                  <a:t> di Pauli:</a:t>
                </a:r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1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m:rPr>
                          <m:nor/>
                        </m:rPr>
                        <a:rPr lang="en-US" sz="1600" i="0"/>
                        <m:t> 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6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6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6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</m:e>
                      </m:d>
                      <m:r>
                        <a:rPr lang="en-US" sz="16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6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dirty="0"/>
              </a:p>
              <a:p>
                <a:pPr lvl="0"/>
                <a:endParaRPr lang="en-US" sz="1600" dirty="0"/>
              </a:p>
              <a:p>
                <a:r>
                  <a:rPr lang="en-US" sz="1600" dirty="0" err="1"/>
                  <a:t>tre</a:t>
                </a:r>
                <a:r>
                  <a:rPr lang="en-US" sz="1600" dirty="0"/>
                  <a:t> </a:t>
                </a:r>
                <a:r>
                  <a:rPr lang="en-US" sz="1600" dirty="0" err="1"/>
                  <a:t>parametri</a:t>
                </a:r>
                <a:r>
                  <a:rPr lang="en-US" sz="1600" dirty="0"/>
                  <a:t> </a:t>
                </a:r>
                <a:r>
                  <a:rPr lang="en-US" sz="1600" dirty="0" err="1"/>
                  <a:t>fisici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600" dirty="0"/>
                  <a:t> (</a:t>
                </a:r>
                <a:r>
                  <a:rPr lang="en-US" sz="1600" dirty="0" err="1"/>
                  <a:t>accoppiamento</a:t>
                </a:r>
                <a:r>
                  <a:rPr lang="en-US" sz="1600" dirty="0"/>
                  <a:t>),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(campo),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600" dirty="0"/>
                  <a:t> (</a:t>
                </a:r>
                <a:r>
                  <a:rPr lang="en-US" sz="1600" dirty="0" err="1"/>
                  <a:t>interazione</a:t>
                </a:r>
                <a:r>
                  <a:rPr lang="en-US" sz="1600" dirty="0"/>
                  <a:t> </a:t>
                </a:r>
                <a:r>
                  <a:rPr lang="en-US" sz="1600" dirty="0" err="1"/>
                  <a:t>Dzyaloshinskii</a:t>
                </a:r>
                <a:r>
                  <a:rPr lang="en-US" sz="1600" dirty="0"/>
                  <a:t>–Moriya) </a:t>
                </a:r>
                <a:r>
                  <a:rPr lang="en-US" sz="1600" dirty="0" err="1"/>
                  <a:t>sufficienti</a:t>
                </a:r>
                <a:r>
                  <a:rPr lang="en-US" sz="1600" dirty="0"/>
                  <a:t> a </a:t>
                </a:r>
                <a:r>
                  <a:rPr lang="en-US" sz="1600" dirty="0" err="1"/>
                  <a:t>produrre</a:t>
                </a:r>
                <a:r>
                  <a:rPr lang="en-US" sz="1600" dirty="0"/>
                  <a:t> </a:t>
                </a:r>
                <a:r>
                  <a:rPr lang="en-US" sz="1600" dirty="0" err="1"/>
                  <a:t>una</a:t>
                </a:r>
                <a:r>
                  <a:rPr lang="en-US" sz="1600" dirty="0"/>
                  <a:t> </a:t>
                </a:r>
                <a:r>
                  <a:rPr lang="en-US" sz="1600" dirty="0" err="1"/>
                  <a:t>fisica</a:t>
                </a:r>
                <a:r>
                  <a:rPr lang="en-US" sz="1600" dirty="0"/>
                  <a:t> non </a:t>
                </a:r>
                <a:r>
                  <a:rPr lang="en-US" sz="1600" dirty="0" err="1"/>
                  <a:t>banale</a:t>
                </a:r>
                <a:r>
                  <a:rPr lang="en-US" sz="1600" dirty="0"/>
                  <a:t>.</a:t>
                </a:r>
              </a:p>
              <a:p>
                <a:pPr marL="304800" indent="-304800">
                  <a:buSzPct val="100000"/>
                  <a:buChar char="■"/>
                </a:pPr>
                <a:endParaRPr lang="en-US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DE1FD8-EB97-E210-0592-6017625E3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8" y="1876138"/>
                <a:ext cx="5793303" cy="2163541"/>
              </a:xfrm>
              <a:prstGeom prst="rect">
                <a:avLst/>
              </a:prstGeom>
              <a:blipFill>
                <a:blip r:embed="rId3"/>
                <a:stretch>
                  <a:fillRect l="-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D762-0137-95C8-2AA3-3DB7C6CE0B1F}"/>
                  </a:ext>
                </a:extLst>
              </p:cNvPr>
              <p:cNvSpPr txBox="1"/>
              <p:nvPr/>
            </p:nvSpPr>
            <p:spPr>
              <a:xfrm>
                <a:off x="6126480" y="2909485"/>
                <a:ext cx="5732342" cy="2417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Tre spin</a:t>
                </a:r>
                <a:r>
                  <a:rPr lang="en-US" sz="1600" dirty="0">
                    <a:solidFill>
                      <a:srgbClr val="16233A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600" dirty="0"/>
                  <a:t> </a:t>
                </a:r>
                <a:r>
                  <a:rPr lang="en-US" sz="1600" dirty="0" err="1"/>
                  <a:t>disposti</a:t>
                </a:r>
                <a:r>
                  <a:rPr lang="en-US" sz="1600" dirty="0"/>
                  <a:t> a </a:t>
                </a:r>
                <a:r>
                  <a:rPr lang="en-US" sz="1600" dirty="0" err="1"/>
                  <a:t>triangolo</a:t>
                </a:r>
                <a:r>
                  <a:rPr lang="en-US" sz="1600" dirty="0"/>
                  <a:t> </a:t>
                </a:r>
                <a:r>
                  <a:rPr lang="en-US" sz="1600" dirty="0" err="1"/>
                  <a:t>isoscele</a:t>
                </a:r>
                <a:r>
                  <a:rPr lang="en-US" sz="1600" dirty="0"/>
                  <a:t> (</a:t>
                </a:r>
                <a:r>
                  <a:rPr lang="en-US" sz="1600" dirty="0" err="1"/>
                  <a:t>anello</a:t>
                </a:r>
                <a:r>
                  <a:rPr lang="en-US" sz="1600" dirty="0"/>
                  <a:t> </a:t>
                </a:r>
                <a:r>
                  <a:rPr lang="en-US" sz="1600" dirty="0" err="1"/>
                  <a:t>chiuso</a:t>
                </a:r>
                <a:r>
                  <a:rPr lang="en-US" sz="1600" dirty="0"/>
                  <a:t>). </a:t>
                </a:r>
                <a:r>
                  <a:rPr lang="en-US" sz="1600" dirty="0" err="1"/>
                  <a:t>Hamiltoniana</a:t>
                </a:r>
                <a:r>
                  <a:rPr lang="en-US" sz="1600" dirty="0"/>
                  <a:t> in termini delle </a:t>
                </a:r>
                <a:r>
                  <a:rPr lang="en-US" sz="1600" dirty="0" err="1"/>
                  <a:t>matrici</a:t>
                </a:r>
                <a:r>
                  <a:rPr lang="en-US" sz="1600" dirty="0"/>
                  <a:t> di Pauli</a:t>
                </a:r>
                <a:br>
                  <a:rPr lang="en-US" sz="1600" dirty="0"/>
                </a:br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m:rPr>
                          <m:nor/>
                        </m:rPr>
                        <a:rPr lang="en-US" sz="1200" i="0"/>
                        <m:t> 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m:rPr>
                          <m:nor/>
                        </m:rPr>
                        <a:rPr lang="en-US" sz="1200" i="0"/>
                        <m:t>  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⟨"/>
                              <m:endChr m:val="⟩"/>
                              <m:sepChr m:val=",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sub>
                        <m:sup/>
                        <m:e>
                          <m:r>
                            <m:rPr>
                              <m:nor/>
                            </m:rPr>
                            <a:rPr lang="en-US" sz="1200" i="0"/>
                            <m:t> </m:t>
                          </m:r>
                        </m:e>
                      </m:nary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200" b="0" dirty="0"/>
              </a:p>
              <a:p>
                <a:endParaRPr lang="en-US" sz="1600" dirty="0"/>
              </a:p>
              <a:p>
                <a:r>
                  <a:rPr lang="en-US" sz="1600" dirty="0"/>
                  <a:t>un </a:t>
                </a:r>
                <a:r>
                  <a:rPr lang="en-US" sz="1600" dirty="0" err="1"/>
                  <a:t>legame</a:t>
                </a:r>
                <a:r>
                  <a:rPr lang="en-US" sz="1600" dirty="0"/>
                  <a:t> in </a:t>
                </a:r>
                <a:r>
                  <a:rPr lang="en-US" sz="1600" dirty="0" err="1"/>
                  <a:t>più</a:t>
                </a:r>
                <a:r>
                  <a:rPr lang="en-US" sz="1600" dirty="0"/>
                  <a:t> rispetto al </a:t>
                </a:r>
                <a:r>
                  <a:rPr lang="en-US" sz="1600" dirty="0" err="1"/>
                  <a:t>dimero</a:t>
                </a:r>
                <a:r>
                  <a:rPr lang="en-US" sz="16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16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600" dirty="0"/>
                  <a:t>), </a:t>
                </a:r>
                <a:r>
                  <a:rPr lang="en-US" sz="1600" dirty="0" err="1"/>
                  <a:t>sufficiente</a:t>
                </a:r>
                <a:r>
                  <a:rPr lang="en-US" sz="1600" dirty="0"/>
                  <a:t> a </a:t>
                </a:r>
                <a:r>
                  <a:rPr lang="en-US" sz="1600" dirty="0" err="1"/>
                  <a:t>introdurre</a:t>
                </a:r>
                <a:r>
                  <a:rPr lang="en-US" sz="1600" dirty="0"/>
                  <a:t> un </a:t>
                </a:r>
                <a:r>
                  <a:rPr lang="en-US" sz="1600" dirty="0" err="1"/>
                  <a:t>fenomeno</a:t>
                </a:r>
                <a:r>
                  <a:rPr lang="en-US" sz="1600" dirty="0"/>
                  <a:t> del </a:t>
                </a:r>
                <a:r>
                  <a:rPr lang="en-US" sz="1600" dirty="0" err="1"/>
                  <a:t>tutto</a:t>
                </a:r>
                <a:r>
                  <a:rPr lang="en-US" sz="1600" dirty="0"/>
                  <a:t> </a:t>
                </a:r>
                <a:r>
                  <a:rPr lang="en-US" sz="1600" dirty="0" err="1"/>
                  <a:t>assente</a:t>
                </a:r>
                <a:r>
                  <a:rPr lang="en-US" sz="1600" dirty="0"/>
                  <a:t> a due spin: la </a:t>
                </a:r>
                <a:r>
                  <a:rPr lang="en-US" sz="1600" b="1" dirty="0" err="1"/>
                  <a:t>frustrazione</a:t>
                </a:r>
                <a:r>
                  <a:rPr lang="en-US" sz="1600" b="1" dirty="0"/>
                  <a:t> </a:t>
                </a:r>
                <a:r>
                  <a:rPr lang="en-US" sz="1600" b="1" dirty="0" err="1"/>
                  <a:t>geometrica</a:t>
                </a:r>
                <a:r>
                  <a:rPr lang="en-US" sz="1600" dirty="0"/>
                  <a:t>.</a:t>
                </a:r>
              </a:p>
              <a:p>
                <a:pPr rtl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D762-0137-95C8-2AA3-3DB7C6CE0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2909485"/>
                <a:ext cx="5732342" cy="2417841"/>
              </a:xfrm>
              <a:prstGeom prst="rect">
                <a:avLst/>
              </a:prstGeom>
              <a:blipFill>
                <a:blip r:embed="rId4"/>
                <a:stretch>
                  <a:fillRect l="-532" r="-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04337A6-2601-067F-4045-B419AA1D4E47}"/>
                  </a:ext>
                </a:extLst>
              </p:cNvPr>
              <p:cNvSpPr txBox="1"/>
              <p:nvPr/>
            </p:nvSpPr>
            <p:spPr>
              <a:xfrm>
                <a:off x="6126480" y="4035279"/>
                <a:ext cx="6098102" cy="13314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 err="1"/>
                  <a:t>Evoluzione</a:t>
                </a:r>
                <a:r>
                  <a:rPr lang="en-US" sz="1600" dirty="0"/>
                  <a:t> </a:t>
                </a:r>
                <a:r>
                  <a:rPr lang="en-US" sz="1600" dirty="0" err="1"/>
                  <a:t>dello</a:t>
                </a:r>
                <a:r>
                  <a:rPr lang="en-US" sz="1600" dirty="0"/>
                  <a:t> </a:t>
                </a:r>
                <a:r>
                  <a:rPr lang="en-US" sz="1600" dirty="0" err="1"/>
                  <a:t>stato</a:t>
                </a:r>
                <a:r>
                  <a:rPr lang="en-US" sz="1600" dirty="0"/>
                  <a:t> puro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160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00" b="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sz="1600" b="0" i="0" dirty="0" smtClean="0">
                        <a:latin typeface="Cambria Math" panose="02040503050406030204" pitchFamily="18" charset="0"/>
                      </a:rPr>
                      <m:t>=0)⟩ </m:t>
                    </m:r>
                    <m:r>
                      <m:rPr>
                        <m:sty m:val="p"/>
                      </m:rPr>
                      <a:rPr lang="en-US" sz="1600" b="0" i="1" dirty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⟩=</m:t>
                          </m:r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⟩=</m:t>
                      </m:r>
                      <m:sSup>
                        <m:s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/>
                  <a:t>posto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ℏ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04337A6-2601-067F-4045-B419AA1D4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4035279"/>
                <a:ext cx="6098102" cy="1331455"/>
              </a:xfrm>
              <a:prstGeom prst="rect">
                <a:avLst/>
              </a:prstGeom>
              <a:blipFill>
                <a:blip r:embed="rId5"/>
                <a:stretch>
                  <a:fillRect l="-500" t="-1376" b="-5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7C4AF3E-EA4E-9ADF-4264-78ADB52E8F5A}"/>
                  </a:ext>
                </a:extLst>
              </p:cNvPr>
              <p:cNvSpPr txBox="1"/>
              <p:nvPr/>
            </p:nvSpPr>
            <p:spPr>
              <a:xfrm>
                <a:off x="6126480" y="4918623"/>
                <a:ext cx="5793302" cy="16746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sz="1600" dirty="0"/>
                  <a:t>Modellizzazione degli effetti dell'ambiente tramite il formalismo dei canali quantistici, descritti dagli operatori di Kraus</a:t>
                </a:r>
                <a14:m>
                  <m:oMath xmlns:m="http://schemas.openxmlformats.org/officeDocument/2006/math">
                    <m:r>
                      <a:rPr lang="en-US" sz="1600" b="0" i="0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it-IT" sz="16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600" dirty="0"/>
                  <a:t>nella mappa non unitaria</a:t>
                </a:r>
              </a:p>
              <a:p>
                <a:endParaRPr lang="it-IT" sz="16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0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16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sSubSup>
                        <m:sSub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1600" i="0" dirty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7C4AF3E-EA4E-9ADF-4264-78ADB52E8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4918623"/>
                <a:ext cx="5793302" cy="1674689"/>
              </a:xfrm>
              <a:prstGeom prst="rect">
                <a:avLst/>
              </a:prstGeom>
              <a:blipFill>
                <a:blip r:embed="rId6"/>
                <a:stretch>
                  <a:fillRect l="-526" t="-1091" r="-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1">
            <a:extLst>
              <a:ext uri="{FF2B5EF4-FFF2-40B4-BE49-F238E27FC236}">
                <a16:creationId xmlns:a16="http://schemas.microsoft.com/office/drawing/2014/main" id="{B23F0B67-A170-A7C3-1349-7104EF3520C4}"/>
              </a:ext>
            </a:extLst>
          </p:cNvPr>
          <p:cNvSpPr txBox="1"/>
          <p:nvPr/>
        </p:nvSpPr>
        <p:spPr>
          <a:xfrm>
            <a:off x="6170870" y="1490472"/>
            <a:ext cx="5732341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2" grpId="0"/>
      <p:bldP spid="12" grpId="1"/>
      <p:bldP spid="14" grpId="0"/>
      <p:bldP spid="14" grpId="1"/>
      <p:bldP spid="15" grpId="0"/>
      <p:bldP spid="15" grpId="1"/>
      <p:bldP spid="16" grpId="0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 Quantum </a:t>
            </a: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Eigensolver</a:t>
            </a:r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(VQE)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86480" y="1554480"/>
            <a:ext cx="10965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ibrido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-classico per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fondamentale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un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Hamiltoniano</a:t>
            </a:r>
            <a:endParaRPr lang="en-US" sz="2100" dirty="0"/>
          </a:p>
        </p:txBody>
      </p:sp>
      <p:pic>
        <p:nvPicPr>
          <p:cNvPr id="12" name="Image 3" descr="/home/claude/deck/assets/preview_s6_breakout.png" hidden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23360"/>
            <a:ext cx="4572000" cy="2331720"/>
          </a:xfrm>
          <a:prstGeom prst="rect">
            <a:avLst/>
          </a:prstGeom>
        </p:spPr>
      </p:pic>
      <p:sp>
        <p:nvSpPr>
          <p:cNvPr id="13" name="Text 7" hidden="1"/>
          <p:cNvSpPr txBox="1"/>
          <p:nvPr/>
        </p:nvSpPr>
        <p:spPr>
          <a:xfrm>
            <a:off x="5486400" y="4023360"/>
            <a:ext cx="60624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rotazioni Ry indipendenti rompono la conservazione di M — a partire da |10⟩ si copre l'intero spazio a 2 qubit (F = 1)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B77664-07E3-BF79-6E15-C980E588CBC9}"/>
                  </a:ext>
                </a:extLst>
              </p:cNvPr>
              <p:cNvSpPr txBox="1"/>
              <p:nvPr/>
            </p:nvSpPr>
            <p:spPr>
              <a:xfrm>
                <a:off x="586480" y="2810888"/>
                <a:ext cx="8646298" cy="20548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Il Variational Quantum </a:t>
                </a:r>
                <a:r>
                  <a:rPr lang="en-US" sz="1400" dirty="0" err="1"/>
                  <a:t>Eigensolver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sfrutta</a:t>
                </a:r>
                <a:r>
                  <a:rPr lang="en-US" sz="1400" dirty="0"/>
                  <a:t> il </a:t>
                </a:r>
                <a:r>
                  <a:rPr lang="en-US" sz="1400" b="1" dirty="0"/>
                  <a:t>Principio </a:t>
                </a:r>
                <a:r>
                  <a:rPr lang="en-US" sz="1400" b="1" dirty="0" err="1"/>
                  <a:t>Variazionale</a:t>
                </a:r>
                <a:endParaRPr lang="en-US" sz="1400" dirty="0"/>
              </a:p>
              <a:p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⟨"/>
                              <m:endChr m:val="⟩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d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⟨"/>
                              <m:endChr m:val="⟩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</m:den>
                      </m:f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r>
                  <a:rPr lang="en-US" sz="1400" dirty="0"/>
                  <a:t>il computer </a:t>
                </a:r>
                <a:r>
                  <a:rPr lang="en-US" sz="1400" dirty="0" err="1"/>
                  <a:t>quantistico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prepara</a:t>
                </a:r>
                <a:r>
                  <a:rPr lang="en-US" sz="1400" dirty="0"/>
                  <a:t> lo </a:t>
                </a:r>
                <a:r>
                  <a:rPr lang="en-US" sz="1400" dirty="0" err="1"/>
                  <a:t>stato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variazionale</a:t>
                </a:r>
                <a14:m>
                  <m:oMath xmlns:m="http://schemas.openxmlformats.org/officeDocument/2006/math">
                    <m:r>
                      <a:rPr lang="en-US" sz="1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400" i="0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400" dirty="0"/>
                  <a:t> (</a:t>
                </a:r>
                <a:r>
                  <a:rPr lang="en-US" sz="1400" i="1" dirty="0"/>
                  <a:t>Ansatz</a:t>
                </a:r>
                <a:r>
                  <a:rPr lang="en-US" sz="1400" dirty="0"/>
                  <a:t>) e </a:t>
                </a:r>
                <a:r>
                  <a:rPr lang="en-US" sz="1400" dirty="0" err="1"/>
                  <a:t>misura</a:t>
                </a:r>
                <a:r>
                  <a:rPr lang="en-US" sz="1400" dirty="0"/>
                  <a:t> il </a:t>
                </a:r>
                <a:r>
                  <a:rPr lang="en-US" sz="1400" dirty="0" err="1"/>
                  <a:t>valore</a:t>
                </a:r>
                <a:r>
                  <a:rPr lang="en-US" sz="1400" dirty="0"/>
                  <a:t> di </a:t>
                </a:r>
                <a:r>
                  <a:rPr lang="en-US" sz="1400" dirty="0" err="1"/>
                  <a:t>aspettazione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dell'energia</a:t>
                </a:r>
                <a:r>
                  <a:rPr lang="en-US" sz="1400" dirty="0"/>
                  <a:t>.</a:t>
                </a:r>
              </a:p>
              <a:p>
                <a:r>
                  <a:rPr lang="en-US" sz="1400" dirty="0" err="1"/>
                  <a:t>L'ottimizzatore</a:t>
                </a:r>
                <a:r>
                  <a:rPr lang="en-US" sz="1400" dirty="0"/>
                  <a:t> classico </a:t>
                </a:r>
                <a:r>
                  <a:rPr lang="en-US" sz="1400" dirty="0" err="1"/>
                  <a:t>aggiorna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parametri</a:t>
                </a:r>
                <a:r>
                  <a:rPr lang="en-US" sz="1400" dirty="0"/>
                  <a:t> θ per </a:t>
                </a:r>
                <a:r>
                  <a:rPr lang="en-US" sz="1400" dirty="0" err="1"/>
                  <a:t>convergere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allo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stato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fondamentale</a:t>
                </a:r>
                <a:r>
                  <a:rPr lang="en-US" sz="1400" dirty="0"/>
                  <a:t> E₀.</a:t>
                </a:r>
                <a:br>
                  <a:rPr lang="en-US" sz="1400" dirty="0"/>
                </a:br>
                <a:endParaRPr lang="en-US" sz="1400" dirty="0"/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B77664-07E3-BF79-6E15-C980E588C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80" y="2810888"/>
                <a:ext cx="8646298" cy="2054858"/>
              </a:xfrm>
              <a:prstGeom prst="rect">
                <a:avLst/>
              </a:prstGeom>
              <a:blipFill>
                <a:blip r:embed="rId4"/>
                <a:stretch>
                  <a:fillRect l="-211" t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 7">
            <a:extLst>
              <a:ext uri="{FF2B5EF4-FFF2-40B4-BE49-F238E27FC236}">
                <a16:creationId xmlns:a16="http://schemas.microsoft.com/office/drawing/2014/main" id="{8A6B5100-C7D3-AA46-8997-47D01243ED22}"/>
              </a:ext>
            </a:extLst>
          </p:cNvPr>
          <p:cNvSpPr txBox="1"/>
          <p:nvPr/>
        </p:nvSpPr>
        <p:spPr>
          <a:xfrm>
            <a:off x="586479" y="220024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■"/>
            </a:pP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chiusi</a:t>
            </a:r>
            <a:endParaRPr lang="en-US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99451C2C-A0A7-9227-7A1F-5E3A2E5ABAD9}"/>
              </a:ext>
            </a:extLst>
          </p:cNvPr>
          <p:cNvSpPr txBox="1"/>
          <p:nvPr/>
        </p:nvSpPr>
        <p:spPr>
          <a:xfrm>
            <a:off x="586479" y="4551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■"/>
            </a:pP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aperti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8CFFD0-E951-112D-8048-FA1ACFB527BD}"/>
                  </a:ext>
                </a:extLst>
              </p:cNvPr>
              <p:cNvSpPr txBox="1"/>
              <p:nvPr/>
            </p:nvSpPr>
            <p:spPr>
              <a:xfrm>
                <a:off x="586479" y="5205839"/>
                <a:ext cx="8646298" cy="14769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 err="1"/>
                  <a:t>L’energia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osservata</a:t>
                </a:r>
                <a:r>
                  <a:rPr lang="en-US" sz="1400" dirty="0"/>
                  <a:t> non è </a:t>
                </a:r>
                <a:r>
                  <a:rPr lang="en-US" sz="1400" dirty="0" err="1"/>
                  <a:t>più</a:t>
                </a:r>
                <a:r>
                  <a:rPr lang="en-US" sz="1400" dirty="0"/>
                  <a:t> un </a:t>
                </a:r>
                <a:r>
                  <a:rPr lang="en-US" sz="1400" dirty="0" err="1"/>
                  <a:t>singolo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valore</a:t>
                </a:r>
                <a:r>
                  <a:rPr lang="en-US" sz="1400" dirty="0"/>
                  <a:t> di </a:t>
                </a:r>
                <a:r>
                  <a:rPr lang="en-US" sz="1400" dirty="0" err="1"/>
                  <a:t>aspettazione</a:t>
                </a:r>
                <a:endParaRPr lang="en-US" sz="1400" dirty="0"/>
              </a:p>
              <a:p>
                <a:endParaRPr lang="en-US" sz="1400" i="1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400" i="0" dirty="0" smtClean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0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0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sz="1400" i="0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  <m:r>
                        <a:rPr lang="en-US" sz="1400" i="0" dirty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400" i="0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0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m:rPr>
                              <m:nor/>
                            </m:rPr>
                            <a:rPr lang="en-US" sz="1400" i="0" dirty="0" smtClean="0">
                              <a:latin typeface="Cambria Math" panose="02040503050406030204" pitchFamily="18" charset="0"/>
                            </a:rPr>
                            <m:t>Tr</m:t>
                          </m:r>
                        </m:e>
                      </m:nary>
                      <m:d>
                        <m:dPr>
                          <m:ctrlPr>
                            <a:rPr lang="en-US" sz="1400" i="0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0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|"/>
                              <m:ctrlP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⟩⟨</m:t>
                              </m:r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  <m:sSubSup>
                            <m:sSubSupPr>
                              <m:ctrlP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</m:e>
                      </m:d>
                      <m:r>
                        <a:rPr lang="en-US" sz="1400" i="0" dirty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400" i="0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0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40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0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sz="1400" i="0" dirty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sz="1400" i="0" dirty="0" smtClean="0">
                                          <a:latin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bSup>
                                  <m: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  <m:sSub>
                                    <m:sSubPr>
                                      <m:ctrlPr>
                                        <a:rPr lang="en-US" sz="140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0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sz="1400" i="0" dirty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i="0" dirty="0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dirty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r>
                  <a:rPr lang="en-US" sz="1400" dirty="0" err="1"/>
                  <a:t>L'ottimizzatore</a:t>
                </a:r>
                <a:r>
                  <a:rPr lang="en-US" sz="1400" dirty="0"/>
                  <a:t> non </a:t>
                </a:r>
                <a:r>
                  <a:rPr lang="en-US" sz="1400" dirty="0" err="1"/>
                  <a:t>può</a:t>
                </a:r>
                <a:r>
                  <a:rPr lang="en-US" sz="1400" dirty="0"/>
                  <a:t> </a:t>
                </a:r>
                <a:r>
                  <a:rPr lang="en-US" sz="1400" dirty="0" err="1"/>
                  <a:t>più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scendere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esattamente</a:t>
                </a:r>
                <a:r>
                  <a:rPr lang="en-US" sz="1400" dirty="0"/>
                  <a:t>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400" dirty="0"/>
                  <a:t>​.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8CFFD0-E951-112D-8048-FA1ACFB52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79" y="5205839"/>
                <a:ext cx="8646298" cy="1476943"/>
              </a:xfrm>
              <a:prstGeom prst="rect">
                <a:avLst/>
              </a:prstGeom>
              <a:blipFill>
                <a:blip r:embed="rId5"/>
                <a:stretch>
                  <a:fillRect l="-211" t="-19421" b="-40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3" descr="/home/claude/deck/assets/preview_s3_bullet1_vqe.png">
            <a:extLst>
              <a:ext uri="{FF2B5EF4-FFF2-40B4-BE49-F238E27FC236}">
                <a16:creationId xmlns:a16="http://schemas.microsoft.com/office/drawing/2014/main" id="{3CBDB3BB-6F93-CE7D-737B-54DB8B4727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2878" y="3524491"/>
            <a:ext cx="2959222" cy="2054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7" grpId="0"/>
      <p:bldP spid="22" grpId="0" animBg="1"/>
      <p:bldP spid="23" grpId="0" animBg="1"/>
      <p:bldP spid="2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VQE - Ansatz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640080" y="1554480"/>
                <a:ext cx="10911535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Preparazione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dello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stato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parametrizzato</a:t>
                </a:r>
                <a14:m>
                  <m:oMath xmlns:m="http://schemas.openxmlformats.org/officeDocument/2006/math">
                    <m:r>
                      <a:rPr lang="en-US" sz="2100" b="1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10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100" i="1" dirty="0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2100" i="1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100" dirty="0"/>
                  <a:t> 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 Primitive a due qubit (</a:t>
                </a:r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Dimero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</a:t>
                </a:r>
                <a:endParaRPr lang="en-US" sz="2100" dirty="0"/>
              </a:p>
            </p:txBody>
          </p:sp>
        </mc:Choice>
        <mc:Fallback xmlns=""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554480"/>
                <a:ext cx="10911535" cy="530352"/>
              </a:xfrm>
              <a:prstGeom prst="rect">
                <a:avLst/>
              </a:prstGeom>
              <a:blipFill>
                <a:blip r:embed="rId3"/>
                <a:stretch>
                  <a:fillRect b="-1149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1D639B5-F246-0FD2-4065-0BF8083F69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" y="3881346"/>
            <a:ext cx="2883529" cy="139753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8791585-7F09-865E-220C-E61E87F7D5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7444" y="5369481"/>
            <a:ext cx="2029968" cy="13975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F96A2D-1405-EE2F-2A83-B9EA9EFA4044}"/>
                  </a:ext>
                </a:extLst>
              </p:cNvPr>
              <p:cNvSpPr txBox="1"/>
              <p:nvPr/>
            </p:nvSpPr>
            <p:spPr>
              <a:xfrm>
                <a:off x="4486961" y="4489854"/>
                <a:ext cx="2901391" cy="5666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𝑅𝐵𝑆</m:t>
                    </m:r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d>
                    <m:r>
                      <a:rPr lang="en-US" sz="14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𝜑</m:t>
                        </m:r>
                        <m:d>
                          <m:d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p>
                            </m:sSubSup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bSup>
                          </m:e>
                        </m:d>
                      </m:sup>
                    </m:sSup>
                  </m:oMath>
                </a14:m>
                <a:r>
                  <a:rPr lang="en-US" sz="1400" dirty="0"/>
                  <a:t> -  </a:t>
                </a:r>
                <a:r>
                  <a:rPr lang="en-US" sz="1400" dirty="0" err="1"/>
                  <a:t>reale</a:t>
                </a:r>
                <a:r>
                  <a:rPr lang="en-US" sz="1400" dirty="0"/>
                  <a:t>.</a:t>
                </a:r>
              </a:p>
              <a:p>
                <a:r>
                  <a:rPr lang="en-US" sz="1400" dirty="0"/>
                  <a:t>Reconfigurable Beam Splitter (RBS)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F96A2D-1405-EE2F-2A83-B9EA9EFA4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6961" y="4489854"/>
                <a:ext cx="2901391" cy="566630"/>
              </a:xfrm>
              <a:prstGeom prst="rect">
                <a:avLst/>
              </a:prstGeom>
              <a:blipFill>
                <a:blip r:embed="rId6"/>
                <a:stretch>
                  <a:fillRect l="-630"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7" name="Picture 36">
            <a:extLst>
              <a:ext uri="{FF2B5EF4-FFF2-40B4-BE49-F238E27FC236}">
                <a16:creationId xmlns:a16="http://schemas.microsoft.com/office/drawing/2014/main" id="{1202AE6D-BA83-FC1A-5B00-CBAA8C1B0A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2219686"/>
            <a:ext cx="3639312" cy="16576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0330022-6E90-2304-EB44-A37397C1474C}"/>
                  </a:ext>
                </a:extLst>
              </p:cNvPr>
              <p:cNvSpPr txBox="1"/>
              <p:nvPr/>
            </p:nvSpPr>
            <p:spPr>
              <a:xfrm>
                <a:off x="4486961" y="6034727"/>
                <a:ext cx="2901391" cy="3511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400" i="0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400" i="0" dirty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  <m:sSubSup>
                          <m:sSub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i="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</m:sup>
                    </m:sSup>
                  </m:oMath>
                </a14:m>
                <a:r>
                  <a:rPr lang="en-US" sz="1400" dirty="0"/>
                  <a:t> - </a:t>
                </a:r>
                <a:r>
                  <a:rPr lang="en-US" sz="1400" dirty="0" err="1"/>
                  <a:t>reale</a:t>
                </a:r>
                <a:endParaRPr lang="en-US" sz="1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0330022-6E90-2304-EB44-A37397C147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6961" y="6034727"/>
                <a:ext cx="2901391" cy="351186"/>
              </a:xfrm>
              <a:prstGeom prst="rect">
                <a:avLst/>
              </a:prstGeom>
              <a:blipFill>
                <a:blip r:embed="rId8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DE42808-D3A4-1FF1-B937-BEF174C605C2}"/>
                  </a:ext>
                </a:extLst>
              </p:cNvPr>
              <p:cNvSpPr txBox="1"/>
              <p:nvPr/>
            </p:nvSpPr>
            <p:spPr>
              <a:xfrm>
                <a:off x="4486961" y="2854740"/>
                <a:ext cx="2901391" cy="5742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4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  <m:sSub>
                          <m:sSub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sz="1400" dirty="0"/>
                  <a:t> - </a:t>
                </a:r>
                <a:r>
                  <a:rPr lang="en-US" sz="1400" dirty="0" err="1"/>
                  <a:t>complesso</a:t>
                </a:r>
                <a:r>
                  <a:rPr lang="en-US" sz="1400" dirty="0"/>
                  <a:t>,  </a:t>
                </a:r>
                <a:r>
                  <a:rPr lang="en-US" sz="1400" dirty="0" err="1"/>
                  <a:t>fase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immaginaria</a:t>
                </a:r>
                <a:r>
                  <a:rPr lang="en-US" sz="1400" dirty="0"/>
                  <a:t> [*]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DE42808-D3A4-1FF1-B937-BEF174C60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6961" y="2854740"/>
                <a:ext cx="2901391" cy="574260"/>
              </a:xfrm>
              <a:prstGeom prst="rect">
                <a:avLst/>
              </a:prstGeom>
              <a:blipFill>
                <a:blip r:embed="rId9"/>
                <a:stretch>
                  <a:fillRect l="-630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0" name="Table 39">
                <a:extLst>
                  <a:ext uri="{FF2B5EF4-FFF2-40B4-BE49-F238E27FC236}">
                    <a16:creationId xmlns:a16="http://schemas.microsoft.com/office/drawing/2014/main" id="{A805E98D-C6DF-5C91-AD6F-7D016904005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129575" y="3513564"/>
              <a:ext cx="3422040" cy="175945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40680">
                      <a:extLst>
                        <a:ext uri="{9D8B030D-6E8A-4147-A177-3AD203B41FA5}">
                          <a16:colId xmlns:a16="http://schemas.microsoft.com/office/drawing/2014/main" val="1343430199"/>
                        </a:ext>
                      </a:extLst>
                    </a:gridCol>
                    <a:gridCol w="1140680">
                      <a:extLst>
                        <a:ext uri="{9D8B030D-6E8A-4147-A177-3AD203B41FA5}">
                          <a16:colId xmlns:a16="http://schemas.microsoft.com/office/drawing/2014/main" val="433833955"/>
                        </a:ext>
                      </a:extLst>
                    </a:gridCol>
                    <a:gridCol w="1140680">
                      <a:extLst>
                        <a:ext uri="{9D8B030D-6E8A-4147-A177-3AD203B41FA5}">
                          <a16:colId xmlns:a16="http://schemas.microsoft.com/office/drawing/2014/main" val="2881941172"/>
                        </a:ext>
                      </a:extLst>
                    </a:gridCol>
                  </a:tblGrid>
                  <a:tr h="258186"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Blocco</a:t>
                          </a:r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Porte a 2 qubit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Porte a 1 qubit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54623586"/>
                      </a:ext>
                    </a:extLst>
                  </a:tr>
                  <a:tr h="25818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  <m:d>
                                  <m:dPr>
                                    <m:ctrlP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186921"/>
                      </a:ext>
                    </a:extLst>
                  </a:tr>
                  <a:tr h="25818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  <m:t>𝑅𝐵𝑆</m:t>
                                </m:r>
                                <m:d>
                                  <m:dPr>
                                    <m:ctrlP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45669047"/>
                      </a:ext>
                    </a:extLst>
                  </a:tr>
                  <a:tr h="25818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210103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0" name="Table 39">
                <a:extLst>
                  <a:ext uri="{FF2B5EF4-FFF2-40B4-BE49-F238E27FC236}">
                    <a16:creationId xmlns:a16="http://schemas.microsoft.com/office/drawing/2014/main" id="{A805E98D-C6DF-5C91-AD6F-7D016904005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6592652"/>
                  </p:ext>
                </p:extLst>
              </p:nvPr>
            </p:nvGraphicFramePr>
            <p:xfrm>
              <a:off x="8129575" y="3513564"/>
              <a:ext cx="3422040" cy="175945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40680">
                      <a:extLst>
                        <a:ext uri="{9D8B030D-6E8A-4147-A177-3AD203B41FA5}">
                          <a16:colId xmlns:a16="http://schemas.microsoft.com/office/drawing/2014/main" val="1343430199"/>
                        </a:ext>
                      </a:extLst>
                    </a:gridCol>
                    <a:gridCol w="1140680">
                      <a:extLst>
                        <a:ext uri="{9D8B030D-6E8A-4147-A177-3AD203B41FA5}">
                          <a16:colId xmlns:a16="http://schemas.microsoft.com/office/drawing/2014/main" val="433833955"/>
                        </a:ext>
                      </a:extLst>
                    </a:gridCol>
                    <a:gridCol w="1140680">
                      <a:extLst>
                        <a:ext uri="{9D8B030D-6E8A-4147-A177-3AD203B41FA5}">
                          <a16:colId xmlns:a16="http://schemas.microsoft.com/office/drawing/2014/main" val="2881941172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Blocco</a:t>
                          </a:r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Porte a 2 qubit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Porte a 1 qubit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546235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535" t="-183333" r="-203209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18692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535" t="-283333" r="-203209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45669047"/>
                      </a:ext>
                    </a:extLst>
                  </a:tr>
                  <a:tr h="38785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535" t="-359375" r="-203209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21010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E4706F4A-9483-5611-8E90-BBE298A5371A}"/>
              </a:ext>
            </a:extLst>
          </p:cNvPr>
          <p:cNvSpPr txBox="1"/>
          <p:nvPr/>
        </p:nvSpPr>
        <p:spPr>
          <a:xfrm>
            <a:off x="8403336" y="6528518"/>
            <a:ext cx="34957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 Crippa et al., </a:t>
            </a:r>
            <a:r>
              <a:rPr lang="en-US" sz="1000" i="1" dirty="0"/>
              <a:t>Magnetochemistry</a:t>
            </a:r>
            <a:r>
              <a:rPr lang="en-US" sz="1000" dirty="0"/>
              <a:t> </a:t>
            </a:r>
            <a:r>
              <a:rPr lang="en-US" sz="1000" b="1" dirty="0"/>
              <a:t>7</a:t>
            </a:r>
            <a:r>
              <a:rPr lang="en-US" sz="1000" dirty="0"/>
              <a:t>, 117 (2021), Eq. (5)-(6)</a:t>
            </a:r>
          </a:p>
          <a:p>
            <a:endParaRPr lang="en-US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E6BF56F-A15E-A307-5156-A586A89A37E6}"/>
                  </a:ext>
                </a:extLst>
              </p:cNvPr>
              <p:cNvSpPr txBox="1"/>
              <p:nvPr/>
            </p:nvSpPr>
            <p:spPr>
              <a:xfrm>
                <a:off x="566927" y="1615055"/>
                <a:ext cx="10911535" cy="415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Preparazione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dello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stato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parametrizzato</a:t>
                </a:r>
                <a14:m>
                  <m:oMath xmlns:m="http://schemas.openxmlformats.org/officeDocument/2006/math">
                    <m:r>
                      <a:rPr lang="en-US" sz="2100" b="1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10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100" i="1" dirty="0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2100" i="1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100" dirty="0"/>
                  <a:t> </a:t>
                </a:r>
                <a:r>
                  <a:rPr lang="en-US" sz="2100" b="1" dirty="0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 Circuito </a:t>
                </a:r>
                <a:r>
                  <a:rPr lang="en-US" sz="2100" b="1" dirty="0" err="1">
                    <a:solidFill>
                      <a:srgbClr val="173A5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Quantistico</a:t>
                </a:r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E6BF56F-A15E-A307-5156-A586A89A3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7" y="1615055"/>
                <a:ext cx="10911535" cy="415498"/>
              </a:xfrm>
              <a:prstGeom prst="rect">
                <a:avLst/>
              </a:prstGeom>
              <a:blipFill>
                <a:blip r:embed="rId11"/>
                <a:stretch>
                  <a:fillRect t="-8824" b="-27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Image 0" descr="/home/claude/deck/assets/thesis_figs/circ_ha_hi-1.png">
            <a:extLst>
              <a:ext uri="{FF2B5EF4-FFF2-40B4-BE49-F238E27FC236}">
                <a16:creationId xmlns:a16="http://schemas.microsoft.com/office/drawing/2014/main" id="{1EE5CC7D-46B7-29D4-4BB4-0B636AD009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3264408"/>
            <a:ext cx="3320851" cy="1325880"/>
          </a:xfrm>
          <a:prstGeom prst="rect">
            <a:avLst/>
          </a:prstGeom>
        </p:spPr>
      </p:pic>
      <p:pic>
        <p:nvPicPr>
          <p:cNvPr id="47" name="Image 1" descr="/home/claude/deck/assets/thesis_figs/circ_pma_base-1.png">
            <a:extLst>
              <a:ext uri="{FF2B5EF4-FFF2-40B4-BE49-F238E27FC236}">
                <a16:creationId xmlns:a16="http://schemas.microsoft.com/office/drawing/2014/main" id="{3E2C2FE4-0132-06CB-74A2-3D08E99ACA9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347" y="3338699"/>
            <a:ext cx="4278335" cy="1325880"/>
          </a:xfrm>
          <a:prstGeom prst="rect">
            <a:avLst/>
          </a:prstGeom>
        </p:spPr>
      </p:pic>
      <p:pic>
        <p:nvPicPr>
          <p:cNvPr id="49" name="Image 2" descr="/home/claude/deck/assets/thesis_figs/circ_pma_esteso_hi-1.png">
            <a:extLst>
              <a:ext uri="{FF2B5EF4-FFF2-40B4-BE49-F238E27FC236}">
                <a16:creationId xmlns:a16="http://schemas.microsoft.com/office/drawing/2014/main" id="{AA570C23-D55D-0B01-C6FF-459811ABB1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79392" y="3303181"/>
            <a:ext cx="2321794" cy="1325880"/>
          </a:xfrm>
          <a:prstGeom prst="rect">
            <a:avLst/>
          </a:prstGeom>
        </p:spPr>
      </p:pic>
      <p:sp>
        <p:nvSpPr>
          <p:cNvPr id="51" name="Text 4">
            <a:extLst>
              <a:ext uri="{FF2B5EF4-FFF2-40B4-BE49-F238E27FC236}">
                <a16:creationId xmlns:a16="http://schemas.microsoft.com/office/drawing/2014/main" id="{19DF8F39-8D23-F2FB-317C-4BFF77513A58}"/>
              </a:ext>
            </a:extLst>
          </p:cNvPr>
          <p:cNvSpPr txBox="1"/>
          <p:nvPr/>
        </p:nvSpPr>
        <p:spPr>
          <a:xfrm>
            <a:off x="640080" y="4645152"/>
            <a:ext cx="3320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— 6 parametri</a:t>
            </a:r>
            <a:endParaRPr lang="en-US" sz="1200" dirty="0"/>
          </a:p>
        </p:txBody>
      </p:sp>
      <p:sp>
        <p:nvSpPr>
          <p:cNvPr id="55" name="Text 6">
            <a:extLst>
              <a:ext uri="{FF2B5EF4-FFF2-40B4-BE49-F238E27FC236}">
                <a16:creationId xmlns:a16="http://schemas.microsoft.com/office/drawing/2014/main" id="{69D0F071-C2D3-1EB2-B6CF-6A9D81968424}"/>
              </a:ext>
            </a:extLst>
          </p:cNvPr>
          <p:cNvSpPr txBox="1"/>
          <p:nvPr/>
        </p:nvSpPr>
        <p:spPr>
          <a:xfrm>
            <a:off x="4502891" y="4675535"/>
            <a:ext cx="23217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esteso — 3 parametri</a:t>
            </a:r>
            <a:endParaRPr lang="en-US" sz="1200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3379060A-576D-FF4D-C03B-A96DE92705BB}"/>
              </a:ext>
            </a:extLst>
          </p:cNvPr>
          <p:cNvSpPr txBox="1"/>
          <p:nvPr/>
        </p:nvSpPr>
        <p:spPr>
          <a:xfrm>
            <a:off x="7150347" y="4664579"/>
            <a:ext cx="4278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base — 1 parametro (2 rami, b/J ≶ 2)</a:t>
            </a:r>
            <a:endParaRPr lang="en-US" sz="1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4DA91CF-8ACC-CBFC-7DBB-B57CF5694554}"/>
              </a:ext>
            </a:extLst>
          </p:cNvPr>
          <p:cNvSpPr txBox="1"/>
          <p:nvPr/>
        </p:nvSpPr>
        <p:spPr>
          <a:xfrm>
            <a:off x="1014984" y="5184572"/>
            <a:ext cx="29459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</a:t>
            </a:r>
            <a:r>
              <a:rPr lang="en-US" sz="1600" dirty="0"/>
              <a:t>: </a:t>
            </a:r>
            <a:r>
              <a:rPr lang="en-US" sz="1600" dirty="0" err="1"/>
              <a:t>termine</a:t>
            </a:r>
            <a:r>
              <a:rPr lang="en-US" sz="1600" dirty="0"/>
              <a:t> di </a:t>
            </a:r>
            <a:r>
              <a:rPr lang="en-US" sz="1600" dirty="0" err="1"/>
              <a:t>confronto</a:t>
            </a:r>
            <a:r>
              <a:rPr lang="en-US" sz="1600" dirty="0"/>
              <a:t> (baseline </a:t>
            </a:r>
            <a:r>
              <a:rPr lang="en-US" sz="1600" dirty="0" err="1"/>
              <a:t>generica</a:t>
            </a:r>
            <a:r>
              <a:rPr lang="en-US" sz="1600" dirty="0"/>
              <a:t>, senza </a:t>
            </a:r>
            <a:r>
              <a:rPr lang="en-US" sz="1600" dirty="0" err="1"/>
              <a:t>usare</a:t>
            </a:r>
            <a:r>
              <a:rPr lang="en-US" sz="1600" dirty="0"/>
              <a:t> la </a:t>
            </a:r>
            <a:r>
              <a:rPr lang="en-US" sz="1600" dirty="0" err="1"/>
              <a:t>fisica</a:t>
            </a:r>
            <a:r>
              <a:rPr lang="en-US" sz="1600" dirty="0"/>
              <a:t> del </a:t>
            </a:r>
            <a:r>
              <a:rPr lang="en-US" sz="1600" dirty="0" err="1"/>
              <a:t>problema</a:t>
            </a:r>
            <a:r>
              <a:rPr lang="en-US" sz="16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4AD2B12-4C8F-76F6-6C69-4E7963234E5C}"/>
                  </a:ext>
                </a:extLst>
              </p:cNvPr>
              <p:cNvSpPr txBox="1"/>
              <p:nvPr/>
            </p:nvSpPr>
            <p:spPr>
              <a:xfrm>
                <a:off x="7580376" y="5184572"/>
                <a:ext cx="3848306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PMA base</a:t>
                </a:r>
                <a:r>
                  <a:rPr lang="en-US" sz="1600" b="1" dirty="0"/>
                  <a:t>: </a:t>
                </a:r>
                <a:r>
                  <a:rPr lang="en-US" sz="1600" dirty="0"/>
                  <a:t>a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 il </a:t>
                </a:r>
                <a:r>
                  <a:rPr lang="en-US" sz="1600" dirty="0" err="1"/>
                  <a:t>singoletto</a:t>
                </a:r>
                <a:r>
                  <a:rPr lang="en-US" sz="1600" dirty="0"/>
                  <a:t> è lo </a:t>
                </a:r>
                <a:r>
                  <a:rPr lang="en-US" sz="1600" dirty="0" err="1"/>
                  <a:t>stato</a:t>
                </a:r>
                <a:r>
                  <a:rPr lang="en-US" sz="1600" dirty="0"/>
                  <a:t> </a:t>
                </a:r>
                <a:r>
                  <a:rPr lang="en-US" sz="1600" dirty="0" err="1"/>
                  <a:t>fondamentale</a:t>
                </a:r>
                <a:r>
                  <a:rPr lang="en-US" sz="1600" dirty="0"/>
                  <a:t> </a:t>
                </a:r>
                <a:r>
                  <a:rPr lang="en-US" sz="1600" dirty="0" err="1"/>
                  <a:t>esatto</a:t>
                </a:r>
                <a:r>
                  <a:rPr lang="en-US" sz="1600" dirty="0"/>
                  <a:t> -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1600" dirty="0"/>
                  <a:t> </a:t>
                </a:r>
                <a:r>
                  <a:rPr lang="en-US" sz="1600" dirty="0" err="1"/>
                  <a:t>aggiunge</a:t>
                </a:r>
                <a:r>
                  <a:rPr lang="en-US" sz="1600" dirty="0"/>
                  <a:t> solo la </a:t>
                </a:r>
                <a:r>
                  <a:rPr lang="en-US" sz="1600" dirty="0" err="1"/>
                  <a:t>flessibilità</a:t>
                </a:r>
                <a:r>
                  <a:rPr lang="en-US" sz="1600" dirty="0"/>
                  <a:t> minima per la </a:t>
                </a:r>
                <a:r>
                  <a:rPr lang="en-US" sz="1600" dirty="0" err="1"/>
                  <a:t>piccola</a:t>
                </a:r>
                <a:r>
                  <a:rPr lang="en-US" sz="1600" dirty="0"/>
                  <a:t> </a:t>
                </a:r>
                <a:r>
                  <a:rPr lang="en-US" sz="1600" dirty="0" err="1"/>
                  <a:t>perturbazione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4AD2B12-4C8F-76F6-6C69-4E7963234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0376" y="5184572"/>
                <a:ext cx="3848306" cy="1077218"/>
              </a:xfrm>
              <a:prstGeom prst="rect">
                <a:avLst/>
              </a:prstGeom>
              <a:blipFill>
                <a:blip r:embed="rId15"/>
                <a:stretch>
                  <a:fillRect l="-951" t="-1695" b="-6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6B4E66A-D900-83E2-5FA6-892747C7FB71}"/>
                  </a:ext>
                </a:extLst>
              </p:cNvPr>
              <p:cNvSpPr txBox="1"/>
              <p:nvPr/>
            </p:nvSpPr>
            <p:spPr>
              <a:xfrm>
                <a:off x="4279392" y="5184948"/>
                <a:ext cx="280290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PMA </a:t>
                </a:r>
                <a:r>
                  <a:rPr lang="en-US" sz="16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esteso</a:t>
                </a:r>
                <a:r>
                  <a:rPr lang="en-US" sz="1600" b="1" dirty="0"/>
                  <a:t>: </a:t>
                </a:r>
                <a:r>
                  <a:rPr lang="en-US" sz="1600" dirty="0"/>
                  <a:t>PMA base non basta </a:t>
                </a:r>
                <a:r>
                  <a:rPr lang="en-US" sz="1600" dirty="0" err="1"/>
                  <a:t>vicino</a:t>
                </a:r>
                <a:r>
                  <a:rPr lang="en-US" sz="1600" dirty="0"/>
                  <a:t> </a:t>
                </a:r>
                <a:r>
                  <a:rPr lang="en-US" sz="1600" dirty="0" err="1"/>
                  <a:t>all'incrocio</a:t>
                </a:r>
                <a:r>
                  <a:rPr lang="en-US" sz="1600" dirty="0"/>
                  <a:t> (</a:t>
                </a:r>
                <a:r>
                  <a:rPr lang="en-US" sz="1600" dirty="0" err="1"/>
                  <a:t>limite</a:t>
                </a:r>
                <a:r>
                  <a:rPr lang="en-US" sz="1600" dirty="0"/>
                  <a:t> di </a:t>
                </a:r>
                <a:r>
                  <a:rPr lang="en-US" sz="1600" dirty="0" err="1"/>
                  <a:t>parità</a:t>
                </a:r>
                <a:r>
                  <a:rPr lang="en-US" sz="1600" dirty="0"/>
                  <a:t>) — le due </a:t>
                </a:r>
                <a:r>
                  <a:rPr lang="en-US" sz="1600" dirty="0" err="1"/>
                  <a:t>rotazioni</a:t>
                </a:r>
                <a:r>
                  <a:rPr lang="en-US" sz="1600" dirty="0"/>
                  <a:t> </a:t>
                </a:r>
                <a:r>
                  <a:rPr lang="en-US" sz="1600" dirty="0" err="1"/>
                  <a:t>indipendenti</a:t>
                </a:r>
                <a:r>
                  <a:rPr lang="en-US" sz="1600" dirty="0"/>
                  <a:t> </a:t>
                </a:r>
                <a:r>
                  <a:rPr lang="en-US" sz="1600" dirty="0" err="1"/>
                  <a:t>rompono</a:t>
                </a:r>
                <a:r>
                  <a:rPr lang="en-US" sz="1600" dirty="0"/>
                  <a:t> </a:t>
                </a:r>
                <a:r>
                  <a:rPr lang="en-US" sz="1600" dirty="0" err="1"/>
                  <a:t>quel</a:t>
                </a:r>
                <a:r>
                  <a:rPr lang="en-US" sz="1600" dirty="0"/>
                  <a:t> </a:t>
                </a:r>
                <a:r>
                  <a:rPr lang="en-US" sz="1600" dirty="0" err="1"/>
                  <a:t>vincolo</a:t>
                </a:r>
                <a:r>
                  <a:rPr lang="en-US" sz="1600" dirty="0"/>
                  <a:t>, </a:t>
                </a:r>
                <a:r>
                  <a:rPr lang="en-US" sz="1600" dirty="0" err="1"/>
                  <a:t>recuperando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ℱ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6B4E66A-D900-83E2-5FA6-892747C7F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392" y="5184948"/>
                <a:ext cx="2802905" cy="1323439"/>
              </a:xfrm>
              <a:prstGeom prst="rect">
                <a:avLst/>
              </a:prstGeom>
              <a:blipFill>
                <a:blip r:embed="rId16"/>
                <a:stretch>
                  <a:fillRect l="-1087" t="-1382" b="-5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84C8D53-7FD2-B924-14BD-0593E4C50EAC}"/>
                  </a:ext>
                </a:extLst>
              </p:cNvPr>
              <p:cNvSpPr txBox="1"/>
              <p:nvPr/>
            </p:nvSpPr>
            <p:spPr>
              <a:xfrm>
                <a:off x="640080" y="2507445"/>
                <a:ext cx="1091153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Tre </a:t>
                </a:r>
                <a:r>
                  <a:rPr lang="en-US" sz="1500" dirty="0" err="1"/>
                  <a:t>circuiti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1500" dirty="0"/>
                  <a:t>, </a:t>
                </a:r>
                <a:r>
                  <a:rPr lang="en-US" sz="1500" dirty="0" err="1"/>
                  <a:t>che</a:t>
                </a:r>
                <a:r>
                  <a:rPr lang="en-US" sz="1500" dirty="0"/>
                  <a:t> a </a:t>
                </a:r>
                <a:r>
                  <a:rPr lang="en-US" sz="1500" dirty="0" err="1"/>
                  <a:t>partire</a:t>
                </a:r>
                <a:r>
                  <a:rPr lang="en-US" sz="1500" dirty="0"/>
                  <a:t> da </a:t>
                </a:r>
                <a14:m>
                  <m:oMath xmlns:m="http://schemas.openxmlformats.org/officeDocument/2006/math">
                    <m:r>
                      <a:rPr lang="en-US" sz="1500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00⟩</m:t>
                    </m:r>
                  </m:oMath>
                </a14:m>
                <a:r>
                  <a:rPr lang="en-US" sz="1500" dirty="0"/>
                  <a:t> </a:t>
                </a:r>
                <a:r>
                  <a:rPr lang="en-US" sz="1500" dirty="0" err="1"/>
                  <a:t>preparano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500" i="0" dirty="0">
                            <a:latin typeface="Cambria Math" panose="02040503050406030204" pitchFamily="18" charset="0"/>
                          </a:rPr>
                          <m:t>⟩=</m:t>
                        </m:r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  <m:r>
                      <a:rPr lang="en-US" sz="1500" i="0" dirty="0">
                        <a:latin typeface="Cambria Math" panose="02040503050406030204" pitchFamily="18" charset="0"/>
                      </a:rPr>
                      <m:t>00⟩</m:t>
                    </m:r>
                  </m:oMath>
                </a14:m>
                <a:r>
                  <a:rPr lang="en-US" sz="1500" dirty="0"/>
                  <a:t>, </a:t>
                </a:r>
                <a:r>
                  <a:rPr lang="en-US" sz="1500" dirty="0" err="1"/>
                  <a:t>confrontati</a:t>
                </a:r>
                <a:r>
                  <a:rPr lang="en-US" sz="1500" dirty="0"/>
                  <a:t> </a:t>
                </a:r>
                <a:r>
                  <a:rPr lang="en-US" sz="1500" dirty="0" err="1"/>
                  <a:t>sulla</a:t>
                </a:r>
                <a:r>
                  <a:rPr lang="en-US" sz="1500" dirty="0"/>
                  <a:t> </a:t>
                </a:r>
                <a:r>
                  <a:rPr lang="en-US" sz="1500" dirty="0" err="1"/>
                  <a:t>fedeltà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5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0" dirty="0"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  <m:r>
                      <a:rPr lang="en-US" sz="1500" i="1" dirty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₀⟩|²</m:t>
                    </m:r>
                  </m:oMath>
                </a14:m>
                <a:r>
                  <a:rPr lang="en-US" sz="1500" dirty="0"/>
                  <a:t> rispetto </a:t>
                </a:r>
                <a:r>
                  <a:rPr lang="en-US" sz="1500" dirty="0" err="1"/>
                  <a:t>allo</a:t>
                </a:r>
                <a:r>
                  <a:rPr lang="en-US" sz="1500" dirty="0"/>
                  <a:t> </a:t>
                </a:r>
                <a:r>
                  <a:rPr lang="en-US" sz="1500" dirty="0" err="1"/>
                  <a:t>stato</a:t>
                </a:r>
                <a:r>
                  <a:rPr lang="en-US" sz="1500" dirty="0"/>
                  <a:t> </a:t>
                </a:r>
                <a:r>
                  <a:rPr lang="en-US" sz="1500" dirty="0" err="1"/>
                  <a:t>fondamentale</a:t>
                </a:r>
                <a:r>
                  <a:rPr lang="en-US" sz="1500" dirty="0"/>
                  <a:t> </a:t>
                </a:r>
                <a:r>
                  <a:rPr lang="en-US" sz="1500" dirty="0" err="1"/>
                  <a:t>vero</a:t>
                </a:r>
                <a:endParaRPr lang="en-US" sz="15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84C8D53-7FD2-B924-14BD-0593E4C50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2507445"/>
                <a:ext cx="10911535" cy="553998"/>
              </a:xfrm>
              <a:prstGeom prst="rect">
                <a:avLst/>
              </a:prstGeom>
              <a:blipFill>
                <a:blip r:embed="rId17"/>
                <a:stretch>
                  <a:fillRect t="-2198" b="-12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5" grpId="0"/>
      <p:bldP spid="38" grpId="0"/>
      <p:bldP spid="39" grpId="0"/>
      <p:bldP spid="41" grpId="0"/>
      <p:bldP spid="43" grpId="0"/>
      <p:bldP spid="51" grpId="0" animBg="1"/>
      <p:bldP spid="55" grpId="0" animBg="1"/>
      <p:bldP spid="57" grpId="0" animBg="1"/>
      <p:bldP spid="58" grpId="0"/>
      <p:bldP spid="59" grpId="0"/>
      <p:bldP spid="60" grpId="0"/>
      <p:bldP spid="6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Decomposizione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Suzuki-Trotter</a:t>
            </a:r>
            <a:endParaRPr lang="en-US" sz="2100" dirty="0"/>
          </a:p>
        </p:txBody>
      </p:sp>
      <p:pic>
        <p:nvPicPr>
          <p:cNvPr id="12" name="Image 3" descr="/home/claude/deck/assets/preview_s6_breakout.png" hidden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23360"/>
            <a:ext cx="4572000" cy="2331720"/>
          </a:xfrm>
          <a:prstGeom prst="rect">
            <a:avLst/>
          </a:prstGeom>
        </p:spPr>
      </p:pic>
      <p:sp>
        <p:nvSpPr>
          <p:cNvPr id="13" name="Text 7" hidden="1"/>
          <p:cNvSpPr txBox="1"/>
          <p:nvPr/>
        </p:nvSpPr>
        <p:spPr>
          <a:xfrm>
            <a:off x="5486400" y="4023360"/>
            <a:ext cx="60624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rotazioni Ry indipendenti rompono la conservazione di M — a partire da |10⟩ si copre l'intero spazio a 2 qubit (F = 1)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5B84FBB-B33B-65D0-4B60-4C7A3C4FD839}"/>
                  </a:ext>
                </a:extLst>
              </p:cNvPr>
              <p:cNvSpPr txBox="1"/>
              <p:nvPr/>
            </p:nvSpPr>
            <p:spPr>
              <a:xfrm>
                <a:off x="637337" y="2148840"/>
                <a:ext cx="10908792" cy="5142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Per </a:t>
                </a:r>
                <a:r>
                  <a:rPr lang="en-US" sz="1400" dirty="0" err="1"/>
                  <a:t>una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Hamiltoniana</a:t>
                </a:r>
                <a:r>
                  <a:rPr lang="en-US" sz="1400" dirty="0"/>
                  <a:t> somma di </a:t>
                </a:r>
                <a:r>
                  <a:rPr lang="en-US" sz="1400" dirty="0" err="1"/>
                  <a:t>operatori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locali</a:t>
                </a:r>
                <a:endParaRPr lang="en-US" sz="1400" dirty="0"/>
              </a:p>
              <a:p>
                <a:endParaRPr lang="en-US" sz="1400" dirty="0"/>
              </a:p>
              <a:p>
                <a:pPr algn="ctr"/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400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r>
                  <a:rPr lang="en-US" sz="1400" dirty="0"/>
                  <a:t>in generale </a:t>
                </a:r>
                <a:r>
                  <a:rPr lang="en-US" sz="1400" dirty="0" err="1"/>
                  <a:t>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singoli</a:t>
                </a:r>
                <a:r>
                  <a:rPr lang="en-US" sz="1400" dirty="0"/>
                  <a:t> termini </a:t>
                </a:r>
                <a:r>
                  <a:rPr lang="en-US" sz="1400" b="1" dirty="0"/>
                  <a:t>non </a:t>
                </a:r>
                <a:r>
                  <a:rPr lang="en-US" sz="1400" b="1" dirty="0" err="1"/>
                  <a:t>commutano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i="0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400" i="0" dirty="0">
                            <a:latin typeface="Cambria Math" panose="02040503050406030204" pitchFamily="18" charset="0"/>
                          </a:rPr>
                          <m:t>≠0</m:t>
                        </m:r>
                      </m:e>
                    </m:d>
                  </m:oMath>
                </a14:m>
                <a:r>
                  <a:rPr lang="en-US" sz="1400" dirty="0"/>
                  <a:t>, </a:t>
                </a:r>
                <a:r>
                  <a:rPr lang="en-US" sz="1400" dirty="0" err="1"/>
                  <a:t>l'esponenziale</a:t>
                </a:r>
                <a:r>
                  <a:rPr lang="en-US" sz="1400" dirty="0"/>
                  <a:t> della somma </a:t>
                </a:r>
                <a:r>
                  <a:rPr lang="en-US" sz="1400" b="1" dirty="0"/>
                  <a:t>non è</a:t>
                </a:r>
                <a:r>
                  <a:rPr lang="en-US" sz="1400" dirty="0"/>
                  <a:t> il </a:t>
                </a:r>
                <a:r>
                  <a:rPr lang="en-US" sz="1400" dirty="0" err="1"/>
                  <a:t>prodotto</a:t>
                </a:r>
                <a:r>
                  <a:rPr lang="en-US" sz="1400" dirty="0"/>
                  <a:t> degli </a:t>
                </a:r>
                <a:r>
                  <a:rPr lang="en-US" sz="1400" dirty="0" err="1"/>
                  <a:t>esponenziali</a:t>
                </a:r>
                <a:r>
                  <a:rPr lang="en-US" sz="1400" dirty="0"/>
                  <a:t> </a:t>
                </a:r>
              </a:p>
              <a:p>
                <a:pPr/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400" i="0" dirty="0">
                          <a:latin typeface="Cambria Math" panose="02040503050406030204" pitchFamily="18" charset="0"/>
                        </a:rPr>
                        <m:t>≠</m:t>
                      </m:r>
                      <m:nary>
                        <m:naryPr>
                          <m:chr m:val="∏"/>
                          <m:limLoc m:val="undOvr"/>
                          <m:supHide m:val="on"/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r>
                  <a:rPr lang="en-US" sz="1400" dirty="0"/>
                  <a:t>Per </a:t>
                </a:r>
                <a:r>
                  <a:rPr lang="en-US" sz="1400" dirty="0" err="1"/>
                  <a:t>mappare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questa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evoluzione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su</a:t>
                </a:r>
                <a:r>
                  <a:rPr lang="en-US" sz="1400" dirty="0"/>
                  <a:t> </a:t>
                </a:r>
                <a:r>
                  <a:rPr lang="en-US" sz="1400" dirty="0" err="1"/>
                  <a:t>porte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quantistiche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logiche</a:t>
                </a:r>
                <a:r>
                  <a:rPr lang="en-US" sz="1400" dirty="0"/>
                  <a:t>, </a:t>
                </a:r>
                <a:r>
                  <a:rPr lang="en-US" sz="1400" dirty="0" err="1"/>
                  <a:t>si</a:t>
                </a:r>
                <a:r>
                  <a:rPr lang="en-US" sz="1400" dirty="0"/>
                  <a:t> divide il tempo </a:t>
                </a:r>
                <a:r>
                  <a:rPr lang="en-US" sz="1400" dirty="0" err="1"/>
                  <a:t>totale</a:t>
                </a:r>
                <a:r>
                  <a:rPr lang="en-US" sz="1400" dirty="0"/>
                  <a:t> t in r </a:t>
                </a:r>
                <a:r>
                  <a:rPr lang="en-US" sz="1400" dirty="0" err="1"/>
                  <a:t>piccoli</a:t>
                </a:r>
                <a:r>
                  <a:rPr lang="en-US" sz="1400" dirty="0"/>
                  <a:t> intervalli </a:t>
                </a:r>
                <a:r>
                  <a:rPr lang="en-US" sz="1400" dirty="0" err="1"/>
                  <a:t>temporali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400" dirty="0"/>
                  <a:t>. Sotto </a:t>
                </a:r>
                <a:r>
                  <a:rPr lang="en-US" sz="1400" dirty="0" err="1"/>
                  <a:t>l'ipotesi</a:t>
                </a:r>
                <a:r>
                  <a:rPr lang="en-US" sz="1400" dirty="0"/>
                  <a:t> di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→0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𝑜𝑣𝑣𝑒𝑟</m:t>
                        </m:r>
                        <m:r>
                          <m:rPr>
                            <m:sty m:val="p"/>
                          </m:rP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a:rPr lang="en-US" sz="1400" i="0" dirty="0">
                            <a:latin typeface="Cambria Math" panose="02040503050406030204" pitchFamily="18" charset="0"/>
                          </a:rPr>
                          <m:t>→∞</m:t>
                        </m:r>
                      </m:e>
                    </m:d>
                  </m:oMath>
                </a14:m>
                <a:r>
                  <a:rPr lang="en-US" sz="1400" dirty="0"/>
                  <a:t>, </a:t>
                </a:r>
                <a:r>
                  <a:rPr lang="en-US" sz="1400" dirty="0" err="1"/>
                  <a:t>si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applica</a:t>
                </a:r>
                <a:r>
                  <a:rPr lang="en-US" sz="1400" dirty="0"/>
                  <a:t> la </a:t>
                </a:r>
                <a:r>
                  <a:rPr lang="en-US" sz="1400" b="1" dirty="0"/>
                  <a:t>formula Totter</a:t>
                </a:r>
                <a:endParaRPr lang="en-US" sz="1400" dirty="0"/>
              </a:p>
              <a:p>
                <a:pPr/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r>
                        <a:rPr lang="en-US" sz="1400" i="0" dirty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limLoc m:val="undOvr"/>
                                      <m:supHide m:val="on"/>
                                      <m:ctrlP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/>
                                    <m:e>
                                      <m:sSup>
                                        <m:sSupPr>
                                          <m:ctrlP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r>
                                            <a:rPr lang="en-US" sz="1400" i="0" dirty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𝐻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f>
                                            <m:fPr>
                                              <m:ctrlP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</m:e>
                                  </m:nary>
                                </m:e>
                              </m:d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r>
                  <a:rPr lang="en-US" sz="1400" dirty="0"/>
                  <a:t>Per un </a:t>
                </a:r>
                <a:r>
                  <a:rPr lang="en-US" sz="1400" dirty="0" err="1"/>
                  <a:t>numero</a:t>
                </a:r>
                <a:r>
                  <a:rPr lang="en-US" sz="1400" dirty="0"/>
                  <a:t> di step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400" dirty="0"/>
                  <a:t> finito, </a:t>
                </a:r>
                <a:r>
                  <a:rPr lang="en-US" sz="1400" dirty="0" err="1"/>
                  <a:t>l'approssimazione</a:t>
                </a:r>
                <a:r>
                  <a:rPr lang="en-US" sz="1400" dirty="0"/>
                  <a:t> al primo </a:t>
                </a:r>
                <a:r>
                  <a:rPr lang="en-US" sz="1400" dirty="0" err="1"/>
                  <a:t>ordine</a:t>
                </a:r>
                <a:r>
                  <a:rPr lang="en-US" sz="1400" dirty="0"/>
                  <a:t> introduce un </a:t>
                </a:r>
                <a:r>
                  <a:rPr lang="en-US" sz="1400" dirty="0" err="1"/>
                  <a:t>errore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controllabile</a:t>
                </a:r>
                <a:r>
                  <a:rPr lang="en-US" sz="1400" dirty="0"/>
                  <a:t> (</a:t>
                </a:r>
                <a:r>
                  <a:rPr lang="en-US" sz="1400" dirty="0" err="1"/>
                  <a:t>errore</a:t>
                </a:r>
                <a:r>
                  <a:rPr lang="en-US" sz="1400" dirty="0"/>
                  <a:t> di Trotter) legato ai </a:t>
                </a:r>
                <a:r>
                  <a:rPr lang="en-US" sz="1400" dirty="0" err="1"/>
                  <a:t>commutatori</a:t>
                </a:r>
                <a:endParaRPr lang="en-US" sz="1400" dirty="0"/>
              </a:p>
              <a:p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𝑖𝐻</m:t>
                          </m:r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400">
                          <a:latin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sz="1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dirty="0">
                          <a:latin typeface="Cambria Math" panose="02040503050406030204" pitchFamily="18" charset="0"/>
                        </a:rPr>
                        <m:t>𝒪</m:t>
                      </m:r>
                      <m:d>
                        <m:d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den>
                          </m:f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5B84FBB-B33B-65D0-4B60-4C7A3C4FD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37" y="2148840"/>
                <a:ext cx="10908792" cy="5142755"/>
              </a:xfrm>
              <a:prstGeom prst="rect">
                <a:avLst/>
              </a:prstGeom>
              <a:blipFill>
                <a:blip r:embed="rId4"/>
                <a:stretch>
                  <a:fillRect l="-168" t="-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Circuito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due qubit (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Dimero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100" dirty="0"/>
          </a:p>
        </p:txBody>
      </p:sp>
      <p:pic>
        <p:nvPicPr>
          <p:cNvPr id="12" name="Image 3" descr="/home/claude/deck/assets/preview_s6_breakout.png" hidden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23360"/>
            <a:ext cx="4572000" cy="2331720"/>
          </a:xfrm>
          <a:prstGeom prst="rect">
            <a:avLst/>
          </a:prstGeom>
        </p:spPr>
      </p:pic>
      <p:sp>
        <p:nvSpPr>
          <p:cNvPr id="13" name="Text 7" hidden="1"/>
          <p:cNvSpPr txBox="1"/>
          <p:nvPr/>
        </p:nvSpPr>
        <p:spPr>
          <a:xfrm>
            <a:off x="5486400" y="4023360"/>
            <a:ext cx="60624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rotazioni Ry indipendenti rompono la conservazione di M — a partire da |10⟩ si copre l'intero spazio a 2 qubit (F = 1)</a:t>
            </a:r>
            <a:endParaRPr lang="en-US" sz="17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3345620-629D-B964-53EC-3DECB48A8B9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58368" y="2269261"/>
            <a:ext cx="8477143" cy="2036858"/>
          </a:xfrm>
          <a:prstGeom prst="rect">
            <a:avLst/>
          </a:prstGeom>
        </p:spPr>
      </p:pic>
      <p:sp>
        <p:nvSpPr>
          <p:cNvPr id="24" name="Text 7">
            <a:extLst>
              <a:ext uri="{FF2B5EF4-FFF2-40B4-BE49-F238E27FC236}">
                <a16:creationId xmlns:a16="http://schemas.microsoft.com/office/drawing/2014/main" id="{B862225E-7227-3EEC-FCB1-385D2BB725DB}"/>
              </a:ext>
            </a:extLst>
          </p:cNvPr>
          <p:cNvSpPr txBox="1"/>
          <p:nvPr/>
        </p:nvSpPr>
        <p:spPr>
          <a:xfrm>
            <a:off x="640080" y="5679269"/>
            <a:ext cx="5151121" cy="93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FontTx/>
              <a:buChar char="■"/>
            </a:pPr>
            <a:r>
              <a:rPr lang="en-US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Hardware: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/>
              <a:t>Trasforma</a:t>
            </a:r>
            <a:r>
              <a:rPr lang="en-US" dirty="0"/>
              <a:t> un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globale</a:t>
            </a:r>
            <a:r>
              <a:rPr lang="en-US" dirty="0"/>
              <a:t> continuo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sequenza</a:t>
            </a:r>
            <a:r>
              <a:rPr lang="en-US" dirty="0"/>
              <a:t> </a:t>
            </a:r>
            <a:r>
              <a:rPr lang="en-US" dirty="0" err="1"/>
              <a:t>discreta</a:t>
            </a:r>
            <a:r>
              <a:rPr lang="en-US" dirty="0"/>
              <a:t> di </a:t>
            </a:r>
            <a:r>
              <a:rPr lang="en-US" dirty="0" err="1"/>
              <a:t>circuiti</a:t>
            </a:r>
            <a:r>
              <a:rPr lang="en-US" dirty="0"/>
              <a:t> a </a:t>
            </a:r>
            <a:r>
              <a:rPr lang="en-US" dirty="0" err="1"/>
              <a:t>blocchi</a:t>
            </a:r>
            <a:r>
              <a:rPr lang="en-US" dirty="0"/>
              <a:t> </a:t>
            </a:r>
            <a:r>
              <a:rPr lang="en-US" dirty="0" err="1"/>
              <a:t>ripetuti</a:t>
            </a:r>
            <a:r>
              <a:rPr lang="en-US" dirty="0"/>
              <a:t>, </a:t>
            </a:r>
            <a:r>
              <a:rPr lang="en-US" dirty="0" err="1"/>
              <a:t>ideale</a:t>
            </a:r>
            <a:r>
              <a:rPr lang="en-US" dirty="0"/>
              <a:t> per </a:t>
            </a:r>
            <a:r>
              <a:rPr lang="en-US" dirty="0" err="1"/>
              <a:t>l'hardware</a:t>
            </a:r>
            <a:r>
              <a:rPr lang="en-US" dirty="0"/>
              <a:t> </a:t>
            </a:r>
            <a:r>
              <a:rPr lang="en-US" dirty="0" err="1"/>
              <a:t>quantistico</a:t>
            </a:r>
            <a:r>
              <a:rPr lang="en-US" dirty="0"/>
              <a:t> </a:t>
            </a:r>
            <a:r>
              <a:rPr lang="en-US" dirty="0" err="1"/>
              <a:t>digitale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7">
                <a:extLst>
                  <a:ext uri="{FF2B5EF4-FFF2-40B4-BE49-F238E27FC236}">
                    <a16:creationId xmlns:a16="http://schemas.microsoft.com/office/drawing/2014/main" id="{C9B64EBA-6147-767A-358E-5C825C20FBF1}"/>
                  </a:ext>
                </a:extLst>
              </p:cNvPr>
              <p:cNvSpPr txBox="1"/>
              <p:nvPr/>
            </p:nvSpPr>
            <p:spPr>
              <a:xfrm>
                <a:off x="640080" y="4445627"/>
                <a:ext cx="5151121" cy="13626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279400" indent="-279400">
                  <a:buSzPct val="100000"/>
                  <a:buFontTx/>
                  <a:buChar char="■"/>
                </a:pPr>
                <a:r>
                  <a:rPr lang="en-US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Esponenziazione</a:t>
                </a:r>
                <a:r>
                  <a:rPr lang="en-US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Locale: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/>
                  <a:t>Ogni </a:t>
                </a:r>
                <a:r>
                  <a:rPr lang="en-US" dirty="0" err="1"/>
                  <a:t>singolo</a:t>
                </a:r>
                <a:r>
                  <a:rPr lang="en-US" dirty="0"/>
                  <a:t> </a:t>
                </a:r>
                <a:r>
                  <a:rPr lang="en-US" dirty="0" err="1"/>
                  <a:t>blocco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i="0" dirty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viene </a:t>
                </a:r>
                <a:r>
                  <a:rPr lang="en-US" dirty="0" err="1"/>
                  <a:t>tradotto</a:t>
                </a:r>
                <a:r>
                  <a:rPr lang="en-US" dirty="0"/>
                  <a:t> </a:t>
                </a:r>
                <a:r>
                  <a:rPr lang="en-US" dirty="0" err="1"/>
                  <a:t>direttamente</a:t>
                </a:r>
                <a:r>
                  <a:rPr lang="en-US" dirty="0"/>
                  <a:t> in </a:t>
                </a:r>
                <a:r>
                  <a:rPr lang="en-US" dirty="0" err="1"/>
                  <a:t>porte</a:t>
                </a:r>
                <a:r>
                  <a:rPr lang="en-US" dirty="0"/>
                  <a:t> </a:t>
                </a:r>
                <a:r>
                  <a:rPr lang="en-US" dirty="0" err="1"/>
                  <a:t>quantistiche</a:t>
                </a:r>
                <a:r>
                  <a:rPr lang="en-US" dirty="0"/>
                  <a:t> </a:t>
                </a:r>
                <a:r>
                  <a:rPr lang="en-US" dirty="0" err="1"/>
                  <a:t>elementari</a:t>
                </a:r>
                <a:r>
                  <a:rPr lang="en-US" dirty="0"/>
                  <a:t>.</a:t>
                </a:r>
              </a:p>
              <a:p>
                <a:pPr marL="279400" indent="-279400">
                  <a:buSzPct val="100000"/>
                  <a:buFontTx/>
                  <a:buChar char="■"/>
                </a:pPr>
                <a:endParaRPr lang="en-US" dirty="0"/>
              </a:p>
            </p:txBody>
          </p:sp>
        </mc:Choice>
        <mc:Fallback xmlns="">
          <p:sp>
            <p:nvSpPr>
              <p:cNvPr id="25" name="Text 7">
                <a:extLst>
                  <a:ext uri="{FF2B5EF4-FFF2-40B4-BE49-F238E27FC236}">
                    <a16:creationId xmlns:a16="http://schemas.microsoft.com/office/drawing/2014/main" id="{C9B64EBA-6147-767A-358E-5C825C20F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4445627"/>
                <a:ext cx="5151121" cy="1362669"/>
              </a:xfrm>
              <a:prstGeom prst="rect">
                <a:avLst/>
              </a:prstGeom>
              <a:blipFill>
                <a:blip r:embed="rId5"/>
                <a:stretch>
                  <a:fillRect l="-24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Picture 28" hidden="1">
            <a:extLst>
              <a:ext uri="{FF2B5EF4-FFF2-40B4-BE49-F238E27FC236}">
                <a16:creationId xmlns:a16="http://schemas.microsoft.com/office/drawing/2014/main" id="{1966943B-1F22-FD6B-9A21-011908E1CF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7183" y="2345519"/>
            <a:ext cx="5484994" cy="1465285"/>
          </a:xfrm>
          <a:prstGeom prst="rect">
            <a:avLst/>
          </a:prstGeom>
        </p:spPr>
      </p:pic>
      <p:pic>
        <p:nvPicPr>
          <p:cNvPr id="31" name="Picture 30" hidden="1">
            <a:extLst>
              <a:ext uri="{FF2B5EF4-FFF2-40B4-BE49-F238E27FC236}">
                <a16:creationId xmlns:a16="http://schemas.microsoft.com/office/drawing/2014/main" id="{4EC42088-BA5A-CE4E-9EAC-56C235061F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2" y="5463646"/>
            <a:ext cx="4741339" cy="1394354"/>
          </a:xfrm>
          <a:prstGeom prst="rect">
            <a:avLst/>
          </a:prstGeom>
        </p:spPr>
      </p:pic>
      <p:pic>
        <p:nvPicPr>
          <p:cNvPr id="33" name="Picture 32" hidden="1">
            <a:extLst>
              <a:ext uri="{FF2B5EF4-FFF2-40B4-BE49-F238E27FC236}">
                <a16:creationId xmlns:a16="http://schemas.microsoft.com/office/drawing/2014/main" id="{E7800E15-7499-93BA-0CA8-143D85CD14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2" y="4071492"/>
            <a:ext cx="5077447" cy="129605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528C95B-5B11-CC46-6B6C-8F23F73122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4232502"/>
                  </p:ext>
                </p:extLst>
              </p:nvPr>
            </p:nvGraphicFramePr>
            <p:xfrm>
              <a:off x="5887211" y="4624233"/>
              <a:ext cx="5724966" cy="167882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62483">
                      <a:extLst>
                        <a:ext uri="{9D8B030D-6E8A-4147-A177-3AD203B41FA5}">
                          <a16:colId xmlns:a16="http://schemas.microsoft.com/office/drawing/2014/main" val="2110275228"/>
                        </a:ext>
                      </a:extLst>
                    </a:gridCol>
                    <a:gridCol w="2862483">
                      <a:extLst>
                        <a:ext uri="{9D8B030D-6E8A-4147-A177-3AD203B41FA5}">
                          <a16:colId xmlns:a16="http://schemas.microsoft.com/office/drawing/2014/main" val="660264833"/>
                        </a:ext>
                      </a:extLst>
                    </a:gridCol>
                  </a:tblGrid>
                  <a:tr h="4123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/>
                            <a:t>Termine di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oMath>
                          </a14:m>
                          <a:r>
                            <a:rPr lang="en-US" sz="1400" dirty="0">
                              <a:effectLst/>
                            </a:rPr>
                            <a:t>H</a:t>
                          </a:r>
                          <a:endParaRPr lang="en-US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Blocchi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 b="1" i="0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1400" b="1" i="0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Δ</m:t>
                                  </m:r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𝑡</m:t>
                                  </m:r>
                                </m:sup>
                              </m:sSup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44284243"/>
                      </a:ext>
                    </a:extLst>
                  </a:tr>
                  <a:tr h="4681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2​+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2​+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94692388"/>
                      </a:ext>
                    </a:extLst>
                  </a:tr>
                  <a:tr h="3991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latin typeface="Cambria Math" panose="02040503050406030204" pitchFamily="18" charset="0"/>
                                      </a:rPr>
                                      <m:t>1​+</m:t>
                                    </m:r>
                                    <m: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𝑌𝑌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067340"/>
                      </a:ext>
                    </a:extLst>
                  </a:tr>
                  <a:tr h="3991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2​−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3127168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528C95B-5B11-CC46-6B6C-8F23F73122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4232502"/>
                  </p:ext>
                </p:extLst>
              </p:nvPr>
            </p:nvGraphicFramePr>
            <p:xfrm>
              <a:off x="5887211" y="4624233"/>
              <a:ext cx="5724966" cy="167882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62483">
                      <a:extLst>
                        <a:ext uri="{9D8B030D-6E8A-4147-A177-3AD203B41FA5}">
                          <a16:colId xmlns:a16="http://schemas.microsoft.com/office/drawing/2014/main" val="2110275228"/>
                        </a:ext>
                      </a:extLst>
                    </a:gridCol>
                    <a:gridCol w="2862483">
                      <a:extLst>
                        <a:ext uri="{9D8B030D-6E8A-4147-A177-3AD203B41FA5}">
                          <a16:colId xmlns:a16="http://schemas.microsoft.com/office/drawing/2014/main" val="660264833"/>
                        </a:ext>
                      </a:extLst>
                    </a:gridCol>
                  </a:tblGrid>
                  <a:tr h="4123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213" t="-1471" r="-101064" b="-3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213" t="-1471" r="-1064" b="-3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4284243"/>
                      </a:ext>
                    </a:extLst>
                  </a:tr>
                  <a:tr h="46816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13" t="-89610" r="-101064" b="-1740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213" t="-89610" r="-1064" b="-1740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692388"/>
                      </a:ext>
                    </a:extLst>
                  </a:tr>
                  <a:tr h="3991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13" t="-224615" r="-101064" b="-10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213" t="-224615" r="-1064" b="-10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067340"/>
                      </a:ext>
                    </a:extLst>
                  </a:tr>
                  <a:tr h="3991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13" t="-319697" r="-101064" b="-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213" t="-319697" r="-1064" b="-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31271688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1249</Words>
  <Application>Microsoft Office PowerPoint</Application>
  <PresentationFormat>Widescreen</PresentationFormat>
  <Paragraphs>135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simulation of molecular spin systems on quantum hardware</dc:title>
  <dc:subject>PptxGenJS Presentation</dc:subject>
  <dc:creator>Samuele Schiavi</dc:creator>
  <cp:lastModifiedBy>Samuele SCHIAVI</cp:lastModifiedBy>
  <cp:revision>4</cp:revision>
  <dcterms:created xsi:type="dcterms:W3CDTF">2026-09-14T09:54:52Z</dcterms:created>
  <dcterms:modified xsi:type="dcterms:W3CDTF">2026-09-16T16:27:27Z</dcterms:modified>
</cp:coreProperties>
</file>