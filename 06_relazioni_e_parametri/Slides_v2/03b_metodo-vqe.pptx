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5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</a:t>
                </a:r>
                <a:endParaRPr lang="en-US" sz="2100" dirty="0"/>
              </a:p>
            </p:txBody>
          </p:sp>
        </mc:Choice>
        <mc:Fallback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881346"/>
            <a:ext cx="2883529" cy="13975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444" y="5369481"/>
            <a:ext cx="2029968" cy="1397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4486961" y="4489854"/>
                <a:ext cx="2901391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/>
                  <a:t>Reconfigurable Beam Splitter (RBS)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4489854"/>
                <a:ext cx="2901391" cy="566630"/>
              </a:xfrm>
              <a:prstGeom prst="rect">
                <a:avLst/>
              </a:prstGeom>
              <a:blipFill>
                <a:blip r:embed="rId6"/>
                <a:stretch>
                  <a:fillRect l="-630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1202AE6D-BA83-FC1A-5B00-CBAA8C1B0A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219686"/>
            <a:ext cx="3639312" cy="16576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4486961" y="6034727"/>
                <a:ext cx="290139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6034727"/>
                <a:ext cx="2901391" cy="351186"/>
              </a:xfrm>
              <a:prstGeom prst="rect">
                <a:avLst/>
              </a:prstGeom>
              <a:blipFill>
                <a:blip r:embed="rId8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DE42808-D3A4-1FF1-B937-BEF174C605C2}"/>
                  </a:ext>
                </a:extLst>
              </p:cNvPr>
              <p:cNvSpPr txBox="1"/>
              <p:nvPr/>
            </p:nvSpPr>
            <p:spPr>
              <a:xfrm>
                <a:off x="4486961" y="2854740"/>
                <a:ext cx="2901391" cy="574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complesso</a:t>
                </a:r>
                <a:r>
                  <a:rPr lang="en-US" sz="1400" dirty="0"/>
                  <a:t>,  </a:t>
                </a:r>
                <a:r>
                  <a:rPr lang="en-US" sz="1400" dirty="0" err="1"/>
                  <a:t>fase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immaginaria</a:t>
                </a:r>
                <a:r>
                  <a:rPr lang="en-US" sz="1400" dirty="0"/>
                  <a:t> [*]</a:t>
                </a: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DE42808-D3A4-1FF1-B937-BEF174C60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961" y="2854740"/>
                <a:ext cx="2901391" cy="574260"/>
              </a:xfrm>
              <a:prstGeom prst="rect">
                <a:avLst/>
              </a:prstGeom>
              <a:blipFill>
                <a:blip r:embed="rId9"/>
                <a:stretch>
                  <a:fillRect l="-63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2504550"/>
                  </p:ext>
                </p:extLst>
              </p:nvPr>
            </p:nvGraphicFramePr>
            <p:xfrm>
              <a:off x="8129575" y="3513564"/>
              <a:ext cx="3422040" cy="1759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258186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  <a:tr h="2581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21010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2504550"/>
                  </p:ext>
                </p:extLst>
              </p:nvPr>
            </p:nvGraphicFramePr>
            <p:xfrm>
              <a:off x="8129575" y="3513564"/>
              <a:ext cx="3422040" cy="17594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680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140680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183333" r="-20320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283333" r="-203209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535" t="-359375" r="-203209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21010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4706F4A-9483-5611-8E90-BBE298A5371A}"/>
              </a:ext>
            </a:extLst>
          </p:cNvPr>
          <p:cNvSpPr txBox="1"/>
          <p:nvPr/>
        </p:nvSpPr>
        <p:spPr>
          <a:xfrm>
            <a:off x="8403336" y="6528518"/>
            <a:ext cx="3495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Crippa et al., </a:t>
            </a:r>
            <a:r>
              <a:rPr lang="en-US" sz="1000" i="1" dirty="0"/>
              <a:t>Magnetochemistry</a:t>
            </a:r>
            <a:r>
              <a:rPr lang="en-US" sz="1000" dirty="0"/>
              <a:t> </a:t>
            </a:r>
            <a:r>
              <a:rPr lang="en-US" sz="1000" b="1" dirty="0"/>
              <a:t>7</a:t>
            </a:r>
            <a:r>
              <a:rPr lang="en-US" sz="1000" dirty="0"/>
              <a:t>, 117 (2021), Eq. (5)-(6)</a:t>
            </a:r>
          </a:p>
          <a:p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-137161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Circuiti</a:t>
                </a:r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161" y="1615055"/>
                <a:ext cx="10911535" cy="415498"/>
              </a:xfrm>
              <a:prstGeom prst="rect">
                <a:avLst/>
              </a:prstGeom>
              <a:blipFill>
                <a:blip r:embed="rId11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Image 0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264408"/>
            <a:ext cx="3320851" cy="1325880"/>
          </a:xfrm>
          <a:prstGeom prst="rect">
            <a:avLst/>
          </a:prstGeom>
        </p:spPr>
      </p:pic>
      <p:pic>
        <p:nvPicPr>
          <p:cNvPr id="47" name="Image 1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347" y="3338699"/>
            <a:ext cx="4278335" cy="1325880"/>
          </a:xfrm>
          <a:prstGeom prst="rect">
            <a:avLst/>
          </a:prstGeom>
        </p:spPr>
      </p:pic>
      <p:pic>
        <p:nvPicPr>
          <p:cNvPr id="49" name="Image 2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79392" y="3303181"/>
            <a:ext cx="2321794" cy="1325880"/>
          </a:xfrm>
          <a:prstGeom prst="rect">
            <a:avLst/>
          </a:prstGeom>
        </p:spPr>
      </p:pic>
      <p:sp>
        <p:nvSpPr>
          <p:cNvPr id="51" name="Text 4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645152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675535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664579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HA</a:t>
            </a:r>
            <a:r>
              <a:rPr lang="en-US" sz="1600" dirty="0"/>
              <a:t>: </a:t>
            </a:r>
            <a:r>
              <a:rPr lang="en-US" sz="1600" dirty="0" err="1"/>
              <a:t>termine</a:t>
            </a:r>
            <a:r>
              <a:rPr lang="en-US" sz="1600" dirty="0"/>
              <a:t> di </a:t>
            </a:r>
            <a:r>
              <a:rPr lang="en-US" sz="1600" dirty="0" err="1"/>
              <a:t>confronto</a:t>
            </a:r>
            <a:r>
              <a:rPr lang="en-US" sz="1600" dirty="0"/>
              <a:t> (baseline </a:t>
            </a:r>
            <a:r>
              <a:rPr lang="en-US" sz="1600" dirty="0" err="1"/>
              <a:t>generica</a:t>
            </a:r>
            <a:r>
              <a:rPr lang="en-US" sz="1600" dirty="0"/>
              <a:t>, senza </a:t>
            </a:r>
            <a:r>
              <a:rPr lang="en-US" sz="1600" dirty="0" err="1"/>
              <a:t>usare</a:t>
            </a:r>
            <a:r>
              <a:rPr lang="en-US" sz="1600" dirty="0"/>
              <a:t> la </a:t>
            </a:r>
            <a:r>
              <a:rPr lang="en-US" sz="1600" dirty="0" err="1"/>
              <a:t>fisica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PMA base: </a:t>
                </a:r>
                <a:r>
                  <a:rPr lang="en-US" sz="1600" dirty="0"/>
                  <a:t>a </a:t>
                </a:r>
                <a14:m>
                  <m:oMath xmlns:m="http://schemas.openxmlformats.org/officeDocument/2006/math">
                    <m:r>
                      <a:rPr lang="en-US" sz="1600" i="1"/>
                      <m:t>𝐷</m:t>
                    </m:r>
                    <m:r>
                      <a:rPr lang="en-US" sz="1600"/>
                      <m:t>=0</m:t>
                    </m:r>
                  </m:oMath>
                </a14:m>
                <a:r>
                  <a:rPr lang="en-US" sz="1600" dirty="0"/>
                  <a:t> il </a:t>
                </a:r>
                <a:r>
                  <a:rPr lang="en-US" sz="1600" dirty="0" err="1"/>
                  <a:t>singoletto</a:t>
                </a:r>
                <a:r>
                  <a:rPr lang="en-US" sz="1600" dirty="0"/>
                  <a:t> è lo </a:t>
                </a:r>
                <a:r>
                  <a:rPr lang="en-US" sz="1600" dirty="0" err="1"/>
                  <a:t>stato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fondamentale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esatto</a:t>
                </a:r>
                <a:r>
                  <a:rPr lang="en-US" sz="1600" dirty="0"/>
                  <a:t> - </a:t>
                </a:r>
                <a14:m>
                  <m:oMath xmlns:m="http://schemas.openxmlformats.org/officeDocument/2006/math">
                    <m:r>
                      <a:rPr lang="en-US" sz="1600" i="1"/>
                      <m:t>𝑊</m:t>
                    </m:r>
                    <m:d>
                      <m:dPr>
                        <m:ctrlPr>
                          <a:rPr lang="en-US" sz="1600" i="1"/>
                        </m:ctrlPr>
                      </m:dPr>
                      <m:e>
                        <m:r>
                          <a:rPr lang="en-US" sz="1600" i="1"/>
                          <m:t>𝜃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aggiunge</a:t>
                </a:r>
                <a:r>
                  <a:rPr lang="en-US" sz="1600" dirty="0"/>
                  <a:t> solo la </a:t>
                </a:r>
                <a:r>
                  <a:rPr lang="en-US" sz="1600" dirty="0" err="1"/>
                  <a:t>flessibilità</a:t>
                </a:r>
                <a:r>
                  <a:rPr lang="en-US" sz="1600" dirty="0"/>
                  <a:t> minima per la </a:t>
                </a:r>
                <a:r>
                  <a:rPr lang="en-US" sz="1600" dirty="0" err="1"/>
                  <a:t>piccola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perturbazione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/>
                      <m:t>𝐷</m:t>
                    </m:r>
                    <m:r>
                      <a:rPr lang="en-US" sz="1600"/>
                      <m:t>≠0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1077218"/>
              </a:xfrm>
              <a:prstGeom prst="rect">
                <a:avLst/>
              </a:prstGeom>
              <a:blipFill>
                <a:blip r:embed="rId15"/>
                <a:stretch>
                  <a:fillRect l="-951"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279392" y="5184948"/>
                <a:ext cx="280290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PMA </a:t>
                </a:r>
                <a:r>
                  <a:rPr lang="en-US" sz="1600" b="1" dirty="0" err="1"/>
                  <a:t>esteso</a:t>
                </a:r>
                <a:r>
                  <a:rPr lang="en-US" sz="1600" b="1" dirty="0"/>
                  <a:t>: </a:t>
                </a:r>
                <a:r>
                  <a:rPr lang="en-US" sz="1600" dirty="0"/>
                  <a:t>PMA base non basta </a:t>
                </a:r>
                <a:r>
                  <a:rPr lang="en-US" sz="1600" dirty="0" err="1"/>
                  <a:t>vicino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all'incrocio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limite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parità</a:t>
                </a:r>
                <a:r>
                  <a:rPr lang="en-US" sz="1600" dirty="0"/>
                  <a:t>) — le due </a:t>
                </a:r>
                <a:r>
                  <a:rPr lang="en-US" sz="1600" dirty="0" err="1"/>
                  <a:t>rotazioni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indipendenti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rompono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quel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vincolo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recuperando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/>
                      <m:t>ℱ</m:t>
                    </m:r>
                    <m:r>
                      <a:rPr lang="en-US" sz="1600"/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392" y="5184948"/>
                <a:ext cx="2802905" cy="1323439"/>
              </a:xfrm>
              <a:prstGeom prst="rect">
                <a:avLst/>
              </a:prstGeom>
              <a:blipFill>
                <a:blip r:embed="rId16"/>
                <a:stretch>
                  <a:fillRect l="-1087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507445"/>
                <a:ext cx="10911535" cy="553998"/>
              </a:xfrm>
              <a:prstGeom prst="rect">
                <a:avLst/>
              </a:prstGeom>
              <a:blipFill>
                <a:blip r:embed="rId17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/>
      <p:bldP spid="38" grpId="0"/>
      <p:bldP spid="39" grpId="0"/>
      <p:bldP spid="41" grpId="0"/>
      <p:bldP spid="43" grpId="0"/>
      <p:bldP spid="51" grpId="0" animBg="1"/>
      <p:bldP spid="55" grpId="0" animBg="1"/>
      <p:bldP spid="57" grpId="0" animBg="1"/>
      <p:bldP spid="58" grpId="0"/>
      <p:bldP spid="59" grpId="0"/>
      <p:bldP spid="60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224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39</cp:revision>
  <dcterms:created xsi:type="dcterms:W3CDTF">2026-09-14T14:04:34Z</dcterms:created>
  <dcterms:modified xsi:type="dcterms:W3CDTF">2026-09-16T14:33:28Z</dcterms:modified>
</cp:coreProperties>
</file>