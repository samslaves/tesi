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Primitive a due qubit (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Dimero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endParaRPr lang="en-US" sz="2100" dirty="0"/>
              </a:p>
            </p:txBody>
          </p:sp>
        </mc:Choice>
        <mc:Fallback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1D639B5-F246-0FD2-4065-0BF8083F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881346"/>
            <a:ext cx="2883529" cy="13975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8791585-7F09-865E-220C-E61E87F7D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444" y="5369481"/>
            <a:ext cx="2029968" cy="13975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/>
              <p:nvPr/>
            </p:nvSpPr>
            <p:spPr>
              <a:xfrm>
                <a:off x="4486961" y="4489854"/>
                <a:ext cx="2901391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400" dirty="0"/>
                  <a:t> - 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.</a:t>
                </a:r>
              </a:p>
              <a:p>
                <a:r>
                  <a:rPr lang="en-US" sz="1400" dirty="0"/>
                  <a:t>Reconfigurable Beam Splitter (RBS)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61" y="4489854"/>
                <a:ext cx="2901391" cy="566630"/>
              </a:xfrm>
              <a:prstGeom prst="rect">
                <a:avLst/>
              </a:prstGeom>
              <a:blipFill>
                <a:blip r:embed="rId6"/>
                <a:stretch>
                  <a:fillRect l="-63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1202AE6D-BA83-FC1A-5B00-CBAA8C1B0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219686"/>
            <a:ext cx="3639312" cy="16576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/>
              <p:nvPr/>
            </p:nvSpPr>
            <p:spPr>
              <a:xfrm>
                <a:off x="4486961" y="6034727"/>
                <a:ext cx="2901391" cy="35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reale</a:t>
                </a:r>
                <a:endParaRPr lang="en-US" sz="1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61" y="6034727"/>
                <a:ext cx="2901391" cy="351186"/>
              </a:xfrm>
              <a:prstGeom prst="rect">
                <a:avLst/>
              </a:prstGeom>
              <a:blipFill>
                <a:blip r:embed="rId8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DE42808-D3A4-1FF1-B937-BEF174C605C2}"/>
                  </a:ext>
                </a:extLst>
              </p:cNvPr>
              <p:cNvSpPr txBox="1"/>
              <p:nvPr/>
            </p:nvSpPr>
            <p:spPr>
              <a:xfrm>
                <a:off x="4486961" y="2854740"/>
                <a:ext cx="2901391" cy="574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complesso</a:t>
                </a:r>
                <a:r>
                  <a:rPr lang="en-US" sz="1400" dirty="0"/>
                  <a:t>,  </a:t>
                </a:r>
                <a:r>
                  <a:rPr lang="en-US" sz="1400" dirty="0" err="1"/>
                  <a:t>fase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immaginaria</a:t>
                </a:r>
                <a:r>
                  <a:rPr lang="en-US" sz="1400" dirty="0"/>
                  <a:t> [*]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DE42808-D3A4-1FF1-B937-BEF174C60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61" y="2854740"/>
                <a:ext cx="2901391" cy="574260"/>
              </a:xfrm>
              <a:prstGeom prst="rect">
                <a:avLst/>
              </a:prstGeom>
              <a:blipFill>
                <a:blip r:embed="rId9"/>
                <a:stretch>
                  <a:fillRect l="-63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6592652"/>
                  </p:ext>
                </p:extLst>
              </p:nvPr>
            </p:nvGraphicFramePr>
            <p:xfrm>
              <a:off x="8129575" y="3513564"/>
              <a:ext cx="3422040" cy="17594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258186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𝑅𝐵𝑆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21010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6592652"/>
                  </p:ext>
                </p:extLst>
              </p:nvPr>
            </p:nvGraphicFramePr>
            <p:xfrm>
              <a:off x="8129575" y="3513564"/>
              <a:ext cx="3422040" cy="17594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535" t="-183333" r="-20320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535" t="-283333" r="-20320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535" t="-359375" r="-203209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21010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4706F4A-9483-5611-8E90-BBE298A5371A}"/>
              </a:ext>
            </a:extLst>
          </p:cNvPr>
          <p:cNvSpPr txBox="1"/>
          <p:nvPr/>
        </p:nvSpPr>
        <p:spPr>
          <a:xfrm>
            <a:off x="8403336" y="6528518"/>
            <a:ext cx="3495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Crippa et al., </a:t>
            </a:r>
            <a:r>
              <a:rPr lang="en-US" sz="1000" i="1" dirty="0"/>
              <a:t>Magnetochemistry</a:t>
            </a:r>
            <a:r>
              <a:rPr lang="en-US" sz="1000" dirty="0"/>
              <a:t> </a:t>
            </a:r>
            <a:r>
              <a:rPr lang="en-US" sz="1000" b="1" dirty="0"/>
              <a:t>7</a:t>
            </a:r>
            <a:r>
              <a:rPr lang="en-US" sz="1000" dirty="0"/>
              <a:t>, 117 (2021), Eq. (5)-(6)</a:t>
            </a:r>
          </a:p>
          <a:p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/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blipFill>
                <a:blip r:embed="rId11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Image 0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264408"/>
            <a:ext cx="3320851" cy="1325880"/>
          </a:xfrm>
          <a:prstGeom prst="rect">
            <a:avLst/>
          </a:prstGeom>
        </p:spPr>
      </p:pic>
      <p:pic>
        <p:nvPicPr>
          <p:cNvPr id="47" name="Image 1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347" y="3338699"/>
            <a:ext cx="4278335" cy="1325880"/>
          </a:xfrm>
          <a:prstGeom prst="rect">
            <a:avLst/>
          </a:prstGeom>
        </p:spPr>
      </p:pic>
      <p:pic>
        <p:nvPicPr>
          <p:cNvPr id="49" name="Image 2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9392" y="3303181"/>
            <a:ext cx="2321794" cy="1325880"/>
          </a:xfrm>
          <a:prstGeom prst="rect">
            <a:avLst/>
          </a:prstGeom>
        </p:spPr>
      </p:pic>
      <p:sp>
        <p:nvSpPr>
          <p:cNvPr id="51" name="Text 4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645152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675535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664579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600" dirty="0"/>
              <a:t>: </a:t>
            </a:r>
            <a:r>
              <a:rPr lang="en-US" sz="1600" dirty="0" err="1"/>
              <a:t>termine</a:t>
            </a:r>
            <a:r>
              <a:rPr lang="en-US" sz="1600" dirty="0"/>
              <a:t> di </a:t>
            </a:r>
            <a:r>
              <a:rPr lang="en-US" sz="1600" dirty="0" err="1"/>
              <a:t>confronto</a:t>
            </a:r>
            <a:r>
              <a:rPr lang="en-US" sz="1600" dirty="0"/>
              <a:t> (baseline </a:t>
            </a:r>
            <a:r>
              <a:rPr lang="en-US" sz="1600" dirty="0" err="1"/>
              <a:t>generica</a:t>
            </a:r>
            <a:r>
              <a:rPr lang="en-US" sz="1600" dirty="0"/>
              <a:t>, senza </a:t>
            </a:r>
            <a:r>
              <a:rPr lang="en-US" sz="1600" dirty="0" err="1"/>
              <a:t>usare</a:t>
            </a:r>
            <a:r>
              <a:rPr lang="en-US" sz="1600" dirty="0"/>
              <a:t> la </a:t>
            </a:r>
            <a:r>
              <a:rPr lang="en-US" sz="1600" dirty="0" err="1"/>
              <a:t>fisica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r>
              <a:rPr lang="en-US" sz="16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/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base</a:t>
                </a:r>
                <a:r>
                  <a:rPr lang="en-US" sz="1600" b="1" dirty="0"/>
                  <a:t>: </a:t>
                </a:r>
                <a:r>
                  <a:rPr lang="en-US" sz="1600" dirty="0"/>
                  <a:t>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il </a:t>
                </a:r>
                <a:r>
                  <a:rPr lang="en-US" sz="1600" dirty="0" err="1"/>
                  <a:t>singoletto</a:t>
                </a:r>
                <a:r>
                  <a:rPr lang="en-US" sz="1600" dirty="0"/>
                  <a:t> è lo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fondamentale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esatto</a:t>
                </a:r>
                <a:r>
                  <a:rPr lang="en-US" sz="1600" dirty="0"/>
                  <a:t> -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aggiunge</a:t>
                </a:r>
                <a:r>
                  <a:rPr lang="en-US" sz="1600" dirty="0"/>
                  <a:t> solo la </a:t>
                </a:r>
                <a:r>
                  <a:rPr lang="en-US" sz="1600" dirty="0" err="1"/>
                  <a:t>flessibilità</a:t>
                </a:r>
                <a:r>
                  <a:rPr lang="en-US" sz="1600" dirty="0"/>
                  <a:t> minima per la </a:t>
                </a:r>
                <a:r>
                  <a:rPr lang="en-US" sz="1600" dirty="0" err="1"/>
                  <a:t>piccola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perturbazione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blipFill>
                <a:blip r:embed="rId15"/>
                <a:stretch>
                  <a:fillRect l="-951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/>
              <p:nvPr/>
            </p:nvSpPr>
            <p:spPr>
              <a:xfrm>
                <a:off x="4279392" y="5184948"/>
                <a:ext cx="280290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600" b="1" dirty="0"/>
                  <a:t>: </a:t>
                </a:r>
                <a:r>
                  <a:rPr lang="en-US" sz="1600" dirty="0"/>
                  <a:t>PMA base non basta </a:t>
                </a:r>
                <a:r>
                  <a:rPr lang="en-US" sz="1600" dirty="0" err="1"/>
                  <a:t>vicino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all'incrocio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limite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parità</a:t>
                </a:r>
                <a:r>
                  <a:rPr lang="en-US" sz="1600" dirty="0"/>
                  <a:t>) — le due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rompono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quel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vincolo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recuperando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92" y="5184948"/>
                <a:ext cx="2802905" cy="1323439"/>
              </a:xfrm>
              <a:prstGeom prst="rect">
                <a:avLst/>
              </a:prstGeom>
              <a:blipFill>
                <a:blip r:embed="rId16"/>
                <a:stretch>
                  <a:fillRect l="-1087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blipFill>
                <a:blip r:embed="rId17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5" grpId="0"/>
      <p:bldP spid="38" grpId="0"/>
      <p:bldP spid="39" grpId="0"/>
      <p:bldP spid="41" grpId="0"/>
      <p:bldP spid="43" grpId="0"/>
      <p:bldP spid="51" grpId="0" animBg="1"/>
      <p:bldP spid="55" grpId="0" animBg="1"/>
      <p:bldP spid="57" grpId="0" animBg="1"/>
      <p:bldP spid="58" grpId="0"/>
      <p:bldP spid="59" grpId="0"/>
      <p:bldP spid="60" grpId="0"/>
      <p:bldP spid="6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228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43</cp:revision>
  <dcterms:created xsi:type="dcterms:W3CDTF">2026-09-14T14:04:34Z</dcterms:created>
  <dcterms:modified xsi:type="dcterms:W3CDTF">2026-09-16T16:21:18Z</dcterms:modified>
</cp:coreProperties>
</file>