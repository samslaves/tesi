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1" y="3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392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2804301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</a:t>
            </a:r>
            <a:r>
              <a:rPr lang="en-US" dirty="0" err="1"/>
              <a:t>quantistica</a:t>
            </a:r>
            <a:r>
              <a:rPr lang="en-US" dirty="0"/>
              <a:t> dal dimero al trimero di spin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640080" y="385819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Affrontare</a:t>
            </a:r>
            <a:r>
              <a:rPr lang="en-US" dirty="0"/>
              <a:t> il </a:t>
            </a:r>
            <a:r>
              <a:rPr lang="en-US" dirty="0" err="1"/>
              <a:t>sistema</a:t>
            </a:r>
            <a:r>
              <a:rPr lang="en-US" dirty="0"/>
              <a:t> chiuso: stato fondamentale, dinamica, correlatori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40080" y="4886227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Affrontare</a:t>
            </a:r>
            <a:r>
              <a:rPr lang="en-US" dirty="0"/>
              <a:t> il </a:t>
            </a:r>
            <a:r>
              <a:rPr lang="en-US" dirty="0" err="1"/>
              <a:t>sistema</a:t>
            </a:r>
            <a:r>
              <a:rPr lang="en-US" dirty="0"/>
              <a:t> aperto: rumore realistico calibrato su hardware IBM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8C972C1-A68F-A424-B6E8-E8E790D220C1}"/>
              </a:ext>
            </a:extLst>
          </p:cNvPr>
          <p:cNvSpPr txBox="1"/>
          <p:nvPr/>
        </p:nvSpPr>
        <p:spPr>
          <a:xfrm>
            <a:off x="670560" y="1792224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Applicare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</a:t>
            </a:r>
            <a:r>
              <a:rPr lang="en-US" dirty="0" err="1"/>
              <a:t>quantistica</a:t>
            </a:r>
            <a:r>
              <a:rPr lang="en-US" dirty="0"/>
              <a:t> al </a:t>
            </a:r>
            <a:r>
              <a:rPr lang="en-US" dirty="0" err="1"/>
              <a:t>dimero</a:t>
            </a:r>
            <a:r>
              <a:rPr lang="en-US" dirty="0"/>
              <a:t> di spin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/>
              <p:nvPr/>
            </p:nvSpPr>
            <p:spPr>
              <a:xfrm>
                <a:off x="5791200" y="1924640"/>
                <a:ext cx="6098102" cy="3677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300" dirty="0"/>
                  <a:t>Il </a:t>
                </a:r>
                <a:r>
                  <a:rPr lang="en-US" sz="1300" dirty="0" err="1"/>
                  <a:t>caso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più</a:t>
                </a:r>
                <a:r>
                  <a:rPr lang="en-US" sz="1300" dirty="0"/>
                  <a:t> semplice </a:t>
                </a:r>
                <a:r>
                  <a:rPr lang="en-US" sz="1300" dirty="0" err="1"/>
                  <a:t>possibile</a:t>
                </a:r>
                <a:r>
                  <a:rPr lang="en-US" sz="1300" dirty="0"/>
                  <a:t>: due soli spin-1/2 </a:t>
                </a:r>
                <a:r>
                  <a:rPr lang="en-US" sz="1300" dirty="0" err="1"/>
                  <a:t>accoppiati</a:t>
                </a:r>
                <a:r>
                  <a:rPr lang="en-US" sz="1300" dirty="0"/>
                  <a:t>, </a:t>
                </a:r>
                <a:r>
                  <a:rPr lang="en-US" sz="1300" dirty="0" err="1"/>
                  <a:t>mappati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direttamente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su</a:t>
                </a:r>
                <a:r>
                  <a:rPr lang="en-US" sz="1300" dirty="0"/>
                  <a:t> </a:t>
                </a:r>
                <a:r>
                  <a:rPr lang="en-US" sz="1300" b="1" dirty="0"/>
                  <a:t>2 qubit</a:t>
                </a:r>
                <a:r>
                  <a:rPr lang="en-US" sz="1300" dirty="0"/>
                  <a:t>. La </a:t>
                </a:r>
                <a:r>
                  <a:rPr lang="en-US" sz="1300" dirty="0" err="1"/>
                  <a:t>sua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Hamiltoniana</a:t>
                </a:r>
                <a:r>
                  <a:rPr lang="en-US" sz="1300" dirty="0"/>
                  <a:t>, in termini delle </a:t>
                </a:r>
                <a:r>
                  <a:rPr lang="en-US" sz="1300" dirty="0" err="1"/>
                  <a:t>matrici</a:t>
                </a:r>
                <a:r>
                  <a:rPr lang="en-US" sz="1300" dirty="0"/>
                  <a:t> di Pauli:</a:t>
                </a:r>
                <a:endParaRPr lang="en-US" dirty="0"/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>
                      <m:r>
                        <a:rPr lang="en-US" sz="1400" i="1"/>
                        <m:t>𝐻</m:t>
                      </m:r>
                      <m:r>
                        <a:rPr lang="en-US" sz="1400"/>
                        <m:t>=</m:t>
                      </m:r>
                      <m:r>
                        <a:rPr lang="en-US" sz="1400" i="1"/>
                        <m:t>𝐽</m:t>
                      </m:r>
                      <m:r>
                        <m:rPr>
                          <m:nor/>
                        </m:rPr>
                        <a:rPr lang="en-US" sz="1400"/>
                        <m:t> </m:t>
                      </m:r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/>
                              </m:ctrlPr>
                            </m:accPr>
                            <m:e>
                              <m:r>
                                <a:rPr lang="en-US" sz="1400" i="1"/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400"/>
                            <m:t>1</m:t>
                          </m:r>
                        </m:sub>
                      </m:sSub>
                      <m:r>
                        <a:rPr lang="en-US" sz="1400"/>
                        <m:t>⋅</m:t>
                      </m:r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/>
                              </m:ctrlPr>
                            </m:accPr>
                            <m:e>
                              <m:r>
                                <a:rPr lang="en-US" sz="1400" i="1"/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400"/>
                            <m:t>2</m:t>
                          </m:r>
                        </m:sub>
                      </m:sSub>
                      <m:r>
                        <a:rPr lang="en-US" sz="1400"/>
                        <m:t>+</m:t>
                      </m:r>
                      <m:r>
                        <a:rPr lang="en-US" sz="1400" i="1"/>
                        <m:t>𝑏</m:t>
                      </m:r>
                      <m:d>
                        <m:dPr>
                          <m:ctrlPr>
                            <a:rPr lang="en-US" sz="1400" i="1"/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r>
                                <a:rPr lang="en-US" sz="1400" i="1"/>
                                <m:t>𝜎</m:t>
                              </m:r>
                            </m:e>
                            <m:sub>
                              <m:r>
                                <a:rPr lang="en-US" sz="1400"/>
                                <m:t>1</m:t>
                              </m:r>
                            </m:sub>
                            <m:sup>
                              <m:r>
                                <a:rPr lang="en-US" sz="1400" i="1"/>
                                <m:t>𝑧</m:t>
                              </m:r>
                            </m:sup>
                          </m:sSubSup>
                          <m:r>
                            <a:rPr lang="en-US" sz="1400"/>
                            <m:t>+</m:t>
                          </m:r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r>
                                <a:rPr lang="en-US" sz="1400" i="1"/>
                                <m:t>𝜎</m:t>
                              </m:r>
                            </m:e>
                            <m:sub>
                              <m:r>
                                <a:rPr lang="en-US" sz="1400"/>
                                <m:t>2</m:t>
                              </m:r>
                            </m:sub>
                            <m:sup>
                              <m:r>
                                <a:rPr lang="en-US" sz="1400" i="1"/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400"/>
                        <m:t>+</m:t>
                      </m:r>
                      <m:r>
                        <a:rPr lang="en-US" sz="1400" i="1"/>
                        <m:t>𝐷</m:t>
                      </m:r>
                      <m:d>
                        <m:dPr>
                          <m:ctrlPr>
                            <a:rPr lang="en-US" sz="1400" i="1"/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r>
                                <a:rPr lang="en-US" sz="1400" i="1"/>
                                <m:t>𝜎</m:t>
                              </m:r>
                            </m:e>
                            <m:sub>
                              <m:r>
                                <a:rPr lang="en-US" sz="1400"/>
                                <m:t>1</m:t>
                              </m:r>
                            </m:sub>
                            <m:sup>
                              <m:r>
                                <a:rPr lang="en-US" sz="1400" i="1"/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r>
                                <a:rPr lang="en-US" sz="1400" i="1"/>
                                <m:t>𝜎</m:t>
                              </m:r>
                            </m:e>
                            <m:sub>
                              <m:r>
                                <a:rPr lang="en-US" sz="1400"/>
                                <m:t>2</m:t>
                              </m:r>
                            </m:sub>
                            <m:sup>
                              <m:r>
                                <a:rPr lang="en-US" sz="1400" i="1"/>
                                <m:t>𝑧</m:t>
                              </m:r>
                            </m:sup>
                          </m:sSubSup>
                          <m:r>
                            <a:rPr lang="en-US" sz="1400"/>
                            <m:t>−</m:t>
                          </m:r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r>
                                <a:rPr lang="en-US" sz="1400" i="1"/>
                                <m:t>𝜎</m:t>
                              </m:r>
                            </m:e>
                            <m:sub>
                              <m:r>
                                <a:rPr lang="en-US" sz="1400"/>
                                <m:t>1</m:t>
                              </m:r>
                            </m:sub>
                            <m:sup>
                              <m:r>
                                <a:rPr lang="en-US" sz="1400" i="1"/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r>
                                <a:rPr lang="en-US" sz="1400" i="1"/>
                                <m:t>𝜎</m:t>
                              </m:r>
                            </m:e>
                            <m:sub>
                              <m:r>
                                <a:rPr lang="en-US" sz="1400"/>
                                <m:t>2</m:t>
                              </m:r>
                            </m:sub>
                            <m:sup>
                              <m:r>
                                <a:rPr lang="en-US" sz="1400" i="1"/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400" b="0" dirty="0"/>
              </a:p>
              <a:p>
                <a:endParaRPr lang="en-US" sz="1400" b="0" dirty="0"/>
              </a:p>
              <a:p>
                <a:r>
                  <a:rPr lang="en-US" sz="1300" dirty="0"/>
                  <a:t>dove, in termini </a:t>
                </a:r>
                <a:r>
                  <a:rPr lang="en-US" sz="1300" dirty="0" err="1"/>
                  <a:t>espliciti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𝑋</m:t>
                    </m:r>
                    <m:r>
                      <a:rPr lang="en-US" sz="1300"/>
                      <m:t>,</m:t>
                    </m:r>
                    <m:r>
                      <a:rPr lang="en-US" sz="1300" i="1"/>
                      <m:t>𝑌</m:t>
                    </m:r>
                    <m:r>
                      <a:rPr lang="en-US" sz="1300"/>
                      <m:t>,</m:t>
                    </m:r>
                    <m:r>
                      <a:rPr lang="en-US" sz="1300" i="1"/>
                      <m:t>𝑍</m:t>
                    </m:r>
                  </m:oMath>
                </a14:m>
                <a:r>
                  <a:rPr lang="en-US" sz="1300" dirty="0"/>
                  <a:t>:</a:t>
                </a:r>
              </a:p>
              <a:p>
                <a:endParaRPr lang="en-US" sz="13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300" smtClean="0"/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300" i="1"/>
                            </m:ctrlPr>
                          </m:accPr>
                          <m:e>
                            <m:r>
                              <a:rPr lang="en-US" sz="1300" i="1"/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r>
                      <a:rPr lang="en-US" sz="1300"/>
                      <m:t>⋅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300" i="1"/>
                            </m:ctrlPr>
                          </m:accPr>
                          <m:e>
                            <m:r>
                              <a:rPr lang="en-US" sz="1300" i="1"/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  <m:r>
                      <a:rPr lang="en-US" sz="1300"/>
                      <m:t>=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𝑋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𝑋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𝑌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𝑌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</m:oMath>
                </a14:m>
                <a:r>
                  <a:rPr lang="en-US" sz="1300" dirty="0"/>
                  <a:t> — </a:t>
                </a:r>
                <a:r>
                  <a:rPr lang="en-US" sz="1300" dirty="0" err="1"/>
                  <a:t>scambio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isotropo</a:t>
                </a:r>
                <a:endParaRPr lang="en-US" sz="1300" dirty="0"/>
              </a:p>
              <a:p>
                <a:pPr lvl="0"/>
                <a:endParaRPr lang="en-US" sz="1300" dirty="0"/>
              </a:p>
              <a:p>
                <a:pPr lvl="0"/>
                <a14:m>
                  <m:oMath xmlns:m="http://schemas.openxmlformats.org/officeDocument/2006/math">
                    <m:sSubSup>
                      <m:sSubSupPr>
                        <m:ctrlPr>
                          <a:rPr lang="en-US" sz="1300" i="1"/>
                        </m:ctrlPr>
                      </m:sSubSupPr>
                      <m:e>
                        <m:r>
                          <a:rPr lang="en-US" sz="1300" i="1"/>
                          <m:t>𝜎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  <m:sup>
                        <m:r>
                          <a:rPr lang="en-US" sz="1300" i="1"/>
                          <m:t>𝑧</m:t>
                        </m:r>
                      </m:sup>
                    </m:sSubSup>
                    <m:r>
                      <a:rPr lang="en-US" sz="1300"/>
                      <m:t>+</m:t>
                    </m:r>
                    <m:sSubSup>
                      <m:sSubSupPr>
                        <m:ctrlPr>
                          <a:rPr lang="en-US" sz="1300" i="1"/>
                        </m:ctrlPr>
                      </m:sSubSupPr>
                      <m:e>
                        <m:r>
                          <a:rPr lang="en-US" sz="1300" i="1"/>
                          <m:t>𝜎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  <m:sup>
                        <m:r>
                          <a:rPr lang="en-US" sz="1300" i="1"/>
                          <m:t>𝑧</m:t>
                        </m:r>
                      </m:sup>
                    </m:sSubSup>
                    <m:r>
                      <a:rPr lang="en-US" sz="1300"/>
                      <m:t>=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</m:oMath>
                </a14:m>
                <a:r>
                  <a:rPr lang="en-US" sz="1300" dirty="0"/>
                  <a:t> — </a:t>
                </a:r>
                <a:r>
                  <a:rPr lang="en-US" sz="1300" dirty="0" err="1"/>
                  <a:t>termine</a:t>
                </a:r>
                <a:r>
                  <a:rPr lang="en-US" sz="1300" dirty="0"/>
                  <a:t> Zeeman</a:t>
                </a:r>
              </a:p>
              <a:p>
                <a:pPr lvl="0"/>
                <a:endParaRPr lang="en-US" sz="1300" dirty="0"/>
              </a:p>
              <a:p>
                <a:pPr lvl="0"/>
                <a14:m>
                  <m:oMath xmlns:m="http://schemas.openxmlformats.org/officeDocument/2006/math">
                    <m:sSubSup>
                      <m:sSubSupPr>
                        <m:ctrlPr>
                          <a:rPr lang="en-US" sz="1300" i="1"/>
                        </m:ctrlPr>
                      </m:sSubSupPr>
                      <m:e>
                        <m:r>
                          <a:rPr lang="en-US" sz="1300" i="1"/>
                          <m:t>𝜎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  <m:sup>
                        <m:r>
                          <a:rPr lang="en-US" sz="1300" i="1"/>
                          <m:t>𝑥</m:t>
                        </m:r>
                      </m:sup>
                    </m:sSubSup>
                    <m:sSubSup>
                      <m:sSubSupPr>
                        <m:ctrlPr>
                          <a:rPr lang="en-US" sz="1300" i="1"/>
                        </m:ctrlPr>
                      </m:sSubSupPr>
                      <m:e>
                        <m:r>
                          <a:rPr lang="en-US" sz="1300" i="1"/>
                          <m:t>𝜎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  <m:sup>
                        <m:r>
                          <a:rPr lang="en-US" sz="1300" i="1"/>
                          <m:t>𝑧</m:t>
                        </m:r>
                      </m:sup>
                    </m:sSubSup>
                    <m:r>
                      <a:rPr lang="en-US" sz="1300"/>
                      <m:t>−</m:t>
                    </m:r>
                    <m:sSubSup>
                      <m:sSubSupPr>
                        <m:ctrlPr>
                          <a:rPr lang="en-US" sz="1300" i="1"/>
                        </m:ctrlPr>
                      </m:sSubSupPr>
                      <m:e>
                        <m:r>
                          <a:rPr lang="en-US" sz="1300" i="1"/>
                          <m:t>𝜎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  <m:sup>
                        <m:r>
                          <a:rPr lang="en-US" sz="1300" i="1"/>
                          <m:t>𝑧</m:t>
                        </m:r>
                      </m:sup>
                    </m:sSubSup>
                    <m:sSubSup>
                      <m:sSubSupPr>
                        <m:ctrlPr>
                          <a:rPr lang="en-US" sz="1300" i="1"/>
                        </m:ctrlPr>
                      </m:sSubSupPr>
                      <m:e>
                        <m:r>
                          <a:rPr lang="en-US" sz="1300" i="1"/>
                          <m:t>𝜎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  <m:sup>
                        <m:r>
                          <a:rPr lang="en-US" sz="1300" i="1"/>
                          <m:t>𝑥</m:t>
                        </m:r>
                      </m:sup>
                    </m:sSubSup>
                    <m:r>
                      <a:rPr lang="en-US" sz="1300"/>
                      <m:t>=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𝑋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  <m:r>
                      <a:rPr lang="en-US" sz="1300"/>
                      <m:t>−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𝑋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</m:oMath>
                </a14:m>
                <a:r>
                  <a:rPr lang="en-US" sz="1300" dirty="0"/>
                  <a:t>​ — </a:t>
                </a:r>
                <a:r>
                  <a:rPr lang="en-US" sz="1300" dirty="0" err="1"/>
                  <a:t>termine</a:t>
                </a:r>
                <a:r>
                  <a:rPr lang="en-US" sz="1300" dirty="0"/>
                  <a:t> di </a:t>
                </a:r>
                <a:r>
                  <a:rPr lang="en-US" sz="1300" dirty="0" err="1"/>
                  <a:t>Dzyaloshinskii</a:t>
                </a:r>
                <a:r>
                  <a:rPr lang="en-US" sz="1300" dirty="0"/>
                  <a:t>–Moriya.</a:t>
                </a:r>
              </a:p>
              <a:p>
                <a:pPr lvl="0"/>
                <a:endParaRPr lang="en-US" sz="1300" dirty="0"/>
              </a:p>
              <a:p>
                <a:r>
                  <a:rPr lang="en-US" sz="1300" dirty="0"/>
                  <a:t>Tre soli </a:t>
                </a:r>
                <a:r>
                  <a:rPr lang="en-US" sz="1300" dirty="0" err="1"/>
                  <a:t>parametri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fisici</a:t>
                </a:r>
                <a:r>
                  <a:rPr lang="en-US" sz="1300" dirty="0"/>
                  <a:t>: </a:t>
                </a:r>
                <a14:m>
                  <m:oMath xmlns:m="http://schemas.openxmlformats.org/officeDocument/2006/math">
                    <m:r>
                      <a:rPr lang="en-US" sz="1300" i="1"/>
                      <m:t>𝐽</m:t>
                    </m:r>
                  </m:oMath>
                </a14:m>
                <a:r>
                  <a:rPr lang="en-US" sz="1300" dirty="0"/>
                  <a:t> (</a:t>
                </a:r>
                <a:r>
                  <a:rPr lang="en-US" sz="1300" dirty="0" err="1"/>
                  <a:t>accoppiamento</a:t>
                </a:r>
                <a:r>
                  <a:rPr lang="en-US" sz="1300" dirty="0"/>
                  <a:t>), </a:t>
                </a:r>
                <a14:m>
                  <m:oMath xmlns:m="http://schemas.openxmlformats.org/officeDocument/2006/math">
                    <m:r>
                      <a:rPr lang="en-US" sz="1300" i="1"/>
                      <m:t>𝑏</m:t>
                    </m:r>
                  </m:oMath>
                </a14:m>
                <a:r>
                  <a:rPr lang="en-US" sz="1300" dirty="0"/>
                  <a:t> (campo), </a:t>
                </a:r>
                <a14:m>
                  <m:oMath xmlns:m="http://schemas.openxmlformats.org/officeDocument/2006/math">
                    <m:r>
                      <a:rPr lang="en-US" sz="1300" i="1"/>
                      <m:t>𝐷</m:t>
                    </m:r>
                  </m:oMath>
                </a14:m>
                <a:r>
                  <a:rPr lang="en-US" sz="1300" dirty="0"/>
                  <a:t> (DM) </a:t>
                </a:r>
                <a:r>
                  <a:rPr lang="en-US" sz="1300" dirty="0" err="1"/>
                  <a:t>sufficienti</a:t>
                </a:r>
                <a:r>
                  <a:rPr lang="en-US" sz="1300" dirty="0"/>
                  <a:t> a </a:t>
                </a:r>
                <a:r>
                  <a:rPr lang="en-US" sz="1300" dirty="0" err="1"/>
                  <a:t>produrre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una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fisica</a:t>
                </a:r>
                <a:r>
                  <a:rPr lang="en-US" sz="1300" dirty="0"/>
                  <a:t> non </a:t>
                </a:r>
                <a:r>
                  <a:rPr lang="en-US" sz="1300" dirty="0" err="1"/>
                  <a:t>banale</a:t>
                </a:r>
                <a:r>
                  <a:rPr lang="en-US" sz="1300" dirty="0"/>
                  <a:t>, il banco di </a:t>
                </a:r>
                <a:r>
                  <a:rPr lang="en-US" sz="1300" dirty="0" err="1"/>
                  <a:t>prova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ideale</a:t>
                </a:r>
                <a:r>
                  <a:rPr lang="en-US" sz="1300" dirty="0"/>
                  <a:t> per </a:t>
                </a:r>
                <a:r>
                  <a:rPr lang="en-US" sz="1300" dirty="0" err="1"/>
                  <a:t>applicare</a:t>
                </a:r>
                <a:r>
                  <a:rPr lang="en-US" sz="1300" dirty="0"/>
                  <a:t> VQE e Trotter prima di </a:t>
                </a:r>
                <a:r>
                  <a:rPr lang="en-US" sz="1300" dirty="0" err="1"/>
                  <a:t>affrontare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sistemi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più</a:t>
                </a:r>
                <a:r>
                  <a:rPr lang="en-US" sz="1300" dirty="0"/>
                  <a:t> </a:t>
                </a:r>
                <a:r>
                  <a:rPr lang="en-US" sz="1300" dirty="0" err="1"/>
                  <a:t>grandi</a:t>
                </a:r>
                <a:r>
                  <a:rPr lang="en-US" sz="1300" dirty="0"/>
                  <a:t> (il </a:t>
                </a:r>
                <a:r>
                  <a:rPr lang="en-US" sz="1300" dirty="0" err="1"/>
                  <a:t>trimero</a:t>
                </a:r>
                <a:r>
                  <a:rPr lang="en-US" sz="1300" dirty="0"/>
                  <a:t>, in </a:t>
                </a:r>
                <a:r>
                  <a:rPr lang="en-US" sz="1300" dirty="0" err="1"/>
                  <a:t>seguito</a:t>
                </a:r>
                <a:r>
                  <a:rPr lang="en-US" sz="1300" dirty="0"/>
                  <a:t>).</a:t>
                </a:r>
              </a:p>
              <a:p>
                <a:pPr marL="304800" indent="-304800">
                  <a:buSzPct val="100000"/>
                  <a:buChar char="■"/>
                </a:pPr>
                <a:endParaRPr lang="en-US" sz="1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924640"/>
                <a:ext cx="6098102" cy="3677930"/>
              </a:xfrm>
              <a:prstGeom prst="rect">
                <a:avLst/>
              </a:prstGeom>
              <a:blipFill>
                <a:blip r:embed="rId3"/>
                <a:stretch>
                  <a:fillRect l="-100" t="-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/>
              <p:nvPr/>
            </p:nvSpPr>
            <p:spPr>
              <a:xfrm>
                <a:off x="5791200" y="1924640"/>
                <a:ext cx="6098102" cy="4842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300" dirty="0"/>
                  <a:t>Il </a:t>
                </a:r>
                <a:r>
                  <a:rPr lang="en-US" sz="1300" dirty="0" err="1"/>
                  <a:t>passo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successivo</a:t>
                </a:r>
                <a:r>
                  <a:rPr lang="en-US" sz="1300" dirty="0"/>
                  <a:t>: </a:t>
                </a:r>
                <a:r>
                  <a:rPr lang="en-US" sz="1300" dirty="0" err="1"/>
                  <a:t>tre</a:t>
                </a:r>
                <a:r>
                  <a:rPr lang="en-US" sz="1300" dirty="0"/>
                  <a:t> spin-1/2 </a:t>
                </a:r>
                <a:r>
                  <a:rPr lang="en-US" sz="1300" dirty="0" err="1"/>
                  <a:t>disposti</a:t>
                </a:r>
                <a:r>
                  <a:rPr lang="en-US" sz="1300" dirty="0"/>
                  <a:t> a </a:t>
                </a:r>
                <a:r>
                  <a:rPr lang="en-US" sz="1300" dirty="0" err="1"/>
                  <a:t>triangolo</a:t>
                </a:r>
                <a:r>
                  <a:rPr lang="en-US" sz="1300" dirty="0"/>
                  <a:t> (</a:t>
                </a:r>
                <a:r>
                  <a:rPr lang="en-US" sz="1300" dirty="0" err="1"/>
                  <a:t>anello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chiuso</a:t>
                </a:r>
                <a:r>
                  <a:rPr lang="en-US" sz="1300" dirty="0"/>
                  <a:t>), </a:t>
                </a:r>
                <a:r>
                  <a:rPr lang="en-US" sz="1300" dirty="0" err="1"/>
                  <a:t>mappati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direttamente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su</a:t>
                </a:r>
                <a:r>
                  <a:rPr lang="en-US" sz="1300" dirty="0"/>
                  <a:t> </a:t>
                </a:r>
                <a:r>
                  <a:rPr lang="en-US" sz="1300" b="1" dirty="0"/>
                  <a:t>3 qubit</a:t>
                </a:r>
                <a:r>
                  <a:rPr lang="en-US" sz="1300" dirty="0"/>
                  <a:t>. La </a:t>
                </a:r>
                <a:r>
                  <a:rPr lang="en-US" sz="1300" dirty="0" err="1"/>
                  <a:t>sua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Hamiltoniana</a:t>
                </a:r>
                <a:r>
                  <a:rPr lang="en-US" sz="1300" dirty="0"/>
                  <a:t>, in termini delle </a:t>
                </a:r>
                <a:r>
                  <a:rPr lang="en-US" sz="1300" dirty="0" err="1"/>
                  <a:t>matrici</a:t>
                </a:r>
                <a:r>
                  <a:rPr lang="en-US" sz="1300" dirty="0"/>
                  <a:t> di Pauli:</a:t>
                </a:r>
                <a:br>
                  <a:rPr lang="en-US" dirty="0"/>
                </a:br>
                <a:endParaRPr lang="en-US" sz="1300" dirty="0"/>
              </a:p>
              <a:p>
                <a14:m>
                  <m:oMathPara xmlns:m="http://schemas.openxmlformats.org/officeDocument/2006/math">
                    <m:oMath>
                      <m:r>
                        <a:rPr lang="en-US" sz="1300" i="1"/>
                        <m:t>𝐻</m:t>
                      </m:r>
                      <m:r>
                        <a:rPr lang="en-US" sz="1300"/>
                        <m:t>=</m:t>
                      </m:r>
                      <m:r>
                        <a:rPr lang="en-US" sz="1300" i="1"/>
                        <m:t>𝐽</m:t>
                      </m:r>
                      <m:r>
                        <m:rPr>
                          <m:nor/>
                        </m:rPr>
                        <a:rPr lang="en-US" sz="1300"/>
                        <m:t> </m:t>
                      </m:r>
                      <m:sSub>
                        <m:sSubPr>
                          <m:ctrlPr>
                            <a:rPr lang="en-US" sz="1300" i="1"/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300" i="1"/>
                              </m:ctrlPr>
                            </m:accPr>
                            <m:e>
                              <m:r>
                                <a:rPr lang="en-US" sz="1300" i="1"/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300"/>
                            <m:t>1</m:t>
                          </m:r>
                        </m:sub>
                      </m:sSub>
                      <m:r>
                        <a:rPr lang="en-US" sz="1300"/>
                        <m:t>⋅</m:t>
                      </m:r>
                      <m:sSub>
                        <m:sSubPr>
                          <m:ctrlPr>
                            <a:rPr lang="en-US" sz="1300" i="1"/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300" i="1"/>
                              </m:ctrlPr>
                            </m:accPr>
                            <m:e>
                              <m:r>
                                <a:rPr lang="en-US" sz="1300" i="1"/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300"/>
                            <m:t>2</m:t>
                          </m:r>
                        </m:sub>
                      </m:sSub>
                      <m:r>
                        <a:rPr lang="en-US" sz="1300"/>
                        <m:t>+</m:t>
                      </m:r>
                      <m:sSup>
                        <m:sSupPr>
                          <m:ctrlPr>
                            <a:rPr lang="en-US" sz="1300" i="1"/>
                          </m:ctrlPr>
                        </m:sSupPr>
                        <m:e>
                          <m:r>
                            <a:rPr lang="en-US" sz="1300" i="1"/>
                            <m:t>𝐽</m:t>
                          </m:r>
                        </m:e>
                        <m:sup>
                          <m:r>
                            <a:rPr lang="en-US" sz="1300"/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300" i="1"/>
                          </m:ctrlPr>
                        </m:dPr>
                        <m:e>
                          <m:sSub>
                            <m:sSubPr>
                              <m:ctrlPr>
                                <a:rPr lang="en-US" sz="1300" i="1"/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300" i="1"/>
                                  </m:ctrlPr>
                                </m:accPr>
                                <m:e>
                                  <m:r>
                                    <a:rPr lang="en-US" sz="1300" i="1"/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300"/>
                                <m:t>2</m:t>
                              </m:r>
                            </m:sub>
                          </m:sSub>
                          <m:r>
                            <a:rPr lang="en-US" sz="1300"/>
                            <m:t>⋅</m:t>
                          </m:r>
                          <m:sSub>
                            <m:sSubPr>
                              <m:ctrlPr>
                                <a:rPr lang="en-US" sz="1300" i="1"/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300" i="1"/>
                                  </m:ctrlPr>
                                </m:accPr>
                                <m:e>
                                  <m:r>
                                    <a:rPr lang="en-US" sz="1300" i="1"/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300"/>
                                <m:t>3</m:t>
                              </m:r>
                            </m:sub>
                          </m:sSub>
                          <m:r>
                            <a:rPr lang="en-US" sz="1300"/>
                            <m:t>+</m:t>
                          </m:r>
                          <m:sSub>
                            <m:sSubPr>
                              <m:ctrlPr>
                                <a:rPr lang="en-US" sz="1300" i="1"/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300" i="1"/>
                                  </m:ctrlPr>
                                </m:accPr>
                                <m:e>
                                  <m:r>
                                    <a:rPr lang="en-US" sz="1300" i="1"/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300"/>
                                <m:t>3</m:t>
                              </m:r>
                            </m:sub>
                          </m:sSub>
                          <m:r>
                            <a:rPr lang="en-US" sz="1300"/>
                            <m:t>⋅</m:t>
                          </m:r>
                          <m:sSub>
                            <m:sSubPr>
                              <m:ctrlPr>
                                <a:rPr lang="en-US" sz="1300" i="1"/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300" i="1"/>
                                  </m:ctrlPr>
                                </m:accPr>
                                <m:e>
                                  <m:r>
                                    <a:rPr lang="en-US" sz="1300" i="1"/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300"/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300"/>
                        <m:t>+</m:t>
                      </m:r>
                      <m:r>
                        <a:rPr lang="en-US" sz="1300" i="1"/>
                        <m:t>𝑏</m:t>
                      </m:r>
                      <m:d>
                        <m:dPr>
                          <m:ctrlPr>
                            <a:rPr lang="en-US" sz="1300" i="1"/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300" i="1"/>
                              </m:ctrlPr>
                            </m:sSubSupPr>
                            <m:e>
                              <m:r>
                                <a:rPr lang="en-US" sz="1300" i="1"/>
                                <m:t>𝜎</m:t>
                              </m:r>
                            </m:e>
                            <m:sub>
                              <m:r>
                                <a:rPr lang="en-US" sz="1300"/>
                                <m:t>1</m:t>
                              </m:r>
                            </m:sub>
                            <m:sup>
                              <m:r>
                                <a:rPr lang="en-US" sz="1300" i="1"/>
                                <m:t>𝑧</m:t>
                              </m:r>
                            </m:sup>
                          </m:sSubSup>
                          <m:r>
                            <a:rPr lang="en-US" sz="1300"/>
                            <m:t>+</m:t>
                          </m:r>
                          <m:sSubSup>
                            <m:sSubSupPr>
                              <m:ctrlPr>
                                <a:rPr lang="en-US" sz="1300" i="1"/>
                              </m:ctrlPr>
                            </m:sSubSupPr>
                            <m:e>
                              <m:r>
                                <a:rPr lang="en-US" sz="1300" i="1"/>
                                <m:t>𝜎</m:t>
                              </m:r>
                            </m:e>
                            <m:sub>
                              <m:r>
                                <a:rPr lang="en-US" sz="1300"/>
                                <m:t>2</m:t>
                              </m:r>
                            </m:sub>
                            <m:sup>
                              <m:r>
                                <a:rPr lang="en-US" sz="1300" i="1"/>
                                <m:t>𝑧</m:t>
                              </m:r>
                            </m:sup>
                          </m:sSubSup>
                          <m:r>
                            <a:rPr lang="en-US" sz="1300"/>
                            <m:t>+</m:t>
                          </m:r>
                          <m:sSubSup>
                            <m:sSubSupPr>
                              <m:ctrlPr>
                                <a:rPr lang="en-US" sz="1300" i="1"/>
                              </m:ctrlPr>
                            </m:sSubSupPr>
                            <m:e>
                              <m:r>
                                <a:rPr lang="en-US" sz="1300" i="1"/>
                                <m:t>𝜎</m:t>
                              </m:r>
                            </m:e>
                            <m:sub>
                              <m:r>
                                <a:rPr lang="en-US" sz="1300"/>
                                <m:t>3</m:t>
                              </m:r>
                            </m:sub>
                            <m:sup>
                              <m:r>
                                <a:rPr lang="en-US" sz="1300" i="1"/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300"/>
                        <m:t>+</m:t>
                      </m:r>
                      <m:r>
                        <a:rPr lang="en-US" sz="1300" i="1"/>
                        <m:t>𝐷</m:t>
                      </m:r>
                      <m:r>
                        <m:rPr>
                          <m:nor/>
                        </m:rPr>
                        <a:rPr lang="en-US" sz="1300"/>
                        <m:t>  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300" i="1"/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en-US" sz="1300" i="1"/>
                              </m:ctrlPr>
                            </m:dPr>
                            <m:e>
                              <m:r>
                                <a:rPr lang="en-US" sz="1300" i="1"/>
                                <m:t>𝑖</m:t>
                              </m:r>
                            </m:e>
                            <m:e>
                              <m:r>
                                <a:rPr lang="en-US" sz="1300" i="1"/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300"/>
                            <m:t> </m:t>
                          </m:r>
                        </m:e>
                      </m:nary>
                      <m:d>
                        <m:dPr>
                          <m:ctrlPr>
                            <a:rPr lang="en-US" sz="1300" i="1"/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300" i="1"/>
                              </m:ctrlPr>
                            </m:sSubSupPr>
                            <m:e>
                              <m:r>
                                <a:rPr lang="en-US" sz="1300" i="1"/>
                                <m:t>𝜎</m:t>
                              </m:r>
                            </m:e>
                            <m:sub>
                              <m:r>
                                <a:rPr lang="en-US" sz="1300" i="1"/>
                                <m:t>𝑖</m:t>
                              </m:r>
                            </m:sub>
                            <m:sup>
                              <m:r>
                                <a:rPr lang="en-US" sz="1300" i="1"/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300" i="1"/>
                              </m:ctrlPr>
                            </m:sSubSupPr>
                            <m:e>
                              <m:r>
                                <a:rPr lang="en-US" sz="1300" i="1"/>
                                <m:t>𝜎</m:t>
                              </m:r>
                            </m:e>
                            <m:sub>
                              <m:r>
                                <a:rPr lang="en-US" sz="1300" i="1"/>
                                <m:t>𝑗</m:t>
                              </m:r>
                            </m:sub>
                            <m:sup>
                              <m:r>
                                <a:rPr lang="en-US" sz="1300" i="1"/>
                                <m:t>𝑧</m:t>
                              </m:r>
                            </m:sup>
                          </m:sSubSup>
                          <m:r>
                            <a:rPr lang="en-US" sz="1300"/>
                            <m:t>−</m:t>
                          </m:r>
                          <m:sSubSup>
                            <m:sSubSupPr>
                              <m:ctrlPr>
                                <a:rPr lang="en-US" sz="1300" i="1"/>
                              </m:ctrlPr>
                            </m:sSubSupPr>
                            <m:e>
                              <m:r>
                                <a:rPr lang="en-US" sz="1300" i="1"/>
                                <m:t>𝜎</m:t>
                              </m:r>
                            </m:e>
                            <m:sub>
                              <m:r>
                                <a:rPr lang="en-US" sz="1300" i="1"/>
                                <m:t>𝑖</m:t>
                              </m:r>
                            </m:sub>
                            <m:sup>
                              <m:r>
                                <a:rPr lang="en-US" sz="1300" i="1"/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300" i="1"/>
                              </m:ctrlPr>
                            </m:sSubSupPr>
                            <m:e>
                              <m:r>
                                <a:rPr lang="en-US" sz="1300" i="1"/>
                                <m:t>𝜎</m:t>
                              </m:r>
                            </m:e>
                            <m:sub>
                              <m:r>
                                <a:rPr lang="en-US" sz="1300" i="1"/>
                                <m:t>𝑗</m:t>
                              </m:r>
                            </m:sub>
                            <m:sup>
                              <m:r>
                                <a:rPr lang="en-US" sz="1300" i="1"/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300" b="0" dirty="0"/>
              </a:p>
              <a:p>
                <a:r>
                  <a:rPr lang="en-US" sz="1300" dirty="0"/>
                  <a:t>dove, in termini </a:t>
                </a:r>
                <a:r>
                  <a:rPr lang="en-US" sz="1300" dirty="0" err="1"/>
                  <a:t>espliciti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𝑋</m:t>
                    </m:r>
                    <m:r>
                      <a:rPr lang="en-US" sz="1300"/>
                      <m:t>,</m:t>
                    </m:r>
                    <m:r>
                      <a:rPr lang="en-US" sz="1300" i="1"/>
                      <m:t>𝑌</m:t>
                    </m:r>
                    <m:r>
                      <a:rPr lang="en-US" sz="1300"/>
                      <m:t>,</m:t>
                    </m:r>
                    <m:r>
                      <a:rPr lang="en-US" sz="1300" i="1"/>
                      <m:t>𝑍</m:t>
                    </m:r>
                  </m:oMath>
                </a14:m>
                <a:r>
                  <a:rPr lang="en-US" sz="1300" dirty="0"/>
                  <a:t>:</a:t>
                </a:r>
              </a:p>
              <a:p>
                <a:endParaRPr lang="en-US" sz="13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300"/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300" i="1"/>
                            </m:ctrlPr>
                          </m:accPr>
                          <m:e>
                            <m:r>
                              <a:rPr lang="en-US" sz="1300" i="1"/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r>
                      <a:rPr lang="en-US" sz="1300"/>
                      <m:t>⋅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300" i="1"/>
                            </m:ctrlPr>
                          </m:accPr>
                          <m:e>
                            <m:r>
                              <a:rPr lang="en-US" sz="1300" i="1"/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  <m:r>
                      <a:rPr lang="en-US" sz="1300"/>
                      <m:t>=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𝑋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𝑋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𝑌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𝑌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</m:oMath>
                </a14:m>
                <a:r>
                  <a:rPr lang="en-US" sz="1300" dirty="0"/>
                  <a:t>​ — </a:t>
                </a:r>
                <a:r>
                  <a:rPr lang="en-US" sz="1300" dirty="0" err="1"/>
                  <a:t>scambio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sul</a:t>
                </a:r>
                <a:r>
                  <a:rPr lang="en-US" sz="1300" dirty="0"/>
                  <a:t> </a:t>
                </a:r>
                <a:r>
                  <a:rPr lang="en-US" sz="1300" dirty="0" err="1"/>
                  <a:t>legame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US" sz="1300"/>
                        </m:ctrlPr>
                      </m:dPr>
                      <m:e>
                        <m:r>
                          <a:rPr lang="en-US" sz="1300"/>
                          <m:t>1</m:t>
                        </m:r>
                      </m:e>
                      <m:e>
                        <m:r>
                          <a:rPr lang="en-US" sz="1300"/>
                          <m:t>2</m:t>
                        </m:r>
                      </m:e>
                    </m:d>
                  </m:oMath>
                </a14:m>
                <a:r>
                  <a:rPr lang="en-US" sz="1300" dirty="0"/>
                  <a:t>, </a:t>
                </a:r>
                <a:r>
                  <a:rPr lang="en-US" sz="1300" dirty="0" err="1"/>
                  <a:t>intensità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𝐽</m:t>
                    </m:r>
                  </m:oMath>
                </a14:m>
                <a:endParaRPr lang="en-US" sz="1300" dirty="0"/>
              </a:p>
              <a:p>
                <a:pPr lvl="0"/>
                <a:endParaRPr lang="en-US" sz="13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300"/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300" i="1"/>
                            </m:ctrlPr>
                          </m:accPr>
                          <m:e>
                            <m:r>
                              <a:rPr lang="en-US" sz="1300" i="1"/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  <m:r>
                      <a:rPr lang="en-US" sz="1300"/>
                      <m:t>⋅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300" i="1"/>
                            </m:ctrlPr>
                          </m:accPr>
                          <m:e>
                            <m:r>
                              <a:rPr lang="en-US" sz="1300" i="1"/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1300"/>
                          <m:t>3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300" i="1"/>
                            </m:ctrlPr>
                          </m:accPr>
                          <m:e>
                            <m:r>
                              <a:rPr lang="en-US" sz="1300" i="1"/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1300"/>
                          <m:t>3</m:t>
                        </m:r>
                      </m:sub>
                    </m:sSub>
                    <m:r>
                      <a:rPr lang="en-US" sz="1300"/>
                      <m:t>⋅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300" i="1"/>
                            </m:ctrlPr>
                          </m:accPr>
                          <m:e>
                            <m:r>
                              <a:rPr lang="en-US" sz="1300" i="1"/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r>
                      <a:rPr lang="en-US" sz="1300"/>
                      <m:t>=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𝑋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𝑋</m:t>
                        </m:r>
                      </m:e>
                      <m:sub>
                        <m:r>
                          <a:rPr lang="en-US" sz="1300"/>
                          <m:t>3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𝑌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𝑌</m:t>
                        </m:r>
                      </m:e>
                      <m:sub>
                        <m:r>
                          <a:rPr lang="en-US" sz="1300"/>
                          <m:t>3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3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𝑋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𝑋</m:t>
                        </m:r>
                      </m:e>
                      <m:sub>
                        <m:r>
                          <a:rPr lang="en-US" sz="1300"/>
                          <m:t>3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𝑌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𝑌</m:t>
                        </m:r>
                      </m:e>
                      <m:sub>
                        <m:r>
                          <a:rPr lang="en-US" sz="1300"/>
                          <m:t>3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3</m:t>
                        </m:r>
                      </m:sub>
                    </m:sSub>
                  </m:oMath>
                </a14:m>
                <a:r>
                  <a:rPr lang="en-US" sz="1300" dirty="0"/>
                  <a:t>​ — </a:t>
                </a:r>
                <a:r>
                  <a:rPr lang="en-US" sz="1300" dirty="0" err="1"/>
                  <a:t>scambio</a:t>
                </a:r>
                <a:r>
                  <a:rPr lang="en-US" sz="1300" dirty="0"/>
                  <a:t> sui </a:t>
                </a:r>
                <a:r>
                  <a:rPr lang="en-US" sz="1300" dirty="0" err="1"/>
                  <a:t>legami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US" sz="1300"/>
                        </m:ctrlPr>
                      </m:dPr>
                      <m:e>
                        <m:r>
                          <a:rPr lang="en-US" sz="1300"/>
                          <m:t>2</m:t>
                        </m:r>
                      </m:e>
                      <m:e>
                        <m:r>
                          <a:rPr lang="en-US" sz="1300"/>
                          <m:t>3</m:t>
                        </m:r>
                      </m:e>
                    </m:d>
                  </m:oMath>
                </a14:m>
                <a:r>
                  <a:rPr lang="en-US" sz="1300" dirty="0"/>
                  <a:t> e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US" sz="1300"/>
                        </m:ctrlPr>
                      </m:dPr>
                      <m:e>
                        <m:r>
                          <a:rPr lang="en-US" sz="1300"/>
                          <m:t>3</m:t>
                        </m:r>
                      </m:e>
                      <m:e>
                        <m:r>
                          <a:rPr lang="en-US" sz="1300"/>
                          <m:t>1</m:t>
                        </m:r>
                      </m:e>
                    </m:d>
                  </m:oMath>
                </a14:m>
                <a:r>
                  <a:rPr lang="en-US" sz="1300" dirty="0"/>
                  <a:t>, </a:t>
                </a:r>
                <a:r>
                  <a:rPr lang="en-US" sz="1300" dirty="0" err="1"/>
                  <a:t>intensità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/>
                        </m:ctrlPr>
                      </m:sSupPr>
                      <m:e>
                        <m:r>
                          <a:rPr lang="en-US" sz="1300" i="1"/>
                          <m:t>𝐽</m:t>
                        </m:r>
                      </m:e>
                      <m:sup>
                        <m:r>
                          <a:rPr lang="en-US" sz="1300"/>
                          <m:t>′</m:t>
                        </m:r>
                      </m:sup>
                    </m:sSup>
                  </m:oMath>
                </a14:m>
                <a:endParaRPr lang="en-US" sz="1300" dirty="0"/>
              </a:p>
              <a:p>
                <a:pPr lvl="0"/>
                <a:endParaRPr lang="en-US" sz="1300" dirty="0"/>
              </a:p>
              <a:p>
                <a:pPr lvl="0"/>
                <a14:m>
                  <m:oMath xmlns:m="http://schemas.openxmlformats.org/officeDocument/2006/math">
                    <m:sSubSup>
                      <m:sSubSupPr>
                        <m:ctrlPr>
                          <a:rPr lang="en-US" sz="1300" i="1"/>
                        </m:ctrlPr>
                      </m:sSubSupPr>
                      <m:e>
                        <m:r>
                          <a:rPr lang="en-US" sz="1300" i="1"/>
                          <m:t>𝜎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  <m:sup>
                        <m:r>
                          <a:rPr lang="en-US" sz="1300" i="1"/>
                          <m:t>𝑧</m:t>
                        </m:r>
                      </m:sup>
                    </m:sSubSup>
                    <m:r>
                      <a:rPr lang="en-US" sz="1300"/>
                      <m:t>+</m:t>
                    </m:r>
                    <m:sSubSup>
                      <m:sSubSupPr>
                        <m:ctrlPr>
                          <a:rPr lang="en-US" sz="1300" i="1"/>
                        </m:ctrlPr>
                      </m:sSubSupPr>
                      <m:e>
                        <m:r>
                          <a:rPr lang="en-US" sz="1300" i="1"/>
                          <m:t>𝜎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  <m:sup>
                        <m:r>
                          <a:rPr lang="en-US" sz="1300" i="1"/>
                          <m:t>𝑧</m:t>
                        </m:r>
                      </m:sup>
                    </m:sSubSup>
                    <m:r>
                      <a:rPr lang="en-US" sz="1300"/>
                      <m:t>+</m:t>
                    </m:r>
                    <m:sSubSup>
                      <m:sSubSupPr>
                        <m:ctrlPr>
                          <a:rPr lang="en-US" sz="1300" i="1"/>
                        </m:ctrlPr>
                      </m:sSubSupPr>
                      <m:e>
                        <m:r>
                          <a:rPr lang="en-US" sz="1300" i="1"/>
                          <m:t>𝜎</m:t>
                        </m:r>
                      </m:e>
                      <m:sub>
                        <m:r>
                          <a:rPr lang="en-US" sz="1300"/>
                          <m:t>3</m:t>
                        </m:r>
                      </m:sub>
                      <m:sup>
                        <m:r>
                          <a:rPr lang="en-US" sz="1300" i="1"/>
                          <m:t>𝑧</m:t>
                        </m:r>
                      </m:sup>
                    </m:sSubSup>
                    <m:r>
                      <a:rPr lang="en-US" sz="1300"/>
                      <m:t>=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1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2</m:t>
                        </m:r>
                      </m:sub>
                    </m:sSub>
                    <m:r>
                      <a:rPr lang="en-US" sz="1300"/>
                      <m:t>+</m:t>
                    </m:r>
                    <m:sSub>
                      <m:sSubPr>
                        <m:ctrlPr>
                          <a:rPr lang="en-US" sz="1300" i="1"/>
                        </m:ctrlPr>
                      </m:sSubPr>
                      <m:e>
                        <m:r>
                          <a:rPr lang="en-US" sz="1300" i="1"/>
                          <m:t>𝑍</m:t>
                        </m:r>
                      </m:e>
                      <m:sub>
                        <m:r>
                          <a:rPr lang="en-US" sz="1300"/>
                          <m:t>3</m:t>
                        </m:r>
                      </m:sub>
                    </m:sSub>
                  </m:oMath>
                </a14:m>
                <a:r>
                  <a:rPr lang="en-US" sz="1300" dirty="0"/>
                  <a:t>​ — </a:t>
                </a:r>
                <a:r>
                  <a:rPr lang="en-US" sz="1300" dirty="0" err="1"/>
                  <a:t>termine</a:t>
                </a:r>
                <a:r>
                  <a:rPr lang="en-US" sz="1300" dirty="0"/>
                  <a:t> Zeeman</a:t>
                </a:r>
              </a:p>
              <a:p>
                <a:pPr lvl="0"/>
                <a:endParaRPr lang="en-US" sz="1300" dirty="0"/>
              </a:p>
              <a:p>
                <a:pPr lvl="0"/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en-US" sz="1300" i="1"/>
                        </m:ctrlPr>
                      </m:naryPr>
                      <m:sub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en-US" sz="1300" i="1"/>
                            </m:ctrlPr>
                          </m:dPr>
                          <m:e>
                            <m:r>
                              <a:rPr lang="en-US" sz="1300" i="1"/>
                              <m:t>𝑖</m:t>
                            </m:r>
                          </m:e>
                          <m:e>
                            <m:r>
                              <a:rPr lang="en-US" sz="1300" i="1"/>
                              <m:t>𝑗</m:t>
                            </m:r>
                          </m:e>
                        </m:d>
                      </m:sub>
                      <m:sup/>
                      <m:e>
                        <m:r>
                          <a:rPr lang="en-US" sz="1300"/>
                          <m:t>(</m:t>
                        </m:r>
                      </m:e>
                    </m:nary>
                    <m:d>
                      <m:dPr>
                        <m:begChr m:val=""/>
                        <m:ctrlPr>
                          <a:rPr lang="en-US" sz="1300" i="1"/>
                        </m:ctrlPr>
                      </m:dPr>
                      <m:e>
                        <m:sSubSup>
                          <m:sSubSupPr>
                            <m:ctrlPr>
                              <a:rPr lang="en-US" sz="1300" i="1"/>
                            </m:ctrlPr>
                          </m:sSubSupPr>
                          <m:e>
                            <m:r>
                              <a:rPr lang="en-US" sz="1300" i="1"/>
                              <m:t>𝜎</m:t>
                            </m:r>
                          </m:e>
                          <m:sub>
                            <m:r>
                              <a:rPr lang="en-US" sz="1300" i="1"/>
                              <m:t>𝑖</m:t>
                            </m:r>
                          </m:sub>
                          <m:sup>
                            <m:r>
                              <a:rPr lang="en-US" sz="1300" i="1"/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300" i="1"/>
                            </m:ctrlPr>
                          </m:sSubSupPr>
                          <m:e>
                            <m:r>
                              <a:rPr lang="en-US" sz="1300" i="1"/>
                              <m:t>𝜎</m:t>
                            </m:r>
                          </m:e>
                          <m:sub>
                            <m:r>
                              <a:rPr lang="en-US" sz="1300" i="1"/>
                              <m:t>𝑗</m:t>
                            </m:r>
                          </m:sub>
                          <m:sup>
                            <m:r>
                              <a:rPr lang="en-US" sz="1300" i="1"/>
                              <m:t>𝑧</m:t>
                            </m:r>
                          </m:sup>
                        </m:sSubSup>
                        <m:r>
                          <a:rPr lang="en-US" sz="1300"/>
                          <m:t>−</m:t>
                        </m:r>
                        <m:sSubSup>
                          <m:sSubSupPr>
                            <m:ctrlPr>
                              <a:rPr lang="en-US" sz="1300" i="1"/>
                            </m:ctrlPr>
                          </m:sSubSupPr>
                          <m:e>
                            <m:r>
                              <a:rPr lang="en-US" sz="1300" i="1"/>
                              <m:t>𝜎</m:t>
                            </m:r>
                          </m:e>
                          <m:sub>
                            <m:r>
                              <a:rPr lang="en-US" sz="1300" i="1"/>
                              <m:t>𝑖</m:t>
                            </m:r>
                          </m:sub>
                          <m:sup>
                            <m:r>
                              <a:rPr lang="en-US" sz="1300" i="1"/>
                              <m:t>𝑧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300" i="1"/>
                            </m:ctrlPr>
                          </m:sSubSupPr>
                          <m:e>
                            <m:r>
                              <a:rPr lang="en-US" sz="1300" i="1"/>
                              <m:t>𝜎</m:t>
                            </m:r>
                          </m:e>
                          <m:sub>
                            <m:r>
                              <a:rPr lang="en-US" sz="1300" i="1"/>
                              <m:t>𝑗</m:t>
                            </m:r>
                          </m:sub>
                          <m:sup>
                            <m:r>
                              <a:rPr lang="en-US" sz="1300" i="1"/>
                              <m:t>𝑥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1300" dirty="0"/>
                  <a:t> — </a:t>
                </a:r>
                <a:r>
                  <a:rPr lang="en-US" sz="1300" dirty="0" err="1"/>
                  <a:t>termine</a:t>
                </a:r>
                <a:r>
                  <a:rPr lang="en-US" sz="1300" dirty="0"/>
                  <a:t> di </a:t>
                </a:r>
                <a:r>
                  <a:rPr lang="en-US" sz="1300" dirty="0" err="1"/>
                  <a:t>Dzyaloshinskii</a:t>
                </a:r>
                <a:r>
                  <a:rPr lang="en-US" sz="1300" dirty="0"/>
                  <a:t>–Moriya, </a:t>
                </a:r>
                <a:r>
                  <a:rPr lang="en-US" sz="1300" dirty="0" err="1"/>
                  <a:t>sulla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stessa</a:t>
                </a:r>
                <a:r>
                  <a:rPr lang="en-US" sz="1300" dirty="0"/>
                  <a:t> somma di </a:t>
                </a:r>
                <a:r>
                  <a:rPr lang="en-US" sz="1300" dirty="0" err="1"/>
                  <a:t>legami</a:t>
                </a:r>
                <a:endParaRPr lang="en-US" sz="1300" dirty="0"/>
              </a:p>
              <a:p>
                <a:pPr lvl="0"/>
                <a:endParaRPr lang="en-US" sz="1300" dirty="0"/>
              </a:p>
              <a:p>
                <a:r>
                  <a:rPr lang="en-US" sz="1300" dirty="0"/>
                  <a:t>Quattro </a:t>
                </a:r>
                <a:r>
                  <a:rPr lang="en-US" sz="1300" dirty="0" err="1"/>
                  <a:t>parametri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fisici</a:t>
                </a:r>
                <a:r>
                  <a:rPr lang="en-US" sz="1300" dirty="0"/>
                  <a:t>: </a:t>
                </a:r>
                <a14:m>
                  <m:oMath xmlns:m="http://schemas.openxmlformats.org/officeDocument/2006/math">
                    <m:r>
                      <a:rPr lang="en-US" sz="1300" i="1"/>
                      <m:t>𝐽</m:t>
                    </m:r>
                    <m:r>
                      <a:rPr lang="en-US" sz="1300"/>
                      <m:t>,</m:t>
                    </m:r>
                    <m:sSup>
                      <m:sSupPr>
                        <m:ctrlPr>
                          <a:rPr lang="en-US" sz="1300" i="1"/>
                        </m:ctrlPr>
                      </m:sSupPr>
                      <m:e>
                        <m:r>
                          <a:rPr lang="en-US" sz="1300" i="1"/>
                          <m:t>𝐽</m:t>
                        </m:r>
                      </m:e>
                      <m:sup>
                        <m:r>
                          <a:rPr lang="en-US" sz="1300"/>
                          <m:t>′</m:t>
                        </m:r>
                      </m:sup>
                    </m:sSup>
                  </m:oMath>
                </a14:m>
                <a:r>
                  <a:rPr lang="en-US" sz="1300" dirty="0"/>
                  <a:t> (</a:t>
                </a:r>
                <a:r>
                  <a:rPr lang="en-US" sz="1300" dirty="0" err="1"/>
                  <a:t>i</a:t>
                </a:r>
                <a:r>
                  <a:rPr lang="en-US" sz="1300" dirty="0"/>
                  <a:t> due </a:t>
                </a:r>
                <a:r>
                  <a:rPr lang="en-US" sz="1300" dirty="0" err="1"/>
                  <a:t>accoppiamenti</a:t>
                </a:r>
                <a:r>
                  <a:rPr lang="en-US" sz="1300" dirty="0"/>
                  <a:t> di </a:t>
                </a:r>
                <a:r>
                  <a:rPr lang="en-US" sz="1300" dirty="0" err="1"/>
                  <a:t>scambio</a:t>
                </a:r>
                <a:r>
                  <a:rPr lang="en-US" sz="1300" dirty="0"/>
                  <a:t>, </a:t>
                </a:r>
                <a:r>
                  <a:rPr lang="en-US" sz="1300" dirty="0" err="1"/>
                  <a:t>diversi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perché</a:t>
                </a:r>
                <a:r>
                  <a:rPr lang="en-US" sz="1300" dirty="0"/>
                  <a:t> il </a:t>
                </a:r>
                <a:r>
                  <a:rPr lang="en-US" sz="1300" dirty="0" err="1"/>
                  <a:t>triangolo</a:t>
                </a:r>
                <a:r>
                  <a:rPr lang="en-US" sz="1300" dirty="0"/>
                  <a:t> qui </a:t>
                </a:r>
                <a:r>
                  <a:rPr lang="en-US" sz="1300" dirty="0" err="1"/>
                  <a:t>considerato</a:t>
                </a:r>
                <a:r>
                  <a:rPr lang="en-US" sz="1300" dirty="0"/>
                  <a:t> è </a:t>
                </a:r>
                <a:r>
                  <a:rPr lang="en-US" sz="1300" dirty="0" err="1"/>
                  <a:t>isoscele</a:t>
                </a:r>
                <a:r>
                  <a:rPr lang="en-US" sz="1300" dirty="0"/>
                  <a:t>), </a:t>
                </a:r>
                <a14:m>
                  <m:oMath xmlns:m="http://schemas.openxmlformats.org/officeDocument/2006/math">
                    <m:r>
                      <a:rPr lang="en-US" sz="1300" i="1"/>
                      <m:t>𝑏</m:t>
                    </m:r>
                  </m:oMath>
                </a14:m>
                <a:r>
                  <a:rPr lang="en-US" sz="1300" dirty="0"/>
                  <a:t> (campo), </a:t>
                </a:r>
                <a14:m>
                  <m:oMath xmlns:m="http://schemas.openxmlformats.org/officeDocument/2006/math">
                    <m:r>
                      <a:rPr lang="en-US" sz="1300" i="1"/>
                      <m:t>𝐷</m:t>
                    </m:r>
                  </m:oMath>
                </a14:m>
                <a:r>
                  <a:rPr lang="en-US" sz="1300" dirty="0"/>
                  <a:t> (DM) — un solo </a:t>
                </a:r>
                <a:r>
                  <a:rPr lang="en-US" sz="1300" dirty="0" err="1"/>
                  <a:t>legame</a:t>
                </a:r>
                <a:r>
                  <a:rPr lang="en-US" sz="1300" dirty="0"/>
                  <a:t> in </a:t>
                </a:r>
                <a:r>
                  <a:rPr lang="en-US" sz="1300" dirty="0" err="1"/>
                  <a:t>più</a:t>
                </a:r>
                <a:r>
                  <a:rPr lang="en-US" sz="1300" dirty="0"/>
                  <a:t> rispetto al </a:t>
                </a:r>
                <a:r>
                  <a:rPr lang="en-US" sz="1300" dirty="0" err="1"/>
                  <a:t>dimero</a:t>
                </a:r>
                <a:r>
                  <a:rPr lang="en-US" sz="13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/>
                        </m:ctrlPr>
                      </m:sSupPr>
                      <m:e>
                        <m:r>
                          <a:rPr lang="en-US" sz="1300" i="1"/>
                          <m:t>𝐽</m:t>
                        </m:r>
                      </m:e>
                      <m:sup>
                        <m:r>
                          <a:rPr lang="en-US" sz="1300"/>
                          <m:t>′</m:t>
                        </m:r>
                      </m:sup>
                    </m:sSup>
                  </m:oMath>
                </a14:m>
                <a:r>
                  <a:rPr lang="en-US" sz="1300" dirty="0"/>
                  <a:t>), ma </a:t>
                </a:r>
                <a:r>
                  <a:rPr lang="en-US" sz="1300" dirty="0" err="1"/>
                  <a:t>sufficiente</a:t>
                </a:r>
                <a:r>
                  <a:rPr lang="en-US" sz="1300" dirty="0"/>
                  <a:t> a </a:t>
                </a:r>
                <a:r>
                  <a:rPr lang="en-US" sz="1300" dirty="0" err="1"/>
                  <a:t>introdurre</a:t>
                </a:r>
                <a:r>
                  <a:rPr lang="en-US" sz="1300" dirty="0"/>
                  <a:t> un </a:t>
                </a:r>
                <a:r>
                  <a:rPr lang="en-US" sz="1300" dirty="0" err="1"/>
                  <a:t>fenomeno</a:t>
                </a:r>
                <a:r>
                  <a:rPr lang="en-US" sz="1300" dirty="0"/>
                  <a:t> del </a:t>
                </a:r>
                <a:r>
                  <a:rPr lang="en-US" sz="1300" dirty="0" err="1"/>
                  <a:t>tutto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assente</a:t>
                </a:r>
                <a:r>
                  <a:rPr lang="en-US" sz="1300" dirty="0"/>
                  <a:t> a due spin: la </a:t>
                </a:r>
                <a:r>
                  <a:rPr lang="en-US" sz="1300" b="1" dirty="0" err="1"/>
                  <a:t>frustrazione</a:t>
                </a:r>
                <a:r>
                  <a:rPr lang="en-US" sz="1300" b="1" dirty="0"/>
                  <a:t> </a:t>
                </a:r>
                <a:r>
                  <a:rPr lang="en-US" sz="1300" b="1" dirty="0" err="1"/>
                  <a:t>geometrica</a:t>
                </a:r>
                <a:r>
                  <a:rPr lang="en-US" sz="1300" dirty="0"/>
                  <a:t>.</a:t>
                </a:r>
              </a:p>
              <a:p>
                <a:pPr rtl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924640"/>
                <a:ext cx="6098102" cy="4842929"/>
              </a:xfrm>
              <a:prstGeom prst="rect">
                <a:avLst/>
              </a:prstGeom>
              <a:blipFill>
                <a:blip r:embed="rId4"/>
                <a:stretch>
                  <a:fillRect l="-4700" t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4337A6-2601-067F-4045-B419AA1D4E47}"/>
                  </a:ext>
                </a:extLst>
              </p:cNvPr>
              <p:cNvSpPr txBox="1"/>
              <p:nvPr/>
            </p:nvSpPr>
            <p:spPr>
              <a:xfrm>
                <a:off x="5791200" y="1895324"/>
                <a:ext cx="6098102" cy="4223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300" dirty="0"/>
                  <a:t>Il </a:t>
                </a:r>
                <a:r>
                  <a:rPr lang="en-US" sz="1300" dirty="0" err="1"/>
                  <a:t>sistema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chiuso</a:t>
                </a:r>
                <a:r>
                  <a:rPr lang="en-US" sz="1300" dirty="0"/>
                  <a:t> (</a:t>
                </a:r>
                <a:r>
                  <a:rPr lang="en-US" sz="1300" dirty="0" err="1"/>
                  <a:t>nessun</a:t>
                </a:r>
                <a:r>
                  <a:rPr lang="en-US" sz="1300" dirty="0"/>
                  <a:t> </a:t>
                </a:r>
                <a:r>
                  <a:rPr lang="en-US" sz="1300" dirty="0" err="1"/>
                  <a:t>rumore</a:t>
                </a:r>
                <a:r>
                  <a:rPr lang="en-US" sz="1300" dirty="0"/>
                  <a:t>, </a:t>
                </a:r>
                <a:r>
                  <a:rPr lang="en-US" sz="1300" dirty="0" err="1"/>
                  <a:t>evoluzione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unitaria</a:t>
                </a:r>
                <a:r>
                  <a:rPr lang="en-US" sz="1300" dirty="0"/>
                  <a:t> pura)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affronta</a:t>
                </a:r>
                <a:r>
                  <a:rPr lang="en-US" sz="1300" dirty="0"/>
                  <a:t> in </a:t>
                </a:r>
                <a:r>
                  <a:rPr lang="en-US" sz="1300" dirty="0" err="1"/>
                  <a:t>tre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passi</a:t>
                </a:r>
                <a:r>
                  <a:rPr lang="en-US" sz="1300" dirty="0"/>
                  <a:t>, </a:t>
                </a:r>
                <a:r>
                  <a:rPr lang="en-US" sz="1300" dirty="0" err="1"/>
                  <a:t>che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costruiscono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l'uno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sull'altro</a:t>
                </a:r>
                <a:r>
                  <a:rPr lang="en-US" sz="1300" dirty="0"/>
                  <a:t>:</a:t>
                </a:r>
              </a:p>
              <a:p>
                <a:endParaRPr lang="en-US" sz="1300" dirty="0"/>
              </a:p>
              <a:p>
                <a:pPr marL="342900" indent="-342900">
                  <a:buAutoNum type="arabicPeriod"/>
                </a:pPr>
                <a:r>
                  <a:rPr lang="en-US" sz="1300" b="1" dirty="0"/>
                  <a:t>Stato </a:t>
                </a:r>
                <a:r>
                  <a:rPr lang="en-US" sz="1300" b="1" dirty="0" err="1"/>
                  <a:t>fondamentale</a:t>
                </a:r>
                <a:r>
                  <a:rPr lang="en-US" sz="1300" dirty="0"/>
                  <a:t> — VQE trova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1300"/>
                        </m:ctrlPr>
                      </m:dPr>
                      <m:e>
                        <m:r>
                          <a:rPr lang="en-US" sz="1300"/>
                          <m:t>∣</m:t>
                        </m:r>
                        <m:sSub>
                          <m:sSubPr>
                            <m:ctrlPr>
                              <a:rPr lang="en-US" sz="1300" i="1"/>
                            </m:ctrlPr>
                          </m:sSubPr>
                          <m:e>
                            <m:r>
                              <a:rPr lang="en-US" sz="1300" i="1"/>
                              <m:t>𝜓</m:t>
                            </m:r>
                          </m:e>
                          <m:sub>
                            <m:r>
                              <a:rPr lang="en-US" sz="1300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300" dirty="0"/>
                  <a:t>, </a:t>
                </a:r>
                <a:r>
                  <a:rPr lang="en-US" sz="1300" dirty="0" err="1"/>
                  <a:t>l'autostato</a:t>
                </a:r>
                <a:r>
                  <a:rPr lang="en-US" sz="1300" dirty="0"/>
                  <a:t> di </a:t>
                </a:r>
                <a:r>
                  <a:rPr lang="en-US" sz="1300" dirty="0" err="1"/>
                  <a:t>energia</a:t>
                </a:r>
                <a:r>
                  <a:rPr lang="en-US" sz="1300" dirty="0"/>
                  <a:t> minima di </a:t>
                </a:r>
                <a14:m>
                  <m:oMath xmlns:m="http://schemas.openxmlformats.org/officeDocument/2006/math">
                    <m:r>
                      <a:rPr lang="en-US" sz="1300" i="1"/>
                      <m:t>𝐻</m:t>
                    </m:r>
                  </m:oMath>
                </a14:m>
                <a:r>
                  <a:rPr lang="en-US" sz="1300" dirty="0"/>
                  <a:t> (</a:t>
                </a:r>
                <a:r>
                  <a:rPr lang="en-US" sz="1300" dirty="0" err="1"/>
                  <a:t>proprietà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statica</a:t>
                </a:r>
                <a:r>
                  <a:rPr lang="en-US" sz="1300" dirty="0"/>
                  <a:t>).</a:t>
                </a:r>
                <a:br>
                  <a:rPr lang="en-US" sz="1300" dirty="0"/>
                </a:br>
                <a:endParaRPr lang="en-US" sz="1300" dirty="0"/>
              </a:p>
              <a:p>
                <a:pPr marL="342900" indent="-342900">
                  <a:buAutoNum type="arabicPeriod"/>
                </a:pPr>
                <a:r>
                  <a:rPr lang="en-US" sz="1300" b="1" dirty="0" err="1"/>
                  <a:t>Dinamica</a:t>
                </a:r>
                <a:r>
                  <a:rPr lang="en-US" sz="1300" dirty="0"/>
                  <a:t> — Trotter </a:t>
                </a:r>
                <a:r>
                  <a:rPr lang="en-US" sz="1300" dirty="0" err="1"/>
                  <a:t>implementa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l'evoluzione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𝑈</m:t>
                    </m:r>
                    <m:d>
                      <m:dPr>
                        <m:ctrlPr>
                          <a:rPr lang="en-US" sz="1300" i="1"/>
                        </m:ctrlPr>
                      </m:dPr>
                      <m:e>
                        <m:r>
                          <a:rPr lang="en-US" sz="1300" i="1"/>
                          <m:t>𝑡</m:t>
                        </m:r>
                      </m:e>
                    </m:d>
                    <m:r>
                      <a:rPr lang="en-US" sz="1300"/>
                      <m:t>=</m:t>
                    </m:r>
                    <m:sSup>
                      <m:sSupPr>
                        <m:ctrlPr>
                          <a:rPr lang="en-US" sz="1300" i="1"/>
                        </m:ctrlPr>
                      </m:sSupPr>
                      <m:e>
                        <m:r>
                          <a:rPr lang="en-US" sz="1300" i="1"/>
                          <m:t>𝑒</m:t>
                        </m:r>
                      </m:e>
                      <m:sup>
                        <m:r>
                          <a:rPr lang="en-US" sz="1300"/>
                          <m:t>−</m:t>
                        </m:r>
                        <m:r>
                          <a:rPr lang="en-US" sz="1300" i="1"/>
                          <m:t>𝑖𝐻𝑡</m:t>
                        </m:r>
                      </m:sup>
                    </m:sSup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300" dirty="0"/>
                  <a:t>a </a:t>
                </a:r>
                <a:r>
                  <a:rPr lang="en-US" sz="1300" dirty="0" err="1"/>
                  <a:t>partire</a:t>
                </a:r>
                <a:r>
                  <a:rPr lang="en-US" sz="1300" dirty="0"/>
                  <a:t> da uno </a:t>
                </a:r>
                <a:r>
                  <a:rPr lang="en-US" sz="1300" dirty="0" err="1"/>
                  <a:t>stato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iniziale</a:t>
                </a:r>
                <a:r>
                  <a:rPr lang="en-US" sz="1300" dirty="0"/>
                  <a:t> semplice, per </a:t>
                </a:r>
                <a:r>
                  <a:rPr lang="en-US" sz="1300" dirty="0" err="1"/>
                  <a:t>seguire</a:t>
                </a:r>
                <a:r>
                  <a:rPr lang="en-US" sz="1300" dirty="0"/>
                  <a:t> come il </a:t>
                </a:r>
                <a:r>
                  <a:rPr lang="en-US" sz="1300" dirty="0" err="1"/>
                  <a:t>sistema</a:t>
                </a:r>
                <a:r>
                  <a:rPr lang="en-US" sz="1300" dirty="0"/>
                  <a:t> cambia </a:t>
                </a:r>
                <a:r>
                  <a:rPr lang="en-US" sz="1300" dirty="0" err="1"/>
                  <a:t>nel</a:t>
                </a:r>
                <a:r>
                  <a:rPr lang="en-US" sz="1300" dirty="0"/>
                  <a:t> tempo (</a:t>
                </a:r>
                <a:r>
                  <a:rPr lang="en-US" sz="1300" dirty="0" err="1"/>
                  <a:t>proprietà</a:t>
                </a:r>
                <a:r>
                  <a:rPr lang="en-US" sz="1300" dirty="0"/>
                  <a:t> </a:t>
                </a:r>
                <a:r>
                  <a:rPr lang="en-US" sz="1300" dirty="0" err="1"/>
                  <a:t>dinamica</a:t>
                </a:r>
                <a:r>
                  <a:rPr lang="en-US" sz="1300" dirty="0"/>
                  <a:t>).</a:t>
                </a:r>
                <a:br>
                  <a:rPr lang="en-US" sz="1300" dirty="0"/>
                </a:br>
                <a:endParaRPr lang="en-US" sz="1300" dirty="0"/>
              </a:p>
              <a:p>
                <a:pPr marL="342900" indent="-342900">
                  <a:buAutoNum type="arabicPeriod"/>
                </a:pPr>
                <a:r>
                  <a:rPr lang="en-US" sz="1300" b="1" dirty="0" err="1"/>
                  <a:t>Correlatori</a:t>
                </a:r>
                <a:r>
                  <a:rPr lang="en-US" sz="1300" dirty="0"/>
                  <a:t> — </a:t>
                </a:r>
                <a:r>
                  <a:rPr lang="en-US" sz="1300" dirty="0" err="1"/>
                  <a:t>combinano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i</a:t>
                </a:r>
                <a:r>
                  <a:rPr lang="en-US" sz="1300" dirty="0"/>
                  <a:t> due </a:t>
                </a:r>
                <a:r>
                  <a:rPr lang="en-US" sz="1300" dirty="0" err="1"/>
                  <a:t>blocchi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precedenti</a:t>
                </a:r>
                <a:r>
                  <a:rPr lang="en-US" sz="1300" dirty="0"/>
                  <a:t>: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prepara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1300"/>
                        </m:ctrlPr>
                      </m:dPr>
                      <m:e>
                        <m:r>
                          <a:rPr lang="en-US" sz="1300"/>
                          <m:t>∣</m:t>
                        </m:r>
                        <m:sSub>
                          <m:sSubPr>
                            <m:ctrlPr>
                              <a:rPr lang="en-US" sz="1300" i="1"/>
                            </m:ctrlPr>
                          </m:sSubPr>
                          <m:e>
                            <m:r>
                              <a:rPr lang="en-US" sz="1300" i="1"/>
                              <m:t>𝜓</m:t>
                            </m:r>
                          </m:e>
                          <m:sub>
                            <m:r>
                              <a:rPr lang="en-US" sz="1300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300" dirty="0"/>
                  <a:t> con il </a:t>
                </a:r>
                <a:r>
                  <a:rPr lang="en-US" sz="1300" dirty="0" err="1"/>
                  <a:t>circuito</a:t>
                </a:r>
                <a:r>
                  <a:rPr lang="en-US" sz="1300" dirty="0"/>
                  <a:t> VQE, lo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fa </a:t>
                </a:r>
                <a:r>
                  <a:rPr lang="en-US" sz="1300" dirty="0" err="1"/>
                  <a:t>evolvere</a:t>
                </a:r>
                <a:r>
                  <a:rPr lang="en-US" sz="1300" dirty="0"/>
                  <a:t> con Trotter, e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misura</a:t>
                </a:r>
                <a:r>
                  <a:rPr lang="en-US" sz="1300" dirty="0"/>
                  <a:t> come le </a:t>
                </a:r>
                <a:r>
                  <a:rPr lang="en-US" sz="1300" dirty="0" err="1"/>
                  <a:t>correlazioni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fra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siti</a:t>
                </a:r>
                <a:r>
                  <a:rPr lang="en-US" sz="1300" dirty="0"/>
                  <a:t> </a:t>
                </a:r>
                <a:r>
                  <a:rPr lang="en-US" sz="1400" dirty="0" err="1"/>
                  <a:t>cambiano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nel</a:t>
                </a:r>
                <a:r>
                  <a:rPr lang="en-US" sz="1400" dirty="0"/>
                  <a:t> tempo:</a:t>
                </a:r>
                <a:br>
                  <a:rPr lang="en-US" sz="1400" dirty="0"/>
                </a:br>
                <a:endParaRPr lang="en-US" sz="1400" dirty="0"/>
              </a:p>
              <a:p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/>
                          </m:ctrlPr>
                        </m:sSubSupPr>
                        <m:e>
                          <m:r>
                            <a:rPr lang="en-US" sz="1400" i="1"/>
                            <m:t>𝐶</m:t>
                          </m:r>
                        </m:e>
                        <m:sub>
                          <m:r>
                            <a:rPr lang="en-US" sz="1400" i="1"/>
                            <m:t>𝑖𝑗</m:t>
                          </m:r>
                        </m:sub>
                        <m:sup>
                          <m:r>
                            <a:rPr lang="en-US" sz="1400" i="1"/>
                            <m:t>𝛼𝛽</m:t>
                          </m:r>
                        </m:sup>
                      </m:sSubSup>
                      <m:d>
                        <m:dPr>
                          <m:ctrlPr>
                            <a:rPr lang="en-US" sz="1400" i="1"/>
                          </m:ctrlPr>
                        </m:dPr>
                        <m:e>
                          <m:r>
                            <a:rPr lang="en-US" sz="1400" i="1"/>
                            <m:t>𝑡</m:t>
                          </m:r>
                        </m:e>
                      </m:d>
                      <m:r>
                        <a:rPr lang="en-US" sz="1400"/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400" i="1"/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/>
                              </m:ctrlPr>
                            </m:sSubPr>
                            <m:e>
                              <m:r>
                                <a:rPr lang="en-US" sz="1400" i="1"/>
                                <m:t>𝜓</m:t>
                              </m:r>
                            </m:e>
                            <m:sub>
                              <m:r>
                                <a:rPr lang="en-US" sz="1400"/>
                                <m:t>0</m:t>
                              </m:r>
                            </m:sub>
                          </m:sSub>
                          <m:r>
                            <a:rPr lang="en-US" sz="1400"/>
                            <m:t>∣</m:t>
                          </m:r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r>
                                <a:rPr lang="en-US" sz="1400" i="1"/>
                                <m:t>𝜎</m:t>
                              </m:r>
                            </m:e>
                            <m:sub>
                              <m:r>
                                <a:rPr lang="en-US" sz="1400" i="1"/>
                                <m:t>𝑖</m:t>
                              </m:r>
                            </m:sub>
                            <m:sup>
                              <m:r>
                                <a:rPr lang="en-US" sz="1400" i="1"/>
                                <m:t>𝛼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400" i="1"/>
                              </m:ctrlPr>
                            </m:dPr>
                            <m:e>
                              <m:r>
                                <a:rPr lang="en-US" sz="1400" i="1"/>
                                <m:t>𝑡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1400"/>
                            <m:t> </m:t>
                          </m:r>
                          <m:sSubSup>
                            <m:sSubSupPr>
                              <m:ctrlPr>
                                <a:rPr lang="en-US" sz="1400" i="1"/>
                              </m:ctrlPr>
                            </m:sSubSupPr>
                            <m:e>
                              <m:r>
                                <a:rPr lang="en-US" sz="1400" i="1"/>
                                <m:t>𝜎</m:t>
                              </m:r>
                            </m:e>
                            <m:sub>
                              <m:r>
                                <a:rPr lang="en-US" sz="1400" i="1"/>
                                <m:t>𝑗</m:t>
                              </m:r>
                            </m:sub>
                            <m:sup>
                              <m:r>
                                <a:rPr lang="en-US" sz="1400" i="1"/>
                                <m:t>𝛽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400"/>
                              </m:ctrlPr>
                            </m:dPr>
                            <m:e>
                              <m:r>
                                <a:rPr lang="en-US" sz="1400"/>
                                <m:t>0</m:t>
                              </m:r>
                            </m:e>
                          </m:d>
                          <m:r>
                            <a:rPr lang="en-US" sz="1400"/>
                            <m:t>∣</m:t>
                          </m:r>
                          <m:sSub>
                            <m:sSubPr>
                              <m:ctrlPr>
                                <a:rPr lang="en-US" sz="1400" i="1"/>
                              </m:ctrlPr>
                            </m:sSubPr>
                            <m:e>
                              <m:r>
                                <a:rPr lang="en-US" sz="1400" i="1"/>
                                <m:t>𝜓</m:t>
                              </m:r>
                            </m:e>
                            <m:sub>
                              <m:r>
                                <a:rPr lang="en-US" sz="1400"/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b="0" dirty="0"/>
              </a:p>
              <a:p>
                <a:endParaRPr lang="en-US" sz="1400" dirty="0"/>
              </a:p>
              <a:p>
                <a:r>
                  <a:rPr lang="en-US" sz="1400" dirty="0"/>
                  <a:t>Non è un </a:t>
                </a:r>
                <a:r>
                  <a:rPr lang="en-US" sz="1400" dirty="0" err="1"/>
                  <a:t>terzo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metodo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indipendente</a:t>
                </a:r>
                <a:r>
                  <a:rPr lang="en-US" sz="1400" dirty="0"/>
                  <a:t> </a:t>
                </a:r>
                <a:r>
                  <a:rPr lang="en-US" sz="1300" dirty="0"/>
                  <a:t>— è </a:t>
                </a:r>
                <a:r>
                  <a:rPr lang="en-US" sz="1300" dirty="0" err="1"/>
                  <a:t>ciò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che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ottiene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mettendo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insieme</a:t>
                </a:r>
                <a:r>
                  <a:rPr lang="en-US" sz="1300" dirty="0"/>
                  <a:t> VQE e Trotter, </a:t>
                </a:r>
                <a:r>
                  <a:rPr lang="en-US" sz="1300" dirty="0" err="1"/>
                  <a:t>misurato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tramite</a:t>
                </a:r>
                <a:r>
                  <a:rPr lang="en-US" sz="1300" dirty="0"/>
                  <a:t> un </a:t>
                </a:r>
                <a:r>
                  <a:rPr lang="en-US" sz="1300" dirty="0" err="1"/>
                  <a:t>circuito</a:t>
                </a:r>
                <a:r>
                  <a:rPr lang="en-US" sz="1300" dirty="0"/>
                  <a:t> ad ancilla (test di Hadamard).</a:t>
                </a:r>
              </a:p>
              <a:p>
                <a:pPr rtl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4337A6-2601-067F-4045-B419AA1D4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895324"/>
                <a:ext cx="6098102" cy="4223977"/>
              </a:xfrm>
              <a:prstGeom prst="rect">
                <a:avLst/>
              </a:prstGeom>
              <a:blipFill>
                <a:blip r:embed="rId5"/>
                <a:stretch>
                  <a:fillRect l="-300" t="-144" r="-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/>
              <p:nvPr/>
            </p:nvSpPr>
            <p:spPr>
              <a:xfrm>
                <a:off x="5821680" y="1924640"/>
                <a:ext cx="6098102" cy="4127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300" dirty="0"/>
                  <a:t>Con il </a:t>
                </a:r>
                <a:r>
                  <a:rPr lang="en-US" sz="1300" dirty="0" err="1"/>
                  <a:t>rumore</a:t>
                </a:r>
                <a:r>
                  <a:rPr lang="en-US" sz="1300" dirty="0"/>
                  <a:t>, lo </a:t>
                </a:r>
                <a:r>
                  <a:rPr lang="en-US" sz="1300" dirty="0" err="1"/>
                  <a:t>stato</a:t>
                </a:r>
                <a:r>
                  <a:rPr lang="en-US" sz="1300" dirty="0"/>
                  <a:t> non è </a:t>
                </a:r>
                <a:r>
                  <a:rPr lang="en-US" sz="1300" dirty="0" err="1"/>
                  <a:t>più</a:t>
                </a:r>
                <a:r>
                  <a:rPr lang="en-US" sz="1300" dirty="0"/>
                  <a:t> puro: </a:t>
                </a:r>
                <a:r>
                  <a:rPr lang="en-US" sz="1300" dirty="0" err="1"/>
                  <a:t>si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passa</a:t>
                </a:r>
                <a:r>
                  <a:rPr lang="en-US" sz="1300" dirty="0"/>
                  <a:t> dal </a:t>
                </a:r>
                <a:r>
                  <a:rPr lang="en-US" sz="1300" dirty="0" err="1"/>
                  <a:t>vettore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1300" smtClean="0"/>
                        </m:ctrlPr>
                      </m:dPr>
                      <m:e>
                        <m:r>
                          <a:rPr lang="en-US" sz="1300" smtClean="0"/>
                          <m:t>∣</m:t>
                        </m:r>
                        <m:r>
                          <a:rPr lang="en-US" sz="1300" i="1"/>
                          <m:t>𝜓</m:t>
                        </m:r>
                      </m:e>
                    </m:d>
                  </m:oMath>
                </a14:m>
                <a:r>
                  <a:rPr lang="en-US" sz="1300" dirty="0"/>
                  <a:t> </a:t>
                </a:r>
                <a:r>
                  <a:rPr lang="en-US" sz="1300" dirty="0" err="1"/>
                  <a:t>all'</a:t>
                </a:r>
                <a:r>
                  <a:rPr lang="en-US" sz="1300" b="1" dirty="0" err="1"/>
                  <a:t>operatore</a:t>
                </a:r>
                <a:r>
                  <a:rPr lang="en-US" sz="1300" b="1" dirty="0"/>
                  <a:t> </a:t>
                </a:r>
                <a:r>
                  <a:rPr lang="en-US" sz="1300" b="1" dirty="0" err="1"/>
                  <a:t>densità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𝜌</m:t>
                    </m:r>
                  </m:oMath>
                </a14:m>
                <a:r>
                  <a:rPr lang="en-US" sz="1300" dirty="0"/>
                  <a:t>, ed è il </a:t>
                </a:r>
                <a:r>
                  <a:rPr lang="en-US" sz="1300" dirty="0" err="1"/>
                  <a:t>canale</a:t>
                </a:r>
                <a:r>
                  <a:rPr lang="en-US" sz="1300" dirty="0"/>
                  <a:t> di </a:t>
                </a:r>
                <a:r>
                  <a:rPr lang="en-US" sz="1300" dirty="0" err="1"/>
                  <a:t>rumore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/>
                      <m:t>ℰ</m:t>
                    </m:r>
                  </m:oMath>
                </a14:m>
                <a:r>
                  <a:rPr lang="en-US" sz="1300" dirty="0"/>
                  <a:t> a </a:t>
                </a:r>
                <a:r>
                  <a:rPr lang="en-US" sz="1300" dirty="0" err="1"/>
                  <a:t>descriverne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l'evoluzione</a:t>
                </a:r>
                <a:r>
                  <a:rPr lang="en-US" sz="1300" dirty="0"/>
                  <a:t>:</a:t>
                </a:r>
                <a:br>
                  <a:rPr lang="en-US" dirty="0"/>
                </a:br>
                <a:endParaRPr lang="en-US" dirty="0"/>
              </a:p>
              <a:p>
                <a14:m>
                  <m:oMathPara xmlns:m="http://schemas.openxmlformats.org/officeDocument/2006/math">
                    <m:oMath>
                      <m:r>
                        <a:rPr lang="en-US" sz="1400"/>
                        <m:t>ℰ</m:t>
                      </m:r>
                      <m:d>
                        <m:dPr>
                          <m:ctrlPr>
                            <a:rPr lang="en-US" sz="1400" i="1"/>
                          </m:ctrlPr>
                        </m:dPr>
                        <m:e>
                          <m:r>
                            <a:rPr lang="en-US" sz="1400" i="1"/>
                            <m:t>𝜌</m:t>
                          </m:r>
                        </m:e>
                      </m:d>
                      <m:r>
                        <a:rPr lang="en-US" sz="1400"/>
                        <m:t>=</m:t>
                      </m:r>
                      <m:d>
                        <m:dPr>
                          <m:ctrlPr>
                            <a:rPr lang="en-US" sz="1400"/>
                          </m:ctrlPr>
                        </m:dPr>
                        <m:e>
                          <m:r>
                            <a:rPr lang="en-US" sz="1400"/>
                            <m:t>1−</m:t>
                          </m:r>
                          <m:r>
                            <a:rPr lang="en-US" sz="1400" i="1"/>
                            <m:t>𝜆</m:t>
                          </m:r>
                        </m:e>
                      </m:d>
                      <m:r>
                        <a:rPr lang="en-US" sz="1400" i="1"/>
                        <m:t>𝜌</m:t>
                      </m:r>
                      <m:r>
                        <a:rPr lang="en-US" sz="1400"/>
                        <m:t>+</m:t>
                      </m:r>
                      <m:r>
                        <a:rPr lang="en-US" sz="1400" i="1"/>
                        <m:t>𝜆</m:t>
                      </m:r>
                      <m:r>
                        <m:rPr>
                          <m:nor/>
                        </m:rPr>
                        <a:rPr lang="en-US" sz="1400"/>
                        <m:t> </m:t>
                      </m:r>
                      <m:f>
                        <m:fPr>
                          <m:ctrlPr>
                            <a:rPr lang="en-US" sz="1400" b="1"/>
                          </m:ctrlPr>
                        </m:fPr>
                        <m:num>
                          <m:r>
                            <a:rPr lang="en-US" sz="1400" b="1"/>
                            <m:t>𝟏</m:t>
                          </m:r>
                        </m:num>
                        <m:den>
                          <m:r>
                            <a:rPr lang="en-US" sz="1400" i="1"/>
                            <m:t>𝑑</m:t>
                          </m:r>
                        </m:den>
                      </m:f>
                    </m:oMath>
                  </m:oMathPara>
                </a14:m>
                <a:endParaRPr lang="en-US" sz="1400" b="0" dirty="0"/>
              </a:p>
              <a:p>
                <a:r>
                  <a:rPr lang="en-US" dirty="0"/>
                  <a:t> </a:t>
                </a:r>
              </a:p>
              <a:p>
                <a:r>
                  <a:rPr lang="en-US" sz="1300" dirty="0" err="1"/>
                  <a:t>una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miscela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fra</a:t>
                </a:r>
                <a:r>
                  <a:rPr lang="en-US" sz="1300" dirty="0"/>
                  <a:t> lo </a:t>
                </a:r>
                <a:r>
                  <a:rPr lang="en-US" sz="1300" dirty="0" err="1"/>
                  <a:t>stato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originale</a:t>
                </a:r>
                <a:r>
                  <a:rPr lang="en-US" sz="1300" dirty="0"/>
                  <a:t> e lo </a:t>
                </a:r>
                <a:r>
                  <a:rPr lang="en-US" sz="1300" dirty="0" err="1"/>
                  <a:t>stato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massimamente</a:t>
                </a:r>
                <a:r>
                  <a:rPr lang="en-US" sz="1300" dirty="0"/>
                  <a:t> misto, con </a:t>
                </a:r>
                <a:r>
                  <a:rPr lang="en-US" sz="1300" dirty="0" err="1"/>
                  <a:t>probabilità</a:t>
                </a:r>
                <a:r>
                  <a:rPr lang="en-US" sz="1300" dirty="0"/>
                  <a:t> </a:t>
                </a:r>
                <a14:m>
                  <m:oMath xmlns:m="http://schemas.openxmlformats.org/officeDocument/2006/math">
                    <m:r>
                      <a:rPr lang="en-US" sz="1300" i="1"/>
                      <m:t>𝜆</m:t>
                    </m:r>
                  </m:oMath>
                </a14:m>
                <a:r>
                  <a:rPr lang="en-US" sz="1300" dirty="0"/>
                  <a:t>.</a:t>
                </a:r>
              </a:p>
              <a:p>
                <a:endParaRPr lang="en-US" sz="1300" dirty="0"/>
              </a:p>
              <a:p>
                <a:r>
                  <a:rPr lang="en-US" sz="1300" b="1" dirty="0" err="1"/>
                  <a:t>Calibrato</a:t>
                </a:r>
                <a:r>
                  <a:rPr lang="en-US" sz="1300" b="1" dirty="0"/>
                  <a:t> </a:t>
                </a:r>
                <a:r>
                  <a:rPr lang="en-US" sz="1300" b="1" dirty="0" err="1"/>
                  <a:t>su</a:t>
                </a:r>
                <a:r>
                  <a:rPr lang="en-US" sz="1300" b="1" dirty="0"/>
                  <a:t> hardware </a:t>
                </a:r>
                <a:r>
                  <a:rPr lang="en-US" sz="1300" b="1" dirty="0" err="1"/>
                  <a:t>reale</a:t>
                </a:r>
                <a:r>
                  <a:rPr lang="en-US" sz="1300" dirty="0"/>
                  <a:t> (</a:t>
                </a:r>
                <a:r>
                  <a:rPr lang="en-US" sz="1300" dirty="0" err="1"/>
                  <a:t>ibm_torino</a:t>
                </a:r>
                <a:r>
                  <a:rPr lang="en-US" sz="1300" dirty="0"/>
                  <a:t>), non </a:t>
                </a:r>
                <a:r>
                  <a:rPr lang="en-US" sz="1300" dirty="0" err="1"/>
                  <a:t>su</a:t>
                </a:r>
                <a:r>
                  <a:rPr lang="en-US" sz="1300" dirty="0"/>
                  <a:t> </a:t>
                </a:r>
                <a:r>
                  <a:rPr lang="en-US" sz="1300" dirty="0" err="1"/>
                  <a:t>valori</a:t>
                </a:r>
                <a:r>
                  <a:rPr lang="en-US" sz="1300" dirty="0"/>
                  <a:t> </a:t>
                </a:r>
                <a:r>
                  <a:rPr lang="en-US" sz="1300" dirty="0" err="1"/>
                  <a:t>generici</a:t>
                </a:r>
                <a:r>
                  <a:rPr lang="en-US" sz="1300" dirty="0"/>
                  <a:t>:</a:t>
                </a:r>
                <a:br>
                  <a:rPr lang="en-US" dirty="0"/>
                </a:br>
                <a:endParaRPr lang="en-US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𝜀</m:t>
                          </m:r>
                        </m:e>
                        <m:sub>
                          <m:r>
                            <a:rPr lang="en-US" sz="1400"/>
                            <m:t>1</m:t>
                          </m:r>
                          <m:r>
                            <a:rPr lang="en-US" sz="1400" i="1"/>
                            <m:t>𝑞</m:t>
                          </m:r>
                        </m:sub>
                      </m:sSub>
                      <m:r>
                        <a:rPr lang="en-US" sz="1400"/>
                        <m:t>=2.9×</m:t>
                      </m:r>
                      <m:sSup>
                        <m:sSupPr>
                          <m:ctrlPr>
                            <a:rPr lang="en-US" sz="1400"/>
                          </m:ctrlPr>
                        </m:sSupPr>
                        <m:e>
                          <m:r>
                            <a:rPr lang="en-US" sz="1400"/>
                            <m:t>10</m:t>
                          </m:r>
                        </m:e>
                        <m:sup>
                          <m:r>
                            <a:rPr lang="en-US" sz="1400"/>
                            <m:t>−4</m:t>
                          </m:r>
                        </m:sup>
                      </m:sSup>
                      <m:r>
                        <a:rPr lang="en-US" sz="1400"/>
                        <m:t> </m:t>
                      </m:r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𝜀</m:t>
                          </m:r>
                        </m:e>
                        <m:sub>
                          <m:r>
                            <a:rPr lang="en-US" sz="1400"/>
                            <m:t>2</m:t>
                          </m:r>
                          <m:r>
                            <a:rPr lang="en-US" sz="1400" i="1"/>
                            <m:t>𝑞</m:t>
                          </m:r>
                        </m:sub>
                      </m:sSub>
                      <m:r>
                        <a:rPr lang="en-US" sz="1400"/>
                        <m:t>=3.8×</m:t>
                      </m:r>
                      <m:sSup>
                        <m:sSupPr>
                          <m:ctrlPr>
                            <a:rPr lang="en-US" sz="1400"/>
                          </m:ctrlPr>
                        </m:sSupPr>
                        <m:e>
                          <m:r>
                            <a:rPr lang="en-US" sz="1400"/>
                            <m:t>10</m:t>
                          </m:r>
                        </m:e>
                        <m:sup>
                          <m:r>
                            <a:rPr lang="en-US" sz="1400"/>
                            <m:t>−3</m:t>
                          </m:r>
                        </m:sup>
                      </m:sSup>
                      <m:r>
                        <a:rPr lang="en-US" sz="1400"/>
                        <m:t> </m:t>
                      </m:r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𝑝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/>
                            <m:t>readout</m:t>
                          </m:r>
                        </m:sub>
                      </m:sSub>
                      <m:r>
                        <a:rPr lang="en-US" sz="1400"/>
                        <m:t>=2.3×</m:t>
                      </m:r>
                      <m:sSup>
                        <m:sSupPr>
                          <m:ctrlPr>
                            <a:rPr lang="en-US" sz="1400"/>
                          </m:ctrlPr>
                        </m:sSupPr>
                        <m:e>
                          <m:r>
                            <a:rPr lang="en-US" sz="1400"/>
                            <m:t>10</m:t>
                          </m:r>
                        </m:e>
                        <m:sup>
                          <m:r>
                            <a:rPr lang="en-US" sz="1400"/>
                            <m:t>−2</m:t>
                          </m:r>
                        </m:sup>
                      </m:sSup>
                    </m:oMath>
                  </m:oMathPara>
                </a14:m>
                <a:endParaRPr lang="en-US" sz="1400" b="0" dirty="0"/>
              </a:p>
              <a:p>
                <a:endParaRPr lang="en-US" dirty="0"/>
              </a:p>
              <a:p>
                <a:r>
                  <a:rPr lang="en-US" sz="1300" dirty="0" err="1"/>
                  <a:t>errore</a:t>
                </a:r>
                <a:r>
                  <a:rPr lang="en-US" sz="1300" dirty="0"/>
                  <a:t> di gate a un qubit, a due qubit, ed </a:t>
                </a:r>
                <a:r>
                  <a:rPr lang="en-US" sz="1300" dirty="0" err="1"/>
                  <a:t>errore</a:t>
                </a:r>
                <a:r>
                  <a:rPr lang="en-US" sz="1300" dirty="0"/>
                  <a:t> di </a:t>
                </a:r>
                <a:r>
                  <a:rPr lang="en-US" sz="1300" dirty="0" err="1"/>
                  <a:t>lettura</a:t>
                </a:r>
                <a:r>
                  <a:rPr lang="en-US" sz="1300" dirty="0"/>
                  <a:t>, </a:t>
                </a:r>
                <a:r>
                  <a:rPr lang="en-US" sz="1300" dirty="0" err="1"/>
                  <a:t>rispettivamente</a:t>
                </a:r>
                <a:r>
                  <a:rPr lang="en-US" sz="1300" dirty="0"/>
                  <a:t>.</a:t>
                </a:r>
              </a:p>
              <a:p>
                <a:endParaRPr lang="en-US" sz="1300" dirty="0"/>
              </a:p>
              <a:p>
                <a:r>
                  <a:rPr lang="en-US" sz="1300" b="1" dirty="0"/>
                  <a:t>La </a:t>
                </a:r>
                <a:r>
                  <a:rPr lang="en-US" sz="1300" b="1" dirty="0" err="1"/>
                  <a:t>domanda</a:t>
                </a:r>
                <a:r>
                  <a:rPr lang="en-US" sz="1300" b="1" dirty="0"/>
                  <a:t> </a:t>
                </a:r>
                <a:r>
                  <a:rPr lang="en-US" sz="1300" b="1" dirty="0" err="1"/>
                  <a:t>pratica</a:t>
                </a:r>
                <a:r>
                  <a:rPr lang="en-US" sz="1300" dirty="0"/>
                  <a:t>: </a:t>
                </a:r>
                <a:r>
                  <a:rPr lang="en-US" sz="1300" dirty="0" err="1"/>
                  <a:t>più</a:t>
                </a:r>
                <a:r>
                  <a:rPr lang="en-US" sz="1300" dirty="0"/>
                  <a:t> </a:t>
                </a:r>
                <a:r>
                  <a:rPr lang="en-US" sz="1300" dirty="0" err="1"/>
                  <a:t>passi</a:t>
                </a:r>
                <a:r>
                  <a:rPr lang="en-US" sz="1300" dirty="0"/>
                  <a:t> di Trotter </a:t>
                </a:r>
                <a14:m>
                  <m:oMath xmlns:m="http://schemas.openxmlformats.org/officeDocument/2006/math">
                    <m:r>
                      <a:rPr lang="en-US" sz="1300" i="1"/>
                      <m:t>𝑁</m:t>
                    </m:r>
                  </m:oMath>
                </a14:m>
                <a:r>
                  <a:rPr lang="en-US" sz="1300" dirty="0"/>
                  <a:t> </a:t>
                </a:r>
                <a:r>
                  <a:rPr lang="en-US" sz="1300" dirty="0" err="1"/>
                  <a:t>riducono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l'errore</a:t>
                </a:r>
                <a:r>
                  <a:rPr lang="en-US" sz="1300" dirty="0"/>
                  <a:t> di </a:t>
                </a:r>
                <a:r>
                  <a:rPr lang="en-US" sz="1300" dirty="0" err="1"/>
                  <a:t>approssimazione</a:t>
                </a:r>
                <a:r>
                  <a:rPr lang="en-US" sz="1300" dirty="0"/>
                  <a:t>, ma ogni </a:t>
                </a:r>
                <a:r>
                  <a:rPr lang="en-US" sz="1300" dirty="0" err="1"/>
                  <a:t>passo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aggiunge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rumore</a:t>
                </a:r>
                <a:r>
                  <a:rPr lang="en-US" sz="1300" dirty="0"/>
                  <a:t> — </a:t>
                </a:r>
                <a:r>
                  <a:rPr lang="en-US" sz="1300" dirty="0" err="1"/>
                  <a:t>esiste</a:t>
                </a:r>
                <a:r>
                  <a:rPr lang="en-US" sz="1300" dirty="0"/>
                  <a:t> un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/>
                        </m:ctrlPr>
                      </m:sSupPr>
                      <m:e>
                        <m:r>
                          <a:rPr lang="en-US" sz="1300" i="1"/>
                          <m:t>𝑁</m:t>
                        </m:r>
                      </m:e>
                      <m:sup>
                        <m:r>
                          <a:rPr lang="en-US" sz="1300"/>
                          <m:t>∗</m:t>
                        </m:r>
                      </m:sup>
                    </m:sSup>
                  </m:oMath>
                </a14:m>
                <a:r>
                  <a:rPr lang="en-US" sz="1300" dirty="0"/>
                  <a:t> </a:t>
                </a:r>
                <a:r>
                  <a:rPr lang="en-US" sz="1300" dirty="0" err="1"/>
                  <a:t>ottimo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che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bilancia</a:t>
                </a:r>
                <a:r>
                  <a:rPr lang="en-US" sz="1300" dirty="0"/>
                  <a:t> </a:t>
                </a:r>
                <a:r>
                  <a:rPr lang="en-US" sz="1300" dirty="0" err="1"/>
                  <a:t>i</a:t>
                </a:r>
                <a:r>
                  <a:rPr lang="en-US" sz="1300" dirty="0"/>
                  <a:t> due, </a:t>
                </a:r>
                <a:r>
                  <a:rPr lang="en-US" sz="1300" dirty="0" err="1"/>
                  <a:t>individuato</a:t>
                </a:r>
                <a:r>
                  <a:rPr lang="en-US" sz="1300" dirty="0"/>
                  <a:t> </a:t>
                </a:r>
                <a:r>
                  <a:rPr lang="en-US" sz="1300" dirty="0" err="1"/>
                  <a:t>massimizzando</a:t>
                </a:r>
                <a:r>
                  <a:rPr lang="en-US" sz="1300" dirty="0"/>
                  <a:t> il </a:t>
                </a:r>
                <a:r>
                  <a:rPr lang="en-US" sz="1300" dirty="0" err="1"/>
                  <a:t>segnale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osservabile</a:t>
                </a:r>
                <a:r>
                  <a:rPr lang="en-US" sz="1300" dirty="0"/>
                  <a:t> sotto </a:t>
                </a:r>
                <a:r>
                  <a:rPr lang="en-US" sz="1300" dirty="0" err="1"/>
                  <a:t>rumore</a:t>
                </a:r>
                <a:r>
                  <a:rPr lang="en-US" sz="1300" dirty="0"/>
                  <a:t> </a:t>
                </a:r>
                <a:r>
                  <a:rPr lang="en-US" sz="1300" dirty="0" err="1"/>
                  <a:t>reale</a:t>
                </a:r>
                <a:r>
                  <a:rPr lang="en-US" sz="1300" dirty="0"/>
                  <a:t>.</a:t>
                </a:r>
              </a:p>
              <a:p>
                <a:pPr rtl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680" y="1924640"/>
                <a:ext cx="6098102" cy="4127092"/>
              </a:xfrm>
              <a:prstGeom prst="rect">
                <a:avLst/>
              </a:prstGeom>
              <a:blipFill>
                <a:blip r:embed="rId6"/>
                <a:stretch>
                  <a:fillRect l="-100" t="-7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2" grpId="0"/>
      <p:bldP spid="12" grpId="1"/>
      <p:bldP spid="14" grpId="0"/>
      <p:bldP spid="14" grpId="1"/>
      <p:bldP spid="15" grpId="0"/>
      <p:bldP spid="15" grpId="1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673</Words>
  <Application>Microsoft Office PowerPoint</Application>
  <PresentationFormat>Widescreen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12</cp:revision>
  <dcterms:created xsi:type="dcterms:W3CDTF">2026-09-14T12:41:28Z</dcterms:created>
  <dcterms:modified xsi:type="dcterms:W3CDTF">2026-09-15T11:50:58Z</dcterms:modified>
</cp:coreProperties>
</file>