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82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930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95463" tIns="47732" rIns="95463" bIns="4773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95463" tIns="47732" rIns="95463" bIns="47732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/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Funzioni di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correlazione</a:t>
                </a:r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dinamica</a:t>
                </a:r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𝛼𝛽</m:t>
                        </m:r>
                      </m:sup>
                    </m:sSubSup>
                    <m:d>
                      <m:dPr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bSup>
                              <m:sSubSup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Canali di </a:t>
                </a:r>
                <a:r>
                  <a:rPr lang="en-US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𝑟𝑒𝑎𝑑𝑜𝑢𝑡</m:t>
                        </m:r>
                      </m:sub>
                    </m:sSub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344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4C6A78A-257D-587D-1AF8-AC1AEDA7E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85" y="2020824"/>
            <a:ext cx="4629013" cy="25337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46AD95-B561-7223-B5C7-D57F6C230011}"/>
              </a:ext>
            </a:extLst>
          </p:cNvPr>
          <p:cNvSpPr txBox="1"/>
          <p:nvPr/>
        </p:nvSpPr>
        <p:spPr>
          <a:xfrm>
            <a:off x="640080" y="5686939"/>
            <a:ext cx="4784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Simulatore</a:t>
            </a:r>
            <a:r>
              <a:rPr lang="en-US" sz="1400" dirty="0"/>
              <a:t> con </a:t>
            </a:r>
            <a:r>
              <a:rPr lang="en-US" sz="1400" dirty="0" err="1"/>
              <a:t>rumore</a:t>
            </a:r>
            <a:r>
              <a:rPr lang="en-US" sz="1400" dirty="0"/>
              <a:t>: ogni gate e ogni </a:t>
            </a:r>
            <a:r>
              <a:rPr lang="en-US" sz="1400" dirty="0" err="1"/>
              <a:t>lettura</a:t>
            </a:r>
            <a:r>
              <a:rPr lang="en-US" sz="1400" dirty="0"/>
              <a:t> introduce </a:t>
            </a:r>
            <a:r>
              <a:rPr lang="en-US" sz="1400" dirty="0" err="1"/>
              <a:t>errore</a:t>
            </a:r>
            <a:endParaRPr 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B1517B-B1BD-BF3C-6426-E8C970564BB0}"/>
              </a:ext>
            </a:extLst>
          </p:cNvPr>
          <p:cNvSpPr txBox="1"/>
          <p:nvPr/>
        </p:nvSpPr>
        <p:spPr>
          <a:xfrm>
            <a:off x="627684" y="6335756"/>
            <a:ext cx="4784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Modello</a:t>
            </a:r>
            <a:r>
              <a:rPr lang="en-US" sz="1400" dirty="0"/>
              <a:t> </a:t>
            </a:r>
            <a:r>
              <a:rPr lang="en-US" sz="1400" dirty="0" err="1"/>
              <a:t>minimale</a:t>
            </a:r>
            <a:r>
              <a:rPr lang="en-US" sz="1400" dirty="0"/>
              <a:t>: 2 </a:t>
            </a:r>
            <a:r>
              <a:rPr lang="en-US" sz="1400" dirty="0" err="1"/>
              <a:t>canali</a:t>
            </a:r>
            <a:r>
              <a:rPr lang="en-US" sz="1400" dirty="0"/>
              <a:t> - </a:t>
            </a:r>
            <a:r>
              <a:rPr lang="en-US" sz="1400" dirty="0" err="1"/>
              <a:t>depolarizzante</a:t>
            </a:r>
            <a:r>
              <a:rPr lang="en-US" sz="1400" dirty="0"/>
              <a:t> (gate) + </a:t>
            </a:r>
            <a:r>
              <a:rPr lang="en-US" sz="1400" dirty="0" err="1"/>
              <a:t>lettura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79C275-42D6-7C3E-A776-775F5D436A7C}"/>
              </a:ext>
            </a:extLst>
          </p:cNvPr>
          <p:cNvSpPr txBox="1"/>
          <p:nvPr/>
        </p:nvSpPr>
        <p:spPr>
          <a:xfrm>
            <a:off x="6709144" y="5036014"/>
            <a:ext cx="48551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 err="1"/>
              <a:t>Parametri</a:t>
            </a:r>
            <a:r>
              <a:rPr lang="en-US" sz="1400" dirty="0"/>
              <a:t> </a:t>
            </a:r>
            <a:r>
              <a:rPr lang="en-US" sz="1400" dirty="0" err="1"/>
              <a:t>calibrati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</a:t>
            </a:r>
            <a:r>
              <a:rPr lang="en-US" sz="1400" dirty="0" err="1"/>
              <a:t>ibm_torino</a:t>
            </a:r>
            <a:r>
              <a:rPr lang="en-US" sz="1400" dirty="0"/>
              <a:t> (IBM Heron r1, 133 qubit):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B850E4-AF86-6D3F-F8BE-73BFF7A8E481}"/>
              </a:ext>
            </a:extLst>
          </p:cNvPr>
          <p:cNvSpPr txBox="1"/>
          <p:nvPr/>
        </p:nvSpPr>
        <p:spPr>
          <a:xfrm>
            <a:off x="640080" y="5090499"/>
            <a:ext cx="4784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400" dirty="0"/>
              <a:t>È un </a:t>
            </a:r>
            <a:r>
              <a:rPr lang="en-US" sz="1400" dirty="0" err="1"/>
              <a:t>numero</a:t>
            </a:r>
            <a:r>
              <a:rPr lang="en-US" sz="1400" dirty="0"/>
              <a:t> </a:t>
            </a:r>
            <a:r>
              <a:rPr lang="en-US" sz="1400" dirty="0" err="1"/>
              <a:t>complesso</a:t>
            </a:r>
            <a:r>
              <a:rPr lang="en-US" sz="1400" dirty="0"/>
              <a:t> -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misura</a:t>
            </a:r>
            <a:r>
              <a:rPr lang="en-US" sz="1400" dirty="0"/>
              <a:t> con </a:t>
            </a:r>
            <a:r>
              <a:rPr lang="en-US" sz="1400" dirty="0" err="1"/>
              <a:t>un'ancilla</a:t>
            </a:r>
            <a:r>
              <a:rPr lang="en-US" sz="1400" dirty="0"/>
              <a:t> in </a:t>
            </a:r>
            <a:r>
              <a:rPr lang="en-US" sz="1400" dirty="0" err="1"/>
              <a:t>sovrapposizione</a:t>
            </a:r>
            <a:endParaRPr lang="en-US" sz="1400" dirty="0"/>
          </a:p>
        </p:txBody>
      </p:sp>
      <p:pic>
        <p:nvPicPr>
          <p:cNvPr id="3" name="Picture 2" descr="Эволюция IBM: от табулирующих машин до суперкомпьютеров">
            <a:extLst>
              <a:ext uri="{FF2B5EF4-FFF2-40B4-BE49-F238E27FC236}">
                <a16:creationId xmlns:a16="http://schemas.microsoft.com/office/drawing/2014/main" id="{E258CBB9-D963-B64F-189B-9C94C9813B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0366" t="18086" r="2096" b="16150"/>
          <a:stretch>
            <a:fillRect/>
          </a:stretch>
        </p:blipFill>
        <p:spPr>
          <a:xfrm>
            <a:off x="9345500" y="5343791"/>
            <a:ext cx="1817029" cy="1441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F559DF-42C3-57E8-BF1C-C34E5DA36C5A}"/>
                  </a:ext>
                </a:extLst>
              </p:cNvPr>
              <p:cNvSpPr txBox="1"/>
              <p:nvPr/>
            </p:nvSpPr>
            <p:spPr>
              <a:xfrm>
                <a:off x="7194520" y="5613719"/>
                <a:ext cx="2099930" cy="779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=2.9×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=3.8×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𝑟𝑒𝑎𝑑𝑜𝑢𝑡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</a:rPr>
                        <m:t>=2.3×</m:t>
                      </m:r>
                      <m:sSup>
                        <m:sSupPr>
                          <m:ctrlPr>
                            <a:rPr lang="en-US" sz="140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1F559DF-42C3-57E8-BF1C-C34E5DA36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520" y="5613719"/>
                <a:ext cx="2099930" cy="779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esc HA dimero">
            <a:extLst>
              <a:ext uri="{FF2B5EF4-FFF2-40B4-BE49-F238E27FC236}">
                <a16:creationId xmlns:a16="http://schemas.microsoft.com/office/drawing/2014/main" id="{62B5EC75-CEC5-4C96-79EC-377A6B83806E}"/>
              </a:ext>
            </a:extLst>
          </p:cNvPr>
          <p:cNvSpPr txBox="1"/>
          <p:nvPr/>
        </p:nvSpPr>
        <p:spPr>
          <a:xfrm>
            <a:off x="627684" y="4583930"/>
            <a:ext cx="46039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un’unica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differenza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l’ultimo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gate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sull’ancilla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è H</a:t>
            </a:r>
            <a:endParaRPr lang="en-US" sz="1200" dirty="0"/>
          </a:p>
        </p:txBody>
      </p:sp>
      <p:pic>
        <p:nvPicPr>
          <p:cNvPr id="8" name="Picture 7" descr="The diagram displays a correlation function plot, showing two different scenarios: one with noise (Trotter+rumore, N=20) and one without noise (Trotter, N=20), across a range of time units (t).&#10;&#10;AI-generated content may be incorrect.">
            <a:extLst>
              <a:ext uri="{FF2B5EF4-FFF2-40B4-BE49-F238E27FC236}">
                <a16:creationId xmlns:a16="http://schemas.microsoft.com/office/drawing/2014/main" id="{C6661771-F176-396D-0B97-59F67AE73A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771" y="2078984"/>
            <a:ext cx="4756776" cy="280399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105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Wingdings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52</cp:revision>
  <dcterms:created xsi:type="dcterms:W3CDTF">2026-09-14T17:34:23Z</dcterms:created>
  <dcterms:modified xsi:type="dcterms:W3CDTF">2026-09-20T09:52:22Z</dcterms:modified>
</cp:coreProperties>
</file>