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89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147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8566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Variational Quantum </a:t>
            </a:r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Eigensolver</a:t>
            </a:r>
            <a:r>
              <a:rPr lang="en-US" sz="3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(VQE)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67032" y="1457880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13432" y="1457880"/>
            <a:ext cx="10965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ibrido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quantistico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-classico per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trovare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fondamentale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un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Hamiltoniano</a:t>
            </a:r>
            <a:endParaRPr lang="en-US" sz="2100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0B77664-07E3-BF79-6E15-C980E588CBC9}"/>
                  </a:ext>
                </a:extLst>
              </p:cNvPr>
              <p:cNvSpPr txBox="1"/>
              <p:nvPr/>
            </p:nvSpPr>
            <p:spPr>
              <a:xfrm>
                <a:off x="613432" y="2932825"/>
                <a:ext cx="3862875" cy="29166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1400" dirty="0"/>
                  <a:t>Il Variational Quantum </a:t>
                </a:r>
                <a:r>
                  <a:rPr lang="en-US" sz="1400" dirty="0" err="1"/>
                  <a:t>Eigensolver</a:t>
                </a:r>
                <a:r>
                  <a:rPr lang="en-US" sz="1400" dirty="0"/>
                  <a:t> </a:t>
                </a:r>
                <a:r>
                  <a:rPr lang="en-US" sz="1400" dirty="0" err="1"/>
                  <a:t>sfrutta</a:t>
                </a:r>
                <a:r>
                  <a:rPr lang="en-US" sz="1400" dirty="0"/>
                  <a:t> il </a:t>
                </a:r>
                <a:r>
                  <a:rPr lang="en-US" sz="1400" b="1" dirty="0"/>
                  <a:t>Principio </a:t>
                </a:r>
                <a:r>
                  <a:rPr lang="en-US" sz="1400" b="1" dirty="0" err="1"/>
                  <a:t>Variazionale</a:t>
                </a:r>
                <a:endParaRPr lang="en-US" sz="1400" dirty="0"/>
              </a:p>
              <a:p>
                <a:pPr algn="just"/>
                <a:endParaRPr lang="en-US" sz="1400" dirty="0"/>
              </a:p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⟨"/>
                              <m:endChr m:val="⟩"/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d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d>
                            <m:dPr>
                              <m:begChr m:val="⟨"/>
                              <m:endChr m:val="⟩"/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d>
                        </m:den>
                      </m:f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  <a:p>
                <a:pPr algn="just"/>
                <a:endParaRPr lang="en-US" sz="1400" dirty="0"/>
              </a:p>
              <a:p>
                <a:pPr algn="just"/>
                <a:r>
                  <a:rPr lang="en-US" sz="1400" dirty="0"/>
                  <a:t>il computer </a:t>
                </a:r>
                <a:r>
                  <a:rPr lang="en-US" sz="1400" dirty="0" err="1"/>
                  <a:t>quantistico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prepara</a:t>
                </a:r>
                <a:r>
                  <a:rPr lang="en-US" sz="1400" dirty="0"/>
                  <a:t> lo </a:t>
                </a:r>
                <a:r>
                  <a:rPr lang="en-US" sz="1400" dirty="0" err="1"/>
                  <a:t>stato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variazionale</a:t>
                </a:r>
                <a14:m>
                  <m:oMath xmlns:m="http://schemas.openxmlformats.org/officeDocument/2006/math">
                    <m:r>
                      <a:rPr lang="en-US" sz="14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1400" i="0" dirty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sz="1400" dirty="0"/>
                  <a:t> (</a:t>
                </a:r>
                <a:r>
                  <a:rPr lang="en-US" sz="1400" i="1" dirty="0"/>
                  <a:t>Ansatz</a:t>
                </a:r>
                <a:r>
                  <a:rPr lang="en-US" sz="1400" dirty="0"/>
                  <a:t>) e </a:t>
                </a:r>
                <a:r>
                  <a:rPr lang="en-US" sz="1400" dirty="0" err="1"/>
                  <a:t>misura</a:t>
                </a:r>
                <a:r>
                  <a:rPr lang="en-US" sz="1400" dirty="0"/>
                  <a:t> il </a:t>
                </a:r>
                <a:r>
                  <a:rPr lang="en-US" sz="1400" dirty="0" err="1"/>
                  <a:t>valore</a:t>
                </a:r>
                <a:r>
                  <a:rPr lang="en-US" sz="1400" dirty="0"/>
                  <a:t> di </a:t>
                </a:r>
                <a:r>
                  <a:rPr lang="en-US" sz="1400" dirty="0" err="1"/>
                  <a:t>aspettazione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dell'energia</a:t>
                </a:r>
                <a:r>
                  <a:rPr lang="en-US" sz="1400" dirty="0"/>
                  <a:t>.</a:t>
                </a:r>
              </a:p>
              <a:p>
                <a:pPr algn="just"/>
                <a:r>
                  <a:rPr lang="en-US" sz="1400" dirty="0" err="1"/>
                  <a:t>L'ottimizzatore</a:t>
                </a:r>
                <a:r>
                  <a:rPr lang="en-US" sz="1400" dirty="0"/>
                  <a:t> classico </a:t>
                </a:r>
                <a:r>
                  <a:rPr lang="en-US" sz="1400" dirty="0" err="1"/>
                  <a:t>aggiorna</a:t>
                </a:r>
                <a:r>
                  <a:rPr lang="en-US" sz="1400" dirty="0"/>
                  <a:t> </a:t>
                </a:r>
                <a:r>
                  <a:rPr lang="en-US" sz="1400" dirty="0" err="1"/>
                  <a:t>i</a:t>
                </a:r>
                <a:r>
                  <a:rPr lang="en-US" sz="1400" dirty="0"/>
                  <a:t> </a:t>
                </a:r>
                <a:r>
                  <a:rPr lang="en-US" sz="1400" dirty="0" err="1"/>
                  <a:t>parametri</a:t>
                </a:r>
                <a:r>
                  <a:rPr lang="en-US" sz="1400" dirty="0"/>
                  <a:t> θ per </a:t>
                </a:r>
                <a:r>
                  <a:rPr lang="en-US" sz="1400" dirty="0" err="1"/>
                  <a:t>convergere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allo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stato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fondamentale</a:t>
                </a:r>
                <a:r>
                  <a:rPr lang="en-US" sz="1400" dirty="0"/>
                  <a:t> E₀.</a:t>
                </a:r>
                <a:br>
                  <a:rPr lang="en-US" sz="1400" dirty="0"/>
                </a:br>
                <a:endParaRPr lang="en-US" sz="1400" dirty="0"/>
              </a:p>
              <a:p>
                <a:pPr algn="just"/>
                <a:endParaRPr lang="en-US" sz="1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0B77664-07E3-BF79-6E15-C980E588CB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432" y="2932825"/>
                <a:ext cx="3862875" cy="2916632"/>
              </a:xfrm>
              <a:prstGeom prst="rect">
                <a:avLst/>
              </a:prstGeom>
              <a:blipFill>
                <a:blip r:embed="rId3"/>
                <a:stretch>
                  <a:fillRect l="-474" t="-418" r="-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B920F1B5-B27E-939F-033A-307E3B04F8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0019" y="2423425"/>
            <a:ext cx="6868853" cy="3935432"/>
          </a:xfrm>
          <a:prstGeom prst="rect">
            <a:avLst/>
          </a:prstGeom>
        </p:spPr>
      </p:pic>
      <p:sp>
        <p:nvSpPr>
          <p:cNvPr id="7" name="Desc HA dimero">
            <a:extLst>
              <a:ext uri="{FF2B5EF4-FFF2-40B4-BE49-F238E27FC236}">
                <a16:creationId xmlns:a16="http://schemas.microsoft.com/office/drawing/2014/main" id="{AB5A24D4-B68B-731D-1D46-ACE02FF345E6}"/>
              </a:ext>
            </a:extLst>
          </p:cNvPr>
          <p:cNvSpPr txBox="1"/>
          <p:nvPr/>
        </p:nvSpPr>
        <p:spPr>
          <a:xfrm>
            <a:off x="9007615" y="6455089"/>
            <a:ext cx="2570953" cy="338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100" i="1" dirty="0" err="1">
                <a:solidFill>
                  <a:srgbClr val="5B6B84"/>
                </a:solidFill>
              </a:rPr>
              <a:t>Peruzzo</a:t>
            </a:r>
            <a:r>
              <a:rPr lang="fr-FR" sz="1100" i="1" dirty="0">
                <a:solidFill>
                  <a:srgbClr val="5B6B84"/>
                </a:solidFill>
              </a:rPr>
              <a:t> et al., Nat. Commun. 5, 4213 (2014)</a:t>
            </a:r>
            <a:endParaRPr lang="en-US" sz="1100" i="1" dirty="0">
              <a:solidFill>
                <a:srgbClr val="5B6B84"/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85</Words>
  <Application>Microsoft Office PowerPoint</Application>
  <PresentationFormat>Widescreen</PresentationFormat>
  <Paragraphs>11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 Math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simulation of molecular spin systems on quantum hardware</dc:title>
  <dc:subject>PptxGenJS Presentation</dc:subject>
  <dc:creator>Samuele Schiavi</dc:creator>
  <cp:lastModifiedBy>Samuele SCHIAVI</cp:lastModifiedBy>
  <cp:revision>28</cp:revision>
  <dcterms:created xsi:type="dcterms:W3CDTF">2026-09-14T14:04:34Z</dcterms:created>
  <dcterms:modified xsi:type="dcterms:W3CDTF">2026-09-20T09:48:28Z</dcterms:modified>
</cp:coreProperties>
</file>