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74" r:id="rId3"/>
    <p:sldId id="271" r:id="rId4"/>
    <p:sldId id="272" r:id="rId5"/>
    <p:sldId id="273" r:id="rId6"/>
    <p:sldId id="265" r:id="rId7"/>
    <p:sldId id="276" r:id="rId8"/>
    <p:sldId id="277" r:id="rId9"/>
    <p:sldId id="278" r:id="rId10"/>
    <p:sldId id="279" r:id="rId11"/>
    <p:sldId id="280" r:id="rId12"/>
    <p:sldId id="281" r:id="rId13"/>
    <p:sldId id="270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7" d="100"/>
          <a:sy n="147" d="100"/>
        </p:scale>
        <p:origin x="120" y="3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315259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21.png"/><Relationship Id="rId7" Type="http://schemas.openxmlformats.org/officeDocument/2006/relationships/image" Target="../media/image5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8.png"/><Relationship Id="rId7" Type="http://schemas.openxmlformats.org/officeDocument/2006/relationships/image" Target="../media/image33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0.png"/><Relationship Id="rId5" Type="http://schemas.openxmlformats.org/officeDocument/2006/relationships/image" Target="../media/image310.png"/><Relationship Id="rId10" Type="http://schemas.openxmlformats.org/officeDocument/2006/relationships/image" Target="../media/image360.png"/><Relationship Id="rId4" Type="http://schemas.openxmlformats.org/officeDocument/2006/relationships/image" Target="../media/image300.png"/><Relationship Id="rId9" Type="http://schemas.openxmlformats.org/officeDocument/2006/relationships/image" Target="../media/image35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4"/>
          <p:cNvSpPr txBox="1"/>
          <p:nvPr/>
        </p:nvSpPr>
        <p:spPr>
          <a:xfrm>
            <a:off x="822960" y="18745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4F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 DI LAUREA TRIENNALE IN FISICA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31720"/>
            <a:ext cx="9966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 simulation of molecular spin systems on quantum hardware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8920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Samuele Schiavi</a:t>
            </a:r>
            <a:endParaRPr lang="en-US" sz="2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Relatore: Prof. Alessandro Chiesa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61264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Parma  —  Corso di Laurea in Fisica</a:t>
            </a:r>
            <a:endParaRPr lang="en-US" sz="13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79F5F2E-936A-C9B2-9AFA-42B5F90701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460" y="342900"/>
            <a:ext cx="1564919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2E8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INTRODUZIONE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Contesto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3014121" y="1640591"/>
            <a:ext cx="2392528" cy="189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buSzPct val="100000"/>
              <a:buChar char="■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</a:t>
            </a:r>
            <a:r>
              <a:rPr lang="en-US" sz="1600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sistemi</a:t>
            </a: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molecolari</a:t>
            </a: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basati</a:t>
            </a: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</a:t>
            </a: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spin ½ </a:t>
            </a:r>
            <a:r>
              <a:rPr lang="en-US" sz="1600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accoppiati</a:t>
            </a: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costuiscono</a:t>
            </a: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piattaforme</a:t>
            </a: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privilegiate</a:t>
            </a: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nello</a:t>
            </a: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studio di </a:t>
            </a:r>
            <a:r>
              <a:rPr lang="en-US" sz="1600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fenomeni</a:t>
            </a: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quantistici</a:t>
            </a:r>
            <a:endParaRPr lang="en-US" sz="1600" dirty="0">
              <a:solidFill>
                <a:srgbClr val="16233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7" name="Text 3"/>
          <p:cNvSpPr txBox="1"/>
          <p:nvPr/>
        </p:nvSpPr>
        <p:spPr>
          <a:xfrm>
            <a:off x="3014121" y="3855515"/>
            <a:ext cx="2392528" cy="189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buSzPct val="100000"/>
              <a:buChar char="■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computer </a:t>
            </a:r>
            <a:r>
              <a:rPr lang="en-US" sz="1600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quantistici</a:t>
            </a: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600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mappando</a:t>
            </a: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ciascuno</a:t>
            </a: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spin ½ </a:t>
            </a:r>
            <a:r>
              <a:rPr lang="en-US" sz="1600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direttamente</a:t>
            </a: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</a:t>
            </a: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 qubit, </a:t>
            </a:r>
            <a:r>
              <a:rPr lang="en-US" sz="1600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offrono</a:t>
            </a: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 </a:t>
            </a:r>
            <a:r>
              <a:rPr lang="en-US" sz="1600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percorso</a:t>
            </a: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naturale</a:t>
            </a: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</a:t>
            </a:r>
            <a:r>
              <a:rPr lang="en-US" sz="1600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aggirare</a:t>
            </a: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questo</a:t>
            </a: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</a:t>
            </a:r>
            <a:endParaRPr lang="en-US" sz="1600" b="0" dirty="0">
              <a:solidFill>
                <a:srgbClr val="16233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buSzPct val="100000"/>
            </a:pPr>
            <a:endParaRPr lang="en-US" sz="1600" dirty="0"/>
          </a:p>
        </p:txBody>
      </p:sp>
      <p:sp>
        <p:nvSpPr>
          <p:cNvPr id="9" name="Text 4"/>
          <p:cNvSpPr txBox="1"/>
          <p:nvPr/>
        </p:nvSpPr>
        <p:spPr>
          <a:xfrm>
            <a:off x="9159087" y="3868893"/>
            <a:ext cx="2392528" cy="189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buSzPct val="100000"/>
              <a:buChar char="■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Essi </a:t>
            </a:r>
            <a:r>
              <a:rPr lang="en-US" sz="1600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permettono</a:t>
            </a: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 </a:t>
            </a:r>
            <a:r>
              <a:rPr lang="en-US" sz="1600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simulazione</a:t>
            </a: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effciente</a:t>
            </a: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delle </a:t>
            </a:r>
            <a:r>
              <a:rPr lang="en-US" sz="1600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proprietà</a:t>
            </a: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statiche</a:t>
            </a: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n-US" sz="1600" b="1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stato</a:t>
            </a:r>
            <a:r>
              <a:rPr lang="en-US" sz="16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fondamentale</a:t>
            </a: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e </a:t>
            </a:r>
            <a:r>
              <a:rPr lang="en-US" sz="1600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dinamiche</a:t>
            </a: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n-US" sz="1600" b="1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</a:t>
            </a:r>
            <a:r>
              <a:rPr lang="en-US" sz="16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eccitati</a:t>
            </a: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di </a:t>
            </a:r>
            <a:r>
              <a:rPr lang="en-US" sz="1600" b="1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sistemi</a:t>
            </a:r>
            <a:r>
              <a:rPr lang="en-US" sz="16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quantistici</a:t>
            </a:r>
            <a:r>
              <a:rPr lang="en-US" sz="16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interagenti</a:t>
            </a:r>
            <a:endParaRPr lang="en-US" sz="1600" b="1" dirty="0"/>
          </a:p>
        </p:txBody>
      </p:sp>
      <p:pic>
        <p:nvPicPr>
          <p:cNvPr id="10" name="Image 3" descr="/home/claude/deck/assets/hilbert_grow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753" y="1897076"/>
            <a:ext cx="2606040" cy="1713823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9159087" y="1490472"/>
            <a:ext cx="2392528" cy="189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buSzPct val="100000"/>
              <a:buChar char="■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loro </a:t>
            </a:r>
            <a:r>
              <a:rPr lang="en-US" sz="1600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simulazione</a:t>
            </a: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</a:t>
            </a: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diventa</a:t>
            </a: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rapidamente</a:t>
            </a: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intrattabile</a:t>
            </a: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 </a:t>
            </a:r>
            <a:r>
              <a:rPr lang="en-US" sz="1600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crescere</a:t>
            </a: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 </a:t>
            </a:r>
            <a:r>
              <a:rPr lang="en-US" sz="1600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numero</a:t>
            </a: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 spin </a:t>
            </a:r>
            <a:r>
              <a:rPr lang="en-US" sz="1600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coinvolti</a:t>
            </a:r>
            <a:endParaRPr lang="en-US" sz="1600" dirty="0"/>
          </a:p>
        </p:txBody>
      </p:sp>
      <p:sp>
        <p:nvSpPr>
          <p:cNvPr id="12" name="Shape 6"/>
          <p:cNvSpPr/>
          <p:nvPr/>
        </p:nvSpPr>
        <p:spPr>
          <a:xfrm>
            <a:off x="640080" y="5989320"/>
            <a:ext cx="10911535" cy="658368"/>
          </a:xfrm>
          <a:prstGeom prst="roundRect">
            <a:avLst>
              <a:gd name="adj" fmla="val 11111"/>
            </a:avLst>
          </a:prstGeom>
          <a:solidFill>
            <a:srgbClr val="F2F5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7"/>
          <p:cNvSpPr txBox="1"/>
          <p:nvPr/>
        </p:nvSpPr>
        <p:spPr>
          <a:xfrm>
            <a:off x="640080" y="598932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</a:t>
            </a:r>
            <a:r>
              <a:rPr lang="en-US" sz="1400" b="1" dirty="0" err="1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spazio</a:t>
            </a:r>
            <a:r>
              <a:rPr lang="en-US" sz="1400" b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 Hilbert </a:t>
            </a:r>
            <a:r>
              <a:rPr lang="en-US" sz="1400" b="1" i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ℋ</a:t>
            </a:r>
            <a:r>
              <a:rPr lang="en-US" sz="1400" b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400" b="1" dirty="0" err="1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cresce</a:t>
            </a:r>
            <a:r>
              <a:rPr lang="en-US" sz="1400" b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come 2</a:t>
            </a:r>
            <a:r>
              <a:rPr lang="en-US" sz="1400" b="1" baseline="30000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r>
              <a:rPr lang="en-US" sz="14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(con N </a:t>
            </a:r>
            <a:r>
              <a:rPr lang="en-US" sz="1400" dirty="0" err="1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numero</a:t>
            </a:r>
            <a:r>
              <a:rPr lang="en-US" sz="14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 spin). La </a:t>
            </a:r>
            <a:r>
              <a:rPr lang="en-US" sz="1400" dirty="0" err="1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diagonalizzazione</a:t>
            </a:r>
            <a:r>
              <a:rPr lang="en-US" sz="14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esatta</a:t>
            </a:r>
            <a:r>
              <a:rPr lang="en-US" sz="14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400" dirty="0" err="1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già</a:t>
            </a:r>
            <a:r>
              <a:rPr lang="en-US" sz="14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 poche </a:t>
            </a:r>
            <a:r>
              <a:rPr lang="en-US" sz="1400" dirty="0" err="1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decine</a:t>
            </a:r>
            <a:r>
              <a:rPr lang="en-US" sz="14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 </a:t>
            </a:r>
            <a:r>
              <a:rPr lang="en-US" sz="1400" dirty="0" err="1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particelle</a:t>
            </a:r>
            <a:r>
              <a:rPr lang="en-US" sz="14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400" dirty="0" err="1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esaurisce</a:t>
            </a:r>
            <a:r>
              <a:rPr lang="en-US" sz="14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 </a:t>
            </a:r>
            <a:r>
              <a:rPr lang="en-US" sz="1400" dirty="0" err="1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risorse</a:t>
            </a:r>
            <a:r>
              <a:rPr lang="en-US" sz="14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dei</a:t>
            </a:r>
            <a:r>
              <a:rPr lang="en-US" sz="14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supercomputers </a:t>
            </a:r>
            <a:r>
              <a:rPr lang="en-US" sz="1400" dirty="0" err="1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classici</a:t>
            </a:r>
            <a:endParaRPr lang="en-US" sz="14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6C853E2-69BB-A737-4158-C200FBF94F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40591"/>
            <a:ext cx="1991478" cy="1999476"/>
          </a:xfrm>
          <a:prstGeom prst="rect">
            <a:avLst/>
          </a:prstGeom>
        </p:spPr>
      </p:pic>
      <p:pic>
        <p:nvPicPr>
          <p:cNvPr id="17" name="Picture 16" descr="The image depicts a polar coordinate diagram with a circle, an arrow indicating direction, and a point marked at a specific position, likely illustrating complex numbers or vector direction in polar form.&#10;&#10;AI-generated content may be incorrect.">
            <a:extLst>
              <a:ext uri="{FF2B5EF4-FFF2-40B4-BE49-F238E27FC236}">
                <a16:creationId xmlns:a16="http://schemas.microsoft.com/office/drawing/2014/main" id="{827E5CC9-23E0-D692-7E01-D78C8D5ADE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3866003"/>
            <a:ext cx="1990800" cy="1764791"/>
          </a:xfrm>
          <a:prstGeom prst="rect">
            <a:avLst/>
          </a:prstGeom>
        </p:spPr>
      </p:pic>
      <p:pic>
        <p:nvPicPr>
          <p:cNvPr id="19" name="Picture 18" descr="The diagram illustrates a phase diagram with axes for S (spin quantum number) and M (magnetic quantum number), depicting transitions between different quantum states and their corresponding energy levels.&#10;&#10;AI-generated content may be incorrect.">
            <a:extLst>
              <a:ext uri="{FF2B5EF4-FFF2-40B4-BE49-F238E27FC236}">
                <a16:creationId xmlns:a16="http://schemas.microsoft.com/office/drawing/2014/main" id="{6CABA6C0-B66E-87A8-99AE-2A8C18B295E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8079" y="3908104"/>
            <a:ext cx="1691961" cy="1090581"/>
          </a:xfrm>
          <a:prstGeom prst="rect">
            <a:avLst/>
          </a:prstGeom>
        </p:spPr>
      </p:pic>
      <p:pic>
        <p:nvPicPr>
          <p:cNvPr id="21" name="Picture 20" descr="The diagram shows a comparison of magnetization over time for different numbers of turns in a coil, illustrating the relationship between coil turns and magnetic field strength.&#10;&#10;AI-generated content may be incorrect.">
            <a:extLst>
              <a:ext uri="{FF2B5EF4-FFF2-40B4-BE49-F238E27FC236}">
                <a16:creationId xmlns:a16="http://schemas.microsoft.com/office/drawing/2014/main" id="{62D8E6C9-4CC4-8295-1935-46A8632501B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64768" y="4595979"/>
            <a:ext cx="1781023" cy="1034815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2E8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INTRODUZIONE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5151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Obiettivi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097006" y="1521823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04800" indent="-304800">
              <a:buSzPct val="100000"/>
              <a:buChar char="■"/>
            </a:pPr>
            <a:r>
              <a:rPr lang="en-US" dirty="0" err="1"/>
              <a:t>Estendere</a:t>
            </a:r>
            <a:r>
              <a:rPr lang="en-US" dirty="0"/>
              <a:t> la </a:t>
            </a:r>
            <a:r>
              <a:rPr lang="en-US" dirty="0" err="1"/>
              <a:t>simulazione</a:t>
            </a:r>
            <a:r>
              <a:rPr lang="en-US" dirty="0"/>
              <a:t> ad un </a:t>
            </a:r>
            <a:r>
              <a:rPr lang="en-US" dirty="0" err="1"/>
              <a:t>triangolo</a:t>
            </a:r>
            <a:r>
              <a:rPr lang="en-US" dirty="0"/>
              <a:t> o ad </a:t>
            </a:r>
            <a:r>
              <a:rPr lang="en-US" dirty="0" err="1"/>
              <a:t>una</a:t>
            </a:r>
            <a:r>
              <a:rPr lang="en-US" dirty="0"/>
              <a:t> catena di </a:t>
            </a:r>
            <a:r>
              <a:rPr lang="en-US" dirty="0" err="1"/>
              <a:t>tre</a:t>
            </a:r>
            <a:r>
              <a:rPr lang="en-US" dirty="0"/>
              <a:t> spin </a:t>
            </a:r>
            <a:r>
              <a:rPr lang="en-US" dirty="0" err="1"/>
              <a:t>interagenti</a:t>
            </a:r>
            <a:endParaRPr lang="en-US" dirty="0"/>
          </a:p>
        </p:txBody>
      </p:sp>
      <p:sp>
        <p:nvSpPr>
          <p:cNvPr id="6" name="Text 4"/>
          <p:cNvSpPr txBox="1"/>
          <p:nvPr/>
        </p:nvSpPr>
        <p:spPr>
          <a:xfrm>
            <a:off x="606494" y="4181697"/>
            <a:ext cx="5055568" cy="11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04800" indent="-304800">
              <a:buSzPct val="100000"/>
              <a:buChar char="■"/>
            </a:pPr>
            <a:r>
              <a:rPr lang="en-US" dirty="0" err="1"/>
              <a:t>Aggiungere</a:t>
            </a:r>
            <a:r>
              <a:rPr lang="en-US" dirty="0"/>
              <a:t> il </a:t>
            </a:r>
            <a:r>
              <a:rPr lang="en-US" dirty="0" err="1"/>
              <a:t>rumore</a:t>
            </a:r>
            <a:r>
              <a:rPr lang="en-US" dirty="0"/>
              <a:t>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deriva</a:t>
            </a:r>
            <a:r>
              <a:rPr lang="en-US" dirty="0"/>
              <a:t> </a:t>
            </a:r>
            <a:r>
              <a:rPr lang="en-US" dirty="0" err="1"/>
              <a:t>dalla</a:t>
            </a:r>
            <a:r>
              <a:rPr lang="en-US" dirty="0"/>
              <a:t> </a:t>
            </a:r>
            <a:r>
              <a:rPr lang="en-US" dirty="0" err="1"/>
              <a:t>interazione</a:t>
            </a:r>
            <a:r>
              <a:rPr lang="en-US" dirty="0"/>
              <a:t> non </a:t>
            </a:r>
            <a:r>
              <a:rPr lang="en-US" dirty="0" err="1"/>
              <a:t>voluta</a:t>
            </a:r>
            <a:r>
              <a:rPr lang="en-US" dirty="0"/>
              <a:t> </a:t>
            </a:r>
            <a:r>
              <a:rPr lang="en-US" dirty="0" err="1"/>
              <a:t>tra</a:t>
            </a:r>
            <a:r>
              <a:rPr lang="en-US" dirty="0"/>
              <a:t> hardware </a:t>
            </a:r>
            <a:r>
              <a:rPr lang="en-US" dirty="0" err="1"/>
              <a:t>quantistico</a:t>
            </a:r>
            <a:r>
              <a:rPr lang="en-US" dirty="0"/>
              <a:t> e </a:t>
            </a:r>
            <a:r>
              <a:rPr lang="en-US" dirty="0" err="1"/>
              <a:t>ambiente</a:t>
            </a:r>
            <a:endParaRPr lang="en-US" dirty="0"/>
          </a:p>
        </p:txBody>
      </p:sp>
      <p:sp>
        <p:nvSpPr>
          <p:cNvPr id="9" name="Text 2">
            <a:extLst>
              <a:ext uri="{FF2B5EF4-FFF2-40B4-BE49-F238E27FC236}">
                <a16:creationId xmlns:a16="http://schemas.microsoft.com/office/drawing/2014/main" id="{08C972C1-A68F-A424-B6E8-E8E790D220C1}"/>
              </a:ext>
            </a:extLst>
          </p:cNvPr>
          <p:cNvSpPr txBox="1"/>
          <p:nvPr/>
        </p:nvSpPr>
        <p:spPr>
          <a:xfrm>
            <a:off x="671566" y="1521823"/>
            <a:ext cx="49925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04800" indent="-304800">
              <a:buSzPct val="100000"/>
              <a:buChar char="■"/>
            </a:pPr>
            <a:r>
              <a:rPr lang="en-US" dirty="0" err="1"/>
              <a:t>Studiare</a:t>
            </a:r>
            <a:r>
              <a:rPr lang="en-US" dirty="0"/>
              <a:t> come </a:t>
            </a:r>
            <a:r>
              <a:rPr lang="en-US" dirty="0" err="1"/>
              <a:t>caso</a:t>
            </a:r>
            <a:r>
              <a:rPr lang="en-US" dirty="0"/>
              <a:t> </a:t>
            </a:r>
            <a:r>
              <a:rPr lang="en-US" dirty="0" err="1"/>
              <a:t>prototipo</a:t>
            </a:r>
            <a:r>
              <a:rPr lang="en-US" dirty="0"/>
              <a:t> un </a:t>
            </a:r>
            <a:r>
              <a:rPr lang="en-US" dirty="0" err="1"/>
              <a:t>dimero</a:t>
            </a:r>
            <a:r>
              <a:rPr lang="en-US" dirty="0"/>
              <a:t> di spin: </a:t>
            </a:r>
            <a:r>
              <a:rPr lang="en-US" dirty="0" err="1"/>
              <a:t>stato</a:t>
            </a:r>
            <a:r>
              <a:rPr lang="en-US" dirty="0"/>
              <a:t> </a:t>
            </a:r>
            <a:r>
              <a:rPr lang="en-US" dirty="0" err="1"/>
              <a:t>fondamentale</a:t>
            </a:r>
            <a:r>
              <a:rPr lang="en-US" dirty="0"/>
              <a:t> e </a:t>
            </a:r>
            <a:r>
              <a:rPr lang="en-US" dirty="0" err="1"/>
              <a:t>dinamica</a:t>
            </a:r>
            <a:r>
              <a:rPr lang="en-US" dirty="0"/>
              <a:t> (</a:t>
            </a:r>
            <a:r>
              <a:rPr lang="en-US" dirty="0" err="1"/>
              <a:t>noisless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ADE1FD8-EB97-E210-0592-6017625E3919}"/>
                  </a:ext>
                </a:extLst>
              </p:cNvPr>
              <p:cNvSpPr txBox="1"/>
              <p:nvPr/>
            </p:nvSpPr>
            <p:spPr>
              <a:xfrm>
                <a:off x="857250" y="2421437"/>
                <a:ext cx="4807829" cy="164577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200" dirty="0"/>
                  <a:t>Due soli spin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200" i="1">
                            <a:solidFill>
                              <a:srgbClr val="16233A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200" i="1">
                            <a:solidFill>
                              <a:srgbClr val="16233A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200" i="1">
                            <a:solidFill>
                              <a:srgbClr val="16233A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sz="1200" dirty="0"/>
                  <a:t> </a:t>
                </a:r>
                <a:r>
                  <a:rPr lang="en-US" sz="1200" dirty="0" err="1"/>
                  <a:t>accoppiati</a:t>
                </a:r>
                <a:r>
                  <a:rPr lang="en-US" sz="1200" dirty="0"/>
                  <a:t>, </a:t>
                </a:r>
                <a:r>
                  <a:rPr lang="en-US" sz="1200" dirty="0" err="1"/>
                  <a:t>mappati</a:t>
                </a:r>
                <a:r>
                  <a:rPr lang="en-US" sz="1200" dirty="0"/>
                  <a:t> </a:t>
                </a:r>
                <a:r>
                  <a:rPr lang="en-US" sz="1200" dirty="0" err="1"/>
                  <a:t>direttamente</a:t>
                </a:r>
                <a:r>
                  <a:rPr lang="en-US" sz="1200" dirty="0"/>
                  <a:t> </a:t>
                </a:r>
                <a:r>
                  <a:rPr lang="en-US" sz="1200" dirty="0" err="1"/>
                  <a:t>su</a:t>
                </a:r>
                <a:r>
                  <a:rPr lang="en-US" sz="1200" dirty="0"/>
                  <a:t> </a:t>
                </a:r>
                <a:r>
                  <a:rPr lang="en-US" sz="1200" b="1" dirty="0"/>
                  <a:t>2 qubit</a:t>
                </a:r>
                <a:r>
                  <a:rPr lang="en-US" sz="1200" dirty="0"/>
                  <a:t>.</a:t>
                </a:r>
              </a:p>
              <a:p>
                <a:r>
                  <a:rPr lang="en-US" sz="1200" dirty="0" err="1"/>
                  <a:t>Hamiltoniana</a:t>
                </a:r>
                <a:r>
                  <a:rPr lang="en-US" sz="1200" dirty="0"/>
                  <a:t> in termini delle </a:t>
                </a:r>
                <a:r>
                  <a:rPr lang="en-US" sz="1200" dirty="0" err="1"/>
                  <a:t>matrici</a:t>
                </a:r>
                <a:r>
                  <a:rPr lang="en-US" sz="1200" dirty="0"/>
                  <a:t> di Pauli:</a:t>
                </a:r>
              </a:p>
              <a:p>
                <a:endParaRPr lang="en-US" sz="1200" dirty="0"/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1200" i="1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𝐽</m:t>
                      </m:r>
                      <m:r>
                        <m:rPr>
                          <m:nor/>
                        </m:rPr>
                        <a:rPr lang="en-US" sz="1200" i="0"/>
                        <m:t> </m:t>
                      </m:r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</m:acc>
                        </m:e>
                        <m:sub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20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</m:acc>
                        </m:e>
                        <m:sub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2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𝑏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2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p>
                          </m:sSubSup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2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p>
                          </m:sSubSup>
                        </m:e>
                      </m:d>
                      <m:r>
                        <a:rPr lang="en-US" sz="12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𝐷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2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bSup>
                          <m:sSubSup>
                            <m:sSub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2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p>
                          </m:sSubSup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2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p>
                          </m:sSubSup>
                          <m:sSubSup>
                            <m:sSub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2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1200" b="0" dirty="0"/>
              </a:p>
              <a:p>
                <a:pPr lvl="0"/>
                <a:endParaRPr lang="en-US" sz="1200" dirty="0"/>
              </a:p>
              <a:p>
                <a:r>
                  <a:rPr lang="en-US" sz="1200" dirty="0" err="1"/>
                  <a:t>tre</a:t>
                </a:r>
                <a:r>
                  <a:rPr lang="en-US" sz="1200" dirty="0"/>
                  <a:t> </a:t>
                </a:r>
                <a:r>
                  <a:rPr lang="en-US" sz="1200" dirty="0" err="1"/>
                  <a:t>parametri</a:t>
                </a:r>
                <a:r>
                  <a:rPr lang="en-US" sz="1200" dirty="0"/>
                  <a:t> </a:t>
                </a:r>
                <a:r>
                  <a:rPr lang="en-US" sz="1200" dirty="0" err="1"/>
                  <a:t>fisici</a:t>
                </a:r>
                <a:r>
                  <a:rPr lang="en-US" sz="1200" dirty="0"/>
                  <a:t>: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en-US" sz="1200" dirty="0"/>
                  <a:t> (</a:t>
                </a:r>
                <a:r>
                  <a:rPr lang="en-US" sz="1200" dirty="0" err="1"/>
                  <a:t>accoppiamento</a:t>
                </a:r>
                <a:r>
                  <a:rPr lang="en-US" sz="1200" dirty="0"/>
                  <a:t>),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1200" dirty="0"/>
                  <a:t> (campo),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sz="1200" dirty="0"/>
                  <a:t> (</a:t>
                </a:r>
                <a:r>
                  <a:rPr lang="en-US" sz="1200" dirty="0" err="1"/>
                  <a:t>interazione</a:t>
                </a:r>
                <a:r>
                  <a:rPr lang="en-US" sz="1200" dirty="0"/>
                  <a:t> </a:t>
                </a:r>
                <a:r>
                  <a:rPr lang="en-US" sz="1200" dirty="0" err="1"/>
                  <a:t>Dzyaloshinskii</a:t>
                </a:r>
                <a:r>
                  <a:rPr lang="en-US" sz="1200" dirty="0"/>
                  <a:t>–Moriya) </a:t>
                </a:r>
                <a:r>
                  <a:rPr lang="en-US" sz="1200" dirty="0" err="1"/>
                  <a:t>sufficienti</a:t>
                </a:r>
                <a:r>
                  <a:rPr lang="en-US" sz="1200" dirty="0"/>
                  <a:t> a </a:t>
                </a:r>
                <a:r>
                  <a:rPr lang="en-US" sz="1200" dirty="0" err="1"/>
                  <a:t>produrre</a:t>
                </a:r>
                <a:r>
                  <a:rPr lang="en-US" sz="1200" dirty="0"/>
                  <a:t> </a:t>
                </a:r>
                <a:r>
                  <a:rPr lang="en-US" sz="1200" dirty="0" err="1"/>
                  <a:t>una</a:t>
                </a:r>
                <a:r>
                  <a:rPr lang="en-US" sz="1200" dirty="0"/>
                  <a:t> </a:t>
                </a:r>
                <a:r>
                  <a:rPr lang="en-US" sz="1200" dirty="0" err="1"/>
                  <a:t>fisica</a:t>
                </a:r>
                <a:r>
                  <a:rPr lang="en-US" sz="1200" dirty="0"/>
                  <a:t> non </a:t>
                </a:r>
                <a:r>
                  <a:rPr lang="en-US" sz="1200" dirty="0" err="1"/>
                  <a:t>banale</a:t>
                </a:r>
                <a:r>
                  <a:rPr lang="en-US" sz="1200" dirty="0"/>
                  <a:t>.</a:t>
                </a:r>
              </a:p>
              <a:p>
                <a:pPr marL="304800" indent="-304800">
                  <a:buSzPct val="100000"/>
                  <a:buChar char="■"/>
                </a:pPr>
                <a:endParaRPr lang="en-US" sz="12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ADE1FD8-EB97-E210-0592-6017625E39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7250" y="2421437"/>
                <a:ext cx="4807829" cy="1645772"/>
              </a:xfrm>
              <a:prstGeom prst="rect">
                <a:avLst/>
              </a:prstGeom>
              <a:blipFill>
                <a:blip r:embed="rId3"/>
                <a:stretch>
                  <a:fillRect l="-1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1E3D762-0137-95C8-2AA3-3DB7C6CE0B1F}"/>
                  </a:ext>
                </a:extLst>
              </p:cNvPr>
              <p:cNvSpPr txBox="1"/>
              <p:nvPr/>
            </p:nvSpPr>
            <p:spPr>
              <a:xfrm>
                <a:off x="6343650" y="2390503"/>
                <a:ext cx="5485698" cy="196162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200" dirty="0"/>
                  <a:t>Tre spin</a:t>
                </a:r>
                <a:r>
                  <a:rPr lang="en-US" sz="1200" dirty="0">
                    <a:solidFill>
                      <a:srgbClr val="16233A"/>
                    </a:solidFill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200" i="1">
                            <a:solidFill>
                              <a:srgbClr val="16233A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200" i="1">
                            <a:solidFill>
                              <a:srgbClr val="16233A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200" i="1">
                            <a:solidFill>
                              <a:srgbClr val="16233A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sz="1200" dirty="0"/>
                  <a:t> </a:t>
                </a:r>
                <a:r>
                  <a:rPr lang="en-US" sz="1200" dirty="0" err="1"/>
                  <a:t>disposti</a:t>
                </a:r>
                <a:r>
                  <a:rPr lang="en-US" sz="1200" dirty="0"/>
                  <a:t> a </a:t>
                </a:r>
                <a:r>
                  <a:rPr lang="en-US" sz="1200" dirty="0" err="1"/>
                  <a:t>triangolo</a:t>
                </a:r>
                <a:r>
                  <a:rPr lang="en-US" sz="1200" dirty="0"/>
                  <a:t> </a:t>
                </a:r>
                <a:r>
                  <a:rPr lang="en-US" sz="1200" dirty="0" err="1"/>
                  <a:t>isoscele</a:t>
                </a:r>
                <a:r>
                  <a:rPr lang="en-US" sz="1200" dirty="0"/>
                  <a:t> (</a:t>
                </a:r>
                <a:r>
                  <a:rPr lang="en-US" sz="1200" dirty="0" err="1"/>
                  <a:t>anello</a:t>
                </a:r>
                <a:r>
                  <a:rPr lang="en-US" sz="1200" dirty="0"/>
                  <a:t> </a:t>
                </a:r>
                <a:r>
                  <a:rPr lang="en-US" sz="1200" dirty="0" err="1"/>
                  <a:t>chiuso</a:t>
                </a:r>
                <a:r>
                  <a:rPr lang="en-US" sz="1200" dirty="0"/>
                  <a:t>). </a:t>
                </a:r>
                <a:r>
                  <a:rPr lang="en-US" sz="1200" dirty="0" err="1"/>
                  <a:t>Hamiltoniana</a:t>
                </a:r>
                <a:r>
                  <a:rPr lang="en-US" sz="1200" dirty="0"/>
                  <a:t> in termini delle </a:t>
                </a:r>
                <a:r>
                  <a:rPr lang="en-US" sz="1200" dirty="0" err="1"/>
                  <a:t>matrici</a:t>
                </a:r>
                <a:r>
                  <a:rPr lang="en-US" sz="1200" dirty="0"/>
                  <a:t> di Pauli</a:t>
                </a:r>
                <a:br>
                  <a:rPr lang="en-US" sz="1200" dirty="0"/>
                </a:br>
                <a:endParaRPr lang="en-US" sz="1200" dirty="0"/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1200" i="1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𝐽</m:t>
                      </m:r>
                      <m:r>
                        <m:rPr>
                          <m:nor/>
                        </m:rPr>
                        <a:rPr lang="en-US" sz="1200" i="0"/>
                        <m:t> </m:t>
                      </m:r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</m:acc>
                        </m:e>
                        <m:sub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20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</m:acc>
                        </m:e>
                        <m:sub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20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p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12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120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120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12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12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𝑏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2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p>
                          </m:sSubSup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2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p>
                          </m:sSubSup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20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p>
                          </m:sSubSup>
                        </m:e>
                      </m:d>
                      <m:r>
                        <a:rPr lang="en-US" sz="12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𝐷</m:t>
                      </m:r>
                      <m:r>
                        <m:rPr>
                          <m:nor/>
                        </m:rPr>
                        <a:rPr lang="en-US" sz="1200" i="0"/>
                        <m:t>  </m:t>
                      </m:r>
                      <m:nary>
                        <m:naryPr>
                          <m:chr m:val="∑"/>
                          <m:grow m:val="on"/>
                          <m:supHide m:val="on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d>
                            <m:dPr>
                              <m:begChr m:val="⟨"/>
                              <m:endChr m:val="⟩"/>
                              <m:sepChr m:val=",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e>
                          </m:d>
                        </m:sub>
                        <m:sup/>
                        <m:e>
                          <m:r>
                            <m:rPr>
                              <m:nor/>
                            </m:rPr>
                            <a:rPr lang="en-US" sz="1200" i="0"/>
                            <m:t> </m:t>
                          </m:r>
                        </m:e>
                      </m:nary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bSup>
                          <m:sSubSup>
                            <m:sSub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p>
                          </m:sSubSup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p>
                          </m:sSubSup>
                          <m:sSubSup>
                            <m:sSub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1200" b="0" dirty="0"/>
              </a:p>
              <a:p>
                <a:endParaRPr lang="en-US" sz="1200" dirty="0"/>
              </a:p>
              <a:p>
                <a:r>
                  <a:rPr lang="en-US" sz="1200" dirty="0"/>
                  <a:t>un </a:t>
                </a:r>
                <a:r>
                  <a:rPr lang="en-US" sz="1200" dirty="0" err="1"/>
                  <a:t>legame</a:t>
                </a:r>
                <a:r>
                  <a:rPr lang="en-US" sz="1200" dirty="0"/>
                  <a:t> in </a:t>
                </a:r>
                <a:r>
                  <a:rPr lang="en-US" sz="1200" dirty="0" err="1"/>
                  <a:t>più</a:t>
                </a:r>
                <a:r>
                  <a:rPr lang="en-US" sz="1200" dirty="0"/>
                  <a:t> rispetto al </a:t>
                </a:r>
                <a:r>
                  <a:rPr lang="en-US" sz="1200" dirty="0" err="1"/>
                  <a:t>dimero</a:t>
                </a:r>
                <a:r>
                  <a:rPr lang="en-US" sz="1200" dirty="0"/>
                  <a:t>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p>
                        <m:r>
                          <a:rPr lang="en-US" sz="120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), </a:t>
                </a:r>
                <a:r>
                  <a:rPr lang="en-US" sz="1200" dirty="0" err="1"/>
                  <a:t>sufficiente</a:t>
                </a:r>
                <a:r>
                  <a:rPr lang="en-US" sz="1200" dirty="0"/>
                  <a:t> a </a:t>
                </a:r>
                <a:r>
                  <a:rPr lang="en-US" sz="1200" dirty="0" err="1"/>
                  <a:t>introdurre</a:t>
                </a:r>
                <a:r>
                  <a:rPr lang="en-US" sz="1200" dirty="0"/>
                  <a:t> un </a:t>
                </a:r>
                <a:r>
                  <a:rPr lang="en-US" sz="1200" dirty="0" err="1"/>
                  <a:t>fenomeno</a:t>
                </a:r>
                <a:r>
                  <a:rPr lang="en-US" sz="1200" dirty="0"/>
                  <a:t> del </a:t>
                </a:r>
                <a:r>
                  <a:rPr lang="en-US" sz="1200" dirty="0" err="1"/>
                  <a:t>tutto</a:t>
                </a:r>
                <a:r>
                  <a:rPr lang="en-US" sz="1200" dirty="0"/>
                  <a:t> </a:t>
                </a:r>
                <a:r>
                  <a:rPr lang="en-US" sz="1200" dirty="0" err="1"/>
                  <a:t>assente</a:t>
                </a:r>
                <a:r>
                  <a:rPr lang="en-US" sz="1200" dirty="0"/>
                  <a:t> a due spin: la </a:t>
                </a:r>
                <a:r>
                  <a:rPr lang="en-US" sz="1200" b="1" dirty="0" err="1"/>
                  <a:t>frustrazione</a:t>
                </a:r>
                <a:r>
                  <a:rPr lang="en-US" sz="1200" b="1" dirty="0"/>
                  <a:t> </a:t>
                </a:r>
                <a:r>
                  <a:rPr lang="en-US" sz="1200" b="1" dirty="0" err="1"/>
                  <a:t>geometrica</a:t>
                </a:r>
                <a:r>
                  <a:rPr lang="en-US" sz="1200" dirty="0"/>
                  <a:t>.</a:t>
                </a:r>
              </a:p>
              <a:p>
                <a:pPr rtl="0">
                  <a:buNone/>
                </a:pPr>
                <a:endParaRPr lang="en-US" sz="1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1E3D762-0137-95C8-2AA3-3DB7C6CE0B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3650" y="2390503"/>
                <a:ext cx="5485698" cy="1961627"/>
              </a:xfrm>
              <a:prstGeom prst="rect">
                <a:avLst/>
              </a:prstGeom>
              <a:blipFill>
                <a:blip r:embed="rId4"/>
                <a:stretch>
                  <a:fillRect l="-111" t="-311"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7C4AF3E-EA4E-9ADF-4264-78ADB52E8F5A}"/>
                  </a:ext>
                </a:extLst>
              </p:cNvPr>
              <p:cNvSpPr txBox="1"/>
              <p:nvPr/>
            </p:nvSpPr>
            <p:spPr>
              <a:xfrm>
                <a:off x="857250" y="5366880"/>
                <a:ext cx="4805818" cy="109446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it-IT" sz="1200" dirty="0"/>
                  <a:t>Modellizzazione degli effetti dell'ambiente tramite il formalismo dei canali quantistici, descritti dagli operatori di Kraus</a:t>
                </a:r>
                <a14:m>
                  <m:oMath xmlns:m="http://schemas.openxmlformats.org/officeDocument/2006/math">
                    <m:r>
                      <a:rPr lang="en-US" sz="1200" b="0" i="0" dirty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it-IT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1200" i="1" dirty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it-IT" sz="1200" i="1" dirty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it-IT" sz="1200" dirty="0"/>
                  <a:t>nella mappa non unitaria</a:t>
                </a:r>
              </a:p>
              <a:p>
                <a:endParaRPr lang="it-IT" sz="1200" dirty="0"/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1200" i="1" dirty="0" smtClean="0">
                          <a:latin typeface="Cambria Math" panose="02040503050406030204" pitchFamily="18" charset="0"/>
                        </a:rPr>
                        <m:t>𝜌</m:t>
                      </m:r>
                      <m:d>
                        <m:dPr>
                          <m:ctrlPr>
                            <a:rPr lang="en-US" sz="1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1200" i="0" dirty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supHide m:val="on"/>
                          <m:ctrlPr>
                            <a:rPr lang="en-US" sz="1200" i="1" dirty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200" i="1" dirty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1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 dirty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sz="1200" i="1" dirty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en-US" sz="1200" i="1" dirty="0">
                          <a:latin typeface="Cambria Math" panose="02040503050406030204" pitchFamily="18" charset="0"/>
                        </a:rPr>
                        <m:t>𝜌</m:t>
                      </m:r>
                      <m:d>
                        <m:dPr>
                          <m:ctrlPr>
                            <a:rPr lang="en-US" sz="1200" i="0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0" dirty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sSubSup>
                        <m:sSubSupPr>
                          <m:ctrlPr>
                            <a:rPr lang="en-US" sz="12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200" i="1" dirty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1200" i="1" dirty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r>
                            <a:rPr lang="en-US" sz="1200" i="0" dirty="0"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7C4AF3E-EA4E-9ADF-4264-78ADB52E8F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7250" y="5366880"/>
                <a:ext cx="4805818" cy="1094467"/>
              </a:xfrm>
              <a:prstGeom prst="rect">
                <a:avLst/>
              </a:prstGeom>
              <a:blipFill>
                <a:blip r:embed="rId5"/>
                <a:stretch>
                  <a:fillRect l="-127" t="-7222" b="-8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2E8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INTRODUZIONE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28788" y="711105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</a:t>
            </a:r>
            <a:r>
              <a:rPr lang="en-US" sz="3600" b="1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Simulazione</a:t>
            </a:r>
            <a:r>
              <a:rPr lang="en-US" sz="36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600" b="1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Quantistica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28788" y="1488345"/>
            <a:ext cx="10911535" cy="548640"/>
          </a:xfrm>
          <a:prstGeom prst="roundRect">
            <a:avLst>
              <a:gd name="adj" fmla="val 13333"/>
            </a:avLst>
          </a:prstGeom>
          <a:solidFill>
            <a:srgbClr val="F2F5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628788" y="1488345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i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</a:t>
            </a:r>
            <a:r>
              <a:rPr lang="en-US" sz="2100" b="1" i="1" dirty="0" err="1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</a:t>
            </a:r>
            <a:r>
              <a:rPr lang="en-US" sz="2100" b="1" i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della </a:t>
            </a:r>
            <a:r>
              <a:rPr lang="en-US" sz="2100" b="1" i="1" dirty="0" err="1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dimensione</a:t>
            </a:r>
            <a:r>
              <a:rPr lang="en-US" sz="2100" b="1" i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100" b="1" i="1" dirty="0" err="1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dello</a:t>
            </a:r>
            <a:r>
              <a:rPr lang="en-US" sz="2100" b="1" i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100" b="1" i="1" dirty="0" err="1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spazio</a:t>
            </a:r>
            <a:r>
              <a:rPr lang="en-US" sz="2100" b="1" i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 Hilbert al </a:t>
            </a:r>
            <a:r>
              <a:rPr lang="en-US" sz="2100" b="1" i="1" dirty="0" err="1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crescere</a:t>
            </a:r>
            <a:r>
              <a:rPr lang="en-US" sz="2100" b="1" i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 N ha </a:t>
            </a:r>
            <a:r>
              <a:rPr lang="en-US" sz="2100" b="1" i="1" dirty="0" err="1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</a:t>
            </a:r>
            <a:r>
              <a:rPr lang="en-US" sz="2100" b="1" i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100" b="1" i="1" dirty="0" err="1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risposta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660691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79400" indent="-279400">
              <a:buSzPct val="100000"/>
              <a:buChar char="■"/>
            </a:pPr>
            <a:r>
              <a:rPr lang="en-US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di Feynman (1982): un sistema quantistico controllabile riproduce H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 8"/>
              <p:cNvSpPr txBox="1"/>
              <p:nvPr/>
            </p:nvSpPr>
            <p:spPr>
              <a:xfrm>
                <a:off x="6522722" y="2531261"/>
                <a:ext cx="5029200" cy="104823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279400" indent="-279400">
                  <a:buSzPct val="100000"/>
                  <a:buChar char="■"/>
                </a:pPr>
                <a:r>
                  <a:rPr lang="en-US" dirty="0">
                    <a:solidFill>
                      <a:srgbClr val="16233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I </a:t>
                </a:r>
                <a:r>
                  <a:rPr lang="en-US" dirty="0" err="1">
                    <a:solidFill>
                      <a:srgbClr val="16233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sistemi</a:t>
                </a:r>
                <a:r>
                  <a:rPr lang="en-US" dirty="0">
                    <a:solidFill>
                      <a:srgbClr val="16233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a spin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solidFill>
                              <a:srgbClr val="16233A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solidFill>
                              <a:srgbClr val="16233A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solidFill>
                              <a:srgbClr val="16233A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dirty="0">
                    <a:solidFill>
                      <a:srgbClr val="16233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</a:t>
                </a:r>
                <a:r>
                  <a:rPr lang="en-US" dirty="0" err="1">
                    <a:solidFill>
                      <a:srgbClr val="16233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si</a:t>
                </a:r>
                <a:r>
                  <a:rPr lang="en-US" dirty="0">
                    <a:solidFill>
                      <a:srgbClr val="16233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</a:t>
                </a:r>
                <a:r>
                  <a:rPr lang="en-US" dirty="0" err="1">
                    <a:solidFill>
                      <a:srgbClr val="16233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mappano</a:t>
                </a:r>
                <a:r>
                  <a:rPr lang="en-US" dirty="0">
                    <a:solidFill>
                      <a:srgbClr val="16233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</a:t>
                </a:r>
                <a:r>
                  <a:rPr lang="en-US" dirty="0" err="1">
                    <a:solidFill>
                      <a:srgbClr val="16233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naturalmente</a:t>
                </a:r>
                <a:r>
                  <a:rPr lang="en-US" dirty="0">
                    <a:solidFill>
                      <a:srgbClr val="16233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sui qubit</a:t>
                </a:r>
                <a:endParaRPr lang="en-US" dirty="0"/>
              </a:p>
            </p:txBody>
          </p:sp>
        </mc:Choice>
        <mc:Fallback xmlns="">
          <p:sp>
            <p:nvSpPr>
              <p:cNvPr id="10" name="Text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2722" y="2531261"/>
                <a:ext cx="5029200" cy="1048230"/>
              </a:xfrm>
              <a:prstGeom prst="rect">
                <a:avLst/>
              </a:prstGeom>
              <a:blipFill>
                <a:blip r:embed="rId3"/>
                <a:stretch>
                  <a:fillRect l="-2545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F2C4C30-539D-7809-69F6-71DB02378B85}"/>
                  </a:ext>
                </a:extLst>
              </p:cNvPr>
              <p:cNvSpPr txBox="1"/>
              <p:nvPr/>
            </p:nvSpPr>
            <p:spPr>
              <a:xfrm>
                <a:off x="503600" y="3989345"/>
                <a:ext cx="5029201" cy="27207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Si </a:t>
                </a:r>
                <a:r>
                  <a:rPr lang="en-US" sz="1400" b="1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usa</a:t>
                </a:r>
                <a:r>
                  <a:rPr lang="en-US" sz="1400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1400" b="1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sistema</a:t>
                </a:r>
                <a:r>
                  <a:rPr lang="en-US" sz="1400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1400" b="1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quantistico</a:t>
                </a:r>
                <a:r>
                  <a:rPr lang="en-US" sz="1400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per </a:t>
                </a:r>
                <a:r>
                  <a:rPr lang="en-US" sz="1400" b="1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simularne</a:t>
                </a:r>
                <a:r>
                  <a:rPr lang="en-US" sz="1400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un </a:t>
                </a:r>
                <a:r>
                  <a:rPr lang="en-US" sz="1400" b="1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altro</a:t>
                </a:r>
                <a:r>
                  <a:rPr lang="en-US" sz="1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: </a:t>
                </a:r>
                <a:r>
                  <a:rPr lang="en-US" sz="14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si</a:t>
                </a:r>
                <a:r>
                  <a:rPr lang="en-US" sz="1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14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costruisce</a:t>
                </a:r>
                <a:r>
                  <a:rPr lang="en-US" sz="1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un </a:t>
                </a:r>
                <a:r>
                  <a:rPr lang="en-US" sz="14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dispositivo</a:t>
                </a:r>
                <a:r>
                  <a:rPr lang="en-US" sz="1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14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quantistico</a:t>
                </a:r>
                <a:r>
                  <a:rPr lang="en-US" sz="1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14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controllabile</a:t>
                </a:r>
                <a:r>
                  <a:rPr lang="en-US" sz="1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la cui </a:t>
                </a:r>
                <a:r>
                  <a:rPr lang="en-US" sz="14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evoluzione</a:t>
                </a:r>
                <a:r>
                  <a:rPr lang="en-US" sz="1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14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riproduce</a:t>
                </a:r>
                <a:r>
                  <a:rPr lang="en-US" sz="1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14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direttamente</a:t>
                </a:r>
                <a:r>
                  <a:rPr lang="en-US" sz="1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14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quella</a:t>
                </a:r>
                <a:r>
                  <a:rPr lang="en-US" sz="1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del </a:t>
                </a:r>
                <a:r>
                  <a:rPr lang="en-US" sz="14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sistema</a:t>
                </a:r>
                <a:r>
                  <a:rPr lang="en-US" sz="1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target:</a:t>
                </a:r>
                <a:br>
                  <a:rPr lang="en-US" sz="1400" dirty="0"/>
                </a:br>
                <a:endParaRPr lang="en-US" sz="1400" dirty="0"/>
              </a:p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400" i="0"/>
                            <m:t>sim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140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40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1400" i="0"/>
                                <m:t>sim</m:t>
                              </m:r>
                            </m:sub>
                          </m:s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r>
                        <m:rPr>
                          <m:nor/>
                        </m:rPr>
                        <a:rPr lang="en-US" sz="1400" i="0"/>
                        <m:t>  </m:t>
                      </m:r>
                      <m:r>
                        <a:rPr lang="en-US" sz="1400">
                          <a:latin typeface="Cambria Math" panose="02040503050406030204" pitchFamily="18" charset="0"/>
                        </a:rPr>
                        <m:t>⟷</m:t>
                      </m:r>
                      <m:r>
                        <m:rPr>
                          <m:nor/>
                        </m:rPr>
                        <a:rPr lang="en-US" sz="1400" i="0"/>
                        <m:t>  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𝑈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140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40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𝑖𝐻𝑡</m:t>
                          </m:r>
                        </m:sup>
                      </m:sSup>
                    </m:oMath>
                  </m:oMathPara>
                </a14:m>
                <a:endParaRPr lang="en-US" sz="1400" b="0" dirty="0"/>
              </a:p>
              <a:p>
                <a:endParaRPr lang="en-US" sz="1400" dirty="0"/>
              </a:p>
              <a:p>
                <a:r>
                  <a:rPr lang="en-US" sz="1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Se la </a:t>
                </a:r>
                <a:r>
                  <a:rPr lang="en-US" sz="14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Hamiltoniana</a:t>
                </a:r>
                <a:r>
                  <a:rPr lang="en-US" sz="1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è </a:t>
                </a:r>
                <a:r>
                  <a:rPr lang="en-US" sz="1400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locale</a:t>
                </a:r>
                <a:r>
                  <a:rPr lang="en-US" sz="1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— </a:t>
                </a:r>
                <a:r>
                  <a:rPr lang="en-US" sz="14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ovvero</a:t>
                </a:r>
                <a:r>
                  <a:rPr lang="en-US" sz="1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ogni </a:t>
                </a:r>
                <a:r>
                  <a:rPr lang="en-US" sz="14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particella</a:t>
                </a:r>
                <a:r>
                  <a:rPr lang="en-US" sz="1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14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interagisce</a:t>
                </a:r>
                <a:r>
                  <a:rPr lang="en-US" sz="1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solo con un </a:t>
                </a:r>
                <a:r>
                  <a:rPr lang="en-US" sz="14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numero</a:t>
                </a:r>
                <a:r>
                  <a:rPr lang="en-US" sz="1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ristretto di </a:t>
                </a:r>
                <a:r>
                  <a:rPr lang="en-US" sz="14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altre</a:t>
                </a:r>
                <a:r>
                  <a:rPr lang="en-US" sz="1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14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particelle</a:t>
                </a:r>
                <a:r>
                  <a:rPr lang="en-US" sz="1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vicine o </a:t>
                </a:r>
                <a:r>
                  <a:rPr lang="en-US" sz="14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specifiche</a:t>
                </a:r>
                <a:r>
                  <a:rPr lang="en-US" sz="1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(</a:t>
                </a:r>
                <a:r>
                  <a:rPr lang="en-US" sz="14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solitamente</a:t>
                </a:r>
                <a:r>
                  <a:rPr lang="en-US" sz="1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a </a:t>
                </a:r>
                <a:r>
                  <a:rPr lang="en-US" sz="14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coppie</a:t>
                </a:r>
                <a:r>
                  <a:rPr lang="en-US" sz="1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) — il </a:t>
                </a:r>
                <a:r>
                  <a:rPr lang="en-US" sz="14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costo</a:t>
                </a:r>
                <a:r>
                  <a:rPr lang="en-US" sz="1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1400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in termini di tempo di </a:t>
                </a:r>
                <a:r>
                  <a:rPr lang="en-US" sz="1400" b="1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calcolo</a:t>
                </a:r>
                <a:r>
                  <a:rPr lang="en-US" sz="1400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e </a:t>
                </a:r>
                <a:r>
                  <a:rPr lang="en-US" sz="1400" b="1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numero</a:t>
                </a:r>
                <a:r>
                  <a:rPr lang="en-US" sz="1400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di </a:t>
                </a:r>
                <a:r>
                  <a:rPr lang="en-US" sz="1400" b="1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porte</a:t>
                </a:r>
                <a:r>
                  <a:rPr lang="en-US" sz="1400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1400" b="1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logiche</a:t>
                </a:r>
                <a:r>
                  <a:rPr lang="en-US" sz="1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non è </a:t>
                </a:r>
                <a:r>
                  <a:rPr lang="en-US" sz="14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più</a:t>
                </a:r>
                <a:r>
                  <a:rPr lang="en-US" sz="1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14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esponenziale</a:t>
                </a:r>
                <a:r>
                  <a:rPr lang="en-US" sz="1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, ma </a:t>
                </a:r>
                <a:r>
                  <a:rPr lang="en-US" sz="1400" b="1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polinomiale</a:t>
                </a:r>
                <a:r>
                  <a:rPr lang="en-US" sz="1400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1400" b="1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nel</a:t>
                </a:r>
                <a:r>
                  <a:rPr lang="en-US" sz="1400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1400" b="1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numero</a:t>
                </a:r>
                <a:r>
                  <a:rPr lang="en-US" sz="1400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di qubit</a:t>
                </a:r>
                <a:r>
                  <a:rPr lang="en-US" sz="1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.</a:t>
                </a:r>
              </a:p>
              <a:p>
                <a:endParaRPr lang="en-US" sz="1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F2C4C30-539D-7809-69F6-71DB02378B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600" y="3989345"/>
                <a:ext cx="5029201" cy="2720745"/>
              </a:xfrm>
              <a:prstGeom prst="rect">
                <a:avLst/>
              </a:prstGeom>
              <a:blipFill>
                <a:blip r:embed="rId4"/>
                <a:stretch>
                  <a:fillRect l="-364" t="-2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E1757B0E-C20E-962C-76D7-E7164CA457B1}"/>
              </a:ext>
            </a:extLst>
          </p:cNvPr>
          <p:cNvSpPr txBox="1"/>
          <p:nvPr/>
        </p:nvSpPr>
        <p:spPr>
          <a:xfrm>
            <a:off x="6522722" y="3989345"/>
            <a:ext cx="5592249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Mentre</a:t>
            </a:r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un bit </a:t>
            </a:r>
            <a:r>
              <a:rPr lang="en-US" sz="1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normale</a:t>
            </a:r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può</a:t>
            </a:r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essere</a:t>
            </a:r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solo 0 o 1, un qubit </a:t>
            </a:r>
            <a:r>
              <a:rPr lang="en-US" sz="1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può</a:t>
            </a:r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essere</a:t>
            </a:r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0, 1 </a:t>
            </a:r>
            <a:r>
              <a:rPr lang="en-US" sz="1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oppure</a:t>
            </a:r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entrambi</a:t>
            </a:r>
            <a:r>
              <a:rPr lang="en-US" sz="1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contemporaneamente</a:t>
            </a:r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grazie</a:t>
            </a:r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alla </a:t>
            </a:r>
            <a:r>
              <a:rPr lang="en-US" sz="1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sovrapposizione</a:t>
            </a:r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quantistica</a:t>
            </a:r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  <a:b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US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Il qubit </a:t>
            </a:r>
            <a:r>
              <a:rPr lang="en-US" sz="1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mantiene</a:t>
            </a:r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questa</a:t>
            </a:r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natura "doppia" </a:t>
            </a:r>
            <a:r>
              <a:rPr lang="en-US" sz="1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finché</a:t>
            </a:r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non </a:t>
            </a:r>
            <a:r>
              <a:rPr lang="en-US" sz="1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viene</a:t>
            </a:r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osservato</a:t>
            </a:r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 </a:t>
            </a:r>
            <a:r>
              <a:rPr lang="en-US" sz="1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misurato</a:t>
            </a:r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 </a:t>
            </a:r>
            <a:r>
              <a:rPr lang="en-US" sz="1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nel</a:t>
            </a:r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momento</a:t>
            </a:r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esatto</a:t>
            </a:r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della </a:t>
            </a:r>
            <a:r>
              <a:rPr lang="en-US" sz="1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lettura</a:t>
            </a:r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il </a:t>
            </a:r>
            <a:r>
              <a:rPr lang="en-US" sz="1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suo</a:t>
            </a:r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stato</a:t>
            </a:r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collassa</a:t>
            </a:r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definendosi</a:t>
            </a:r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modo </a:t>
            </a:r>
            <a:r>
              <a:rPr lang="en-US" sz="1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definitivo</a:t>
            </a:r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come 0 o 1.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2E8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INTRODUZIONE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Variational Quantum </a:t>
            </a:r>
            <a:r>
              <a:rPr lang="en-US" sz="3600" b="1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Eigensolver</a:t>
            </a:r>
            <a:r>
              <a:rPr lang="en-US" sz="36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(VQE)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67032" y="1457880"/>
            <a:ext cx="10911535" cy="530352"/>
          </a:xfrm>
          <a:prstGeom prst="roundRect">
            <a:avLst>
              <a:gd name="adj" fmla="val 13793"/>
            </a:avLst>
          </a:prstGeom>
          <a:solidFill>
            <a:srgbClr val="F2F5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613432" y="1457880"/>
            <a:ext cx="109651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i="1" dirty="0" err="1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</a:t>
            </a:r>
            <a:r>
              <a:rPr lang="en-US" sz="2100" b="1" i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100" b="1" i="1" dirty="0" err="1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ibrido</a:t>
            </a:r>
            <a:r>
              <a:rPr lang="en-US" sz="2100" b="1" i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100" b="1" i="1" dirty="0" err="1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quantistico</a:t>
            </a:r>
            <a:r>
              <a:rPr lang="en-US" sz="2100" b="1" i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-classico per </a:t>
            </a:r>
            <a:r>
              <a:rPr lang="en-US" sz="2100" b="1" i="1" dirty="0" err="1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trovare</a:t>
            </a:r>
            <a:r>
              <a:rPr lang="en-US" sz="2100" b="1" i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 </a:t>
            </a:r>
            <a:r>
              <a:rPr lang="en-US" sz="2100" b="1" i="1" dirty="0" err="1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stato</a:t>
            </a:r>
            <a:r>
              <a:rPr lang="en-US" sz="2100" b="1" i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100" b="1" i="1" dirty="0" err="1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fondamentale</a:t>
            </a:r>
            <a:r>
              <a:rPr lang="en-US" sz="2100" b="1" i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 un </a:t>
            </a:r>
            <a:r>
              <a:rPr lang="en-US" sz="2100" b="1" i="1" dirty="0" err="1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</a:t>
            </a:r>
            <a:r>
              <a:rPr lang="en-US" sz="2100" b="1" i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100" b="1" i="1" dirty="0" err="1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Hamiltoniano</a:t>
            </a:r>
            <a:endParaRPr lang="en-US" sz="2100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0B77664-07E3-BF79-6E15-C980E588CBC9}"/>
                  </a:ext>
                </a:extLst>
              </p:cNvPr>
              <p:cNvSpPr txBox="1"/>
              <p:nvPr/>
            </p:nvSpPr>
            <p:spPr>
              <a:xfrm>
                <a:off x="586480" y="3325238"/>
                <a:ext cx="3966470" cy="232845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Il Variational Quantum </a:t>
                </a:r>
                <a:r>
                  <a:rPr lang="en-US" sz="1200" dirty="0" err="1"/>
                  <a:t>Eigensolver</a:t>
                </a:r>
                <a:r>
                  <a:rPr lang="en-US" sz="1200" dirty="0"/>
                  <a:t> </a:t>
                </a:r>
                <a:r>
                  <a:rPr lang="en-US" sz="1200" dirty="0" err="1"/>
                  <a:t>sfrutta</a:t>
                </a:r>
                <a:r>
                  <a:rPr lang="en-US" sz="1200" dirty="0"/>
                  <a:t> il </a:t>
                </a:r>
                <a:r>
                  <a:rPr lang="en-US" sz="1200" b="1" dirty="0"/>
                  <a:t>Principio </a:t>
                </a:r>
                <a:r>
                  <a:rPr lang="en-US" sz="1200" b="1" dirty="0" err="1"/>
                  <a:t>Variazionale</a:t>
                </a:r>
                <a:endParaRPr lang="en-US" sz="1200" dirty="0"/>
              </a:p>
              <a:p>
                <a:endParaRPr lang="en-US" sz="1200" dirty="0"/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⟨"/>
                              <m:endChr m:val="⟩"/>
                              <m:ctrlP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  <m:d>
                                <m:dPr>
                                  <m:ctrlPr>
                                    <a:rPr lang="en-US" sz="12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12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i="1" smtClean="0">
                                      <a:latin typeface="Cambria Math" panose="02040503050406030204" pitchFamily="18" charset="0"/>
                                    </a:rPr>
                                    <m:t>𝐻</m:t>
                                  </m:r>
                                </m:e>
                              </m:d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  <m:d>
                                <m:dPr>
                                  <m:ctrlPr>
                                    <a:rPr lang="en-US" sz="12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d>
                            <m:dPr>
                              <m:begChr m:val="⟨"/>
                              <m:endChr m:val="⟩"/>
                              <m:ctrlP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  <m:d>
                                <m:dPr>
                                  <m:ctrlPr>
                                    <a:rPr lang="en-US" sz="12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  <m:d>
                                <m:dPr>
                                  <m:ctrlPr>
                                    <a:rPr lang="en-US" sz="12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</m:e>
                          </m:d>
                        </m:den>
                      </m:f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1200" dirty="0"/>
              </a:p>
              <a:p>
                <a:endParaRPr lang="en-US" sz="1200" dirty="0"/>
              </a:p>
              <a:p>
                <a:r>
                  <a:rPr lang="en-US" sz="1200" dirty="0"/>
                  <a:t>il computer </a:t>
                </a:r>
                <a:r>
                  <a:rPr lang="en-US" sz="1200" dirty="0" err="1"/>
                  <a:t>quantistico</a:t>
                </a:r>
                <a:r>
                  <a:rPr lang="en-US" sz="1200" dirty="0"/>
                  <a:t> </a:t>
                </a:r>
                <a:r>
                  <a:rPr lang="en-US" sz="1200" dirty="0" err="1"/>
                  <a:t>prepara</a:t>
                </a:r>
                <a:r>
                  <a:rPr lang="en-US" sz="1200" dirty="0"/>
                  <a:t> lo </a:t>
                </a:r>
                <a:r>
                  <a:rPr lang="en-US" sz="1200" dirty="0" err="1"/>
                  <a:t>stato</a:t>
                </a:r>
                <a:r>
                  <a:rPr lang="en-US" sz="1200" dirty="0"/>
                  <a:t> </a:t>
                </a:r>
                <a:r>
                  <a:rPr lang="en-US" sz="1200" dirty="0" err="1"/>
                  <a:t>variazionale</a:t>
                </a:r>
                <a14:m>
                  <m:oMath xmlns:m="http://schemas.openxmlformats.org/officeDocument/2006/math">
                    <m:r>
                      <a:rPr lang="en-US" sz="1200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dirty="0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𝜓</m:t>
                    </m:r>
                    <m:d>
                      <m:d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en-US" sz="1200" i="0" dirty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r>
                  <a:rPr lang="en-US" sz="1200" dirty="0"/>
                  <a:t> (</a:t>
                </a:r>
                <a:r>
                  <a:rPr lang="en-US" sz="1200" i="1" dirty="0"/>
                  <a:t>Ansatz</a:t>
                </a:r>
                <a:r>
                  <a:rPr lang="en-US" sz="1200" dirty="0"/>
                  <a:t>) e </a:t>
                </a:r>
                <a:r>
                  <a:rPr lang="en-US" sz="1200" dirty="0" err="1"/>
                  <a:t>misura</a:t>
                </a:r>
                <a:r>
                  <a:rPr lang="en-US" sz="1200" dirty="0"/>
                  <a:t> il </a:t>
                </a:r>
                <a:r>
                  <a:rPr lang="en-US" sz="1200" dirty="0" err="1"/>
                  <a:t>valore</a:t>
                </a:r>
                <a:r>
                  <a:rPr lang="en-US" sz="1200" dirty="0"/>
                  <a:t> di </a:t>
                </a:r>
                <a:r>
                  <a:rPr lang="en-US" sz="1200" dirty="0" err="1"/>
                  <a:t>aspettazione</a:t>
                </a:r>
                <a:r>
                  <a:rPr lang="en-US" sz="1200" dirty="0"/>
                  <a:t> </a:t>
                </a:r>
                <a:r>
                  <a:rPr lang="en-US" sz="1200" dirty="0" err="1"/>
                  <a:t>dell'energia</a:t>
                </a:r>
                <a:r>
                  <a:rPr lang="en-US" sz="1200" dirty="0"/>
                  <a:t>.</a:t>
                </a:r>
              </a:p>
              <a:p>
                <a:r>
                  <a:rPr lang="en-US" sz="1200" dirty="0" err="1"/>
                  <a:t>L'ottimizzatore</a:t>
                </a:r>
                <a:r>
                  <a:rPr lang="en-US" sz="1200" dirty="0"/>
                  <a:t> classico </a:t>
                </a:r>
                <a:r>
                  <a:rPr lang="en-US" sz="1200" dirty="0" err="1"/>
                  <a:t>aggiorna</a:t>
                </a:r>
                <a:r>
                  <a:rPr lang="en-US" sz="1200" dirty="0"/>
                  <a:t> </a:t>
                </a:r>
                <a:r>
                  <a:rPr lang="en-US" sz="1200" dirty="0" err="1"/>
                  <a:t>i</a:t>
                </a:r>
                <a:r>
                  <a:rPr lang="en-US" sz="1200" dirty="0"/>
                  <a:t> </a:t>
                </a:r>
                <a:r>
                  <a:rPr lang="en-US" sz="1200" dirty="0" err="1"/>
                  <a:t>parametri</a:t>
                </a:r>
                <a:r>
                  <a:rPr lang="en-US" sz="1200" dirty="0"/>
                  <a:t> θ per </a:t>
                </a:r>
                <a:r>
                  <a:rPr lang="en-US" sz="1200" dirty="0" err="1"/>
                  <a:t>convergere</a:t>
                </a:r>
                <a:r>
                  <a:rPr lang="en-US" sz="1200" dirty="0"/>
                  <a:t> </a:t>
                </a:r>
                <a:r>
                  <a:rPr lang="en-US" sz="1200" dirty="0" err="1"/>
                  <a:t>allo</a:t>
                </a:r>
                <a:r>
                  <a:rPr lang="en-US" sz="1200" dirty="0"/>
                  <a:t> </a:t>
                </a:r>
                <a:r>
                  <a:rPr lang="en-US" sz="1200" dirty="0" err="1"/>
                  <a:t>stato</a:t>
                </a:r>
                <a:r>
                  <a:rPr lang="en-US" sz="1200" dirty="0"/>
                  <a:t> </a:t>
                </a:r>
                <a:r>
                  <a:rPr lang="en-US" sz="1200" dirty="0" err="1"/>
                  <a:t>fondamentale</a:t>
                </a:r>
                <a:r>
                  <a:rPr lang="en-US" sz="1200" dirty="0"/>
                  <a:t> E₀.</a:t>
                </a:r>
                <a:br>
                  <a:rPr lang="en-US" sz="1200" dirty="0"/>
                </a:br>
                <a:endParaRPr lang="en-US" sz="1200" dirty="0"/>
              </a:p>
              <a:p>
                <a:endParaRPr lang="en-US" sz="12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0B77664-07E3-BF79-6E15-C980E588CB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480" y="3325238"/>
                <a:ext cx="3966470" cy="232845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 7">
            <a:extLst>
              <a:ext uri="{FF2B5EF4-FFF2-40B4-BE49-F238E27FC236}">
                <a16:creationId xmlns:a16="http://schemas.microsoft.com/office/drawing/2014/main" id="{8A6B5100-C7D3-AA46-8997-47D01243ED22}"/>
              </a:ext>
            </a:extLst>
          </p:cNvPr>
          <p:cNvSpPr txBox="1"/>
          <p:nvPr/>
        </p:nvSpPr>
        <p:spPr>
          <a:xfrm>
            <a:off x="586479" y="2714592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79400" indent="-279400">
              <a:buSzPct val="100000"/>
              <a:buChar char="■"/>
            </a:pPr>
            <a:r>
              <a:rPr lang="en-US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Sistemi</a:t>
            </a:r>
            <a:r>
              <a:rPr lang="en-US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chiusi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920F1B5-B27E-939F-033A-307E3B04F8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0019" y="2423425"/>
            <a:ext cx="6868853" cy="393543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2E8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INTRODUZIONE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79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Decomposizione</a:t>
            </a:r>
            <a:r>
              <a:rPr lang="en-US" sz="36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 Suzuki-Trotter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490472"/>
            <a:ext cx="10911535" cy="530352"/>
          </a:xfrm>
          <a:prstGeom prst="roundRect">
            <a:avLst>
              <a:gd name="adj" fmla="val 13793"/>
            </a:avLst>
          </a:prstGeom>
          <a:solidFill>
            <a:srgbClr val="F2F5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640080" y="1490472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i="1" dirty="0" err="1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Simulazione</a:t>
            </a:r>
            <a:r>
              <a:rPr lang="en-US" sz="2100" b="1" i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100" b="1" i="1" dirty="0" err="1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dell’evoluzione</a:t>
            </a:r>
            <a:r>
              <a:rPr lang="en-US" sz="2100" b="1" i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100" b="1" i="1" dirty="0" err="1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temporale</a:t>
            </a:r>
            <a:r>
              <a:rPr lang="en-US" sz="2100" b="1" i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 un </a:t>
            </a:r>
            <a:r>
              <a:rPr lang="en-US" sz="2100" b="1" i="1" dirty="0" err="1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</a:t>
            </a:r>
            <a:r>
              <a:rPr lang="en-US" sz="2100" b="1" i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100" b="1" i="1" dirty="0" err="1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quantistico</a:t>
            </a:r>
            <a:endParaRPr lang="en-US" sz="2100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5B84FBB-B33B-65D0-4B60-4C7A3C4FD839}"/>
                  </a:ext>
                </a:extLst>
              </p:cNvPr>
              <p:cNvSpPr txBox="1"/>
              <p:nvPr/>
            </p:nvSpPr>
            <p:spPr>
              <a:xfrm>
                <a:off x="637337" y="2148840"/>
                <a:ext cx="10908792" cy="51427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/>
                  <a:t>Per </a:t>
                </a:r>
                <a:r>
                  <a:rPr lang="en-US" sz="1400" dirty="0" err="1"/>
                  <a:t>una</a:t>
                </a:r>
                <a:r>
                  <a:rPr lang="en-US" sz="1400" dirty="0"/>
                  <a:t> </a:t>
                </a:r>
                <a:r>
                  <a:rPr lang="en-US" sz="1400" dirty="0" err="1"/>
                  <a:t>Hamiltoniana</a:t>
                </a:r>
                <a:r>
                  <a:rPr lang="en-US" sz="1400" dirty="0"/>
                  <a:t> somma di </a:t>
                </a:r>
                <a:r>
                  <a:rPr lang="en-US" sz="1400" dirty="0" err="1"/>
                  <a:t>operatori</a:t>
                </a:r>
                <a:r>
                  <a:rPr lang="en-US" sz="1400" dirty="0"/>
                  <a:t> </a:t>
                </a:r>
                <a:r>
                  <a:rPr lang="en-US" sz="1400" dirty="0" err="1"/>
                  <a:t>locali</a:t>
                </a:r>
                <a:endParaRPr lang="en-US" sz="1400" dirty="0"/>
              </a:p>
              <a:p>
                <a:endParaRPr lang="en-US" sz="1400" dirty="0"/>
              </a:p>
              <a:p>
                <a:pPr algn="ctr"/>
                <a:r>
                  <a:rPr lang="en-US" sz="1400" dirty="0"/>
                  <a:t> </a:t>
                </a:r>
                <a14:m>
                  <m:oMath xmlns:m="http://schemas.openxmlformats.org/officeDocument/2006/math">
                    <m:r>
                      <a:rPr lang="en-US" sz="1400" i="1" dirty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1400" dirty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US" sz="14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4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1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 dirty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b>
                            <m:r>
                              <a:rPr lang="en-US" sz="1400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endParaRPr lang="en-US" sz="1400" dirty="0"/>
              </a:p>
              <a:p>
                <a:pPr algn="ctr"/>
                <a:endParaRPr lang="en-US" sz="1400" dirty="0"/>
              </a:p>
              <a:p>
                <a:r>
                  <a:rPr lang="en-US" sz="1400" dirty="0"/>
                  <a:t>in generale </a:t>
                </a:r>
                <a:r>
                  <a:rPr lang="en-US" sz="1400" dirty="0" err="1"/>
                  <a:t>i</a:t>
                </a:r>
                <a:r>
                  <a:rPr lang="en-US" sz="1400" dirty="0"/>
                  <a:t> </a:t>
                </a:r>
                <a:r>
                  <a:rPr lang="en-US" sz="1400" dirty="0" err="1"/>
                  <a:t>singoli</a:t>
                </a:r>
                <a:r>
                  <a:rPr lang="en-US" sz="1400" dirty="0"/>
                  <a:t> termini </a:t>
                </a:r>
                <a:r>
                  <a:rPr lang="en-US" sz="1400" b="1" dirty="0"/>
                  <a:t>non </a:t>
                </a:r>
                <a:r>
                  <a:rPr lang="en-US" sz="1400" b="1" dirty="0" err="1"/>
                  <a:t>commutano</a:t>
                </a:r>
                <a:r>
                  <a:rPr lang="en-US" sz="1400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1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4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 dirty="0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e>
                              <m:sub>
                                <m:r>
                                  <a:rPr lang="en-US" sz="1400" i="1" dirty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1400" i="0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14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 dirty="0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e>
                              <m:sub>
                                <m:r>
                                  <a:rPr lang="en-US" sz="1400" i="1" dirty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d>
                        <m:r>
                          <a:rPr lang="en-US" sz="1400" i="0" dirty="0">
                            <a:latin typeface="Cambria Math" panose="02040503050406030204" pitchFamily="18" charset="0"/>
                          </a:rPr>
                          <m:t>≠0</m:t>
                        </m:r>
                      </m:e>
                    </m:d>
                  </m:oMath>
                </a14:m>
                <a:r>
                  <a:rPr lang="en-US" sz="1400" dirty="0"/>
                  <a:t>, </a:t>
                </a:r>
                <a:r>
                  <a:rPr lang="en-US" sz="1400" dirty="0" err="1"/>
                  <a:t>l'esponenziale</a:t>
                </a:r>
                <a:r>
                  <a:rPr lang="en-US" sz="1400" dirty="0"/>
                  <a:t> della somma </a:t>
                </a:r>
                <a:r>
                  <a:rPr lang="en-US" sz="1400" b="1" dirty="0"/>
                  <a:t>non è</a:t>
                </a:r>
                <a:r>
                  <a:rPr lang="en-US" sz="1400" dirty="0"/>
                  <a:t> il </a:t>
                </a:r>
                <a:r>
                  <a:rPr lang="en-US" sz="1400" dirty="0" err="1"/>
                  <a:t>prodotto</a:t>
                </a:r>
                <a:r>
                  <a:rPr lang="en-US" sz="1400" dirty="0"/>
                  <a:t> degli </a:t>
                </a:r>
                <a:r>
                  <a:rPr lang="en-US" sz="1400" dirty="0" err="1"/>
                  <a:t>esponenziali</a:t>
                </a:r>
                <a:r>
                  <a:rPr lang="en-US" sz="1400" dirty="0"/>
                  <a:t> </a:t>
                </a:r>
              </a:p>
              <a:p>
                <a:pPr/>
                <a:br>
                  <a:rPr lang="en-US" sz="1400" dirty="0"/>
                </a:b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1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i="1" dirty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400" i="0" dirty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limLoc m:val="undOvr"/>
                                  <m:supHide m:val="on"/>
                                  <m:ctrlPr>
                                    <a:rPr lang="en-US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sz="1400" i="1" dirty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/>
                                <m:e>
                                  <m:sSub>
                                    <m:sSubPr>
                                      <m:ctrlPr>
                                        <a:rPr lang="en-US" sz="14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 dirty="0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e>
                                    <m:sub>
                                      <m:r>
                                        <a:rPr lang="en-US" sz="1400" i="1" dirty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d>
                          <m:r>
                            <a:rPr lang="en-US" sz="1400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r>
                        <a:rPr lang="en-US" sz="1400" i="0" dirty="0">
                          <a:latin typeface="Cambria Math" panose="02040503050406030204" pitchFamily="18" charset="0"/>
                        </a:rPr>
                        <m:t>≠</m:t>
                      </m:r>
                      <m:nary>
                        <m:naryPr>
                          <m:chr m:val="∏"/>
                          <m:limLoc m:val="undOvr"/>
                          <m:supHide m:val="on"/>
                          <m:ctrlPr>
                            <a:rPr lang="en-US" sz="1400" i="1" dirty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sSup>
                            <m:sSupPr>
                              <m:ctrlP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1400" i="0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sSub>
                                <m:sSubPr>
                                  <m:ctrlPr>
                                    <a:rPr lang="en-US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 dirty="0">
                                      <a:latin typeface="Cambria Math" panose="02040503050406030204" pitchFamily="18" charset="0"/>
                                    </a:rPr>
                                    <m:t>𝐻</m:t>
                                  </m:r>
                                </m:e>
                                <m:sub>
                                  <m:r>
                                    <a:rPr lang="en-US" sz="1400" i="1" dirty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1400" dirty="0"/>
              </a:p>
              <a:p>
                <a:endParaRPr lang="en-US" sz="1400" dirty="0"/>
              </a:p>
              <a:p>
                <a:r>
                  <a:rPr lang="en-US" sz="1400" dirty="0"/>
                  <a:t>Per </a:t>
                </a:r>
                <a:r>
                  <a:rPr lang="en-US" sz="1400" dirty="0" err="1"/>
                  <a:t>mappare</a:t>
                </a:r>
                <a:r>
                  <a:rPr lang="en-US" sz="1400" dirty="0"/>
                  <a:t> </a:t>
                </a:r>
                <a:r>
                  <a:rPr lang="en-US" sz="1400" dirty="0" err="1"/>
                  <a:t>questa</a:t>
                </a:r>
                <a:r>
                  <a:rPr lang="en-US" sz="1400" dirty="0"/>
                  <a:t> </a:t>
                </a:r>
                <a:r>
                  <a:rPr lang="en-US" sz="1400" dirty="0" err="1"/>
                  <a:t>evoluzione</a:t>
                </a:r>
                <a:r>
                  <a:rPr lang="en-US" sz="1400" dirty="0"/>
                  <a:t> </a:t>
                </a:r>
                <a:r>
                  <a:rPr lang="en-US" sz="1400" dirty="0" err="1"/>
                  <a:t>su</a:t>
                </a:r>
                <a:r>
                  <a:rPr lang="en-US" sz="1400" dirty="0"/>
                  <a:t> </a:t>
                </a:r>
                <a:r>
                  <a:rPr lang="en-US" sz="1400" dirty="0" err="1"/>
                  <a:t>porte</a:t>
                </a:r>
                <a:r>
                  <a:rPr lang="en-US" sz="1400" dirty="0"/>
                  <a:t> </a:t>
                </a:r>
                <a:r>
                  <a:rPr lang="en-US" sz="1400" dirty="0" err="1"/>
                  <a:t>quantistiche</a:t>
                </a:r>
                <a:r>
                  <a:rPr lang="en-US" sz="1400" dirty="0"/>
                  <a:t> </a:t>
                </a:r>
                <a:r>
                  <a:rPr lang="en-US" sz="1400" dirty="0" err="1"/>
                  <a:t>logiche</a:t>
                </a:r>
                <a:r>
                  <a:rPr lang="en-US" sz="1400" dirty="0"/>
                  <a:t>, </a:t>
                </a:r>
                <a:r>
                  <a:rPr lang="en-US" sz="1400" dirty="0" err="1"/>
                  <a:t>si</a:t>
                </a:r>
                <a:r>
                  <a:rPr lang="en-US" sz="1400" dirty="0"/>
                  <a:t> divide il tempo </a:t>
                </a:r>
                <a:r>
                  <a:rPr lang="en-US" sz="1400" dirty="0" err="1"/>
                  <a:t>totale</a:t>
                </a:r>
                <a:r>
                  <a:rPr lang="en-US" sz="1400" dirty="0"/>
                  <a:t> t in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1400" dirty="0"/>
                  <a:t> </a:t>
                </a:r>
                <a:r>
                  <a:rPr lang="en-US" sz="1400" dirty="0" err="1"/>
                  <a:t>piccoli</a:t>
                </a:r>
                <a:r>
                  <a:rPr lang="en-US" sz="1400" dirty="0"/>
                  <a:t> intervalli </a:t>
                </a:r>
                <a:r>
                  <a:rPr lang="en-US" sz="1400" dirty="0" err="1"/>
                  <a:t>temporali</a:t>
                </a:r>
                <a:r>
                  <a:rPr lang="en-US" sz="1400" dirty="0"/>
                  <a:t>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𝛥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i="0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400" i="1" dirty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i="0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1400" dirty="0"/>
                  <a:t>. Sotto </a:t>
                </a:r>
                <a:r>
                  <a:rPr lang="en-US" sz="1400" dirty="0" err="1"/>
                  <a:t>l'ipotesi</a:t>
                </a:r>
                <a:r>
                  <a:rPr lang="en-US" sz="1400" dirty="0"/>
                  <a:t> di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𝛥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i="0" dirty="0">
                        <a:latin typeface="Cambria Math" panose="02040503050406030204" pitchFamily="18" charset="0"/>
                      </a:rPr>
                      <m:t>→0</m:t>
                    </m:r>
                    <m:r>
                      <a:rPr lang="en-US" sz="1400" b="0" i="1" dirty="0" smtClean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sz="1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i="1" dirty="0">
                            <a:latin typeface="Cambria Math" panose="02040503050406030204" pitchFamily="18" charset="0"/>
                          </a:rPr>
                          <m:t>𝑜𝑣𝑣𝑒𝑟</m:t>
                        </m:r>
                        <m:r>
                          <m:rPr>
                            <m:sty m:val="p"/>
                          </m:rP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o</m:t>
                        </m:r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1400" i="0" dirty="0">
                            <a:latin typeface="Cambria Math" panose="02040503050406030204" pitchFamily="18" charset="0"/>
                          </a:rPr>
                          <m:t>→∞</m:t>
                        </m:r>
                      </m:e>
                    </m:d>
                  </m:oMath>
                </a14:m>
                <a:r>
                  <a:rPr lang="en-US" sz="1400" dirty="0"/>
                  <a:t>, </a:t>
                </a:r>
                <a:r>
                  <a:rPr lang="en-US" sz="1400" dirty="0" err="1"/>
                  <a:t>si</a:t>
                </a:r>
                <a:r>
                  <a:rPr lang="en-US" sz="1400" dirty="0"/>
                  <a:t> </a:t>
                </a:r>
                <a:r>
                  <a:rPr lang="en-US" sz="1400" dirty="0" err="1"/>
                  <a:t>applica</a:t>
                </a:r>
                <a:r>
                  <a:rPr lang="en-US" sz="1400" dirty="0"/>
                  <a:t> la </a:t>
                </a:r>
                <a:r>
                  <a:rPr lang="en-US" sz="1400" b="1" dirty="0"/>
                  <a:t>formula Totter</a:t>
                </a:r>
                <a:endParaRPr lang="en-US" sz="1400" dirty="0"/>
              </a:p>
              <a:p>
                <a:pPr/>
                <a:br>
                  <a:rPr lang="en-US" sz="1400" dirty="0"/>
                </a:b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1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i="1" dirty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400" i="0" dirty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400" i="1" dirty="0">
                              <a:latin typeface="Cambria Math" panose="02040503050406030204" pitchFamily="18" charset="0"/>
                            </a:rPr>
                            <m:t>𝑖𝐻𝑡</m:t>
                          </m:r>
                        </m:sup>
                      </m:sSup>
                      <m:r>
                        <a:rPr lang="en-US" sz="1400" i="0" dirty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400" i="1" dirty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1400" i="0" dirty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400" i="0" dirty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en-US" sz="1400" i="0" dirty="0">
                                  <a:latin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sSup>
                            <m:sSupPr>
                              <m:ctrlP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∏"/>
                                      <m:limLoc m:val="undOvr"/>
                                      <m:supHide m:val="on"/>
                                      <m:ctrlPr>
                                        <a:rPr lang="en-US" sz="14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US" sz="1400" i="1" dirty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  <m:sup/>
                                    <m:e>
                                      <m:sSup>
                                        <m:sSupPr>
                                          <m:ctrlPr>
                                            <a:rPr lang="en-US" sz="14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400" i="1" dirty="0">
                                              <a:latin typeface="Cambria Math" panose="02040503050406030204" pitchFamily="18" charset="0"/>
                                            </a:rPr>
                                            <m:t>𝑒</m:t>
                                          </m:r>
                                        </m:e>
                                        <m:sup>
                                          <m:r>
                                            <a:rPr lang="en-US" sz="1400" i="0" dirty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en-US" sz="1400" i="1" dirty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400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400" i="1" dirty="0">
                                                  <a:latin typeface="Cambria Math" panose="02040503050406030204" pitchFamily="18" charset="0"/>
                                                </a:rPr>
                                                <m:t>𝐻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400" i="1" dirty="0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  <m:f>
                                            <m:fPr>
                                              <m:ctrlPr>
                                                <a:rPr lang="en-US" sz="1400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fPr>
                                            <m:num>
                                              <m:r>
                                                <a:rPr lang="en-US" sz="1400" i="1" dirty="0">
                                                  <a:latin typeface="Cambria Math" panose="02040503050406030204" pitchFamily="18" charset="0"/>
                                                </a:rPr>
                                                <m:t>𝑡</m:t>
                                              </m:r>
                                            </m:num>
                                            <m:den>
                                              <m:r>
                                                <a:rPr lang="en-US" sz="1400" i="1">
                                                  <a:latin typeface="Cambria Math" panose="02040503050406030204" pitchFamily="18" charset="0"/>
                                                </a:rPr>
                                                <m:t>𝑁</m:t>
                                              </m:r>
                                            </m:den>
                                          </m:f>
                                        </m:sup>
                                      </m:sSup>
                                    </m:e>
                                  </m:nary>
                                </m:e>
                              </m:d>
                            </m:e>
                            <m:sup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</m:sSup>
                        </m:e>
                      </m:func>
                    </m:oMath>
                  </m:oMathPara>
                </a14:m>
                <a:endParaRPr lang="en-US" sz="1400" dirty="0"/>
              </a:p>
              <a:p>
                <a:endParaRPr lang="en-US" sz="1400" dirty="0"/>
              </a:p>
              <a:p>
                <a:r>
                  <a:rPr lang="en-US" sz="1400" dirty="0"/>
                  <a:t>Per un </a:t>
                </a:r>
                <a:r>
                  <a:rPr lang="en-US" sz="1400" dirty="0" err="1"/>
                  <a:t>numero</a:t>
                </a:r>
                <a:r>
                  <a:rPr lang="en-US" sz="1400" dirty="0"/>
                  <a:t> di step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1400" dirty="0"/>
                  <a:t> finito, </a:t>
                </a:r>
                <a:r>
                  <a:rPr lang="en-US" sz="1400" dirty="0" err="1"/>
                  <a:t>l'approssimazione</a:t>
                </a:r>
                <a:r>
                  <a:rPr lang="en-US" sz="1400" dirty="0"/>
                  <a:t> al primo </a:t>
                </a:r>
                <a:r>
                  <a:rPr lang="en-US" sz="1400" dirty="0" err="1"/>
                  <a:t>ordine</a:t>
                </a:r>
                <a:r>
                  <a:rPr lang="en-US" sz="1400" dirty="0"/>
                  <a:t> introduce un </a:t>
                </a:r>
                <a:r>
                  <a:rPr lang="en-US" sz="1400" dirty="0" err="1"/>
                  <a:t>errore</a:t>
                </a:r>
                <a:r>
                  <a:rPr lang="en-US" sz="1400" dirty="0"/>
                  <a:t> </a:t>
                </a:r>
                <a:r>
                  <a:rPr lang="en-US" sz="1400" dirty="0" err="1"/>
                  <a:t>controllabile</a:t>
                </a:r>
                <a:r>
                  <a:rPr lang="en-US" sz="1400" dirty="0"/>
                  <a:t> (</a:t>
                </a:r>
                <a:r>
                  <a:rPr lang="en-US" sz="1400" dirty="0" err="1"/>
                  <a:t>errore</a:t>
                </a:r>
                <a:r>
                  <a:rPr lang="en-US" sz="1400" dirty="0"/>
                  <a:t> di Trotter) legato ai </a:t>
                </a:r>
                <a:r>
                  <a:rPr lang="en-US" sz="1400" dirty="0" err="1"/>
                  <a:t>commutatori</a:t>
                </a:r>
                <a:endParaRPr lang="en-US" sz="1400" dirty="0"/>
              </a:p>
              <a:p>
                <a:endParaRPr lang="en-US" sz="1400" dirty="0"/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>
                          <a:latin typeface="Cambria Math" panose="02040503050406030204" pitchFamily="18" charset="0"/>
                        </a:rPr>
                        <m:t>𝑈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40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𝑖𝐻</m:t>
                          </m:r>
                          <m:r>
                            <m:rPr>
                              <m:sty m:val="p"/>
                            </m:rPr>
                            <a:rPr lang="en-US" sz="1400" i="1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en-US" sz="1400">
                          <a:latin typeface="Cambria Math" panose="02040503050406030204" pitchFamily="18" charset="0"/>
                        </a:rPr>
                        <m:t>≈</m:t>
                      </m:r>
                      <m:sSup>
                        <m:s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sz="140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sSub>
                                    <m:sSub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e>
                                    <m:sub>
                                      <m:r>
                                        <a:rPr lang="en-US" sz="140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sz="140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sSub>
                                    <m:sSub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e>
                                    <m:sub>
                                      <m:r>
                                        <a:rPr lang="en-US" sz="140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p>
                      <m:r>
                        <a:rPr lang="en-US" sz="1400" dirty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1400" b="0" i="1" dirty="0" smtClean="0">
                          <a:latin typeface="Cambria Math" panose="02040503050406030204" pitchFamily="18" charset="0"/>
                        </a:rPr>
                        <m:t>O</m:t>
                      </m:r>
                      <m:d>
                        <m:dPr>
                          <m:ctrlPr>
                            <a:rPr lang="en-US" sz="1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400" i="1" dirty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p>
                                  <m:r>
                                    <a:rPr lang="en-US" sz="1400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</m:e>
                      </m:d>
                      <m:r>
                        <a:rPr lang="en-US" sz="140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en-US" sz="14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140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US" sz="1400" dirty="0"/>
              </a:p>
              <a:p>
                <a:endParaRPr lang="en-US" sz="1400" dirty="0"/>
              </a:p>
              <a:p>
                <a:endParaRPr lang="en-US" sz="1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5B84FBB-B33B-65D0-4B60-4C7A3C4FD8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337" y="2148840"/>
                <a:ext cx="10908792" cy="5142755"/>
              </a:xfrm>
              <a:prstGeom prst="rect">
                <a:avLst/>
              </a:prstGeom>
              <a:blipFill>
                <a:blip r:embed="rId4"/>
                <a:stretch>
                  <a:fillRect l="-168" t="-2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TRODUZIONE"/>
          <p:cNvSpPr txBox="1"/>
          <p:nvPr/>
        </p:nvSpPr>
        <p:spPr>
          <a:xfrm>
            <a:off x="640080" y="402336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2E8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RISULTATI</a:t>
            </a:r>
            <a:endParaRPr lang="en-US" sz="13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VQE - Ansatz"/>
              <p:cNvSpPr txBox="1"/>
              <p:nvPr/>
            </p:nvSpPr>
            <p:spPr>
              <a:xfrm>
                <a:off x="640079" y="713232"/>
                <a:ext cx="10911535" cy="77724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sz="3200" b="1" dirty="0">
                    <a:solidFill>
                      <a:srgbClr val="16233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VQE – Preparazione </a:t>
                </a:r>
                <a:r>
                  <a:rPr lang="en-US" sz="3200" b="1" dirty="0" err="1">
                    <a:solidFill>
                      <a:srgbClr val="16233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dello</a:t>
                </a:r>
                <a:r>
                  <a:rPr lang="en-US" sz="3200" b="1" dirty="0">
                    <a:solidFill>
                      <a:srgbClr val="16233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</a:t>
                </a:r>
                <a:r>
                  <a:rPr lang="en-US" sz="3200" b="1" dirty="0" err="1">
                    <a:solidFill>
                      <a:srgbClr val="16233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stato</a:t>
                </a:r>
                <a:r>
                  <a:rPr lang="en-US" sz="3200" b="1" dirty="0">
                    <a:solidFill>
                      <a:srgbClr val="16233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</a:t>
                </a:r>
                <a:r>
                  <a:rPr lang="en-US" sz="3200" b="1" dirty="0" err="1">
                    <a:solidFill>
                      <a:srgbClr val="16233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parametrizzato</a:t>
                </a:r>
                <a:r>
                  <a:rPr lang="en-US" sz="3200" b="1" dirty="0">
                    <a:solidFill>
                      <a:srgbClr val="16233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</a:t>
                </a:r>
                <a14:m>
                  <m:oMath xmlns:m="http://schemas.openxmlformats.org/officeDocument/2006/math">
                    <m:r>
                      <a:rPr lang="en-US" sz="3200" b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3200" i="1" dirty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3200" i="1" dirty="0">
                        <a:latin typeface="Cambria Math" panose="02040503050406030204" pitchFamily="18" charset="0"/>
                      </a:rPr>
                      <m:t>𝜓</m:t>
                    </m:r>
                    <m:d>
                      <m:dPr>
                        <m:ctrlPr>
                          <a:rPr lang="en-US" sz="3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i="1" dirty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en-US" sz="3200" i="1" dirty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r>
                  <a:rPr lang="en-US" sz="3200" b="1" dirty="0">
                    <a:solidFill>
                      <a:srgbClr val="16233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- Ansatz</a:t>
                </a:r>
                <a:endParaRPr lang="en-US" sz="3200" dirty="0"/>
              </a:p>
            </p:txBody>
          </p:sp>
        </mc:Choice>
        <mc:Fallback>
          <p:sp>
            <p:nvSpPr>
              <p:cNvPr id="3" name="VQE - Ansatz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79" y="713232"/>
                <a:ext cx="10911535" cy="777240"/>
              </a:xfrm>
              <a:prstGeom prst="rect">
                <a:avLst/>
              </a:prstGeom>
              <a:blipFill>
                <a:blip r:embed="rId3"/>
                <a:stretch>
                  <a:fillRect l="-2235" b="-13281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hape 2"/>
          <p:cNvSpPr/>
          <p:nvPr/>
        </p:nvSpPr>
        <p:spPr>
          <a:xfrm>
            <a:off x="640080" y="1488483"/>
            <a:ext cx="10911535" cy="530352"/>
          </a:xfrm>
          <a:prstGeom prst="roundRect">
            <a:avLst>
              <a:gd name="adj" fmla="val 13793"/>
            </a:avLst>
          </a:prstGeom>
          <a:solidFill>
            <a:srgbClr val="F2F5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itle Circuito Dimero">
            <a:extLst>
              <a:ext uri="{FF2B5EF4-FFF2-40B4-BE49-F238E27FC236}">
                <a16:creationId xmlns:a16="http://schemas.microsoft.com/office/drawing/2014/main" id="{BE6BF56F-A15E-A307-5156-A586A89A37E6}"/>
              </a:ext>
            </a:extLst>
          </p:cNvPr>
          <p:cNvSpPr txBox="1"/>
          <p:nvPr/>
        </p:nvSpPr>
        <p:spPr>
          <a:xfrm>
            <a:off x="566927" y="1549058"/>
            <a:ext cx="10911535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100" b="1" i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Circuito </a:t>
            </a:r>
            <a:r>
              <a:rPr lang="en-US" sz="2100" b="1" i="1" dirty="0" err="1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Quantistico</a:t>
            </a:r>
            <a:r>
              <a:rPr lang="en-US" sz="2100" b="1" i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</a:t>
            </a:r>
            <a:r>
              <a:rPr lang="en-US" sz="2100" b="1" i="1" dirty="0" err="1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Dimero</a:t>
            </a:r>
            <a:endParaRPr lang="en-US" i="1" dirty="0"/>
          </a:p>
        </p:txBody>
      </p:sp>
      <p:pic>
        <p:nvPicPr>
          <p:cNvPr id="45" name="Circuito HA" descr="/home/claude/deck/assets/thesis_figs/circ_ha_hi-1.png">
            <a:extLst>
              <a:ext uri="{FF2B5EF4-FFF2-40B4-BE49-F238E27FC236}">
                <a16:creationId xmlns:a16="http://schemas.microsoft.com/office/drawing/2014/main" id="{1EE5CC7D-46B7-29D4-4BB4-0B636AD009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130814"/>
            <a:ext cx="3320851" cy="1325880"/>
          </a:xfrm>
          <a:prstGeom prst="rect">
            <a:avLst/>
          </a:prstGeom>
        </p:spPr>
      </p:pic>
      <p:pic>
        <p:nvPicPr>
          <p:cNvPr id="47" name="Circuito PMA base" descr="/home/claude/deck/assets/thesis_figs/circ_pma_base-1.png">
            <a:extLst>
              <a:ext uri="{FF2B5EF4-FFF2-40B4-BE49-F238E27FC236}">
                <a16:creationId xmlns:a16="http://schemas.microsoft.com/office/drawing/2014/main" id="{3E2C2FE4-0132-06CB-74A2-3D08E99ACA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0347" y="3205105"/>
            <a:ext cx="4278335" cy="1325880"/>
          </a:xfrm>
          <a:prstGeom prst="rect">
            <a:avLst/>
          </a:prstGeom>
        </p:spPr>
      </p:pic>
      <p:pic>
        <p:nvPicPr>
          <p:cNvPr id="49" name="Circuito PMA esteso" descr="/home/claude/deck/assets/thesis_figs/circ_pma_esteso_hi-1.png">
            <a:extLst>
              <a:ext uri="{FF2B5EF4-FFF2-40B4-BE49-F238E27FC236}">
                <a16:creationId xmlns:a16="http://schemas.microsoft.com/office/drawing/2014/main" id="{AA570C23-D55D-0B01-C6FF-459811ABB10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79392" y="3169587"/>
            <a:ext cx="2321794" cy="1325880"/>
          </a:xfrm>
          <a:prstGeom prst="rect">
            <a:avLst/>
          </a:prstGeom>
        </p:spPr>
      </p:pic>
      <p:sp>
        <p:nvSpPr>
          <p:cNvPr id="51" name="Desc HA dimero">
            <a:extLst>
              <a:ext uri="{FF2B5EF4-FFF2-40B4-BE49-F238E27FC236}">
                <a16:creationId xmlns:a16="http://schemas.microsoft.com/office/drawing/2014/main" id="{19DF8F39-8D23-F2FB-317C-4BFF77513A58}"/>
              </a:ext>
            </a:extLst>
          </p:cNvPr>
          <p:cNvSpPr txBox="1"/>
          <p:nvPr/>
        </p:nvSpPr>
        <p:spPr>
          <a:xfrm>
            <a:off x="640080" y="4511558"/>
            <a:ext cx="33208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 — 6 parametri</a:t>
            </a:r>
            <a:endParaRPr lang="en-US" sz="1200" dirty="0"/>
          </a:p>
        </p:txBody>
      </p:sp>
      <p:sp>
        <p:nvSpPr>
          <p:cNvPr id="55" name="Desc PMA Esteso dimero">
            <a:extLst>
              <a:ext uri="{FF2B5EF4-FFF2-40B4-BE49-F238E27FC236}">
                <a16:creationId xmlns:a16="http://schemas.microsoft.com/office/drawing/2014/main" id="{69D0F071-C2D3-1EB2-B6CF-6A9D81968424}"/>
              </a:ext>
            </a:extLst>
          </p:cNvPr>
          <p:cNvSpPr txBox="1"/>
          <p:nvPr/>
        </p:nvSpPr>
        <p:spPr>
          <a:xfrm>
            <a:off x="4502891" y="4541941"/>
            <a:ext cx="23217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PMA esteso — 3 parametri</a:t>
            </a:r>
            <a:endParaRPr lang="en-US" sz="1200" dirty="0"/>
          </a:p>
        </p:txBody>
      </p:sp>
      <p:sp>
        <p:nvSpPr>
          <p:cNvPr id="57" name="Desc PMA base dimero">
            <a:extLst>
              <a:ext uri="{FF2B5EF4-FFF2-40B4-BE49-F238E27FC236}">
                <a16:creationId xmlns:a16="http://schemas.microsoft.com/office/drawing/2014/main" id="{3379060A-576D-FF4D-C03B-A96DE92705BB}"/>
              </a:ext>
            </a:extLst>
          </p:cNvPr>
          <p:cNvSpPr txBox="1"/>
          <p:nvPr/>
        </p:nvSpPr>
        <p:spPr>
          <a:xfrm>
            <a:off x="7150347" y="4530985"/>
            <a:ext cx="4278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PMA base — 1 parametro (2 rami, b/J ≶ 2)</a:t>
            </a:r>
            <a:endParaRPr lang="en-US" sz="1200" dirty="0"/>
          </a:p>
        </p:txBody>
      </p:sp>
      <p:sp>
        <p:nvSpPr>
          <p:cNvPr id="58" name="Nota HA dimero">
            <a:extLst>
              <a:ext uri="{FF2B5EF4-FFF2-40B4-BE49-F238E27FC236}">
                <a16:creationId xmlns:a16="http://schemas.microsoft.com/office/drawing/2014/main" id="{C4DA91CF-8ACC-CBFC-7DBB-B57CF5694554}"/>
              </a:ext>
            </a:extLst>
          </p:cNvPr>
          <p:cNvSpPr txBox="1"/>
          <p:nvPr/>
        </p:nvSpPr>
        <p:spPr>
          <a:xfrm>
            <a:off x="1014984" y="5184572"/>
            <a:ext cx="29459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</a:t>
            </a:r>
            <a:r>
              <a:rPr lang="en-US" sz="1200" dirty="0"/>
              <a:t>: </a:t>
            </a:r>
            <a:r>
              <a:rPr lang="en-US" sz="1200" dirty="0" err="1"/>
              <a:t>termine</a:t>
            </a:r>
            <a:r>
              <a:rPr lang="en-US" sz="1200" dirty="0"/>
              <a:t> di </a:t>
            </a:r>
            <a:r>
              <a:rPr lang="en-US" sz="1200" dirty="0" err="1"/>
              <a:t>confronto</a:t>
            </a:r>
            <a:r>
              <a:rPr lang="en-US" sz="1200" dirty="0"/>
              <a:t> (baseline </a:t>
            </a:r>
            <a:r>
              <a:rPr lang="en-US" sz="1200" dirty="0" err="1"/>
              <a:t>generica</a:t>
            </a:r>
            <a:r>
              <a:rPr lang="en-US" sz="1200" dirty="0"/>
              <a:t>, senza </a:t>
            </a:r>
            <a:r>
              <a:rPr lang="en-US" sz="1200" dirty="0" err="1"/>
              <a:t>usare</a:t>
            </a:r>
            <a:r>
              <a:rPr lang="en-US" sz="1200" dirty="0"/>
              <a:t> la </a:t>
            </a:r>
            <a:r>
              <a:rPr lang="en-US" sz="1200" dirty="0" err="1"/>
              <a:t>fisica</a:t>
            </a:r>
            <a:r>
              <a:rPr lang="en-US" sz="1200" dirty="0"/>
              <a:t> del </a:t>
            </a:r>
            <a:r>
              <a:rPr lang="en-US" sz="1200" dirty="0" err="1"/>
              <a:t>problema</a:t>
            </a:r>
            <a:r>
              <a:rPr lang="en-US" sz="1200" dirty="0"/>
              <a:t>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1" name="Testo preparazione dimero">
                <a:extLst>
                  <a:ext uri="{FF2B5EF4-FFF2-40B4-BE49-F238E27FC236}">
                    <a16:creationId xmlns:a16="http://schemas.microsoft.com/office/drawing/2014/main" id="{484C8D53-7FD2-B924-14BD-0593E4C50EAC}"/>
                  </a:ext>
                </a:extLst>
              </p:cNvPr>
              <p:cNvSpPr txBox="1"/>
              <p:nvPr/>
            </p:nvSpPr>
            <p:spPr>
              <a:xfrm>
                <a:off x="640080" y="2243297"/>
                <a:ext cx="10911535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500" dirty="0"/>
                  <a:t>Tre </a:t>
                </a:r>
                <a:r>
                  <a:rPr lang="en-US" sz="1500" dirty="0" err="1"/>
                  <a:t>circuiti</a:t>
                </a:r>
                <a:r>
                  <a:rPr lang="en-US" sz="1500" dirty="0"/>
                  <a:t> </a:t>
                </a:r>
                <a14:m>
                  <m:oMath xmlns:m="http://schemas.openxmlformats.org/officeDocument/2006/math">
                    <m:r>
                      <a:rPr lang="en-US" sz="1500" i="1" dirty="0" smtClean="0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en-US" sz="15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500" i="1" dirty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sz="1500" dirty="0"/>
                  <a:t>, </a:t>
                </a:r>
                <a:r>
                  <a:rPr lang="en-US" sz="1500" dirty="0" err="1"/>
                  <a:t>che</a:t>
                </a:r>
                <a:r>
                  <a:rPr lang="en-US" sz="1500" dirty="0"/>
                  <a:t> a </a:t>
                </a:r>
                <a:r>
                  <a:rPr lang="en-US" sz="1500" dirty="0" err="1"/>
                  <a:t>partire</a:t>
                </a:r>
                <a:r>
                  <a:rPr lang="en-US" sz="1500" dirty="0"/>
                  <a:t> da </a:t>
                </a:r>
                <a14:m>
                  <m:oMath xmlns:m="http://schemas.openxmlformats.org/officeDocument/2006/math">
                    <m:r>
                      <a:rPr lang="en-US" sz="1500" dirty="0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500" i="0" dirty="0">
                        <a:latin typeface="Cambria Math" panose="02040503050406030204" pitchFamily="18" charset="0"/>
                      </a:rPr>
                      <m:t>00⟩</m:t>
                    </m:r>
                  </m:oMath>
                </a14:m>
                <a:r>
                  <a:rPr lang="en-US" sz="1500" dirty="0"/>
                  <a:t> </a:t>
                </a:r>
                <a:r>
                  <a:rPr lang="en-US" sz="1500" dirty="0" err="1"/>
                  <a:t>preparano</a:t>
                </a:r>
                <a:r>
                  <a:rPr lang="en-US" sz="1500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15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500" i="1" dirty="0">
                            <a:latin typeface="Cambria Math" panose="02040503050406030204" pitchFamily="18" charset="0"/>
                          </a:rPr>
                          <m:t>𝜓</m:t>
                        </m:r>
                        <m:d>
                          <m:dPr>
                            <m:ctrlPr>
                              <a:rPr lang="en-US" sz="15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500" i="1" dirty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  <m:r>
                          <a:rPr lang="en-US" sz="1500" i="0" dirty="0">
                            <a:latin typeface="Cambria Math" panose="02040503050406030204" pitchFamily="18" charset="0"/>
                          </a:rPr>
                          <m:t>⟩=</m:t>
                        </m:r>
                        <m:r>
                          <a:rPr lang="en-US" sz="1500" i="1" dirty="0">
                            <a:latin typeface="Cambria Math" panose="02040503050406030204" pitchFamily="18" charset="0"/>
                          </a:rPr>
                          <m:t>𝑈</m:t>
                        </m:r>
                        <m:d>
                          <m:dPr>
                            <m:ctrlPr>
                              <a:rPr lang="en-US" sz="15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500" i="1" dirty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</m:d>
                    <m:r>
                      <a:rPr lang="en-US" sz="1500" i="0" dirty="0">
                        <a:latin typeface="Cambria Math" panose="02040503050406030204" pitchFamily="18" charset="0"/>
                      </a:rPr>
                      <m:t>00⟩</m:t>
                    </m:r>
                  </m:oMath>
                </a14:m>
                <a:r>
                  <a:rPr lang="en-US" sz="1500" dirty="0"/>
                  <a:t>, </a:t>
                </a:r>
                <a:r>
                  <a:rPr lang="en-US" sz="1500" dirty="0" err="1"/>
                  <a:t>confrontati</a:t>
                </a:r>
                <a:r>
                  <a:rPr lang="en-US" sz="1500" dirty="0"/>
                  <a:t> </a:t>
                </a:r>
                <a:r>
                  <a:rPr lang="en-US" sz="1500" dirty="0" err="1"/>
                  <a:t>sulla</a:t>
                </a:r>
                <a:r>
                  <a:rPr lang="en-US" sz="1500" dirty="0"/>
                  <a:t> </a:t>
                </a:r>
                <a:r>
                  <a:rPr lang="en-US" sz="1500" dirty="0" err="1"/>
                  <a:t>fedeltà</a:t>
                </a:r>
                <a:r>
                  <a:rPr lang="en-US" sz="1500" dirty="0"/>
                  <a:t> </a:t>
                </a:r>
                <a14:m>
                  <m:oMath xmlns:m="http://schemas.openxmlformats.org/officeDocument/2006/math">
                    <m:r>
                      <a:rPr lang="en-US" sz="1500" i="1" dirty="0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sz="1500" i="0" dirty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US" sz="1500" i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500" i="0" dirty="0">
                            <a:latin typeface="Cambria Math" panose="02040503050406030204" pitchFamily="18" charset="0"/>
                          </a:rPr>
                          <m:t>⟨</m:t>
                        </m:r>
                        <m:r>
                          <a:rPr lang="en-US" sz="1500" i="1" dirty="0">
                            <a:latin typeface="Cambria Math" panose="02040503050406030204" pitchFamily="18" charset="0"/>
                          </a:rPr>
                          <m:t>𝜓</m:t>
                        </m:r>
                        <m:d>
                          <m:dPr>
                            <m:ctrlPr>
                              <a:rPr lang="en-US" sz="15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500" i="1" dirty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</m:d>
                    <m:r>
                      <a:rPr lang="en-US" sz="1500" i="1" dirty="0">
                        <a:latin typeface="Cambria Math" panose="02040503050406030204" pitchFamily="18" charset="0"/>
                      </a:rPr>
                      <m:t>𝜓</m:t>
                    </m:r>
                    <m:r>
                      <a:rPr lang="en-US" sz="1500" i="0" dirty="0">
                        <a:latin typeface="Cambria Math" panose="02040503050406030204" pitchFamily="18" charset="0"/>
                      </a:rPr>
                      <m:t>₀⟩|²</m:t>
                    </m:r>
                  </m:oMath>
                </a14:m>
                <a:r>
                  <a:rPr lang="en-US" sz="1500" dirty="0"/>
                  <a:t> rispetto </a:t>
                </a:r>
                <a:r>
                  <a:rPr lang="en-US" sz="1500" dirty="0" err="1"/>
                  <a:t>allo</a:t>
                </a:r>
                <a:r>
                  <a:rPr lang="en-US" sz="1500" dirty="0"/>
                  <a:t> </a:t>
                </a:r>
                <a:r>
                  <a:rPr lang="en-US" sz="1500" dirty="0" err="1"/>
                  <a:t>stato</a:t>
                </a:r>
                <a:r>
                  <a:rPr lang="en-US" sz="1500" dirty="0"/>
                  <a:t> </a:t>
                </a:r>
                <a:r>
                  <a:rPr lang="en-US" sz="1500" dirty="0" err="1"/>
                  <a:t>fondamentale</a:t>
                </a:r>
                <a:r>
                  <a:rPr lang="en-US" sz="1500" dirty="0"/>
                  <a:t> </a:t>
                </a:r>
                <a:r>
                  <a:rPr lang="en-US" sz="1500" dirty="0" err="1"/>
                  <a:t>vero</a:t>
                </a:r>
                <a:endParaRPr lang="en-US" sz="1500" dirty="0"/>
              </a:p>
            </p:txBody>
          </p:sp>
        </mc:Choice>
        <mc:Fallback>
          <p:sp>
            <p:nvSpPr>
              <p:cNvPr id="61" name="Testo preparazione dimero">
                <a:extLst>
                  <a:ext uri="{FF2B5EF4-FFF2-40B4-BE49-F238E27FC236}">
                    <a16:creationId xmlns:a16="http://schemas.microsoft.com/office/drawing/2014/main" id="{484C8D53-7FD2-B924-14BD-0593E4C50E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" y="2243297"/>
                <a:ext cx="10911535" cy="553998"/>
              </a:xfrm>
              <a:prstGeom prst="rect">
                <a:avLst/>
              </a:prstGeom>
              <a:blipFill>
                <a:blip r:embed="rId7"/>
                <a:stretch>
                  <a:fillRect t="-2198" b="-109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rimitiva RBS">
            <a:extLst>
              <a:ext uri="{FF2B5EF4-FFF2-40B4-BE49-F238E27FC236}">
                <a16:creationId xmlns:a16="http://schemas.microsoft.com/office/drawing/2014/main" id="{873D5CD8-F838-21B0-87B1-2B4C6961C71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78920" y="4960878"/>
            <a:ext cx="2321794" cy="112528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8" name="Espressione RBS">
                <a:extLst>
                  <a:ext uri="{FF2B5EF4-FFF2-40B4-BE49-F238E27FC236}">
                    <a16:creationId xmlns:a16="http://schemas.microsoft.com/office/drawing/2014/main" id="{BFEA6134-4C48-E54A-4F06-D5A4E00D0403}"/>
                  </a:ext>
                </a:extLst>
              </p:cNvPr>
              <p:cNvSpPr txBox="1"/>
              <p:nvPr/>
            </p:nvSpPr>
            <p:spPr>
              <a:xfrm>
                <a:off x="4591455" y="6121682"/>
                <a:ext cx="2931268" cy="4989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𝑅𝐵𝑆</m:t>
                    </m:r>
                    <m:d>
                      <m:d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𝜑</m:t>
                        </m:r>
                        <m:d>
                          <m:d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sz="1200" i="1" dirty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200" i="1" dirty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sz="1200" i="1" dirty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sz="1200" i="1" dirty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p>
                            </m:sSubSup>
                            <m:sSubSup>
                              <m:sSubSupPr>
                                <m:ctrlPr>
                                  <a:rPr lang="en-US" sz="1200" i="1" dirty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200" i="1" dirty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sz="1200" i="1" dirty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 sz="1200" i="1" dirty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p>
                            </m:sSub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Sup>
                              <m:sSubSupPr>
                                <m:ctrlPr>
                                  <a:rPr lang="en-US" sz="1200" i="1" dirty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200" i="1" dirty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sz="1200" i="1" dirty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sz="1200" i="1" dirty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p>
                            </m:sSubSup>
                            <m:sSubSup>
                              <m:sSubSupPr>
                                <m:ctrlPr>
                                  <a:rPr lang="en-US" sz="1200" i="1" dirty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200" i="1" dirty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sz="1200" i="1" dirty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 sz="1200" i="1" dirty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p>
                            </m:sSubSup>
                          </m:e>
                        </m:d>
                      </m:sup>
                    </m:sSup>
                  </m:oMath>
                </a14:m>
                <a:r>
                  <a:rPr lang="en-US" sz="1200" dirty="0"/>
                  <a:t> - </a:t>
                </a:r>
                <a:r>
                  <a:rPr lang="en-US" sz="1200" dirty="0" err="1"/>
                  <a:t>rotazione</a:t>
                </a:r>
                <a:r>
                  <a:rPr lang="en-US" sz="1200" dirty="0"/>
                  <a:t> </a:t>
                </a:r>
                <a:r>
                  <a:rPr lang="en-US" sz="1200" dirty="0" err="1"/>
                  <a:t>reale</a:t>
                </a:r>
                <a:r>
                  <a:rPr lang="en-US" sz="1200" dirty="0"/>
                  <a:t> - Reconfigurable Beam Splitter</a:t>
                </a:r>
              </a:p>
            </p:txBody>
          </p:sp>
        </mc:Choice>
        <mc:Fallback>
          <p:sp>
            <p:nvSpPr>
              <p:cNvPr id="8" name="Espressione RBS">
                <a:extLst>
                  <a:ext uri="{FF2B5EF4-FFF2-40B4-BE49-F238E27FC236}">
                    <a16:creationId xmlns:a16="http://schemas.microsoft.com/office/drawing/2014/main" id="{BFEA6134-4C48-E54A-4F06-D5A4E00D04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1455" y="6121682"/>
                <a:ext cx="2931268" cy="498983"/>
              </a:xfrm>
              <a:prstGeom prst="rect">
                <a:avLst/>
              </a:prstGeom>
              <a:blipFill>
                <a:blip r:embed="rId9"/>
                <a:stretch>
                  <a:fillRect b="-85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rimitiva W">
            <a:extLst>
              <a:ext uri="{FF2B5EF4-FFF2-40B4-BE49-F238E27FC236}">
                <a16:creationId xmlns:a16="http://schemas.microsoft.com/office/drawing/2014/main" id="{B65FF388-D5E2-6034-32EE-E3F69E9BD06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26393" y="4993529"/>
            <a:ext cx="1627923" cy="1120749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2" name="Espressione W">
                <a:extLst>
                  <a:ext uri="{FF2B5EF4-FFF2-40B4-BE49-F238E27FC236}">
                    <a16:creationId xmlns:a16="http://schemas.microsoft.com/office/drawing/2014/main" id="{7BD904AA-68DA-BB45-2757-10D370F7DF55}"/>
                  </a:ext>
                </a:extLst>
              </p:cNvPr>
              <p:cNvSpPr txBox="1"/>
              <p:nvPr/>
            </p:nvSpPr>
            <p:spPr>
              <a:xfrm>
                <a:off x="8142373" y="6126071"/>
                <a:ext cx="2540714" cy="3143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𝑊</m:t>
                    </m:r>
                    <m:d>
                      <m:d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en-US" sz="1200" i="0" dirty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1200" i="0" dirty="0">
                            <a:latin typeface="Cambria Math" panose="02040503050406030204" pitchFamily="18" charset="0"/>
                          </a:rPr>
                          <m:t>−2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𝜃</m:t>
                        </m:r>
                        <m:sSubSup>
                          <m:sSub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1200" i="0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p>
                        </m:sSubSup>
                        <m:sSubSup>
                          <m:sSub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1200" i="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p>
                        </m:sSubSup>
                      </m:sup>
                    </m:sSup>
                  </m:oMath>
                </a14:m>
                <a:r>
                  <a:rPr lang="en-US" sz="1200" dirty="0"/>
                  <a:t> - </a:t>
                </a:r>
                <a:r>
                  <a:rPr lang="en-US" sz="1200" dirty="0" err="1"/>
                  <a:t>rotazione</a:t>
                </a:r>
                <a:r>
                  <a:rPr lang="en-US" sz="1200" dirty="0"/>
                  <a:t> </a:t>
                </a:r>
                <a:r>
                  <a:rPr lang="en-US" sz="1200" dirty="0" err="1"/>
                  <a:t>reale</a:t>
                </a:r>
                <a:endParaRPr lang="en-US" sz="1200" dirty="0"/>
              </a:p>
            </p:txBody>
          </p:sp>
        </mc:Choice>
        <mc:Fallback>
          <p:sp>
            <p:nvSpPr>
              <p:cNvPr id="12" name="Espressione W">
                <a:extLst>
                  <a:ext uri="{FF2B5EF4-FFF2-40B4-BE49-F238E27FC236}">
                    <a16:creationId xmlns:a16="http://schemas.microsoft.com/office/drawing/2014/main" id="{7BD904AA-68DA-BB45-2757-10D370F7DF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42373" y="6126071"/>
                <a:ext cx="2540714" cy="314317"/>
              </a:xfrm>
              <a:prstGeom prst="rect">
                <a:avLst/>
              </a:prstGeom>
              <a:blipFill>
                <a:blip r:embed="rId11"/>
                <a:stretch>
                  <a:fillRect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TRODUZIONE"/>
          <p:cNvSpPr txBox="1"/>
          <p:nvPr/>
        </p:nvSpPr>
        <p:spPr>
          <a:xfrm>
            <a:off x="640080" y="402336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2E8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RISULTATI</a:t>
            </a:r>
            <a:endParaRPr lang="en-US" sz="13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VQE - Ansatz"/>
              <p:cNvSpPr txBox="1"/>
              <p:nvPr/>
            </p:nvSpPr>
            <p:spPr>
              <a:xfrm>
                <a:off x="640079" y="713232"/>
                <a:ext cx="10865993" cy="77724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sz="3200" b="1" dirty="0">
                    <a:solidFill>
                      <a:srgbClr val="16233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VQE – Preparazione </a:t>
                </a:r>
                <a:r>
                  <a:rPr lang="en-US" sz="3200" b="1" dirty="0" err="1">
                    <a:solidFill>
                      <a:srgbClr val="16233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dello</a:t>
                </a:r>
                <a:r>
                  <a:rPr lang="en-US" sz="3200" b="1" dirty="0">
                    <a:solidFill>
                      <a:srgbClr val="16233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</a:t>
                </a:r>
                <a:r>
                  <a:rPr lang="en-US" sz="3200" b="1" dirty="0" err="1">
                    <a:solidFill>
                      <a:srgbClr val="16233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stato</a:t>
                </a:r>
                <a:r>
                  <a:rPr lang="en-US" sz="3200" b="1" dirty="0">
                    <a:solidFill>
                      <a:srgbClr val="16233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</a:t>
                </a:r>
                <a:r>
                  <a:rPr lang="en-US" sz="3200" b="1" dirty="0" err="1">
                    <a:solidFill>
                      <a:srgbClr val="16233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parametrizzato</a:t>
                </a:r>
                <a:r>
                  <a:rPr lang="en-US" sz="3200" b="1" dirty="0">
                    <a:solidFill>
                      <a:srgbClr val="16233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</a:t>
                </a:r>
                <a14:m>
                  <m:oMath xmlns:m="http://schemas.openxmlformats.org/officeDocument/2006/math">
                    <m:r>
                      <a:rPr lang="en-US" sz="3200" b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3200" i="1" dirty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3200" i="1" dirty="0">
                        <a:latin typeface="Cambria Math" panose="02040503050406030204" pitchFamily="18" charset="0"/>
                      </a:rPr>
                      <m:t>𝜓</m:t>
                    </m:r>
                    <m:d>
                      <m:dPr>
                        <m:ctrlPr>
                          <a:rPr lang="en-US" sz="3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i="1" dirty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en-US" sz="3200" i="1" dirty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r>
                  <a:rPr lang="en-US" sz="3200" b="1" dirty="0">
                    <a:solidFill>
                      <a:srgbClr val="16233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- Ansatz</a:t>
                </a:r>
                <a:endParaRPr lang="en-US" sz="3200" dirty="0"/>
              </a:p>
            </p:txBody>
          </p:sp>
        </mc:Choice>
        <mc:Fallback>
          <p:sp>
            <p:nvSpPr>
              <p:cNvPr id="3" name="VQE - Ansatz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79" y="713232"/>
                <a:ext cx="10865993" cy="777240"/>
              </a:xfrm>
              <a:prstGeom prst="rect">
                <a:avLst/>
              </a:prstGeom>
              <a:blipFill>
                <a:blip r:embed="rId3"/>
                <a:stretch>
                  <a:fillRect l="-2245" b="-13281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hape 2"/>
          <p:cNvSpPr/>
          <p:nvPr/>
        </p:nvSpPr>
        <p:spPr>
          <a:xfrm>
            <a:off x="625463" y="1499572"/>
            <a:ext cx="10911535" cy="530352"/>
          </a:xfrm>
          <a:prstGeom prst="roundRect">
            <a:avLst>
              <a:gd name="adj" fmla="val 13793"/>
            </a:avLst>
          </a:prstGeom>
          <a:solidFill>
            <a:srgbClr val="F2F5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itle Circuito Trimero">
            <a:extLst>
              <a:ext uri="{FF2B5EF4-FFF2-40B4-BE49-F238E27FC236}">
                <a16:creationId xmlns:a16="http://schemas.microsoft.com/office/drawing/2014/main" id="{6F06D79C-D78E-4C9A-C7FB-7D704A6485B9}"/>
              </a:ext>
            </a:extLst>
          </p:cNvPr>
          <p:cNvSpPr txBox="1"/>
          <p:nvPr/>
        </p:nvSpPr>
        <p:spPr>
          <a:xfrm>
            <a:off x="579921" y="1556999"/>
            <a:ext cx="10911535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100" b="1" i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Circuito </a:t>
            </a:r>
            <a:r>
              <a:rPr lang="en-US" sz="2100" b="1" i="1" dirty="0" err="1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Quantistico</a:t>
            </a:r>
            <a:r>
              <a:rPr lang="en-US" sz="2100" b="1" i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</a:t>
            </a:r>
            <a:r>
              <a:rPr lang="en-US" sz="2100" b="1" i="1" dirty="0" err="1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Trimero</a:t>
            </a:r>
            <a:endParaRPr lang="en-US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sto preparazione trimero">
                <a:extLst>
                  <a:ext uri="{FF2B5EF4-FFF2-40B4-BE49-F238E27FC236}">
                    <a16:creationId xmlns:a16="http://schemas.microsoft.com/office/drawing/2014/main" id="{505067FF-8756-102D-C3C1-5E6B2B24EAA0}"/>
                  </a:ext>
                </a:extLst>
              </p:cNvPr>
              <p:cNvSpPr txBox="1"/>
              <p:nvPr/>
            </p:nvSpPr>
            <p:spPr>
              <a:xfrm>
                <a:off x="625463" y="2225751"/>
                <a:ext cx="10911535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500" dirty="0"/>
                  <a:t>Due </a:t>
                </a:r>
                <a:r>
                  <a:rPr lang="en-US" sz="1500" dirty="0" err="1"/>
                  <a:t>circuiti</a:t>
                </a:r>
                <a:r>
                  <a:rPr lang="en-US" sz="1500" dirty="0"/>
                  <a:t> </a:t>
                </a:r>
                <a14:m>
                  <m:oMath xmlns:m="http://schemas.openxmlformats.org/officeDocument/2006/math">
                    <m:r>
                      <a:rPr lang="en-US" sz="1500" i="1" dirty="0" smtClean="0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en-US" sz="15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500" i="1" dirty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sz="1500" dirty="0"/>
                  <a:t>, </a:t>
                </a:r>
                <a:r>
                  <a:rPr lang="en-US" sz="1500" dirty="0" err="1"/>
                  <a:t>che</a:t>
                </a:r>
                <a:r>
                  <a:rPr lang="en-US" sz="1500" dirty="0"/>
                  <a:t> a </a:t>
                </a:r>
                <a:r>
                  <a:rPr lang="en-US" sz="1500" dirty="0" err="1"/>
                  <a:t>partire</a:t>
                </a:r>
                <a:r>
                  <a:rPr lang="en-US" sz="1500" dirty="0"/>
                  <a:t> da </a:t>
                </a:r>
                <a14:m>
                  <m:oMath xmlns:m="http://schemas.openxmlformats.org/officeDocument/2006/math">
                    <m:r>
                      <a:rPr lang="en-US" sz="1500" dirty="0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500" i="0" dirty="0">
                        <a:latin typeface="Cambria Math" panose="02040503050406030204" pitchFamily="18" charset="0"/>
                      </a:rPr>
                      <m:t>00</m:t>
                    </m:r>
                    <m:r>
                      <a:rPr lang="en-US" sz="1500" b="0" i="0" dirty="0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500" i="0" dirty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r>
                  <a:rPr lang="en-US" sz="1500" dirty="0"/>
                  <a:t> </a:t>
                </a:r>
                <a:r>
                  <a:rPr lang="en-US" sz="1500" dirty="0" err="1"/>
                  <a:t>preparano</a:t>
                </a:r>
                <a:r>
                  <a:rPr lang="en-US" sz="1500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15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500" i="1" dirty="0">
                            <a:latin typeface="Cambria Math" panose="02040503050406030204" pitchFamily="18" charset="0"/>
                          </a:rPr>
                          <m:t>𝜓</m:t>
                        </m:r>
                        <m:d>
                          <m:dPr>
                            <m:ctrlPr>
                              <a:rPr lang="en-US" sz="15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500" i="1" dirty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  <m:r>
                          <a:rPr lang="en-US" sz="1500" i="0" dirty="0">
                            <a:latin typeface="Cambria Math" panose="02040503050406030204" pitchFamily="18" charset="0"/>
                          </a:rPr>
                          <m:t>⟩=</m:t>
                        </m:r>
                        <m:r>
                          <a:rPr lang="en-US" sz="1500" i="1" dirty="0">
                            <a:latin typeface="Cambria Math" panose="02040503050406030204" pitchFamily="18" charset="0"/>
                          </a:rPr>
                          <m:t>𝑈</m:t>
                        </m:r>
                        <m:d>
                          <m:dPr>
                            <m:ctrlPr>
                              <a:rPr lang="en-US" sz="15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500" i="1" dirty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</m:d>
                    <m:r>
                      <a:rPr lang="en-US" sz="1500" i="0" dirty="0">
                        <a:latin typeface="Cambria Math" panose="02040503050406030204" pitchFamily="18" charset="0"/>
                      </a:rPr>
                      <m:t>00</m:t>
                    </m:r>
                    <m:r>
                      <a:rPr lang="en-US" sz="1500" b="0" i="0" dirty="0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500" i="0" dirty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r>
                  <a:rPr lang="en-US" sz="1500" dirty="0"/>
                  <a:t>, </a:t>
                </a:r>
                <a:r>
                  <a:rPr lang="en-US" sz="1500" dirty="0" err="1"/>
                  <a:t>confrontati</a:t>
                </a:r>
                <a:r>
                  <a:rPr lang="en-US" sz="1500" dirty="0"/>
                  <a:t> </a:t>
                </a:r>
                <a:r>
                  <a:rPr lang="en-US" sz="1500" dirty="0" err="1"/>
                  <a:t>sulla</a:t>
                </a:r>
                <a:r>
                  <a:rPr lang="en-US" sz="1500" dirty="0"/>
                  <a:t> </a:t>
                </a:r>
                <a:r>
                  <a:rPr lang="en-US" sz="1500" dirty="0" err="1"/>
                  <a:t>fedeltà</a:t>
                </a:r>
                <a:r>
                  <a:rPr lang="en-US" sz="1500" dirty="0"/>
                  <a:t> </a:t>
                </a:r>
                <a14:m>
                  <m:oMath xmlns:m="http://schemas.openxmlformats.org/officeDocument/2006/math">
                    <m:r>
                      <a:rPr lang="en-US" sz="1500" i="1" dirty="0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sz="1500" i="0" dirty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US" sz="1500" i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500" i="0" dirty="0">
                            <a:latin typeface="Cambria Math" panose="02040503050406030204" pitchFamily="18" charset="0"/>
                          </a:rPr>
                          <m:t>⟨</m:t>
                        </m:r>
                        <m:r>
                          <a:rPr lang="en-US" sz="1500" i="1" dirty="0">
                            <a:latin typeface="Cambria Math" panose="02040503050406030204" pitchFamily="18" charset="0"/>
                          </a:rPr>
                          <m:t>𝜓</m:t>
                        </m:r>
                        <m:d>
                          <m:dPr>
                            <m:ctrlPr>
                              <a:rPr lang="en-US" sz="15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500" i="1" dirty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</m:d>
                    <m:r>
                      <a:rPr lang="en-US" sz="1500" i="1" dirty="0">
                        <a:latin typeface="Cambria Math" panose="02040503050406030204" pitchFamily="18" charset="0"/>
                      </a:rPr>
                      <m:t>𝜓</m:t>
                    </m:r>
                    <m:r>
                      <a:rPr lang="en-US" sz="1500" i="0" dirty="0">
                        <a:latin typeface="Cambria Math" panose="02040503050406030204" pitchFamily="18" charset="0"/>
                      </a:rPr>
                      <m:t>₀⟩|²</m:t>
                    </m:r>
                  </m:oMath>
                </a14:m>
                <a:r>
                  <a:rPr lang="en-US" sz="1500" dirty="0"/>
                  <a:t> rispetto </a:t>
                </a:r>
                <a:r>
                  <a:rPr lang="en-US" sz="1500" dirty="0" err="1"/>
                  <a:t>allo</a:t>
                </a:r>
                <a:r>
                  <a:rPr lang="en-US" sz="1500" dirty="0"/>
                  <a:t> </a:t>
                </a:r>
                <a:r>
                  <a:rPr lang="en-US" sz="1500" dirty="0" err="1"/>
                  <a:t>stato</a:t>
                </a:r>
                <a:r>
                  <a:rPr lang="en-US" sz="1500" dirty="0"/>
                  <a:t> </a:t>
                </a:r>
                <a:r>
                  <a:rPr lang="en-US" sz="1500" dirty="0" err="1"/>
                  <a:t>fondamentale</a:t>
                </a:r>
                <a:r>
                  <a:rPr lang="en-US" sz="1500" dirty="0"/>
                  <a:t> </a:t>
                </a:r>
                <a:r>
                  <a:rPr lang="en-US" sz="1500" dirty="0" err="1"/>
                  <a:t>vero</a:t>
                </a:r>
                <a:endParaRPr lang="en-US" sz="1500" dirty="0"/>
              </a:p>
            </p:txBody>
          </p:sp>
        </mc:Choice>
        <mc:Fallback xmlns="">
          <p:sp>
            <p:nvSpPr>
              <p:cNvPr id="8" name="Testo preparazione trimero">
                <a:extLst>
                  <a:ext uri="{FF2B5EF4-FFF2-40B4-BE49-F238E27FC236}">
                    <a16:creationId xmlns:a16="http://schemas.microsoft.com/office/drawing/2014/main" id="{505067FF-8756-102D-C3C1-5E6B2B24EA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463" y="2225751"/>
                <a:ext cx="10911535" cy="553998"/>
              </a:xfrm>
              <a:prstGeom prst="rect">
                <a:avLst/>
              </a:prstGeom>
              <a:blipFill>
                <a:blip r:embed="rId4"/>
                <a:stretch>
                  <a:fillRect t="-2198" b="-120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Circuito W-2q.6 trimero">
            <a:extLst>
              <a:ext uri="{FF2B5EF4-FFF2-40B4-BE49-F238E27FC236}">
                <a16:creationId xmlns:a16="http://schemas.microsoft.com/office/drawing/2014/main" id="{F7B5B225-88A3-5B3C-1336-0AA3661D68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5173" y="3171404"/>
            <a:ext cx="5571825" cy="2290057"/>
          </a:xfrm>
          <a:prstGeom prst="rect">
            <a:avLst/>
          </a:prstGeom>
        </p:spPr>
      </p:pic>
      <p:pic>
        <p:nvPicPr>
          <p:cNvPr id="12" name="Circuito RBS-2q.6 trimero">
            <a:extLst>
              <a:ext uri="{FF2B5EF4-FFF2-40B4-BE49-F238E27FC236}">
                <a16:creationId xmlns:a16="http://schemas.microsoft.com/office/drawing/2014/main" id="{5ED0C11D-CCC9-E8F0-7A2F-87A8DE0AE6B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538" y="3213350"/>
            <a:ext cx="5349299" cy="224811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Nota PMA esteso trimero">
                <a:extLst>
                  <a:ext uri="{FF2B5EF4-FFF2-40B4-BE49-F238E27FC236}">
                    <a16:creationId xmlns:a16="http://schemas.microsoft.com/office/drawing/2014/main" id="{D2943A68-9707-5CF2-981F-EBC027B2CA3D}"/>
                  </a:ext>
                </a:extLst>
              </p:cNvPr>
              <p:cNvSpPr txBox="1"/>
              <p:nvPr/>
            </p:nvSpPr>
            <p:spPr>
              <a:xfrm>
                <a:off x="787968" y="5689801"/>
                <a:ext cx="4818888" cy="7386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b="1" dirty="0">
                    <a:solidFill>
                      <a:srgbClr val="16233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RBS-2q.6 (PMA </a:t>
                </a:r>
                <a:r>
                  <a:rPr lang="en-US" sz="1400" b="1" dirty="0" err="1">
                    <a:solidFill>
                      <a:srgbClr val="16233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esteso</a:t>
                </a:r>
                <a:r>
                  <a:rPr lang="en-US" sz="1400" b="1" dirty="0">
                    <a:solidFill>
                      <a:srgbClr val="16233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- </a:t>
                </a:r>
                <a:r>
                  <a:rPr lang="en-US" sz="1400" b="1" dirty="0" err="1">
                    <a:solidFill>
                      <a:srgbClr val="16233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trimero</a:t>
                </a:r>
                <a:r>
                  <a:rPr lang="en-US" sz="1400" b="1" dirty="0">
                    <a:solidFill>
                      <a:srgbClr val="16233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)</a:t>
                </a:r>
                <a:r>
                  <a:rPr lang="en-US" sz="1400" b="1" dirty="0"/>
                  <a:t>: </a:t>
                </a:r>
                <a:r>
                  <a:rPr lang="en-US" sz="1400" dirty="0"/>
                  <a:t>RBS + </a:t>
                </a:r>
                <a:r>
                  <a:rPr lang="en-US" sz="1400" dirty="0" err="1"/>
                  <a:t>tre</a:t>
                </a:r>
                <a:r>
                  <a:rPr lang="en-US" sz="1400" dirty="0"/>
                  <a:t> </a:t>
                </a:r>
                <a:r>
                  <a:rPr lang="en-US" sz="1400" dirty="0" err="1"/>
                  <a:t>rotazioni</a:t>
                </a:r>
                <a:r>
                  <a:rPr lang="en-US" sz="1400" dirty="0"/>
                  <a:t> </a:t>
                </a:r>
                <a:r>
                  <a:rPr lang="en-US" sz="1400" dirty="0" err="1"/>
                  <a:t>indipendenti</a:t>
                </a:r>
                <a:r>
                  <a:rPr lang="en-US" sz="1400" dirty="0"/>
                  <a:t> sui </a:t>
                </a:r>
                <a:r>
                  <a:rPr lang="en-US" sz="1400" dirty="0" err="1"/>
                  <a:t>tre</a:t>
                </a:r>
                <a:r>
                  <a:rPr lang="en-US" sz="1400" dirty="0"/>
                  <a:t> </a:t>
                </a:r>
                <a:r>
                  <a:rPr lang="en-US" sz="1400" dirty="0" err="1"/>
                  <a:t>legami</a:t>
                </a:r>
                <a:r>
                  <a:rPr lang="en-US" sz="1400" dirty="0"/>
                  <a:t> del </a:t>
                </a:r>
                <a:r>
                  <a:rPr lang="en-US" sz="1400" dirty="0" err="1"/>
                  <a:t>triangolo</a:t>
                </a:r>
                <a:r>
                  <a:rPr lang="en-US" sz="1400" dirty="0"/>
                  <a:t> - </a:t>
                </a:r>
                <a:r>
                  <a:rPr lang="en-US" sz="1400" dirty="0" err="1"/>
                  <a:t>stessa</a:t>
                </a:r>
                <a:r>
                  <a:rPr lang="en-US" sz="1400" dirty="0"/>
                  <a:t> idea del </a:t>
                </a:r>
                <a:r>
                  <a:rPr lang="en-US" sz="1400" dirty="0" err="1"/>
                  <a:t>dimero</a:t>
                </a:r>
                <a:r>
                  <a:rPr lang="en-US" sz="1400" dirty="0"/>
                  <a:t>, </a:t>
                </a:r>
                <a:r>
                  <a:rPr lang="en-US" sz="1400" dirty="0" err="1"/>
                  <a:t>estesa</a:t>
                </a:r>
                <a:r>
                  <a:rPr lang="en-US" sz="1400" dirty="0"/>
                  <a:t> a </a:t>
                </a:r>
                <a:r>
                  <a:rPr lang="en-US" sz="1400" dirty="0" err="1"/>
                  <a:t>tre</a:t>
                </a:r>
                <a:r>
                  <a:rPr lang="en-US" sz="1400" dirty="0"/>
                  <a:t> spin: </a:t>
                </a:r>
                <a14:m>
                  <m:oMath xmlns:m="http://schemas.openxmlformats.org/officeDocument/2006/math">
                    <m:r>
                      <a:rPr lang="en-US" sz="1400">
                        <a:latin typeface="Cambria Math" panose="02040503050406030204" pitchFamily="18" charset="0"/>
                      </a:rPr>
                      <m:t>ℱ</m:t>
                    </m:r>
                    <m:r>
                      <a:rPr lang="en-US" sz="1400" b="0" i="0" smtClean="0">
                        <a:latin typeface="Cambria Math" panose="02040503050406030204" pitchFamily="18" charset="0"/>
                      </a:rPr>
                      <m:t> &lt; 1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15" name="Nota PMA esteso trimero">
                <a:extLst>
                  <a:ext uri="{FF2B5EF4-FFF2-40B4-BE49-F238E27FC236}">
                    <a16:creationId xmlns:a16="http://schemas.microsoft.com/office/drawing/2014/main" id="{D2943A68-9707-5CF2-981F-EBC027B2CA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968" y="5689801"/>
                <a:ext cx="4818888" cy="738664"/>
              </a:xfrm>
              <a:prstGeom prst="rect">
                <a:avLst/>
              </a:prstGeom>
              <a:blipFill>
                <a:blip r:embed="rId7"/>
                <a:stretch>
                  <a:fillRect l="-379" t="-820" b="-7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Nota PMA esteso trmero">
                <a:extLst>
                  <a:ext uri="{FF2B5EF4-FFF2-40B4-BE49-F238E27FC236}">
                    <a16:creationId xmlns:a16="http://schemas.microsoft.com/office/drawing/2014/main" id="{FCC1EC33-E840-6462-6166-E66176B5B039}"/>
                  </a:ext>
                </a:extLst>
              </p:cNvPr>
              <p:cNvSpPr txBox="1"/>
              <p:nvPr/>
            </p:nvSpPr>
            <p:spPr>
              <a:xfrm>
                <a:off x="6341641" y="5689801"/>
                <a:ext cx="481888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b="1" dirty="0">
                    <a:solidFill>
                      <a:srgbClr val="16233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W-2q.6 (</a:t>
                </a:r>
                <a:r>
                  <a:rPr lang="en-US" sz="1400" b="1" dirty="0" err="1">
                    <a:solidFill>
                      <a:srgbClr val="16233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circuito</a:t>
                </a:r>
                <a:r>
                  <a:rPr lang="en-US" sz="1400" b="1" dirty="0">
                    <a:solidFill>
                      <a:srgbClr val="16233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</a:t>
                </a:r>
                <a:r>
                  <a:rPr lang="en-US" sz="1400" b="1" dirty="0" err="1">
                    <a:solidFill>
                      <a:srgbClr val="16233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scelto</a:t>
                </a:r>
                <a:r>
                  <a:rPr lang="en-US" sz="1400" b="1" dirty="0">
                    <a:solidFill>
                      <a:srgbClr val="16233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- </a:t>
                </a:r>
                <a:r>
                  <a:rPr lang="en-US" sz="1400" b="1" dirty="0" err="1">
                    <a:solidFill>
                      <a:srgbClr val="16233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trimero</a:t>
                </a:r>
                <a:r>
                  <a:rPr lang="en-US" sz="1400" b="1" dirty="0">
                    <a:solidFill>
                      <a:srgbClr val="16233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)</a:t>
                </a:r>
                <a:r>
                  <a:rPr lang="en-US" sz="1400" b="1" dirty="0"/>
                  <a:t>: </a:t>
                </a:r>
                <a:r>
                  <a:rPr lang="en-US" sz="1400" dirty="0" err="1"/>
                  <a:t>Stessa</a:t>
                </a:r>
                <a:r>
                  <a:rPr lang="en-US" sz="1400" dirty="0"/>
                  <a:t> </a:t>
                </a:r>
                <a:r>
                  <a:rPr lang="en-US" sz="1400" dirty="0" err="1"/>
                  <a:t>struttura</a:t>
                </a:r>
                <a:r>
                  <a:rPr lang="en-US" sz="1400" dirty="0"/>
                  <a:t>, </a:t>
                </a:r>
                <a:r>
                  <a:rPr lang="en-US" sz="1400" dirty="0" err="1"/>
                  <a:t>blocco</a:t>
                </a:r>
                <a:r>
                  <a:rPr lang="en-US" sz="1400" dirty="0"/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US" sz="1400" dirty="0"/>
                  <a:t> al </a:t>
                </a:r>
                <a:r>
                  <a:rPr lang="en-US" sz="1400" dirty="0" err="1"/>
                  <a:t>posto</a:t>
                </a:r>
                <a:r>
                  <a:rPr lang="en-US" sz="1400" dirty="0"/>
                  <a:t> di RBS: </a:t>
                </a:r>
                <a14:m>
                  <m:oMath xmlns:m="http://schemas.openxmlformats.org/officeDocument/2006/math">
                    <m:r>
                      <a:rPr lang="en-US" sz="1400">
                        <a:latin typeface="Cambria Math" panose="02040503050406030204" pitchFamily="18" charset="0"/>
                      </a:rPr>
                      <m:t>ℱ</m:t>
                    </m:r>
                    <m:r>
                      <a:rPr lang="en-US" sz="140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17" name="Nota PMA esteso trmero">
                <a:extLst>
                  <a:ext uri="{FF2B5EF4-FFF2-40B4-BE49-F238E27FC236}">
                    <a16:creationId xmlns:a16="http://schemas.microsoft.com/office/drawing/2014/main" id="{FCC1EC33-E840-6462-6166-E66176B5B0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1641" y="5689801"/>
                <a:ext cx="4818888" cy="523220"/>
              </a:xfrm>
              <a:prstGeom prst="rect">
                <a:avLst/>
              </a:prstGeom>
              <a:blipFill>
                <a:blip r:embed="rId8"/>
                <a:stretch>
                  <a:fillRect l="-379" t="-1163" b="-116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2E8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RISULTATI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83028" y="713232"/>
            <a:ext cx="1089921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Dimero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83029" y="2132507"/>
            <a:ext cx="4772165" cy="1654107"/>
          </a:xfrm>
          <a:prstGeom prst="roundRect">
            <a:avLst>
              <a:gd name="adj" fmla="val 3846"/>
            </a:avLst>
          </a:prstGeom>
          <a:solidFill>
            <a:srgbClr val="F2F5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 txBox="1"/>
          <p:nvPr/>
        </p:nvSpPr>
        <p:spPr>
          <a:xfrm>
            <a:off x="6930068" y="6363293"/>
            <a:ext cx="4326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degradazione dipende anche da D, non solo </a:t>
            </a:r>
            <a:r>
              <a:rPr lang="en-US" sz="1150" i="1" dirty="0" err="1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dalla</a:t>
            </a:r>
            <a:r>
              <a:rPr lang="en-US" sz="115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i="1" dirty="0" err="1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vicinanza</a:t>
            </a:r>
            <a:r>
              <a:rPr lang="en-US" sz="115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all'incrocio</a:t>
            </a:r>
            <a:endParaRPr lang="en-US" sz="1150" dirty="0"/>
          </a:p>
        </p:txBody>
      </p:sp>
      <p:pic>
        <p:nvPicPr>
          <p:cNvPr id="16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61648" y="3866713"/>
            <a:ext cx="4824656" cy="2991287"/>
          </a:xfrm>
          <a:prstGeom prst="rect">
            <a:avLst/>
          </a:prstGeom>
        </p:spPr>
      </p:pic>
      <p:sp>
        <p:nvSpPr>
          <p:cNvPr id="17" name="Shape 9">
            <a:extLst>
              <a:ext uri="{FF2B5EF4-FFF2-40B4-BE49-F238E27FC236}">
                <a16:creationId xmlns:a16="http://schemas.microsoft.com/office/drawing/2014/main" id="{488AC17E-E47C-B563-1AFB-E9465463B42C}"/>
              </a:ext>
            </a:extLst>
          </p:cNvPr>
          <p:cNvSpPr/>
          <p:nvPr/>
        </p:nvSpPr>
        <p:spPr>
          <a:xfrm>
            <a:off x="6693156" y="2132507"/>
            <a:ext cx="4800600" cy="1667487"/>
          </a:xfrm>
          <a:prstGeom prst="roundRect">
            <a:avLst>
              <a:gd name="adj" fmla="val 6061"/>
            </a:avLst>
          </a:prstGeom>
          <a:solidFill>
            <a:srgbClr val="F2F5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0">
            <a:extLst>
              <a:ext uri="{FF2B5EF4-FFF2-40B4-BE49-F238E27FC236}">
                <a16:creationId xmlns:a16="http://schemas.microsoft.com/office/drawing/2014/main" id="{DD0AA3B3-009A-1CDA-FC09-2F110BD262B8}"/>
              </a:ext>
            </a:extLst>
          </p:cNvPr>
          <p:cNvSpPr txBox="1"/>
          <p:nvPr/>
        </p:nvSpPr>
        <p:spPr>
          <a:xfrm>
            <a:off x="974634" y="2204874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di </a:t>
            </a:r>
            <a:r>
              <a:rPr lang="en-US" sz="1500" b="1" dirty="0" err="1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incrocio</a:t>
            </a:r>
            <a:r>
              <a:rPr lang="en-US" sz="1500" b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b="1" dirty="0" err="1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b_c</a:t>
            </a:r>
            <a:endParaRPr lang="en-US" sz="1500" dirty="0"/>
          </a:p>
        </p:txBody>
      </p:sp>
      <p:sp>
        <p:nvSpPr>
          <p:cNvPr id="20" name="Text 12">
            <a:extLst>
              <a:ext uri="{FF2B5EF4-FFF2-40B4-BE49-F238E27FC236}">
                <a16:creationId xmlns:a16="http://schemas.microsoft.com/office/drawing/2014/main" id="{DE642882-4920-C1DD-C760-857BEC43D5FF}"/>
              </a:ext>
            </a:extLst>
          </p:cNvPr>
          <p:cNvSpPr txBox="1"/>
          <p:nvPr/>
        </p:nvSpPr>
        <p:spPr>
          <a:xfrm>
            <a:off x="4277705" y="2930649"/>
            <a:ext cx="11774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 err="1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Minimo</a:t>
            </a:r>
            <a:r>
              <a:rPr lang="en-US" sz="115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i="1" dirty="0" err="1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assoluto</a:t>
            </a:r>
            <a:endParaRPr lang="en-US" sz="1150" dirty="0"/>
          </a:p>
        </p:txBody>
      </p:sp>
      <p:sp>
        <p:nvSpPr>
          <p:cNvPr id="25" name="Text 4">
            <a:extLst>
              <a:ext uri="{FF2B5EF4-FFF2-40B4-BE49-F238E27FC236}">
                <a16:creationId xmlns:a16="http://schemas.microsoft.com/office/drawing/2014/main" id="{9C1EF0B7-F5C7-5CAB-D386-063FB5455466}"/>
              </a:ext>
            </a:extLst>
          </p:cNvPr>
          <p:cNvSpPr txBox="1"/>
          <p:nvPr/>
        </p:nvSpPr>
        <p:spPr>
          <a:xfrm>
            <a:off x="974634" y="253405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b/J = 0.2,  D/J = 0.2</a:t>
            </a:r>
            <a:endParaRPr lang="en-US" sz="1300" dirty="0"/>
          </a:p>
        </p:txBody>
      </p:sp>
      <p:sp>
        <p:nvSpPr>
          <p:cNvPr id="26" name="Text 6">
            <a:extLst>
              <a:ext uri="{FF2B5EF4-FFF2-40B4-BE49-F238E27FC236}">
                <a16:creationId xmlns:a16="http://schemas.microsoft.com/office/drawing/2014/main" id="{589AEB8D-7E20-4EE9-583F-AAF655D143C6}"/>
              </a:ext>
            </a:extLst>
          </p:cNvPr>
          <p:cNvSpPr txBox="1"/>
          <p:nvPr/>
        </p:nvSpPr>
        <p:spPr>
          <a:xfrm>
            <a:off x="975360" y="2838942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 (6 par.):  F = 1.000000</a:t>
            </a:r>
            <a:endParaRPr lang="en-US" sz="1350" dirty="0"/>
          </a:p>
        </p:txBody>
      </p:sp>
      <p:sp>
        <p:nvSpPr>
          <p:cNvPr id="27" name="Text 7">
            <a:extLst>
              <a:ext uri="{FF2B5EF4-FFF2-40B4-BE49-F238E27FC236}">
                <a16:creationId xmlns:a16="http://schemas.microsoft.com/office/drawing/2014/main" id="{2CBC856D-E0D5-332F-2C6A-5028E5F70E25}"/>
              </a:ext>
            </a:extLst>
          </p:cNvPr>
          <p:cNvSpPr txBox="1"/>
          <p:nvPr/>
        </p:nvSpPr>
        <p:spPr>
          <a:xfrm>
            <a:off x="975360" y="3149416"/>
            <a:ext cx="31477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PMA base (1 par.):  F = 0.701</a:t>
            </a:r>
            <a:endParaRPr lang="en-US" sz="1350" dirty="0"/>
          </a:p>
        </p:txBody>
      </p:sp>
      <p:sp>
        <p:nvSpPr>
          <p:cNvPr id="28" name="Text 8">
            <a:extLst>
              <a:ext uri="{FF2B5EF4-FFF2-40B4-BE49-F238E27FC236}">
                <a16:creationId xmlns:a16="http://schemas.microsoft.com/office/drawing/2014/main" id="{7916E202-C893-D83E-E888-CD095B062221}"/>
              </a:ext>
            </a:extLst>
          </p:cNvPr>
          <p:cNvSpPr txBox="1"/>
          <p:nvPr/>
        </p:nvSpPr>
        <p:spPr>
          <a:xfrm>
            <a:off x="975360" y="3459468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PMA esteso (3 par.):  F = 1.000000 (12 </a:t>
            </a:r>
            <a:r>
              <a:rPr lang="en-US" sz="1350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cifre</a:t>
            </a:r>
            <a:r>
              <a:rPr lang="en-US" sz="13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350" dirty="0"/>
          </a:p>
        </p:txBody>
      </p:sp>
      <p:sp>
        <p:nvSpPr>
          <p:cNvPr id="29" name="Text 3"/>
          <p:cNvSpPr txBox="1"/>
          <p:nvPr/>
        </p:nvSpPr>
        <p:spPr>
          <a:xfrm>
            <a:off x="7056145" y="222316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di </a:t>
            </a:r>
            <a:r>
              <a:rPr lang="en-US" sz="1500" b="1" dirty="0" err="1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lavoro</a:t>
            </a:r>
            <a:endParaRPr lang="en-US" sz="1500" dirty="0"/>
          </a:p>
        </p:txBody>
      </p:sp>
      <p:sp>
        <p:nvSpPr>
          <p:cNvPr id="30" name="Text 4"/>
          <p:cNvSpPr txBox="1"/>
          <p:nvPr/>
        </p:nvSpPr>
        <p:spPr>
          <a:xfrm>
            <a:off x="7056145" y="253405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b/J = 0.35,  D/J = 0.80</a:t>
            </a:r>
            <a:endParaRPr lang="en-US" sz="1300" dirty="0"/>
          </a:p>
        </p:txBody>
      </p:sp>
      <p:sp>
        <p:nvSpPr>
          <p:cNvPr id="31" name="Text 6"/>
          <p:cNvSpPr txBox="1"/>
          <p:nvPr/>
        </p:nvSpPr>
        <p:spPr>
          <a:xfrm>
            <a:off x="7040728" y="2838942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 (6 par.):  F = 1.000000</a:t>
            </a:r>
            <a:endParaRPr lang="en-US" sz="1350" dirty="0"/>
          </a:p>
        </p:txBody>
      </p:sp>
      <p:sp>
        <p:nvSpPr>
          <p:cNvPr id="32" name="Text 7"/>
          <p:cNvSpPr txBox="1"/>
          <p:nvPr/>
        </p:nvSpPr>
        <p:spPr>
          <a:xfrm>
            <a:off x="7056145" y="3149416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PMA base (1 par.):  F = 0.940</a:t>
            </a:r>
            <a:endParaRPr lang="en-US" sz="1350" dirty="0"/>
          </a:p>
        </p:txBody>
      </p:sp>
      <p:sp>
        <p:nvSpPr>
          <p:cNvPr id="33" name="Text 8"/>
          <p:cNvSpPr txBox="1"/>
          <p:nvPr/>
        </p:nvSpPr>
        <p:spPr>
          <a:xfrm>
            <a:off x="7034671" y="345698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PMA esteso (3 par.):  F = 1.000000 (12 </a:t>
            </a:r>
            <a:r>
              <a:rPr lang="en-US" sz="1350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cifre</a:t>
            </a:r>
            <a:r>
              <a:rPr lang="en-US" sz="13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35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93838D7-7D73-76E0-9DD6-9FB484B859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4844" y="3929150"/>
            <a:ext cx="4361066" cy="2565333"/>
          </a:xfrm>
          <a:prstGeom prst="rect">
            <a:avLst/>
          </a:prstGeom>
        </p:spPr>
      </p:pic>
      <p:sp>
        <p:nvSpPr>
          <p:cNvPr id="7" name="Shape 2">
            <a:extLst>
              <a:ext uri="{FF2B5EF4-FFF2-40B4-BE49-F238E27FC236}">
                <a16:creationId xmlns:a16="http://schemas.microsoft.com/office/drawing/2014/main" id="{DCA06EA8-36E8-D670-F396-71CA9D378364}"/>
              </a:ext>
            </a:extLst>
          </p:cNvPr>
          <p:cNvSpPr/>
          <p:nvPr/>
        </p:nvSpPr>
        <p:spPr>
          <a:xfrm>
            <a:off x="655295" y="1431627"/>
            <a:ext cx="10911535" cy="530352"/>
          </a:xfrm>
          <a:prstGeom prst="roundRect">
            <a:avLst>
              <a:gd name="adj" fmla="val 13793"/>
            </a:avLst>
          </a:prstGeom>
          <a:solidFill>
            <a:srgbClr val="F2F5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itle Circuito Trimero">
            <a:extLst>
              <a:ext uri="{FF2B5EF4-FFF2-40B4-BE49-F238E27FC236}">
                <a16:creationId xmlns:a16="http://schemas.microsoft.com/office/drawing/2014/main" id="{78B8907C-D744-5EDC-938C-7982696992D8}"/>
              </a:ext>
            </a:extLst>
          </p:cNvPr>
          <p:cNvSpPr txBox="1"/>
          <p:nvPr/>
        </p:nvSpPr>
        <p:spPr>
          <a:xfrm>
            <a:off x="609753" y="1489054"/>
            <a:ext cx="10911535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100" b="1" i="1" dirty="0" err="1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Confronto</a:t>
            </a:r>
            <a:r>
              <a:rPr lang="en-US" sz="2100" b="1" i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Ansatz e </a:t>
            </a:r>
            <a:r>
              <a:rPr lang="en-US" sz="2100" b="1" i="1" dirty="0" err="1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sensibilità</a:t>
            </a:r>
            <a:r>
              <a:rPr lang="en-US" sz="2100" b="1" i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 </a:t>
            </a:r>
            <a:r>
              <a:rPr lang="en-US" sz="2100" b="1" i="1" dirty="0" err="1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termine</a:t>
            </a:r>
            <a:r>
              <a:rPr lang="en-US" sz="2100" b="1" i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DM</a:t>
            </a:r>
            <a:endParaRPr lang="en-US" i="1" dirty="0"/>
          </a:p>
        </p:txBody>
      </p:sp>
      <p:sp>
        <p:nvSpPr>
          <p:cNvPr id="19" name="Text 12">
            <a:extLst>
              <a:ext uri="{FF2B5EF4-FFF2-40B4-BE49-F238E27FC236}">
                <a16:creationId xmlns:a16="http://schemas.microsoft.com/office/drawing/2014/main" id="{EFB4FAC2-0E80-E610-7ECF-FBA3D1B90421}"/>
              </a:ext>
            </a:extLst>
          </p:cNvPr>
          <p:cNvSpPr txBox="1"/>
          <p:nvPr/>
        </p:nvSpPr>
        <p:spPr>
          <a:xfrm>
            <a:off x="9532686" y="2303016"/>
            <a:ext cx="1961070" cy="7172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 err="1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Scelto</a:t>
            </a:r>
            <a:r>
              <a:rPr lang="en-US" sz="115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</a:t>
            </a:r>
            <a:r>
              <a:rPr lang="en-US" sz="1150" i="1" dirty="0" err="1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dimostrare</a:t>
            </a:r>
            <a:r>
              <a:rPr lang="en-US" sz="115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i="1" dirty="0" err="1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</a:t>
            </a:r>
            <a:r>
              <a:rPr lang="en-US" sz="115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il </a:t>
            </a:r>
            <a:r>
              <a:rPr lang="en-US" sz="1150" i="1" dirty="0" err="1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</a:t>
            </a:r>
            <a:r>
              <a:rPr lang="en-US" sz="115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 PMA base non è solo un </a:t>
            </a:r>
            <a:r>
              <a:rPr lang="en-US" sz="1150" i="1" dirty="0" err="1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</a:t>
            </a:r>
            <a:r>
              <a:rPr lang="en-US" sz="115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 </a:t>
            </a:r>
            <a:r>
              <a:rPr lang="en-US" sz="1150" i="1" dirty="0" err="1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vicinanza</a:t>
            </a:r>
            <a:r>
              <a:rPr lang="en-US" sz="115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</a:t>
            </a:r>
            <a:r>
              <a:rPr lang="en-US" sz="1150" i="1" dirty="0" err="1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b_c</a:t>
            </a:r>
            <a:endParaRPr lang="en-US" sz="1150" dirty="0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2E8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RISULTATI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Trimero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610043" y="4061861"/>
            <a:ext cx="4713316" cy="2627697"/>
          </a:xfrm>
          <a:prstGeom prst="roundRect">
            <a:avLst>
              <a:gd name="adj" fmla="val 4255"/>
            </a:avLst>
          </a:prstGeom>
          <a:solidFill>
            <a:srgbClr val="F2F5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6928658" y="4196168"/>
            <a:ext cx="43184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di lavoro principale del trimero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928658" y="4507064"/>
            <a:ext cx="43184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b/J = b_c = 2.4,  D/J = 0.15,  Opzione B del termine DM accesa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928658" y="4827104"/>
            <a:ext cx="43184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RBS-2q.6:  F = 0.9999110739	(6 CNOT, 46 gate 1q)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928658" y="5174576"/>
            <a:ext cx="43184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W-2q.6:  F = 0.9999999999999996	(6 CNOT, 25 gate 1q)</a:t>
            </a:r>
            <a:endParaRPr lang="en-US" sz="1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8783030-0AB6-584A-1A10-A7EAB55AE0A9}"/>
                  </a:ext>
                </a:extLst>
              </p:cNvPr>
              <p:cNvSpPr txBox="1"/>
              <p:nvPr/>
            </p:nvSpPr>
            <p:spPr>
              <a:xfrm>
                <a:off x="6608619" y="2546182"/>
                <a:ext cx="4638501" cy="13849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/>
                <a:r>
                  <a:rPr lang="en-US" sz="1400" dirty="0"/>
                  <a:t>Con </a:t>
                </a:r>
                <a14:m>
                  <m:oMath xmlns:m="http://schemas.openxmlformats.org/officeDocument/2006/math">
                    <m:r>
                      <a:rPr lang="en-US" sz="1400" i="1" dirty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1400" dirty="0">
                        <a:latin typeface="Cambria Math" panose="02040503050406030204" pitchFamily="18" charset="0"/>
                      </a:rPr>
                      <m:t>′/</m:t>
                    </m:r>
                    <m:r>
                      <a:rPr lang="en-US" sz="1400" i="1" dirty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1400" dirty="0">
                        <a:latin typeface="Cambria Math" panose="02040503050406030204" pitchFamily="18" charset="0"/>
                      </a:rPr>
                      <m:t>=0.4 </m:t>
                    </m:r>
                  </m:oMath>
                </a14:m>
                <a:r>
                  <a:rPr lang="en-US" sz="1400" dirty="0" err="1"/>
                  <a:t>fissato</a:t>
                </a:r>
                <a:r>
                  <a:rPr lang="en-US" sz="1400" dirty="0"/>
                  <a:t> (</a:t>
                </a:r>
                <a:r>
                  <a:rPr lang="en-US" sz="1400" dirty="0" err="1"/>
                  <a:t>triangolo</a:t>
                </a:r>
                <a:r>
                  <a:rPr lang="en-US" sz="1400" dirty="0"/>
                  <a:t> </a:t>
                </a:r>
                <a:r>
                  <a:rPr lang="en-US" sz="1400" dirty="0" err="1"/>
                  <a:t>isoscele</a:t>
                </a:r>
                <a:r>
                  <a:rPr lang="en-US" sz="1400" dirty="0"/>
                  <a:t>)</a:t>
                </a:r>
              </a:p>
              <a:p>
                <a:pPr lvl="0"/>
                <a:endParaRPr lang="en-US" sz="1400" dirty="0"/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1400" b="1" dirty="0" err="1"/>
                  <a:t>Opzione</a:t>
                </a:r>
                <a:r>
                  <a:rPr lang="en-US" sz="1400" b="1" dirty="0"/>
                  <a:t> B</a:t>
                </a:r>
                <a:r>
                  <a:rPr lang="en-US" sz="1400" dirty="0"/>
                  <a:t>: </a:t>
                </a:r>
                <a:r>
                  <a:rPr lang="en-US" sz="1400" dirty="0" err="1"/>
                  <a:t>apro</a:t>
                </a:r>
                <a:r>
                  <a:rPr lang="en-US" sz="1400" dirty="0"/>
                  <a:t> </a:t>
                </a:r>
                <a:r>
                  <a:rPr lang="en-US" sz="1400" dirty="0" err="1"/>
                  <a:t>l’incrocio</a:t>
                </a:r>
                <a:r>
                  <a:rPr lang="en-US" sz="1400" dirty="0"/>
                  <a:t> </a:t>
                </a:r>
                <a14:m>
                  <m:oMath xmlns:m="http://schemas.openxmlformats.org/officeDocument/2006/math">
                    <m:r>
                      <a:rPr lang="en-US" sz="1400" dirty="0" smtClean="0">
                        <a:latin typeface="Cambria Math" panose="02040503050406030204" pitchFamily="18" charset="0"/>
                      </a:rPr>
                      <m:t>1.379</m:t>
                    </m:r>
                    <m:r>
                      <a:rPr lang="en-US" sz="14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4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4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400" i="1" dirty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sz="1400" i="0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400" i="1" dirty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1400" i="0" dirty="0">
                        <a:latin typeface="Cambria Math" panose="02040503050406030204" pitchFamily="18" charset="0"/>
                      </a:rPr>
                      <m:t>=0.15</m:t>
                    </m:r>
                    <m:r>
                      <a:rPr lang="en-US" sz="1400" i="1" dirty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sz="1400" i="0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400" i="1" dirty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1400" i="0" dirty="0">
                        <a:latin typeface="Cambria Math" panose="02040503050406030204" pitchFamily="18" charset="0"/>
                      </a:rPr>
                      <m:t>=0.15</m:t>
                    </m:r>
                  </m:oMath>
                </a14:m>
                <a:br>
                  <a:rPr lang="en-US" sz="1400" dirty="0"/>
                </a:br>
                <a:endParaRPr lang="en-US" sz="1400" dirty="0"/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1400" dirty="0" err="1"/>
                  <a:t>Opzione</a:t>
                </a:r>
                <a:r>
                  <a:rPr lang="en-US" sz="1400" dirty="0"/>
                  <a:t> A: </a:t>
                </a:r>
                <a:r>
                  <a:rPr lang="en-US" sz="1400" dirty="0" err="1"/>
                  <a:t>lascia</a:t>
                </a:r>
                <a:r>
                  <a:rPr lang="en-US" sz="1400" dirty="0"/>
                  <a:t> </a:t>
                </a:r>
                <a:r>
                  <a:rPr lang="en-US" sz="1400" dirty="0" err="1"/>
                  <a:t>l'incrocio</a:t>
                </a:r>
                <a:r>
                  <a:rPr lang="en-US" sz="1400" dirty="0"/>
                  <a:t> </a:t>
                </a:r>
                <a:r>
                  <a:rPr lang="en-US" sz="1400" dirty="0" err="1"/>
                  <a:t>protetto</a:t>
                </a:r>
                <a:r>
                  <a:rPr lang="en-US" sz="1400" dirty="0"/>
                  <a:t> (</a:t>
                </a:r>
                <a:r>
                  <a:rPr lang="en-US" sz="1400" dirty="0" err="1"/>
                  <a:t>degenere</a:t>
                </a:r>
                <a:r>
                  <a:rPr lang="en-US" sz="1400" dirty="0"/>
                  <a:t>).</a:t>
                </a:r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8783030-0AB6-584A-1A10-A7EAB55AE0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8619" y="2546182"/>
                <a:ext cx="4638501" cy="1384995"/>
              </a:xfrm>
              <a:prstGeom prst="rect">
                <a:avLst/>
              </a:prstGeom>
              <a:blipFill>
                <a:blip r:embed="rId3"/>
                <a:stretch>
                  <a:fillRect l="-394" t="-881" b="-35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5" name="Picture 24">
            <a:extLst>
              <a:ext uri="{FF2B5EF4-FFF2-40B4-BE49-F238E27FC236}">
                <a16:creationId xmlns:a16="http://schemas.microsoft.com/office/drawing/2014/main" id="{5F764549-A077-63FC-B4DD-AC37CEFB65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160" y="2471374"/>
            <a:ext cx="5602778" cy="3465629"/>
          </a:xfrm>
          <a:prstGeom prst="rect">
            <a:avLst/>
          </a:prstGeom>
        </p:spPr>
      </p:pic>
      <p:sp>
        <p:nvSpPr>
          <p:cNvPr id="10" name="Shape 2">
            <a:extLst>
              <a:ext uri="{FF2B5EF4-FFF2-40B4-BE49-F238E27FC236}">
                <a16:creationId xmlns:a16="http://schemas.microsoft.com/office/drawing/2014/main" id="{405D4814-7FB0-F6F3-BD08-8B1E1408FC32}"/>
              </a:ext>
            </a:extLst>
          </p:cNvPr>
          <p:cNvSpPr/>
          <p:nvPr/>
        </p:nvSpPr>
        <p:spPr>
          <a:xfrm>
            <a:off x="652702" y="1487975"/>
            <a:ext cx="10911535" cy="530352"/>
          </a:xfrm>
          <a:prstGeom prst="roundRect">
            <a:avLst>
              <a:gd name="adj" fmla="val 13793"/>
            </a:avLst>
          </a:prstGeom>
          <a:solidFill>
            <a:srgbClr val="F2F5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itle Circuito Trimero">
            <a:extLst>
              <a:ext uri="{FF2B5EF4-FFF2-40B4-BE49-F238E27FC236}">
                <a16:creationId xmlns:a16="http://schemas.microsoft.com/office/drawing/2014/main" id="{AB384EB5-91B4-CBDD-4734-971D8915613D}"/>
              </a:ext>
            </a:extLst>
          </p:cNvPr>
          <p:cNvSpPr txBox="1"/>
          <p:nvPr/>
        </p:nvSpPr>
        <p:spPr>
          <a:xfrm>
            <a:off x="607160" y="1545402"/>
            <a:ext cx="10911535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100" b="1" i="1" dirty="0" err="1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Scelta</a:t>
            </a:r>
            <a:r>
              <a:rPr lang="en-US" sz="2100" b="1" i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 </a:t>
            </a:r>
            <a:r>
              <a:rPr lang="en-US" sz="2100" b="1" i="1" dirty="0" err="1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termine</a:t>
            </a:r>
            <a:r>
              <a:rPr lang="en-US" sz="2100" b="1" i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DM</a:t>
            </a:r>
            <a:endParaRPr lang="en-US" i="1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67F23BEF-CFFA-93BC-76F7-DA73099C4F75}"/>
              </a:ext>
            </a:extLst>
          </p:cNvPr>
          <p:cNvSpPr txBox="1"/>
          <p:nvPr/>
        </p:nvSpPr>
        <p:spPr>
          <a:xfrm>
            <a:off x="6928658" y="5865422"/>
            <a:ext cx="4121144" cy="4396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 err="1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Scelto</a:t>
            </a:r>
            <a:r>
              <a:rPr lang="en-US" sz="115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i="1" dirty="0" err="1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esattamente</a:t>
            </a:r>
            <a:r>
              <a:rPr lang="en-US" sz="115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i="1" dirty="0" err="1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sull’incrocio</a:t>
            </a:r>
            <a:r>
              <a:rPr lang="en-US" sz="115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È il punto </a:t>
            </a:r>
            <a:r>
              <a:rPr lang="en-US" sz="1150" i="1" dirty="0" err="1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</a:t>
            </a:r>
            <a:r>
              <a:rPr lang="en-US" sz="115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i="1" dirty="0" err="1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delcato</a:t>
            </a:r>
            <a:r>
              <a:rPr lang="en-US" sz="115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il VQE, </a:t>
            </a:r>
            <a:r>
              <a:rPr lang="en-US" sz="1150" i="1" dirty="0" err="1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quindi</a:t>
            </a:r>
            <a:r>
              <a:rPr lang="en-US" sz="115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il test </a:t>
            </a:r>
            <a:r>
              <a:rPr lang="en-US" sz="1150" i="1" dirty="0" err="1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</a:t>
            </a:r>
            <a:r>
              <a:rPr lang="en-US" sz="115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i="1" dirty="0" err="1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severo</a:t>
            </a:r>
            <a:r>
              <a:rPr lang="en-US" sz="115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2E8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RISULTATI</a:t>
            </a:r>
            <a:endParaRPr lang="en-US" sz="1300" dirty="0"/>
          </a:p>
        </p:txBody>
      </p:sp>
      <p:sp>
        <p:nvSpPr>
          <p:cNvPr id="12" name="VQE - Ansatz">
            <a:extLst>
              <a:ext uri="{FF2B5EF4-FFF2-40B4-BE49-F238E27FC236}">
                <a16:creationId xmlns:a16="http://schemas.microsoft.com/office/drawing/2014/main" id="{5F79BB14-D1EB-7791-7349-0B3851189112}"/>
              </a:ext>
            </a:extLst>
          </p:cNvPr>
          <p:cNvSpPr txBox="1"/>
          <p:nvPr/>
        </p:nvSpPr>
        <p:spPr>
          <a:xfrm>
            <a:off x="640080" y="713232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600" b="1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Simulazione</a:t>
            </a:r>
            <a:r>
              <a:rPr lang="en-US" sz="36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600" b="1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Statica</a:t>
            </a:r>
            <a:endParaRPr lang="en-US" sz="360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3A09C46F-1D81-6637-ED9D-5535D92130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82411" y="2148840"/>
            <a:ext cx="4507586" cy="3393948"/>
          </a:xfrm>
          <a:prstGeom prst="rect">
            <a:avLst/>
          </a:prstGeom>
        </p:spPr>
      </p:pic>
      <p:sp>
        <p:nvSpPr>
          <p:cNvPr id="20" name="Shape 2">
            <a:extLst>
              <a:ext uri="{FF2B5EF4-FFF2-40B4-BE49-F238E27FC236}">
                <a16:creationId xmlns:a16="http://schemas.microsoft.com/office/drawing/2014/main" id="{F4718F5B-C55B-64DF-D81B-F8C8C54FCCF3}"/>
              </a:ext>
            </a:extLst>
          </p:cNvPr>
          <p:cNvSpPr/>
          <p:nvPr/>
        </p:nvSpPr>
        <p:spPr>
          <a:xfrm>
            <a:off x="652779" y="1490472"/>
            <a:ext cx="10911535" cy="530352"/>
          </a:xfrm>
          <a:prstGeom prst="roundRect">
            <a:avLst>
              <a:gd name="adj" fmla="val 13793"/>
            </a:avLst>
          </a:prstGeom>
          <a:solidFill>
            <a:srgbClr val="F2F5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Primitive a due qubit">
            <a:extLst>
              <a:ext uri="{FF2B5EF4-FFF2-40B4-BE49-F238E27FC236}">
                <a16:creationId xmlns:a16="http://schemas.microsoft.com/office/drawing/2014/main" id="{F1723D25-7A93-CFC7-BD25-4E48F41785D7}"/>
              </a:ext>
            </a:extLst>
          </p:cNvPr>
          <p:cNvSpPr txBox="1"/>
          <p:nvPr/>
        </p:nvSpPr>
        <p:spPr>
          <a:xfrm>
            <a:off x="652778" y="1490472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100" b="1" i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Livelli di </a:t>
            </a:r>
            <a:r>
              <a:rPr lang="en-US" sz="2100" b="1" i="1" dirty="0" err="1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energia</a:t>
            </a:r>
            <a:r>
              <a:rPr lang="en-US" sz="2100" b="1" i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2100" b="1" i="1" dirty="0" err="1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approssimazione</a:t>
            </a:r>
            <a:r>
              <a:rPr lang="en-US" sz="2100" b="1" i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VQE e gap</a:t>
            </a:r>
            <a:endParaRPr lang="en-US" sz="2100" i="1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CB885715-53D8-A5AD-AE37-C85FD523B19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700337" y="2148840"/>
            <a:ext cx="4370992" cy="3393947"/>
          </a:xfrm>
          <a:prstGeom prst="rect">
            <a:avLst/>
          </a:prstGeom>
        </p:spPr>
      </p:pic>
      <p:graphicFrame>
        <p:nvGraphicFramePr>
          <p:cNvPr id="28" name="Table 0">
            <a:extLst>
              <a:ext uri="{FF2B5EF4-FFF2-40B4-BE49-F238E27FC236}">
                <a16:creationId xmlns:a16="http://schemas.microsoft.com/office/drawing/2014/main" id="{7C30B9A2-D73B-A487-8EDD-4C2653116E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3662680"/>
              </p:ext>
            </p:extLst>
          </p:nvPr>
        </p:nvGraphicFramePr>
        <p:xfrm>
          <a:off x="6126481" y="5542788"/>
          <a:ext cx="5437829" cy="1203960"/>
        </p:xfrm>
        <a:graphic>
          <a:graphicData uri="http://schemas.openxmlformats.org/drawingml/2006/table">
            <a:tbl>
              <a:tblPr/>
              <a:tblGrid>
                <a:gridCol w="5924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12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126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139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48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4668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565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S₁₂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Energia (b=0)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Valore (J=1,J'=0.4)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 (M)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414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3/2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 + 2J'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+3/2, +1/2, −1/2, −3/2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414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 − 4J'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+1/2, −1/2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414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−3J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+1/2, −1/2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32" name="Table 0">
            <a:extLst>
              <a:ext uri="{FF2B5EF4-FFF2-40B4-BE49-F238E27FC236}">
                <a16:creationId xmlns:a16="http://schemas.microsoft.com/office/drawing/2014/main" id="{3A297860-CA20-BB7D-CC53-DBD5D8A49B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9294698"/>
              </p:ext>
            </p:extLst>
          </p:nvPr>
        </p:nvGraphicFramePr>
        <p:xfrm>
          <a:off x="498764" y="5542788"/>
          <a:ext cx="4381243" cy="1203960"/>
        </p:xfrm>
        <a:graphic>
          <a:graphicData uri="http://schemas.openxmlformats.org/drawingml/2006/table">
            <a:tbl>
              <a:tblPr/>
              <a:tblGrid>
                <a:gridCol w="8077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72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11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667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4832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3011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Valore (J=1)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 (M)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011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Tripletto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 + 2bM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dipende da 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 0, −1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37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Singoletto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−3J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−3.0 (costante)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28CF0F13-CB84-B142-9213-F65E40667424}"/>
                  </a:ext>
                </a:extLst>
              </p:cNvPr>
              <p:cNvSpPr txBox="1"/>
              <p:nvPr/>
            </p:nvSpPr>
            <p:spPr>
              <a:xfrm>
                <a:off x="4962700" y="2577353"/>
                <a:ext cx="1596637" cy="24622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 err="1"/>
                  <a:t>Attivando</a:t>
                </a:r>
                <a:r>
                  <a:rPr lang="en-US" sz="1100" dirty="0"/>
                  <a:t> il </a:t>
                </a:r>
                <a:r>
                  <a:rPr lang="en-US" sz="1100" dirty="0" err="1"/>
                  <a:t>termine</a:t>
                </a:r>
                <a:r>
                  <a:rPr lang="en-US" sz="1100" dirty="0"/>
                  <a:t> DM, il punto in cui </a:t>
                </a:r>
                <a:r>
                  <a:rPr lang="en-US" sz="1100" dirty="0" err="1"/>
                  <a:t>i</a:t>
                </a:r>
                <a:r>
                  <a:rPr lang="en-US" sz="1100" dirty="0"/>
                  <a:t> due </a:t>
                </a:r>
                <a:r>
                  <a:rPr lang="en-US" sz="1100" dirty="0" err="1"/>
                  <a:t>livelli</a:t>
                </a:r>
                <a:r>
                  <a:rPr lang="en-US" sz="1100" dirty="0"/>
                  <a:t> </a:t>
                </a:r>
                <a:r>
                  <a:rPr lang="en-US" sz="1100" dirty="0" err="1"/>
                  <a:t>restano</a:t>
                </a:r>
                <a:r>
                  <a:rPr lang="en-US" sz="1100" dirty="0"/>
                  <a:t> </a:t>
                </a:r>
                <a:r>
                  <a:rPr lang="en-US" sz="1100" dirty="0" err="1"/>
                  <a:t>più</a:t>
                </a:r>
                <a:r>
                  <a:rPr lang="en-US" sz="1100" dirty="0"/>
                  <a:t> </a:t>
                </a:r>
                <a:r>
                  <a:rPr lang="en-US" sz="1100" dirty="0" err="1"/>
                  <a:t>vicini</a:t>
                </a:r>
                <a:r>
                  <a:rPr lang="en-US" sz="1100" dirty="0"/>
                  <a:t> </a:t>
                </a:r>
                <a:r>
                  <a:rPr lang="en-US" sz="1100" dirty="0" err="1"/>
                  <a:t>fra</a:t>
                </a:r>
                <a:r>
                  <a:rPr lang="en-US" sz="1100" dirty="0"/>
                  <a:t> loro non coincide </a:t>
                </a:r>
                <a:r>
                  <a:rPr lang="en-US" sz="1100" dirty="0" err="1"/>
                  <a:t>esattamente</a:t>
                </a:r>
                <a:r>
                  <a:rPr lang="en-US" sz="1100" dirty="0"/>
                  <a:t> con il punto in cui </a:t>
                </a:r>
                <a:r>
                  <a:rPr lang="en-US" sz="1100" dirty="0" err="1"/>
                  <a:t>si</a:t>
                </a:r>
                <a:r>
                  <a:rPr lang="en-US" sz="1100" dirty="0"/>
                  <a:t> </a:t>
                </a:r>
                <a:r>
                  <a:rPr lang="en-US" sz="1100" dirty="0" err="1"/>
                  <a:t>incrociavano</a:t>
                </a:r>
                <a:r>
                  <a:rPr lang="en-US" sz="1100" dirty="0"/>
                  <a:t> prima </a:t>
                </a:r>
                <a:r>
                  <a:rPr lang="en-US" sz="1100" dirty="0" err="1"/>
                  <a:t>che</a:t>
                </a:r>
                <a:r>
                  <a:rPr lang="en-US" sz="1100" dirty="0"/>
                  <a:t> il </a:t>
                </a:r>
                <a:r>
                  <a:rPr lang="en-US" sz="1100" dirty="0" err="1"/>
                  <a:t>termine</a:t>
                </a:r>
                <a:r>
                  <a:rPr lang="en-US" sz="1100" dirty="0"/>
                  <a:t> DM fosse </a:t>
                </a:r>
                <a:r>
                  <a:rPr lang="en-US" sz="1100" dirty="0" err="1"/>
                  <a:t>acceso</a:t>
                </a:r>
                <a:r>
                  <a:rPr lang="en-US" sz="1100" dirty="0"/>
                  <a:t> - </a:t>
                </a:r>
                <a:r>
                  <a:rPr lang="en-US" sz="1100" dirty="0" err="1"/>
                  <a:t>si</a:t>
                </a:r>
                <a:r>
                  <a:rPr lang="en-US" sz="1100" dirty="0"/>
                  <a:t> </a:t>
                </a:r>
                <a:r>
                  <a:rPr lang="en-US" sz="1100" dirty="0" err="1"/>
                  <a:t>sposta</a:t>
                </a:r>
                <a:r>
                  <a:rPr lang="en-US" sz="1100" dirty="0"/>
                  <a:t> </a:t>
                </a:r>
                <a:r>
                  <a:rPr lang="en-US" sz="1100" dirty="0" err="1"/>
                  <a:t>leggermente</a:t>
                </a:r>
                <a:r>
                  <a:rPr lang="en-US" sz="1100" dirty="0"/>
                  <a:t>, in </a:t>
                </a:r>
                <a:r>
                  <a:rPr lang="en-US" sz="1100" dirty="0" err="1"/>
                  <a:t>entrambi</a:t>
                </a:r>
                <a:r>
                  <a:rPr lang="en-US" sz="1100" dirty="0"/>
                  <a:t> </a:t>
                </a:r>
                <a:r>
                  <a:rPr lang="en-US" sz="1100" dirty="0" err="1"/>
                  <a:t>i</a:t>
                </a:r>
                <a:r>
                  <a:rPr lang="en-US" sz="1100" dirty="0"/>
                  <a:t> </a:t>
                </a:r>
                <a:r>
                  <a:rPr lang="en-US" sz="1100" dirty="0" err="1"/>
                  <a:t>sistemi</a:t>
                </a:r>
                <a:r>
                  <a:rPr lang="en-US" sz="1100" dirty="0"/>
                  <a:t> (</a:t>
                </a:r>
                <a:r>
                  <a:rPr lang="en-US" sz="1100" dirty="0" err="1"/>
                  <a:t>dimero</a:t>
                </a:r>
                <a:r>
                  <a:rPr lang="en-US" sz="1100" dirty="0"/>
                  <a:t>: da </a:t>
                </a:r>
                <a14:m>
                  <m:oMath xmlns:m="http://schemas.openxmlformats.org/officeDocument/2006/math">
                    <m:r>
                      <a:rPr lang="en-US" sz="1100" i="1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110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100" i="1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11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100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100" dirty="0"/>
                  <a:t>2 a </a:t>
                </a:r>
                <a14:m>
                  <m:oMath xmlns:m="http://schemas.openxmlformats.org/officeDocument/2006/math">
                    <m:r>
                      <a:rPr lang="en-US" sz="1100">
                        <a:latin typeface="Cambria Math" panose="02040503050406030204" pitchFamily="18" charset="0"/>
                      </a:rPr>
                      <m:t>2.07</m:t>
                    </m:r>
                  </m:oMath>
                </a14:m>
                <a:r>
                  <a:rPr lang="en-US" sz="1100" dirty="0"/>
                  <a:t>; </a:t>
                </a:r>
                <a:r>
                  <a:rPr lang="en-US" sz="1100" dirty="0" err="1"/>
                  <a:t>trimero</a:t>
                </a:r>
                <a:r>
                  <a:rPr lang="en-US" sz="1100" dirty="0"/>
                  <a:t>: da</a:t>
                </a:r>
                <a14:m>
                  <m:oMath xmlns:m="http://schemas.openxmlformats.org/officeDocument/2006/math">
                    <m:r>
                      <a:rPr lang="en-US" sz="11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100" i="1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110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100" i="1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1100">
                        <a:latin typeface="Cambria Math" panose="02040503050406030204" pitchFamily="18" charset="0"/>
                      </a:rPr>
                      <m:t>=2.4</m:t>
                    </m:r>
                  </m:oMath>
                </a14:m>
                <a:r>
                  <a:rPr lang="en-US" sz="1100" dirty="0"/>
                  <a:t> a </a:t>
                </a:r>
                <a14:m>
                  <m:oMath xmlns:m="http://schemas.openxmlformats.org/officeDocument/2006/math">
                    <m:r>
                      <a:rPr lang="en-US" sz="1100">
                        <a:latin typeface="Cambria Math" panose="02040503050406030204" pitchFamily="18" charset="0"/>
                      </a:rPr>
                      <m:t>2.41</m:t>
                    </m:r>
                  </m:oMath>
                </a14:m>
                <a:r>
                  <a:rPr lang="en-US" sz="1100" dirty="0"/>
                  <a:t>).</a:t>
                </a:r>
              </a:p>
            </p:txBody>
          </p:sp>
        </mc:Choice>
        <mc:Fallback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28CF0F13-CB84-B142-9213-F65E406674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2700" y="2577353"/>
                <a:ext cx="1596637" cy="2462213"/>
              </a:xfrm>
              <a:prstGeom prst="rect">
                <a:avLst/>
              </a:prstGeom>
              <a:blipFill>
                <a:blip r:embed="rId5"/>
                <a:stretch>
                  <a:fillRect t="-248" r="-1908" b="-7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2E8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RISULTATI</a:t>
            </a:r>
            <a:endParaRPr lang="en-US" sz="1300" dirty="0"/>
          </a:p>
        </p:txBody>
      </p:sp>
      <p:sp>
        <p:nvSpPr>
          <p:cNvPr id="12" name="VQE - Ansatz">
            <a:extLst>
              <a:ext uri="{FF2B5EF4-FFF2-40B4-BE49-F238E27FC236}">
                <a16:creationId xmlns:a16="http://schemas.microsoft.com/office/drawing/2014/main" id="{5F79BB14-D1EB-7791-7349-0B3851189112}"/>
              </a:ext>
            </a:extLst>
          </p:cNvPr>
          <p:cNvSpPr txBox="1"/>
          <p:nvPr/>
        </p:nvSpPr>
        <p:spPr>
          <a:xfrm>
            <a:off x="640080" y="713232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600" b="1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Simulazione</a:t>
            </a:r>
            <a:r>
              <a:rPr lang="en-US" sz="36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600" b="1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Dinamica</a:t>
            </a:r>
            <a:endParaRPr lang="en-US" sz="3600" dirty="0"/>
          </a:p>
        </p:txBody>
      </p:sp>
      <p:sp>
        <p:nvSpPr>
          <p:cNvPr id="20" name="Shape 2">
            <a:extLst>
              <a:ext uri="{FF2B5EF4-FFF2-40B4-BE49-F238E27FC236}">
                <a16:creationId xmlns:a16="http://schemas.microsoft.com/office/drawing/2014/main" id="{F4718F5B-C55B-64DF-D81B-F8C8C54FCCF3}"/>
              </a:ext>
            </a:extLst>
          </p:cNvPr>
          <p:cNvSpPr/>
          <p:nvPr/>
        </p:nvSpPr>
        <p:spPr>
          <a:xfrm>
            <a:off x="652779" y="1490472"/>
            <a:ext cx="10911535" cy="530352"/>
          </a:xfrm>
          <a:prstGeom prst="roundRect">
            <a:avLst>
              <a:gd name="adj" fmla="val 13793"/>
            </a:avLst>
          </a:prstGeom>
          <a:solidFill>
            <a:srgbClr val="F2F5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Primitive a due qubit">
            <a:extLst>
              <a:ext uri="{FF2B5EF4-FFF2-40B4-BE49-F238E27FC236}">
                <a16:creationId xmlns:a16="http://schemas.microsoft.com/office/drawing/2014/main" id="{F1723D25-7A93-CFC7-BD25-4E48F41785D7}"/>
              </a:ext>
            </a:extLst>
          </p:cNvPr>
          <p:cNvSpPr txBox="1"/>
          <p:nvPr/>
        </p:nvSpPr>
        <p:spPr>
          <a:xfrm>
            <a:off x="652778" y="1490472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100" b="1" i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Trotter: </a:t>
            </a:r>
            <a:r>
              <a:rPr lang="en-US" sz="2100" b="1" i="1" dirty="0" err="1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dinamica</a:t>
            </a:r>
            <a:r>
              <a:rPr lang="en-US" sz="2100" b="1" i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r>
              <a:rPr lang="en-US" sz="2100" b="1" i="1" dirty="0" err="1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convergenza</a:t>
            </a:r>
            <a:r>
              <a:rPr lang="en-US" sz="2100" b="1" i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</a:t>
            </a:r>
            <a:r>
              <a:rPr lang="en-US" sz="2100" b="1" i="1" dirty="0" err="1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dimero</a:t>
            </a:r>
            <a:r>
              <a:rPr lang="en-US" sz="2100" b="1" i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r>
              <a:rPr lang="en-US" sz="2100" b="1" i="1" dirty="0" err="1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trimero</a:t>
            </a:r>
            <a:endParaRPr lang="en-US" sz="2100" i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635F32-38C9-142C-E9B9-9BBB6AC38F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534" y="2139695"/>
            <a:ext cx="5382271" cy="234513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8DA67D3-E7A5-C13E-0658-3EDB1A3715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1093" y="2139695"/>
            <a:ext cx="5443220" cy="234477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840B33C-239B-8E60-76CB-5263CC5B132F}"/>
                  </a:ext>
                </a:extLst>
              </p:cNvPr>
              <p:cNvSpPr txBox="1"/>
              <p:nvPr/>
            </p:nvSpPr>
            <p:spPr>
              <a:xfrm>
                <a:off x="6322979" y="4802343"/>
                <a:ext cx="5241333" cy="1388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endParaRPr lang="en-US" sz="1200" dirty="0"/>
              </a:p>
              <a:p>
                <a:pPr lvl="0"/>
                <a14:m>
                  <m:oMath xmlns:m="http://schemas.openxmlformats.org/officeDocument/2006/math">
                    <m:r>
                      <a:rPr lang="en-US" sz="1200"/>
                      <m:t>∥</m:t>
                    </m:r>
                    <m:sSub>
                      <m:sSubPr>
                        <m:ctrlPr>
                          <a:rPr lang="en-US" sz="1200" i="1"/>
                        </m:ctrlPr>
                      </m:sSubPr>
                      <m:e>
                        <m:r>
                          <a:rPr lang="en-US" sz="1200" i="1"/>
                          <m:t>𝑈</m:t>
                        </m:r>
                      </m:e>
                      <m:sub>
                        <m:r>
                          <a:rPr lang="en-US" sz="1200" i="1"/>
                          <m:t>𝑐𝑖𝑟𝑐𝑢𝑖𝑡𝑜</m:t>
                        </m:r>
                      </m:sub>
                    </m:sSub>
                    <m:r>
                      <a:rPr lang="en-US" sz="1200"/>
                      <m:t>−</m:t>
                    </m:r>
                    <m:sSub>
                      <m:sSubPr>
                        <m:ctrlPr>
                          <a:rPr lang="en-US" sz="1200" i="1"/>
                        </m:ctrlPr>
                      </m:sSubPr>
                      <m:e>
                        <m:r>
                          <a:rPr lang="en-US" sz="1200" i="1"/>
                          <m:t>𝑈</m:t>
                        </m:r>
                      </m:e>
                      <m:sub>
                        <m:r>
                          <a:rPr lang="en-US" sz="1200" i="1"/>
                          <m:t>𝑒𝑠𝑎𝑡𝑡𝑜</m:t>
                        </m:r>
                      </m:sub>
                    </m:sSub>
                    <m:r>
                      <a:rPr lang="en-US" sz="1200"/>
                      <m:t>∥</m:t>
                    </m:r>
                  </m:oMath>
                </a14:m>
                <a:r>
                  <a:rPr lang="en-US" sz="1200" dirty="0"/>
                  <a:t>: </a:t>
                </a:r>
                <a:r>
                  <a:rPr lang="en-US" sz="1200" dirty="0" err="1"/>
                  <a:t>quanto</a:t>
                </a:r>
                <a:r>
                  <a:rPr lang="en-US" sz="1200" dirty="0"/>
                  <a:t> il </a:t>
                </a:r>
                <a:r>
                  <a:rPr lang="en-US" sz="1200" dirty="0" err="1"/>
                  <a:t>circuito</a:t>
                </a:r>
                <a:r>
                  <a:rPr lang="en-US" sz="1200" dirty="0"/>
                  <a:t> </a:t>
                </a:r>
                <a:r>
                  <a:rPr lang="en-US" sz="1200" dirty="0" err="1"/>
                  <a:t>approssima</a:t>
                </a:r>
                <a:r>
                  <a:rPr lang="en-US" sz="12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i="1"/>
                        </m:ctrlPr>
                      </m:sSupPr>
                      <m:e>
                        <m:r>
                          <a:rPr lang="en-US" sz="1200" i="1"/>
                          <m:t>𝑒</m:t>
                        </m:r>
                      </m:e>
                      <m:sup>
                        <m:r>
                          <a:rPr lang="en-US" sz="1200"/>
                          <m:t>−</m:t>
                        </m:r>
                        <m:r>
                          <a:rPr lang="en-US" sz="1200" i="1"/>
                          <m:t>𝑖𝐻𝑡</m:t>
                        </m:r>
                      </m:sup>
                    </m:sSup>
                  </m:oMath>
                </a14:m>
                <a:r>
                  <a:rPr lang="en-US" sz="1200" dirty="0"/>
                  <a:t> </a:t>
                </a:r>
                <a:r>
                  <a:rPr lang="en-US" sz="1200" b="1" dirty="0"/>
                  <a:t>in generale</a:t>
                </a:r>
                <a:r>
                  <a:rPr lang="en-US" sz="1200" dirty="0"/>
                  <a:t> (</a:t>
                </a:r>
                <a:r>
                  <a:rPr lang="en-US" sz="1200" dirty="0" err="1"/>
                  <a:t>caso</a:t>
                </a:r>
                <a:r>
                  <a:rPr lang="en-US" sz="1200" dirty="0"/>
                  <a:t> </a:t>
                </a:r>
                <a:r>
                  <a:rPr lang="en-US" sz="1200" dirty="0" err="1"/>
                  <a:t>peggiore</a:t>
                </a:r>
                <a:r>
                  <a:rPr lang="en-US" sz="1200" dirty="0"/>
                  <a:t> </a:t>
                </a:r>
                <a:r>
                  <a:rPr lang="en-US" sz="1200" dirty="0" err="1"/>
                  <a:t>su</a:t>
                </a:r>
                <a:r>
                  <a:rPr lang="en-US" sz="1200" dirty="0"/>
                  <a:t> </a:t>
                </a:r>
                <a:r>
                  <a:rPr lang="en-US" sz="1200" dirty="0" err="1"/>
                  <a:t>qualunque</a:t>
                </a:r>
                <a:r>
                  <a:rPr lang="en-US" sz="1200" dirty="0"/>
                  <a:t> </a:t>
                </a:r>
                <a:r>
                  <a:rPr lang="en-US" sz="1200" dirty="0" err="1"/>
                  <a:t>stato</a:t>
                </a:r>
                <a:r>
                  <a:rPr lang="en-US" sz="1200" dirty="0"/>
                  <a:t>) — </a:t>
                </a:r>
                <a:r>
                  <a:rPr lang="en-US" sz="1200" dirty="0" err="1"/>
                  <a:t>pendenza</a:t>
                </a:r>
                <a:r>
                  <a:rPr lang="en-US" sz="1200" dirty="0"/>
                  <a:t> </a:t>
                </a:r>
                <a14:m>
                  <m:oMath xmlns:m="http://schemas.openxmlformats.org/officeDocument/2006/math">
                    <m:r>
                      <a:rPr lang="en-US" sz="1200"/>
                      <m:t>−1</m:t>
                    </m:r>
                  </m:oMath>
                </a14:m>
                <a:r>
                  <a:rPr lang="en-US" sz="1200" dirty="0"/>
                  <a:t>−1.</a:t>
                </a:r>
              </a:p>
              <a:p>
                <a:pPr lvl="0"/>
                <a:endParaRPr lang="en-US" sz="1200" dirty="0"/>
              </a:p>
              <a:p>
                <a:pPr lvl="0"/>
                <a14:m>
                  <m:oMath xmlns:m="http://schemas.openxmlformats.org/officeDocument/2006/math">
                    <m:r>
                      <a:rPr lang="en-US" sz="1200"/>
                      <m:t>1−</m:t>
                    </m:r>
                    <m:r>
                      <a:rPr lang="en-US" sz="1200"/>
                      <m:t>ℱ</m:t>
                    </m:r>
                  </m:oMath>
                </a14:m>
                <a:r>
                  <a:rPr lang="en-US" sz="1200" dirty="0"/>
                  <a:t>: </a:t>
                </a:r>
                <a:r>
                  <a:rPr lang="en-US" sz="1200" dirty="0" err="1"/>
                  <a:t>quanto</a:t>
                </a:r>
                <a:r>
                  <a:rPr lang="en-US" sz="1200" dirty="0"/>
                  <a:t> </a:t>
                </a:r>
                <a:r>
                  <a:rPr lang="en-US" sz="1200" dirty="0" err="1"/>
                  <a:t>sbaglia</a:t>
                </a:r>
                <a:r>
                  <a:rPr lang="en-US" sz="1200" dirty="0"/>
                  <a:t> </a:t>
                </a:r>
                <a:r>
                  <a:rPr lang="en-US" sz="1200" b="1" dirty="0" err="1"/>
                  <a:t>sullo</a:t>
                </a:r>
                <a:r>
                  <a:rPr lang="en-US" sz="1200" b="1" dirty="0"/>
                  <a:t> </a:t>
                </a:r>
                <a:r>
                  <a:rPr lang="en-US" sz="1200" b="1" dirty="0" err="1"/>
                  <a:t>stato</a:t>
                </a:r>
                <a:r>
                  <a:rPr lang="en-US" sz="1200" b="1" dirty="0"/>
                  <a:t> </a:t>
                </a:r>
                <a:r>
                  <a:rPr lang="en-US" sz="1200" b="1" dirty="0" err="1"/>
                  <a:t>iniziale</a:t>
                </a:r>
                <a:r>
                  <a:rPr lang="en-US" sz="1200" b="1" dirty="0"/>
                  <a:t> </a:t>
                </a:r>
                <a:r>
                  <a:rPr lang="en-US" sz="1200" b="1" dirty="0" err="1"/>
                  <a:t>specifico</a:t>
                </a:r>
                <a:r>
                  <a:rPr lang="en-US" sz="1200" dirty="0"/>
                  <a:t> </a:t>
                </a:r>
                <a:r>
                  <a:rPr lang="en-US" sz="1200" dirty="0" err="1"/>
                  <a:t>che</a:t>
                </a:r>
                <a:r>
                  <a:rPr lang="en-US" sz="1200" dirty="0"/>
                  <a:t> </a:t>
                </a:r>
                <a:r>
                  <a:rPr lang="en-US" sz="1200" dirty="0" err="1"/>
                  <a:t>usiamo</a:t>
                </a:r>
                <a:r>
                  <a:rPr lang="en-US" sz="1200" dirty="0"/>
                  <a:t> (∣00⟩ o ∣000⟩) — </a:t>
                </a:r>
                <a:r>
                  <a:rPr lang="en-US" sz="1200" dirty="0" err="1"/>
                  <a:t>pendenza</a:t>
                </a:r>
                <a:r>
                  <a:rPr lang="en-US" sz="1200" dirty="0"/>
                  <a:t> </a:t>
                </a:r>
                <a14:m>
                  <m:oMath xmlns:m="http://schemas.openxmlformats.org/officeDocument/2006/math">
                    <m:r>
                      <a:rPr lang="en-US" sz="1200"/>
                      <m:t>−2</m:t>
                    </m:r>
                  </m:oMath>
                </a14:m>
                <a:r>
                  <a:rPr lang="en-US" sz="1200" dirty="0"/>
                  <a:t>, </a:t>
                </a:r>
                <a:r>
                  <a:rPr lang="en-US" sz="1200" dirty="0" err="1"/>
                  <a:t>perché</a:t>
                </a:r>
                <a:r>
                  <a:rPr lang="en-US" sz="1200" dirty="0"/>
                  <a:t> è </a:t>
                </a:r>
                <a:r>
                  <a:rPr lang="en-US" sz="1200" dirty="0" err="1"/>
                  <a:t>essenzialmente</a:t>
                </a:r>
                <a:r>
                  <a:rPr lang="en-US" sz="1200" dirty="0"/>
                  <a:t> il </a:t>
                </a:r>
                <a:r>
                  <a:rPr lang="en-US" sz="1200" dirty="0" err="1"/>
                  <a:t>quadrato</a:t>
                </a:r>
                <a:r>
                  <a:rPr lang="en-US" sz="1200" dirty="0"/>
                  <a:t> </a:t>
                </a:r>
                <a:r>
                  <a:rPr lang="en-US" sz="1200" dirty="0" err="1"/>
                  <a:t>dell'errore</a:t>
                </a:r>
                <a:r>
                  <a:rPr lang="en-US" sz="1200" dirty="0"/>
                  <a:t> </a:t>
                </a:r>
                <a:r>
                  <a:rPr lang="en-US" sz="1200" dirty="0" err="1"/>
                  <a:t>sull'ampiezza</a:t>
                </a:r>
                <a:r>
                  <a:rPr lang="en-US" sz="1200" dirty="0"/>
                  <a:t>.</a:t>
                </a:r>
              </a:p>
              <a:p>
                <a:endParaRPr lang="en-US" sz="12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840B33C-239B-8E60-76CB-5263CC5B13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2979" y="4802343"/>
                <a:ext cx="5241333" cy="138832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50458C2-6980-59D4-2538-994A71279422}"/>
                  </a:ext>
                </a:extLst>
              </p:cNvPr>
              <p:cNvSpPr txBox="1"/>
              <p:nvPr/>
            </p:nvSpPr>
            <p:spPr>
              <a:xfrm>
                <a:off x="652779" y="4802342"/>
                <a:ext cx="5164362" cy="15696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b="1" dirty="0"/>
                  <a:t>A </a:t>
                </a:r>
                <a14:m>
                  <m:oMath xmlns:m="http://schemas.openxmlformats.org/officeDocument/2006/math">
                    <m:r>
                      <a:rPr lang="en-US" sz="1200" i="1"/>
                      <m:t>𝑡</m:t>
                    </m:r>
                    <m:r>
                      <a:rPr lang="en-US" sz="1200"/>
                      <m:t>=0</m:t>
                    </m:r>
                  </m:oMath>
                </a14:m>
                <a:r>
                  <a:rPr lang="en-US" sz="1200" dirty="0"/>
                  <a:t>: lo </a:t>
                </a:r>
                <a:r>
                  <a:rPr lang="en-US" sz="1200" dirty="0" err="1"/>
                  <a:t>stato</a:t>
                </a:r>
                <a:r>
                  <a:rPr lang="en-US" sz="1200" dirty="0"/>
                  <a:t> </a:t>
                </a:r>
                <a:r>
                  <a:rPr lang="en-US" sz="1200" dirty="0" err="1"/>
                  <a:t>iniziale</a:t>
                </a:r>
                <a:r>
                  <a:rPr lang="en-US" sz="1200" dirty="0"/>
                  <a:t> (∣00⟩ per il </a:t>
                </a:r>
                <a:r>
                  <a:rPr lang="en-US" sz="1200" dirty="0" err="1"/>
                  <a:t>dimero</a:t>
                </a:r>
                <a:r>
                  <a:rPr lang="en-US" sz="1200" dirty="0"/>
                  <a:t>, ∣000⟩ per il </a:t>
                </a:r>
                <a:r>
                  <a:rPr lang="en-US" sz="1200" dirty="0" err="1"/>
                  <a:t>trimero</a:t>
                </a:r>
                <a:r>
                  <a:rPr lang="en-US" sz="1200" dirty="0"/>
                  <a:t>) è un </a:t>
                </a:r>
                <a:r>
                  <a:rPr lang="en-US" sz="1200" dirty="0" err="1"/>
                  <a:t>autostato</a:t>
                </a:r>
                <a:r>
                  <a:rPr lang="en-US" sz="1200" dirty="0"/>
                  <a:t> di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200" i="1"/>
                        </m:ctrlPr>
                      </m:sSubSupPr>
                      <m:e>
                        <m:r>
                          <a:rPr lang="en-US" sz="1200" i="1"/>
                          <m:t>𝑆</m:t>
                        </m:r>
                      </m:e>
                      <m:sub>
                        <m:r>
                          <a:rPr lang="en-US" sz="1200" i="1"/>
                          <m:t>𝑧</m:t>
                        </m:r>
                      </m:sub>
                      <m:sup>
                        <m:r>
                          <a:rPr lang="en-US" sz="1200" i="1"/>
                          <m:t>𝑡𝑜𝑡</m:t>
                        </m:r>
                      </m:sup>
                    </m:sSubSup>
                  </m:oMath>
                </a14:m>
                <a:r>
                  <a:rPr lang="en-US" sz="1200" dirty="0"/>
                  <a:t> - </a:t>
                </a:r>
                <a:r>
                  <a:rPr lang="en-US" sz="1200" dirty="0" err="1"/>
                  <a:t>infatti</a:t>
                </a:r>
                <a:r>
                  <a:rPr lang="en-US" sz="1200" dirty="0"/>
                  <a:t> </a:t>
                </a:r>
                <a:r>
                  <a:rPr lang="en-US" sz="1200" dirty="0" err="1"/>
                  <a:t>i</a:t>
                </a:r>
                <a:r>
                  <a:rPr lang="en-US" sz="1200" dirty="0"/>
                  <a:t> </a:t>
                </a:r>
                <a:r>
                  <a:rPr lang="en-US" sz="1200" dirty="0" err="1"/>
                  <a:t>grafici</a:t>
                </a:r>
                <a:r>
                  <a:rPr lang="en-US" sz="1200" dirty="0"/>
                  <a:t> </a:t>
                </a:r>
                <a:r>
                  <a:rPr lang="en-US" sz="1200" dirty="0" err="1"/>
                  <a:t>partono</a:t>
                </a:r>
                <a:r>
                  <a:rPr lang="en-US" sz="1200" dirty="0"/>
                  <a:t> </a:t>
                </a:r>
                <a:r>
                  <a:rPr lang="en-US" sz="1200" dirty="0" err="1"/>
                  <a:t>esattamente</a:t>
                </a:r>
                <a:r>
                  <a:rPr lang="en-US" sz="1200" dirty="0"/>
                  <a:t> da un </a:t>
                </a:r>
                <a:r>
                  <a:rPr lang="en-US" sz="1200" dirty="0" err="1"/>
                  <a:t>valore</a:t>
                </a:r>
                <a:r>
                  <a:rPr lang="en-US" sz="1200" dirty="0"/>
                  <a:t> </a:t>
                </a:r>
                <a:r>
                  <a:rPr lang="en-US" sz="1200" dirty="0" err="1"/>
                  <a:t>intero</a:t>
                </a:r>
                <a:r>
                  <a:rPr lang="en-US" sz="1200" dirty="0"/>
                  <a:t> (1.0 per il </a:t>
                </a:r>
                <a:r>
                  <a:rPr lang="en-US" sz="1200" dirty="0" err="1"/>
                  <a:t>dimero</a:t>
                </a:r>
                <a:r>
                  <a:rPr lang="en-US" sz="1200" dirty="0"/>
                  <a:t>, 3.0 per il </a:t>
                </a:r>
                <a:r>
                  <a:rPr lang="en-US" sz="1200" dirty="0" err="1"/>
                  <a:t>trimero</a:t>
                </a:r>
                <a:r>
                  <a:rPr lang="en-US" sz="1200" dirty="0"/>
                  <a:t>).</a:t>
                </a:r>
              </a:p>
              <a:p>
                <a:endParaRPr lang="en-US" sz="1200" dirty="0"/>
              </a:p>
              <a:p>
                <a:r>
                  <a:rPr lang="en-US" sz="1200" b="1" dirty="0"/>
                  <a:t>Per </a:t>
                </a:r>
                <a14:m>
                  <m:oMath xmlns:m="http://schemas.openxmlformats.org/officeDocument/2006/math">
                    <m:r>
                      <a:rPr lang="en-US" sz="1200" i="1"/>
                      <m:t>𝑡</m:t>
                    </m:r>
                    <m:r>
                      <a:rPr lang="en-US" sz="1200"/>
                      <m:t>&gt;0</m:t>
                    </m:r>
                  </m:oMath>
                </a14:m>
                <a:r>
                  <a:rPr lang="en-US" sz="1200" dirty="0"/>
                  <a:t>: </a:t>
                </a:r>
                <a:r>
                  <a:rPr lang="en-US" sz="1200" dirty="0" err="1"/>
                  <a:t>l'Hamiltoniana</a:t>
                </a:r>
                <a:r>
                  <a:rPr lang="en-US" sz="1200" dirty="0"/>
                  <a:t> non </a:t>
                </a:r>
                <a:r>
                  <a:rPr lang="en-US" sz="1200" dirty="0" err="1"/>
                  <a:t>commuta</a:t>
                </a:r>
                <a:r>
                  <a:rPr lang="en-US" sz="1200" dirty="0"/>
                  <a:t> con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200" i="1"/>
                        </m:ctrlPr>
                      </m:sSubSupPr>
                      <m:e>
                        <m:r>
                          <a:rPr lang="en-US" sz="1200" i="1"/>
                          <m:t>𝑆</m:t>
                        </m:r>
                      </m:e>
                      <m:sub>
                        <m:r>
                          <a:rPr lang="en-US" sz="1200" i="1"/>
                          <m:t>𝑧</m:t>
                        </m:r>
                      </m:sub>
                      <m:sup>
                        <m:r>
                          <a:rPr lang="en-US" sz="1200" i="1"/>
                          <m:t>𝑡𝑜𝑡</m:t>
                        </m:r>
                      </m:sup>
                    </m:sSubSup>
                  </m:oMath>
                </a14:m>
                <a:r>
                  <a:rPr lang="en-US" sz="1200" dirty="0"/>
                  <a:t>​ (è proprio il </a:t>
                </a:r>
                <a:r>
                  <a:rPr lang="en-US" sz="1200" dirty="0" err="1"/>
                  <a:t>termine</a:t>
                </a:r>
                <a:r>
                  <a:rPr lang="en-US" sz="1200" dirty="0"/>
                  <a:t> DM a </a:t>
                </a:r>
                <a:r>
                  <a:rPr lang="en-US" sz="1200" dirty="0" err="1"/>
                  <a:t>romperla</a:t>
                </a:r>
                <a:r>
                  <a:rPr lang="en-US" sz="1200" dirty="0"/>
                  <a:t>: </a:t>
                </a:r>
                <a14:m>
                  <m:oMath xmlns:m="http://schemas.openxmlformats.org/officeDocument/2006/math">
                    <m:r>
                      <a:rPr lang="en-US" sz="1200" i="1"/>
                      <m:t>𝐷</m:t>
                    </m:r>
                  </m:oMath>
                </a14:m>
                <a:r>
                  <a:rPr lang="en-US" sz="1200" dirty="0"/>
                  <a:t> </a:t>
                </a:r>
                <a:r>
                  <a:rPr lang="en-US" sz="1200" dirty="0" err="1"/>
                  <a:t>collega</a:t>
                </a:r>
                <a:r>
                  <a:rPr lang="en-US" sz="1200" dirty="0"/>
                  <a:t> </a:t>
                </a:r>
                <a:r>
                  <a:rPr lang="en-US" sz="1200" dirty="0" err="1"/>
                  <a:t>stati</a:t>
                </a:r>
                <a:r>
                  <a:rPr lang="en-US" sz="1200" dirty="0"/>
                  <a:t> con </a:t>
                </a:r>
                <a14:m>
                  <m:oMath xmlns:m="http://schemas.openxmlformats.org/officeDocument/2006/math">
                    <m:r>
                      <a:rPr lang="en-US" sz="1200" i="1"/>
                      <m:t>𝑀</m:t>
                    </m:r>
                  </m:oMath>
                </a14:m>
                <a:r>
                  <a:rPr lang="en-US" sz="1200" dirty="0"/>
                  <a:t> </a:t>
                </a:r>
                <a:r>
                  <a:rPr lang="en-US" sz="1200" dirty="0" err="1"/>
                  <a:t>diverso</a:t>
                </a:r>
                <a:r>
                  <a:rPr lang="en-US" sz="1200" dirty="0"/>
                  <a:t>). </a:t>
                </a:r>
                <a:r>
                  <a:rPr lang="en-US" sz="1200" dirty="0" err="1"/>
                  <a:t>Quindi</a:t>
                </a:r>
                <a:r>
                  <a:rPr lang="en-US" sz="1200" dirty="0"/>
                  <a:t> lo </a:t>
                </a:r>
                <a:r>
                  <a:rPr lang="en-US" sz="1200" dirty="0" err="1"/>
                  <a:t>stato</a:t>
                </a:r>
                <a:r>
                  <a:rPr lang="en-US" sz="1200" dirty="0"/>
                  <a:t> evolve in </a:t>
                </a:r>
                <a:r>
                  <a:rPr lang="en-US" sz="1200" dirty="0" err="1"/>
                  <a:t>una</a:t>
                </a:r>
                <a:r>
                  <a:rPr lang="en-US" sz="1200" dirty="0"/>
                  <a:t> </a:t>
                </a:r>
                <a:r>
                  <a:rPr lang="en-US" sz="1200" b="1" dirty="0" err="1"/>
                  <a:t>sovrapposizione</a:t>
                </a:r>
                <a:r>
                  <a:rPr lang="en-US" sz="1200" dirty="0"/>
                  <a:t> di </a:t>
                </a:r>
                <a:r>
                  <a:rPr lang="en-US" sz="1200" dirty="0" err="1"/>
                  <a:t>autostati</a:t>
                </a:r>
                <a:r>
                  <a:rPr lang="en-US" sz="1200" dirty="0"/>
                  <a:t> con </a:t>
                </a:r>
                <a14:m>
                  <m:oMath xmlns:m="http://schemas.openxmlformats.org/officeDocument/2006/math">
                    <m:r>
                      <a:rPr lang="en-US" sz="1200" i="1"/>
                      <m:t>𝑀</m:t>
                    </m:r>
                  </m:oMath>
                </a14:m>
                <a:r>
                  <a:rPr lang="en-US" sz="1200" dirty="0"/>
                  <a:t> </a:t>
                </a:r>
                <a:r>
                  <a:rPr lang="en-US" sz="1200" dirty="0" err="1"/>
                  <a:t>diversi</a:t>
                </a:r>
                <a:r>
                  <a:rPr lang="en-US" sz="1200" dirty="0"/>
                  <a:t>, e 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US" sz="1200" i="1"/>
                        </m:ctrlPr>
                      </m:dPr>
                      <m:e>
                        <m:sSubSup>
                          <m:sSubSupPr>
                            <m:ctrlPr>
                              <a:rPr lang="en-US" sz="1200" i="1"/>
                            </m:ctrlPr>
                          </m:sSubSupPr>
                          <m:e>
                            <m:r>
                              <a:rPr lang="en-US" sz="1200" i="1"/>
                              <m:t>𝑆</m:t>
                            </m:r>
                          </m:e>
                          <m:sub>
                            <m:r>
                              <a:rPr lang="en-US" sz="1200" i="1"/>
                              <m:t>𝑧</m:t>
                            </m:r>
                          </m:sub>
                          <m:sup>
                            <m:r>
                              <a:rPr lang="en-US" sz="1200" i="1"/>
                              <m:t>𝑡𝑜𝑡</m:t>
                            </m:r>
                          </m:sup>
                        </m:sSubSup>
                      </m:e>
                    </m:d>
                    <m:d>
                      <m:dPr>
                        <m:ctrlPr>
                          <a:rPr lang="en-US" sz="1200" i="1"/>
                        </m:ctrlPr>
                      </m:dPr>
                      <m:e>
                        <m:r>
                          <a:rPr lang="en-US" sz="1200" i="1"/>
                          <m:t>𝑡</m:t>
                        </m:r>
                      </m:e>
                    </m:d>
                  </m:oMath>
                </a14:m>
                <a:r>
                  <a:rPr lang="en-US" sz="1200" dirty="0"/>
                  <a:t> </a:t>
                </a:r>
                <a:r>
                  <a:rPr lang="en-US" sz="1200" dirty="0" err="1"/>
                  <a:t>diventa</a:t>
                </a:r>
                <a:r>
                  <a:rPr lang="en-US" sz="1200" dirty="0"/>
                  <a:t> </a:t>
                </a:r>
                <a:r>
                  <a:rPr lang="en-US" sz="1200" dirty="0" err="1"/>
                  <a:t>una</a:t>
                </a:r>
                <a:r>
                  <a:rPr lang="en-US" sz="1200" dirty="0"/>
                  <a:t> media </a:t>
                </a:r>
                <a:r>
                  <a:rPr lang="en-US" sz="1200" dirty="0" err="1"/>
                  <a:t>pesata</a:t>
                </a:r>
                <a:r>
                  <a:rPr lang="en-US" sz="1200" dirty="0"/>
                  <a:t> di </a:t>
                </a:r>
                <a:r>
                  <a:rPr lang="en-US" sz="1200" dirty="0" err="1"/>
                  <a:t>quei</a:t>
                </a:r>
                <a:r>
                  <a:rPr lang="en-US" sz="1200" dirty="0"/>
                  <a:t> </a:t>
                </a:r>
                <a:r>
                  <a:rPr lang="en-US" sz="1200" dirty="0" err="1"/>
                  <a:t>valori</a:t>
                </a:r>
                <a:r>
                  <a:rPr lang="en-US" sz="1200" dirty="0"/>
                  <a:t> </a:t>
                </a:r>
                <a:r>
                  <a:rPr lang="en-US" sz="1200" dirty="0" err="1"/>
                  <a:t>interi</a:t>
                </a:r>
                <a:r>
                  <a:rPr lang="en-US" sz="1200" dirty="0"/>
                  <a:t>, </a:t>
                </a:r>
                <a:r>
                  <a:rPr lang="en-US" sz="1200" dirty="0" err="1"/>
                  <a:t>che</a:t>
                </a:r>
                <a:r>
                  <a:rPr lang="en-US" sz="1200" dirty="0"/>
                  <a:t> cambia con </a:t>
                </a:r>
                <a:r>
                  <a:rPr lang="en-US" sz="1200" dirty="0" err="1"/>
                  <a:t>continuità</a:t>
                </a:r>
                <a:r>
                  <a:rPr lang="en-US" sz="1200" dirty="0"/>
                  <a:t>.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50458C2-6980-59D4-2538-994A712794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779" y="4802342"/>
                <a:ext cx="5164362" cy="1569660"/>
              </a:xfrm>
              <a:prstGeom prst="rect">
                <a:avLst/>
              </a:prstGeom>
              <a:blipFill>
                <a:blip r:embed="rId6"/>
                <a:stretch>
                  <a:fillRect t="-389" r="-118" b="-23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2E8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INTRODUZIONE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Simulazione</a:t>
            </a:r>
            <a:r>
              <a:rPr lang="en-US" sz="38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800" b="1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Dinamica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911535" cy="530352"/>
          </a:xfrm>
          <a:prstGeom prst="roundRect">
            <a:avLst>
              <a:gd name="adj" fmla="val 13793"/>
            </a:avLst>
          </a:prstGeom>
          <a:solidFill>
            <a:srgbClr val="F2F5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itolo dimero"/>
          <p:cNvSpPr txBox="1"/>
          <p:nvPr/>
        </p:nvSpPr>
        <p:spPr>
          <a:xfrm>
            <a:off x="640080" y="1554480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 err="1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Implementazione</a:t>
            </a:r>
            <a:r>
              <a:rPr lang="en-US" sz="2100" b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100" b="1" dirty="0" err="1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</a:t>
            </a:r>
            <a:r>
              <a:rPr lang="en-US" sz="2100" b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Circuito </a:t>
            </a:r>
            <a:r>
              <a:rPr lang="en-US" sz="2100" b="1" dirty="0" err="1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Quantistico</a:t>
            </a:r>
            <a:r>
              <a:rPr lang="en-US" sz="2100" b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due qubit (</a:t>
            </a:r>
            <a:r>
              <a:rPr lang="en-US" sz="2100" b="1" dirty="0" err="1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Dimero</a:t>
            </a:r>
            <a:r>
              <a:rPr lang="en-US" sz="2100" b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210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B3345620-629D-B964-53EC-3DECB48A8B9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758368" y="2269261"/>
            <a:ext cx="8477143" cy="2036858"/>
          </a:xfrm>
          <a:prstGeom prst="rect">
            <a:avLst/>
          </a:prstGeom>
        </p:spPr>
      </p:pic>
      <p:sp>
        <p:nvSpPr>
          <p:cNvPr id="24" name="Text 7">
            <a:extLst>
              <a:ext uri="{FF2B5EF4-FFF2-40B4-BE49-F238E27FC236}">
                <a16:creationId xmlns:a16="http://schemas.microsoft.com/office/drawing/2014/main" id="{B862225E-7227-3EEC-FCB1-385D2BB725DB}"/>
              </a:ext>
            </a:extLst>
          </p:cNvPr>
          <p:cNvSpPr txBox="1"/>
          <p:nvPr/>
        </p:nvSpPr>
        <p:spPr>
          <a:xfrm>
            <a:off x="640080" y="5679269"/>
            <a:ext cx="5151121" cy="930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79400" indent="-279400">
              <a:buSzPct val="100000"/>
              <a:buFontTx/>
              <a:buChar char="■"/>
            </a:pPr>
            <a:r>
              <a:rPr lang="en-US" b="1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Vantaggio</a:t>
            </a:r>
            <a:r>
              <a:rPr lang="en-US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Hardware:</a:t>
            </a:r>
            <a:r>
              <a:rPr lang="en-US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dirty="0" err="1"/>
              <a:t>Trasforma</a:t>
            </a:r>
            <a:r>
              <a:rPr lang="en-US" dirty="0"/>
              <a:t> un </a:t>
            </a:r>
            <a:r>
              <a:rPr lang="en-US" dirty="0" err="1"/>
              <a:t>problema</a:t>
            </a:r>
            <a:r>
              <a:rPr lang="en-US" dirty="0"/>
              <a:t> </a:t>
            </a:r>
            <a:r>
              <a:rPr lang="en-US" dirty="0" err="1"/>
              <a:t>globale</a:t>
            </a:r>
            <a:r>
              <a:rPr lang="en-US" dirty="0"/>
              <a:t> continuo in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sequenza</a:t>
            </a:r>
            <a:r>
              <a:rPr lang="en-US" dirty="0"/>
              <a:t> </a:t>
            </a:r>
            <a:r>
              <a:rPr lang="en-US" dirty="0" err="1"/>
              <a:t>discreta</a:t>
            </a:r>
            <a:r>
              <a:rPr lang="en-US" dirty="0"/>
              <a:t> di </a:t>
            </a:r>
            <a:r>
              <a:rPr lang="en-US" dirty="0" err="1"/>
              <a:t>circuiti</a:t>
            </a:r>
            <a:r>
              <a:rPr lang="en-US" dirty="0"/>
              <a:t> a </a:t>
            </a:r>
            <a:r>
              <a:rPr lang="en-US" dirty="0" err="1"/>
              <a:t>blocchi</a:t>
            </a:r>
            <a:r>
              <a:rPr lang="en-US" dirty="0"/>
              <a:t> </a:t>
            </a:r>
            <a:r>
              <a:rPr lang="en-US" dirty="0" err="1"/>
              <a:t>ripetuti</a:t>
            </a:r>
            <a:r>
              <a:rPr lang="en-US" dirty="0"/>
              <a:t>, </a:t>
            </a:r>
            <a:r>
              <a:rPr lang="en-US" dirty="0" err="1"/>
              <a:t>ideale</a:t>
            </a:r>
            <a:r>
              <a:rPr lang="en-US" dirty="0"/>
              <a:t> per </a:t>
            </a:r>
            <a:r>
              <a:rPr lang="en-US" dirty="0" err="1"/>
              <a:t>l'hardware</a:t>
            </a:r>
            <a:r>
              <a:rPr lang="en-US" dirty="0"/>
              <a:t> </a:t>
            </a:r>
            <a:r>
              <a:rPr lang="en-US" dirty="0" err="1"/>
              <a:t>quantistico</a:t>
            </a:r>
            <a:r>
              <a:rPr lang="en-US" dirty="0"/>
              <a:t> </a:t>
            </a:r>
            <a:r>
              <a:rPr lang="en-US" dirty="0" err="1"/>
              <a:t>digitale</a:t>
            </a:r>
            <a:r>
              <a:rPr lang="en-US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 7">
                <a:extLst>
                  <a:ext uri="{FF2B5EF4-FFF2-40B4-BE49-F238E27FC236}">
                    <a16:creationId xmlns:a16="http://schemas.microsoft.com/office/drawing/2014/main" id="{C9B64EBA-6147-767A-358E-5C825C20FBF1}"/>
                  </a:ext>
                </a:extLst>
              </p:cNvPr>
              <p:cNvSpPr txBox="1"/>
              <p:nvPr/>
            </p:nvSpPr>
            <p:spPr>
              <a:xfrm>
                <a:off x="640080" y="4445627"/>
                <a:ext cx="5151121" cy="1362669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279400" indent="-279400">
                  <a:buSzPct val="100000"/>
                  <a:buFontTx/>
                  <a:buChar char="■"/>
                </a:pPr>
                <a:r>
                  <a:rPr lang="en-US" b="1" dirty="0" err="1">
                    <a:solidFill>
                      <a:srgbClr val="16233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Esponenziazione</a:t>
                </a:r>
                <a:r>
                  <a:rPr lang="en-US" b="1" dirty="0">
                    <a:solidFill>
                      <a:srgbClr val="16233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Locale:</a:t>
                </a:r>
                <a:r>
                  <a:rPr lang="en-US" dirty="0">
                    <a:solidFill>
                      <a:srgbClr val="16233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</a:t>
                </a:r>
                <a:r>
                  <a:rPr lang="en-US" dirty="0"/>
                  <a:t>Ogni </a:t>
                </a:r>
                <a:r>
                  <a:rPr lang="en-US" dirty="0" err="1"/>
                  <a:t>singolo</a:t>
                </a:r>
                <a:r>
                  <a:rPr lang="en-US" dirty="0"/>
                  <a:t> </a:t>
                </a:r>
                <a:r>
                  <a:rPr lang="en-US" dirty="0" err="1"/>
                  <a:t>blocco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i="0" dirty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𝑖</m:t>
                        </m:r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i="0" dirty="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viene </a:t>
                </a:r>
                <a:r>
                  <a:rPr lang="en-US" dirty="0" err="1"/>
                  <a:t>tradotto</a:t>
                </a:r>
                <a:r>
                  <a:rPr lang="en-US" dirty="0"/>
                  <a:t> </a:t>
                </a:r>
                <a:r>
                  <a:rPr lang="en-US" dirty="0" err="1"/>
                  <a:t>direttamente</a:t>
                </a:r>
                <a:r>
                  <a:rPr lang="en-US" dirty="0"/>
                  <a:t> in </a:t>
                </a:r>
                <a:r>
                  <a:rPr lang="en-US" dirty="0" err="1"/>
                  <a:t>porte</a:t>
                </a:r>
                <a:r>
                  <a:rPr lang="en-US" dirty="0"/>
                  <a:t> </a:t>
                </a:r>
                <a:r>
                  <a:rPr lang="en-US" dirty="0" err="1"/>
                  <a:t>quantistiche</a:t>
                </a:r>
                <a:r>
                  <a:rPr lang="en-US" dirty="0"/>
                  <a:t> </a:t>
                </a:r>
                <a:r>
                  <a:rPr lang="en-US" dirty="0" err="1"/>
                  <a:t>elementari</a:t>
                </a:r>
                <a:r>
                  <a:rPr lang="en-US" dirty="0"/>
                  <a:t>.</a:t>
                </a:r>
              </a:p>
              <a:p>
                <a:pPr marL="279400" indent="-279400">
                  <a:buSzPct val="100000"/>
                  <a:buFontTx/>
                  <a:buChar char="■"/>
                </a:pPr>
                <a:endParaRPr lang="en-US" dirty="0"/>
              </a:p>
            </p:txBody>
          </p:sp>
        </mc:Choice>
        <mc:Fallback xmlns="">
          <p:sp>
            <p:nvSpPr>
              <p:cNvPr id="25" name="Text 7">
                <a:extLst>
                  <a:ext uri="{FF2B5EF4-FFF2-40B4-BE49-F238E27FC236}">
                    <a16:creationId xmlns:a16="http://schemas.microsoft.com/office/drawing/2014/main" id="{C9B64EBA-6147-767A-358E-5C825C20FB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" y="4445627"/>
                <a:ext cx="5151121" cy="1362669"/>
              </a:xfrm>
              <a:prstGeom prst="rect">
                <a:avLst/>
              </a:prstGeom>
              <a:blipFill>
                <a:blip r:embed="rId4"/>
                <a:stretch>
                  <a:fillRect l="-2485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9528C95B-5B11-CC46-6B6C-8F23F731223A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6067856" y="4773169"/>
              <a:ext cx="5452872" cy="144636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726436">
                      <a:extLst>
                        <a:ext uri="{9D8B030D-6E8A-4147-A177-3AD203B41FA5}">
                          <a16:colId xmlns:a16="http://schemas.microsoft.com/office/drawing/2014/main" val="2110275228"/>
                        </a:ext>
                      </a:extLst>
                    </a:gridCol>
                    <a:gridCol w="2726436">
                      <a:extLst>
                        <a:ext uri="{9D8B030D-6E8A-4147-A177-3AD203B41FA5}">
                          <a16:colId xmlns:a16="http://schemas.microsoft.com/office/drawing/2014/main" val="660264833"/>
                        </a:ext>
                      </a:extLst>
                    </a:gridCol>
                  </a:tblGrid>
                  <a:tr h="35527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400" dirty="0"/>
                            <a:t>Termine di 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oMath>
                          </a14:m>
                          <a:endParaRPr lang="en-US" sz="14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Blocchi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1400" b="1" i="1" kern="1200">
                                      <a:solidFill>
                                        <a:schemeClr val="lt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pPr>
                                <m:e>
                                  <m:r>
                                    <a:rPr lang="en-US" sz="1400" b="1" i="1" kern="1200">
                                      <a:solidFill>
                                        <a:schemeClr val="lt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sz="1400" b="1" i="0" kern="1200">
                                      <a:solidFill>
                                        <a:schemeClr val="lt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−</m:t>
                                  </m:r>
                                  <m:r>
                                    <a:rPr lang="en-US" sz="1400" b="1" i="1" kern="1200">
                                      <a:solidFill>
                                        <a:schemeClr val="lt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𝑖</m:t>
                                  </m:r>
                                  <m:sSub>
                                    <m:sSubPr>
                                      <m:ctrlPr>
                                        <a:rPr lang="en-US" sz="1400" b="1" i="1" kern="1200">
                                          <a:solidFill>
                                            <a:schemeClr val="lt1"/>
                                          </a:solidFill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b="1" i="1" kern="1200">
                                          <a:solidFill>
                                            <a:schemeClr val="lt1"/>
                                          </a:solidFill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𝐻</m:t>
                                      </m:r>
                                    </m:e>
                                    <m:sub>
                                      <m:r>
                                        <a:rPr lang="en-US" sz="1400" b="1" i="1" kern="1200">
                                          <a:solidFill>
                                            <a:schemeClr val="lt1"/>
                                          </a:solidFill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a:rPr lang="en-US" sz="1400" b="1" i="0" kern="1200">
                                      <a:solidFill>
                                        <a:schemeClr val="lt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Δ</m:t>
                                  </m:r>
                                  <m:r>
                                    <a:rPr lang="en-US" sz="1400" b="1" i="1" kern="1200">
                                      <a:solidFill>
                                        <a:schemeClr val="lt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𝑡</m:t>
                                  </m:r>
                                </m:sup>
                              </m:sSup>
                            </m:oMath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44284243"/>
                      </a:ext>
                    </a:extLst>
                  </a:tr>
                  <a:tr h="4033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400" i="1" dirty="0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  <m:d>
                                  <m:dPr>
                                    <m:ctrlPr>
                                      <a:rPr lang="en-US" sz="14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400" i="1" dirty="0" smtClean="0">
                                        <a:latin typeface="Cambria Math" panose="02040503050406030204" pitchFamily="18" charset="0"/>
                                      </a:rPr>
                                      <m:t>𝑍</m:t>
                                    </m:r>
                                    <m:r>
                                      <a:rPr lang="en-US" sz="1400" i="0" dirty="0" smtClean="0">
                                        <a:latin typeface="Cambria Math" panose="02040503050406030204" pitchFamily="18" charset="0"/>
                                      </a:rPr>
                                      <m:t>1​+</m:t>
                                    </m:r>
                                    <m:r>
                                      <a:rPr lang="en-US" sz="1400" i="1" dirty="0" smtClean="0">
                                        <a:latin typeface="Cambria Math" panose="02040503050406030204" pitchFamily="18" charset="0"/>
                                      </a:rPr>
                                      <m:t>𝑍</m:t>
                                    </m:r>
                                    <m:r>
                                      <a:rPr lang="en-US" sz="1400" i="0" dirty="0" smtClean="0">
                                        <a:latin typeface="Cambria Math" panose="02040503050406030204" pitchFamily="18" charset="0"/>
                                      </a:rPr>
                                      <m:t>2​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Sup>
                                <m:sSubSupPr>
                                  <m:ctrlP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𝑍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US" sz="1400" i="0" kern="1200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400" i="0" kern="1200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1</m:t>
                                      </m:r>
                                    </m:e>
                                  </m:d>
                                </m:sup>
                              </m:sSubSup>
                              <m:d>
                                <m:dPr>
                                  <m:ctrlP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𝑏</m:t>
                                  </m:r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𝜏</m:t>
                                  </m:r>
                                </m:e>
                              </m:d>
                            </m:oMath>
                          </a14:m>
                          <a:r>
                            <a:rPr lang="en-US" sz="1400" dirty="0"/>
                            <a:t>, </a:t>
                          </a:r>
                          <a14:m>
                            <m:oMath xmlns:m="http://schemas.openxmlformats.org/officeDocument/2006/math">
                              <m:sSubSup>
                                <m:sSubSupPr>
                                  <m:ctrlP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𝑍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US" sz="1400" i="0" kern="1200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400" i="0" kern="1200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2</m:t>
                                      </m:r>
                                    </m:e>
                                  </m:d>
                                </m:sup>
                              </m:sSubSup>
                              <m:d>
                                <m:dPr>
                                  <m:ctrlP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𝑏</m:t>
                                  </m:r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𝜏</m:t>
                                  </m:r>
                                </m:e>
                              </m:d>
                            </m:oMath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94692388"/>
                      </a:ext>
                    </a:extLst>
                  </a:tr>
                  <a:tr h="343878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400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𝐽</m:t>
                                </m:r>
                                <m:d>
                                  <m:dPr>
                                    <m:ctrlPr>
                                      <a:rPr lang="en-US" sz="140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40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US" sz="1400" i="0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1​</m:t>
                                    </m:r>
                                    <m:r>
                                      <a:rPr lang="en-US" sz="140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US" sz="1400" i="0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2​+</m:t>
                                    </m:r>
                                    <m:r>
                                      <a:rPr lang="en-US" sz="140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  <m:r>
                                      <a:rPr lang="en-US" sz="1400" i="0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1​</m:t>
                                    </m:r>
                                    <m:r>
                                      <a:rPr lang="en-US" sz="140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  <m:r>
                                      <a:rPr lang="en-US" sz="1400" i="0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2​+</m:t>
                                    </m:r>
                                    <m:r>
                                      <a:rPr lang="en-US" sz="140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𝑍</m:t>
                                    </m:r>
                                    <m:r>
                                      <a:rPr lang="en-US" sz="1400" i="0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1​</m:t>
                                    </m:r>
                                    <m:r>
                                      <a:rPr lang="en-US" sz="140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𝑍</m:t>
                                    </m:r>
                                    <m:r>
                                      <a:rPr lang="en-US" sz="1400" i="0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2​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𝑋𝑋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𝐽</m:t>
                                  </m:r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𝜏</m:t>
                                  </m:r>
                                  <m:r>
                                    <a:rPr lang="en-US" sz="1400" i="0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/2</m:t>
                                  </m:r>
                                </m:e>
                              </m:d>
                            </m:oMath>
                          </a14:m>
                          <a:r>
                            <a:rPr lang="en-US" sz="1400" dirty="0"/>
                            <a:t>,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𝑌𝑌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𝐽</m:t>
                                  </m:r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𝜏</m:t>
                                  </m:r>
                                  <m:r>
                                    <a:rPr lang="en-US" sz="1400" i="0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/2</m:t>
                                  </m:r>
                                </m:e>
                              </m:d>
                            </m:oMath>
                          </a14:m>
                          <a:r>
                            <a:rPr lang="en-US" sz="1400" dirty="0"/>
                            <a:t>,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𝑍𝑍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𝐽</m:t>
                                  </m:r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𝜏</m:t>
                                  </m:r>
                                  <m:r>
                                    <a:rPr lang="en-US" sz="1400" i="0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/2</m:t>
                                  </m:r>
                                </m:e>
                              </m:d>
                            </m:oMath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3067340"/>
                      </a:ext>
                    </a:extLst>
                  </a:tr>
                  <a:tr h="343878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400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  <m:d>
                                  <m:dPr>
                                    <m:ctrlPr>
                                      <a:rPr lang="en-US" sz="140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40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US" sz="1400" i="0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1​</m:t>
                                    </m:r>
                                    <m:r>
                                      <a:rPr lang="en-US" sz="140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𝑍</m:t>
                                    </m:r>
                                    <m:r>
                                      <a:rPr lang="en-US" sz="1400" i="0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2​−</m:t>
                                    </m:r>
                                    <m:r>
                                      <a:rPr lang="en-US" sz="140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𝑍</m:t>
                                    </m:r>
                                    <m:r>
                                      <a:rPr lang="en-US" sz="1400" i="0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1​</m:t>
                                    </m:r>
                                    <m:r>
                                      <a:rPr lang="en-US" sz="140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US" sz="1400" i="0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2​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𝑍𝑍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𝐷</m:t>
                                  </m:r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𝜏</m:t>
                                  </m:r>
                                  <m:r>
                                    <a:rPr lang="en-US" sz="1400" i="0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/2</m:t>
                                  </m:r>
                                </m:e>
                              </m:d>
                            </m:oMath>
                          </a14:m>
                          <a:r>
                            <a:rPr lang="en-US" sz="1400" dirty="0"/>
                            <a:t>,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𝑍𝑍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400" i="0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i="0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−</m:t>
                                  </m:r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𝐷</m:t>
                                  </m:r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𝜏</m:t>
                                  </m:r>
                                  <m:r>
                                    <a:rPr lang="en-US" sz="1400" i="0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/2</m:t>
                                  </m:r>
                                </m:e>
                              </m:d>
                            </m:oMath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3127168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9528C95B-5B11-CC46-6B6C-8F23F731223A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6067856" y="4773169"/>
              <a:ext cx="5452872" cy="144636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726436">
                      <a:extLst>
                        <a:ext uri="{9D8B030D-6E8A-4147-A177-3AD203B41FA5}">
                          <a16:colId xmlns:a16="http://schemas.microsoft.com/office/drawing/2014/main" val="2110275228"/>
                        </a:ext>
                      </a:extLst>
                    </a:gridCol>
                    <a:gridCol w="2726436">
                      <a:extLst>
                        <a:ext uri="{9D8B030D-6E8A-4147-A177-3AD203B41FA5}">
                          <a16:colId xmlns:a16="http://schemas.microsoft.com/office/drawing/2014/main" val="660264833"/>
                        </a:ext>
                      </a:extLst>
                    </a:gridCol>
                  </a:tblGrid>
                  <a:tr h="35527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5"/>
                          <a:stretch>
                            <a:fillRect l="-223" t="-3448" r="-100893" b="-31551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100447" t="-3448" r="-1119" b="-31551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44284243"/>
                      </a:ext>
                    </a:extLst>
                  </a:tr>
                  <a:tr h="4033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223" t="-89552" r="-100893" b="-17313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100447" t="-89552" r="-1119" b="-17313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94692388"/>
                      </a:ext>
                    </a:extLst>
                  </a:tr>
                  <a:tr h="34387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223" t="-226786" r="-100893" b="-1071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100447" t="-226786" r="-1119" b="-10714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3067340"/>
                      </a:ext>
                    </a:extLst>
                  </a:tr>
                  <a:tr h="34387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223" t="-321053" r="-100893" b="-52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100447" t="-321053" r="-1119" b="-526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3127168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7FDBE2E-A3C7-AAC5-4BF9-18AB83260F2F}"/>
                  </a:ext>
                </a:extLst>
              </p:cNvPr>
              <p:cNvSpPr txBox="1"/>
              <p:nvPr/>
            </p:nvSpPr>
            <p:spPr>
              <a:xfrm>
                <a:off x="6482975" y="6359768"/>
                <a:ext cx="504049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0" dirty="0">
                        <a:latin typeface="Cambria Math" panose="02040503050406030204" pitchFamily="18" charset="0"/>
                      </a:rPr>
                      <m:t>1​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sz="1200" i="0" dirty="0">
                        <a:latin typeface="Cambria Math" panose="02040503050406030204" pitchFamily="18" charset="0"/>
                      </a:rPr>
                      <m:t>2​⟶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𝐻</m:t>
                    </m:r>
                    <m:d>
                      <m:dPr>
                        <m:ctrlPr>
                          <a:rPr lang="en-US" sz="1200" i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0" dirty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𝑅𝑍𝑍</m:t>
                    </m:r>
                    <m:r>
                      <a:rPr lang="en-US" sz="1200" i="0" dirty="0">
                        <a:latin typeface="Cambria Math" panose="02040503050406030204" pitchFamily="18" charset="0"/>
                      </a:rPr>
                      <m:t>​</m:t>
                    </m:r>
                    <m:d>
                      <m:d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𝜏</m:t>
                        </m:r>
                        <m:r>
                          <a:rPr lang="en-US" sz="1200" i="0" dirty="0">
                            <a:latin typeface="Cambria Math" panose="02040503050406030204" pitchFamily="18" charset="0"/>
                          </a:rPr>
                          <m:t>/2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𝐻</m:t>
                    </m:r>
                    <m:d>
                      <m:dPr>
                        <m:ctrlPr>
                          <a:rPr lang="en-US" sz="1200" i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0" dirty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lang="en-US" sz="1200" dirty="0"/>
                  <a:t>;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sz="1200" i="0" dirty="0">
                        <a:latin typeface="Cambria Math" panose="02040503050406030204" pitchFamily="18" charset="0"/>
                      </a:rPr>
                      <m:t>1​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0" dirty="0">
                        <a:latin typeface="Cambria Math" panose="02040503050406030204" pitchFamily="18" charset="0"/>
                      </a:rPr>
                      <m:t>2​⟶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𝐻</m:t>
                    </m:r>
                    <m:d>
                      <m:dPr>
                        <m:ctrlPr>
                          <a:rPr lang="en-US" sz="1200" i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0" dirty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𝑅𝑍𝑍</m:t>
                    </m:r>
                    <m:r>
                      <a:rPr lang="en-US" sz="1200" i="0" dirty="0">
                        <a:latin typeface="Cambria Math" panose="02040503050406030204" pitchFamily="18" charset="0"/>
                      </a:rPr>
                      <m:t>​</m:t>
                    </m:r>
                    <m:d>
                      <m:dPr>
                        <m:ctrlPr>
                          <a:rPr lang="en-US" sz="1200" i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0" dirty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𝜏</m:t>
                        </m:r>
                        <m:r>
                          <a:rPr lang="en-US" sz="1200" i="0" dirty="0">
                            <a:latin typeface="Cambria Math" panose="02040503050406030204" pitchFamily="18" charset="0"/>
                          </a:rPr>
                          <m:t>/2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𝐻</m:t>
                    </m:r>
                    <m:d>
                      <m:dPr>
                        <m:ctrlPr>
                          <a:rPr lang="en-US" sz="1200" i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0" dirty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7FDBE2E-A3C7-AAC5-4BF9-18AB83260F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2975" y="6359768"/>
                <a:ext cx="5040496" cy="276999"/>
              </a:xfrm>
              <a:prstGeom prst="rect">
                <a:avLst/>
              </a:prstGeom>
              <a:blipFill>
                <a:blip r:embed="rId6"/>
                <a:stretch>
                  <a:fillRect b="-152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C1968B5-0E0C-82AF-3A13-668CB350F3BF}"/>
                  </a:ext>
                </a:extLst>
              </p:cNvPr>
              <p:cNvSpPr txBox="1"/>
              <p:nvPr/>
            </p:nvSpPr>
            <p:spPr>
              <a:xfrm>
                <a:off x="1388601" y="4147832"/>
                <a:ext cx="935820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200" i="1" dirty="0" smtClean="0">
                          <a:latin typeface="Cambria Math" panose="02040503050406030204" pitchFamily="18" charset="0"/>
                        </a:rPr>
                        <m:t>𝑅𝑍</m:t>
                      </m:r>
                      <m:d>
                        <m:dPr>
                          <m:ctrlPr>
                            <a:rPr lang="en-US" sz="1200" i="0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0" dirty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sz="1200" i="0" dirty="0">
                          <a:latin typeface="Cambria Math" panose="02040503050406030204" pitchFamily="18" charset="0"/>
                        </a:rPr>
                        <m:t>​</m:t>
                      </m:r>
                      <m:d>
                        <m:dPr>
                          <m:ctrlPr>
                            <a:rPr lang="en-US" sz="1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 dirty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1200" i="1" dirty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</m:d>
                      <m:r>
                        <a:rPr lang="en-US" sz="1200" i="0" dirty="0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sz="1200" i="1" dirty="0">
                          <a:latin typeface="Cambria Math" panose="02040503050406030204" pitchFamily="18" charset="0"/>
                        </a:rPr>
                        <m:t>𝑅𝑍</m:t>
                      </m:r>
                      <m:d>
                        <m:dPr>
                          <m:ctrlPr>
                            <a:rPr lang="en-US" sz="1200" i="0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0" dirty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  <m:r>
                        <a:rPr lang="en-US" sz="1200" i="0" dirty="0">
                          <a:latin typeface="Cambria Math" panose="02040503050406030204" pitchFamily="18" charset="0"/>
                        </a:rPr>
                        <m:t>​</m:t>
                      </m:r>
                      <m:d>
                        <m:dPr>
                          <m:ctrlPr>
                            <a:rPr lang="en-US" sz="1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 dirty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1200" i="1" dirty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</m:d>
                      <m:r>
                        <a:rPr lang="en-US" sz="1200" i="0" dirty="0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sz="1200" i="1" dirty="0">
                          <a:latin typeface="Cambria Math" panose="02040503050406030204" pitchFamily="18" charset="0"/>
                        </a:rPr>
                        <m:t>𝑅𝑋𝑋</m:t>
                      </m:r>
                      <m:r>
                        <a:rPr lang="en-US" sz="1200" i="0" dirty="0">
                          <a:latin typeface="Cambria Math" panose="02040503050406030204" pitchFamily="18" charset="0"/>
                        </a:rPr>
                        <m:t>​</m:t>
                      </m:r>
                      <m:d>
                        <m:dPr>
                          <m:ctrlPr>
                            <a:rPr lang="en-US" sz="1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 dirty="0">
                              <a:latin typeface="Cambria Math" panose="02040503050406030204" pitchFamily="18" charset="0"/>
                            </a:rPr>
                            <m:t>𝐽</m:t>
                          </m:r>
                          <m:r>
                            <a:rPr lang="en-US" sz="1200" i="1" dirty="0"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lang="en-US" sz="1200" i="0" dirty="0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  <m:r>
                        <a:rPr lang="en-US" sz="1200" i="0" dirty="0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sz="1200" i="1" dirty="0">
                          <a:latin typeface="Cambria Math" panose="02040503050406030204" pitchFamily="18" charset="0"/>
                        </a:rPr>
                        <m:t>𝑅𝑌𝑌</m:t>
                      </m:r>
                      <m:r>
                        <a:rPr lang="en-US" sz="1200" i="0" dirty="0">
                          <a:latin typeface="Cambria Math" panose="02040503050406030204" pitchFamily="18" charset="0"/>
                        </a:rPr>
                        <m:t>​</m:t>
                      </m:r>
                      <m:d>
                        <m:dPr>
                          <m:ctrlPr>
                            <a:rPr lang="en-US" sz="1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 dirty="0">
                              <a:latin typeface="Cambria Math" panose="02040503050406030204" pitchFamily="18" charset="0"/>
                            </a:rPr>
                            <m:t>𝐽</m:t>
                          </m:r>
                          <m:r>
                            <a:rPr lang="en-US" sz="1200" i="1" dirty="0"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lang="en-US" sz="1200" i="0" dirty="0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  <m:r>
                        <a:rPr lang="en-US" sz="1200" i="0" dirty="0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sz="1200" i="1" dirty="0">
                          <a:latin typeface="Cambria Math" panose="02040503050406030204" pitchFamily="18" charset="0"/>
                        </a:rPr>
                        <m:t>𝑅𝑍𝑍</m:t>
                      </m:r>
                      <m:r>
                        <a:rPr lang="en-US" sz="1200" i="0" dirty="0">
                          <a:latin typeface="Cambria Math" panose="02040503050406030204" pitchFamily="18" charset="0"/>
                        </a:rPr>
                        <m:t>​</m:t>
                      </m:r>
                      <m:d>
                        <m:dPr>
                          <m:ctrlPr>
                            <a:rPr lang="en-US" sz="1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 dirty="0">
                              <a:latin typeface="Cambria Math" panose="02040503050406030204" pitchFamily="18" charset="0"/>
                            </a:rPr>
                            <m:t>𝐽</m:t>
                          </m:r>
                          <m:r>
                            <a:rPr lang="en-US" sz="1200" i="1" dirty="0"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lang="en-US" sz="1200" i="0" dirty="0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  <m:r>
                        <a:rPr lang="en-US" sz="1200" i="0" dirty="0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sz="1200" i="1" dirty="0">
                          <a:latin typeface="Cambria Math" panose="02040503050406030204" pitchFamily="18" charset="0"/>
                        </a:rPr>
                        <m:t>𝑏𝑙𝑜𝑐𝑐𝑜</m:t>
                      </m:r>
                      <m:r>
                        <a:rPr lang="en-US" sz="1200" i="0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i="1" dirty="0">
                          <a:latin typeface="Cambria Math" panose="02040503050406030204" pitchFamily="18" charset="0"/>
                        </a:rPr>
                        <m:t>𝐷𝑀</m:t>
                      </m:r>
                      <m:r>
                        <a:rPr lang="en-US" sz="1200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i="1" dirty="0"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ctrlPr>
                            <a:rPr lang="en-US" sz="1200" i="0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0" dirty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sz="1200" i="1" dirty="0">
                          <a:latin typeface="Cambria Math" panose="02040503050406030204" pitchFamily="18" charset="0"/>
                        </a:rPr>
                        <m:t>𝑅𝑍𝑍</m:t>
                      </m:r>
                      <m:r>
                        <a:rPr lang="en-US" sz="1200" i="0" dirty="0">
                          <a:latin typeface="Cambria Math" panose="02040503050406030204" pitchFamily="18" charset="0"/>
                        </a:rPr>
                        <m:t>​</m:t>
                      </m:r>
                      <m:d>
                        <m:dPr>
                          <m:ctrlPr>
                            <a:rPr lang="en-US" sz="1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 dirty="0"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sz="1200" i="1" dirty="0"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lang="en-US" sz="1200" i="0" dirty="0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  <m:r>
                        <a:rPr lang="en-US" sz="1200" i="1" dirty="0"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ctrlPr>
                            <a:rPr lang="en-US" sz="1200" i="0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0" dirty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sz="1200" i="0" dirty="0">
                          <a:latin typeface="Cambria Math" panose="02040503050406030204" pitchFamily="18" charset="0"/>
                        </a:rPr>
                        <m:t>​​→</m:t>
                      </m:r>
                      <m:r>
                        <a:rPr lang="en-US" sz="1200" i="1" dirty="0">
                          <a:latin typeface="Cambria Math" panose="02040503050406030204" pitchFamily="18" charset="0"/>
                        </a:rPr>
                        <m:t>𝑏𝑙𝑜𝑐𝑐𝑜</m:t>
                      </m:r>
                      <m:r>
                        <a:rPr lang="en-US" sz="1200" i="0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i="1" dirty="0">
                          <a:latin typeface="Cambria Math" panose="02040503050406030204" pitchFamily="18" charset="0"/>
                        </a:rPr>
                        <m:t>𝐷𝑀</m:t>
                      </m:r>
                      <m:r>
                        <a:rPr lang="en-US" sz="1200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i="1" dirty="0"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ctrlPr>
                            <a:rPr lang="en-US" sz="1200" i="0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0" dirty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  <m:r>
                        <a:rPr lang="en-US" sz="1200" i="1" dirty="0">
                          <a:latin typeface="Cambria Math" panose="02040503050406030204" pitchFamily="18" charset="0"/>
                        </a:rPr>
                        <m:t>𝑅𝑍𝑍</m:t>
                      </m:r>
                      <m:r>
                        <a:rPr lang="en-US" sz="1200" i="0" dirty="0">
                          <a:latin typeface="Cambria Math" panose="02040503050406030204" pitchFamily="18" charset="0"/>
                        </a:rPr>
                        <m:t>​</m:t>
                      </m:r>
                      <m:d>
                        <m:dPr>
                          <m:ctrlPr>
                            <a:rPr lang="en-US" sz="1200" i="0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0" dirty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200" i="1" dirty="0"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sz="1200" i="1" dirty="0"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lang="en-US" sz="1200" i="0" dirty="0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  <m:r>
                        <a:rPr lang="en-US" sz="1200" i="1" dirty="0"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ctrlPr>
                            <a:rPr lang="en-US" sz="1200" i="0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0" dirty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  <m:r>
                        <a:rPr lang="en-US" sz="1200" i="0" dirty="0">
                          <a:latin typeface="Cambria Math" panose="02040503050406030204" pitchFamily="18" charset="0"/>
                        </a:rPr>
                        <m:t>​​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C1968B5-0E0C-82AF-3A13-668CB350F3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8601" y="4147832"/>
                <a:ext cx="9358203" cy="276999"/>
              </a:xfrm>
              <a:prstGeom prst="rect">
                <a:avLst/>
              </a:prstGeom>
              <a:blipFill>
                <a:blip r:embed="rId7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itolo trimero">
            <a:extLst>
              <a:ext uri="{FF2B5EF4-FFF2-40B4-BE49-F238E27FC236}">
                <a16:creationId xmlns:a16="http://schemas.microsoft.com/office/drawing/2014/main" id="{391A99A2-3C52-4FAE-0EE5-5B67D764AA14}"/>
              </a:ext>
            </a:extLst>
          </p:cNvPr>
          <p:cNvSpPr txBox="1"/>
          <p:nvPr/>
        </p:nvSpPr>
        <p:spPr>
          <a:xfrm>
            <a:off x="611936" y="1554480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 err="1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Implementazione</a:t>
            </a:r>
            <a:r>
              <a:rPr lang="en-US" sz="2100" b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100" b="1" dirty="0" err="1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</a:t>
            </a:r>
            <a:r>
              <a:rPr lang="en-US" sz="2100" b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Circuito </a:t>
            </a:r>
            <a:r>
              <a:rPr lang="en-US" sz="2100" b="1" dirty="0" err="1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Quantistico</a:t>
            </a:r>
            <a:r>
              <a:rPr lang="en-US" sz="2100" b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</a:t>
            </a:r>
            <a:r>
              <a:rPr lang="en-US" sz="2100" b="1" dirty="0" err="1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</a:t>
            </a:r>
            <a:r>
              <a:rPr lang="en-US" sz="2100" b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qubit (</a:t>
            </a:r>
            <a:r>
              <a:rPr lang="en-US" sz="2100" b="1" dirty="0" err="1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Trimero</a:t>
            </a:r>
            <a:r>
              <a:rPr lang="en-US" sz="2100" b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210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0FA1B48-4521-9172-6400-DCC8A5CF480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9947" y="2148840"/>
            <a:ext cx="11413066" cy="227599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68889EB-DC5E-75A4-13C2-28B4779EE3A4}"/>
                  </a:ext>
                </a:extLst>
              </p:cNvPr>
              <p:cNvSpPr txBox="1"/>
              <p:nvPr/>
            </p:nvSpPr>
            <p:spPr>
              <a:xfrm>
                <a:off x="8649546" y="5808296"/>
                <a:ext cx="3183467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Il </a:t>
                </a:r>
                <a:r>
                  <a:rPr lang="en-US" sz="1200" dirty="0" err="1"/>
                  <a:t>dimero</a:t>
                </a:r>
                <a:r>
                  <a:rPr lang="en-US" sz="1200" dirty="0"/>
                  <a:t> </a:t>
                </a:r>
                <a:r>
                  <a:rPr lang="en-US" sz="1200" dirty="0" err="1"/>
                  <a:t>adotta</a:t>
                </a:r>
                <a:r>
                  <a:rPr lang="en-US" sz="1200" dirty="0"/>
                  <a:t> la </a:t>
                </a:r>
                <a:r>
                  <a:rPr lang="en-US" sz="1200" dirty="0" err="1"/>
                  <a:t>convenzione</a:t>
                </a:r>
                <a:r>
                  <a:rPr lang="en-US" sz="1200" dirty="0"/>
                  <a:t> a </a:t>
                </a:r>
                <a:r>
                  <a:rPr lang="en-US" sz="1200" dirty="0" err="1"/>
                  <a:t>operatori</a:t>
                </a:r>
                <a:r>
                  <a:rPr lang="en-US" sz="1200" dirty="0"/>
                  <a:t> di spin (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sz="1200">
                        <a:latin typeface="Cambria Math" panose="02040503050406030204" pitchFamily="18" charset="0"/>
                      </a:rPr>
                      <m:t>/2</m:t>
                    </m:r>
                  </m:oMath>
                </a14:m>
                <a:r>
                  <a:rPr lang="en-US" sz="1200" dirty="0"/>
                  <a:t>s), il </a:t>
                </a:r>
                <a:r>
                  <a:rPr lang="en-US" sz="1200" dirty="0" err="1"/>
                  <a:t>trimero</a:t>
                </a:r>
                <a:r>
                  <a:rPr lang="en-US" sz="1200" dirty="0"/>
                  <a:t> la </a:t>
                </a:r>
                <a:r>
                  <a:rPr lang="en-US" sz="1200" dirty="0" err="1"/>
                  <a:t>convenzione</a:t>
                </a:r>
                <a:r>
                  <a:rPr lang="en-US" sz="1200" dirty="0"/>
                  <a:t> </a:t>
                </a:r>
                <a:r>
                  <a:rPr lang="en-US" sz="1200" dirty="0" err="1"/>
                  <a:t>diretta</a:t>
                </a:r>
                <a:r>
                  <a:rPr lang="en-US" sz="1200" dirty="0"/>
                  <a:t> in Pauli - da cui il </a:t>
                </a:r>
                <a:r>
                  <a:rPr lang="en-US" sz="1200" dirty="0" err="1"/>
                  <a:t>diverso</a:t>
                </a:r>
                <a:r>
                  <a:rPr lang="en-US" sz="1200" dirty="0"/>
                  <a:t> </a:t>
                </a:r>
                <a:r>
                  <a:rPr lang="en-US" sz="1200" dirty="0" err="1"/>
                  <a:t>rapporto</a:t>
                </a:r>
                <a:r>
                  <a:rPr lang="en-US" sz="1200" dirty="0"/>
                  <a:t> </a:t>
                </a:r>
                <a:r>
                  <a:rPr lang="en-US" sz="1200" dirty="0" err="1"/>
                  <a:t>numerico</a:t>
                </a:r>
                <a:r>
                  <a:rPr lang="en-US" sz="1200" dirty="0"/>
                  <a:t> </a:t>
                </a:r>
                <a:r>
                  <a:rPr lang="en-US" sz="1200" dirty="0" err="1"/>
                  <a:t>fra</a:t>
                </a:r>
                <a:r>
                  <a:rPr lang="en-US" sz="1200" dirty="0"/>
                  <a:t>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sz="1200" dirty="0"/>
                  <a:t> e </a:t>
                </a:r>
                <a:r>
                  <a:rPr lang="en-US" sz="1200" dirty="0" err="1"/>
                  <a:t>gli</a:t>
                </a:r>
                <a:r>
                  <a:rPr lang="en-US" sz="1200" dirty="0"/>
                  <a:t> </a:t>
                </a:r>
                <a:r>
                  <a:rPr lang="en-US" sz="1200" dirty="0" err="1"/>
                  <a:t>angoli</a:t>
                </a:r>
                <a:r>
                  <a:rPr lang="en-US" sz="1200" dirty="0"/>
                  <a:t> </a:t>
                </a:r>
                <a:r>
                  <a:rPr lang="en-US" sz="1200" dirty="0" err="1"/>
                  <a:t>dei</a:t>
                </a:r>
                <a:r>
                  <a:rPr lang="en-US" sz="1200" dirty="0"/>
                  <a:t> gate </a:t>
                </a:r>
                <a:r>
                  <a:rPr lang="en-US" sz="1200" dirty="0" err="1"/>
                  <a:t>nei</a:t>
                </a:r>
                <a:r>
                  <a:rPr lang="en-US" sz="1200" dirty="0"/>
                  <a:t> due </a:t>
                </a:r>
                <a:r>
                  <a:rPr lang="en-US" sz="1200" dirty="0" err="1"/>
                  <a:t>casi</a:t>
                </a:r>
                <a:r>
                  <a:rPr lang="en-US" sz="1200" dirty="0"/>
                  <a:t>.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68889EB-DC5E-75A4-13C2-28B4779EE3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9546" y="5808296"/>
                <a:ext cx="3183467" cy="830997"/>
              </a:xfrm>
              <a:prstGeom prst="rect">
                <a:avLst/>
              </a:prstGeom>
              <a:blipFill>
                <a:blip r:embed="rId9"/>
                <a:stretch>
                  <a:fillRect l="-192" t="-735" b="-51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6" name="Table 15">
                <a:extLst>
                  <a:ext uri="{FF2B5EF4-FFF2-40B4-BE49-F238E27FC236}">
                    <a16:creationId xmlns:a16="http://schemas.microsoft.com/office/drawing/2014/main" id="{D97C2F76-C34F-1B53-B74C-F9EFF70CE874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419947" y="4287157"/>
              <a:ext cx="7691121" cy="231876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976120">
                      <a:extLst>
                        <a:ext uri="{9D8B030D-6E8A-4147-A177-3AD203B41FA5}">
                          <a16:colId xmlns:a16="http://schemas.microsoft.com/office/drawing/2014/main" val="2110275228"/>
                        </a:ext>
                      </a:extLst>
                    </a:gridCol>
                    <a:gridCol w="1642533">
                      <a:extLst>
                        <a:ext uri="{9D8B030D-6E8A-4147-A177-3AD203B41FA5}">
                          <a16:colId xmlns:a16="http://schemas.microsoft.com/office/drawing/2014/main" val="510094434"/>
                        </a:ext>
                      </a:extLst>
                    </a:gridCol>
                    <a:gridCol w="4072468">
                      <a:extLst>
                        <a:ext uri="{9D8B030D-6E8A-4147-A177-3AD203B41FA5}">
                          <a16:colId xmlns:a16="http://schemas.microsoft.com/office/drawing/2014/main" val="660264833"/>
                        </a:ext>
                      </a:extLst>
                    </a:gridCol>
                  </a:tblGrid>
                  <a:tr h="253013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200" dirty="0"/>
                            <a:t>Termine di </a:t>
                          </a:r>
                          <a14:m>
                            <m:oMath xmlns:m="http://schemas.openxmlformats.org/officeDocument/2006/math"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oMath>
                          </a14:m>
                          <a:endParaRPr 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/>
                            <a:t>Qubit</a:t>
                          </a:r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Blocchi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1200" b="1" i="1" kern="1200">
                                      <a:solidFill>
                                        <a:schemeClr val="lt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pPr>
                                <m:e>
                                  <m:r>
                                    <a:rPr lang="en-US" sz="1200" b="1" i="1" kern="1200">
                                      <a:solidFill>
                                        <a:schemeClr val="lt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sz="1200" b="1" i="0" kern="1200">
                                      <a:solidFill>
                                        <a:schemeClr val="lt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−</m:t>
                                  </m:r>
                                  <m:r>
                                    <a:rPr lang="en-US" sz="1200" b="1" i="1" kern="1200">
                                      <a:solidFill>
                                        <a:schemeClr val="lt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𝑖</m:t>
                                  </m:r>
                                  <m:sSub>
                                    <m:sSubPr>
                                      <m:ctrlPr>
                                        <a:rPr lang="en-US" sz="1200" b="1" i="1" kern="1200">
                                          <a:solidFill>
                                            <a:schemeClr val="lt1"/>
                                          </a:solidFill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b="1" i="1" kern="1200">
                                          <a:solidFill>
                                            <a:schemeClr val="lt1"/>
                                          </a:solidFill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𝐻</m:t>
                                      </m:r>
                                    </m:e>
                                    <m:sub>
                                      <m:r>
                                        <a:rPr lang="en-US" sz="1200" b="1" i="1" kern="1200">
                                          <a:solidFill>
                                            <a:schemeClr val="lt1"/>
                                          </a:solidFill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a:rPr lang="en-US" sz="1200" b="1" i="0" kern="1200">
                                      <a:solidFill>
                                        <a:schemeClr val="lt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Δ</m:t>
                                  </m:r>
                                  <m:r>
                                    <a:rPr lang="en-US" sz="1200" b="1" i="1" kern="1200">
                                      <a:solidFill>
                                        <a:schemeClr val="lt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𝑡</m:t>
                                  </m:r>
                                </m:sup>
                              </m:sSup>
                            </m:oMath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44284243"/>
                      </a:ext>
                    </a:extLst>
                  </a:tr>
                  <a:tr h="243108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nor/>
                                  </m:rPr>
                                  <a:rPr lang="en-US" sz="1200" i="0" smtClean="0"/>
                                  <m:t>Scambio(1,2)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d>
                                  <m:dPr>
                                    <m:ctrlPr>
                                      <a:rPr lang="en-US" sz="12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200" i="1" dirty="0" smtClean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 sz="1200" i="0" dirty="0" smtClean="0">
                                        <a:latin typeface="Cambria Math" panose="02040503050406030204" pitchFamily="18" charset="0"/>
                                      </a:rPr>
                                      <m:t>2​,</m:t>
                                    </m:r>
                                    <m:r>
                                      <a:rPr lang="en-US" sz="1200" i="1" dirty="0" smtClean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 sz="1200" i="0" dirty="0" smtClean="0">
                                        <a:latin typeface="Cambria Math" panose="02040503050406030204" pitchFamily="18" charset="0"/>
                                      </a:rPr>
                                      <m:t>1​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200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𝑅𝑋𝑋</m:t>
                                </m:r>
                                <m:r>
                                  <a:rPr lang="en-US" sz="1200" i="0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​</m:t>
                                </m:r>
                                <m:d>
                                  <m:dPr>
                                    <m:ctrlPr>
                                      <a:rPr lang="en-US" sz="1200" i="0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200" i="0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en-US" sz="120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𝐽</m:t>
                                    </m:r>
                                    <m:r>
                                      <a:rPr lang="en-US" sz="120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𝜏</m:t>
                                    </m:r>
                                  </m:e>
                                </m:d>
                                <m:r>
                                  <a:rPr lang="en-US" sz="1200" i="0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200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𝑅𝑌𝑌</m:t>
                                </m:r>
                                <m:r>
                                  <a:rPr lang="en-US" sz="1200" i="0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​</m:t>
                                </m:r>
                                <m:d>
                                  <m:dPr>
                                    <m:ctrlPr>
                                      <a:rPr lang="en-US" sz="1200" i="0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200" i="0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en-US" sz="120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𝐽</m:t>
                                    </m:r>
                                    <m:r>
                                      <a:rPr lang="en-US" sz="120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𝜏</m:t>
                                    </m:r>
                                  </m:e>
                                </m:d>
                                <m:r>
                                  <a:rPr lang="en-US" sz="1200" i="0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200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𝑅𝑍𝑍</m:t>
                                </m:r>
                                <m:r>
                                  <a:rPr lang="en-US" sz="1200" i="0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​</m:t>
                                </m:r>
                                <m:d>
                                  <m:dPr>
                                    <m:ctrlPr>
                                      <a:rPr lang="en-US" sz="1200" i="0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200" i="0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en-US" sz="120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𝐽</m:t>
                                    </m:r>
                                    <m:r>
                                      <a:rPr lang="en-US" sz="120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𝜏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94692388"/>
                      </a:ext>
                    </a:extLst>
                  </a:tr>
                  <a:tr h="243108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nor/>
                                  </m:rPr>
                                  <a:rPr lang="en-US" sz="1200" i="0" smtClean="0"/>
                                  <m:t>Scambio(</m:t>
                                </m:r>
                                <m:r>
                                  <m:rPr>
                                    <m:nor/>
                                  </m:rPr>
                                  <a:rPr lang="en-US" sz="1200" b="0" i="0" smtClean="0"/>
                                  <m:t>2</m:t>
                                </m:r>
                                <m:r>
                                  <m:rPr>
                                    <m:nor/>
                                  </m:rPr>
                                  <a:rPr lang="en-US" sz="1200" i="0" smtClean="0"/>
                                  <m:t>,</m:t>
                                </m:r>
                                <m:r>
                                  <m:rPr>
                                    <m:nor/>
                                  </m:rPr>
                                  <a:rPr lang="en-US" sz="1200" b="0" i="0" smtClean="0"/>
                                  <m:t>3</m:t>
                                </m:r>
                                <m:r>
                                  <m:rPr>
                                    <m:nor/>
                                  </m:rPr>
                                  <a:rPr lang="en-US" sz="1200" i="0" smtClean="0"/>
                                  <m:t>)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d>
                                  <m:dPr>
                                    <m:ctrlPr>
                                      <a:rPr lang="en-US" sz="12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200" i="1" dirty="0" smtClean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 sz="1200" i="0" dirty="0" smtClean="0">
                                        <a:latin typeface="Cambria Math" panose="02040503050406030204" pitchFamily="18" charset="0"/>
                                      </a:rPr>
                                      <m:t>1​,</m:t>
                                    </m:r>
                                    <m:r>
                                      <a:rPr lang="en-US" sz="1200" i="1" dirty="0" smtClean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 sz="1200" i="0" dirty="0" smtClean="0">
                                        <a:latin typeface="Cambria Math" panose="02040503050406030204" pitchFamily="18" charset="0"/>
                                      </a:rPr>
                                      <m:t>0​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200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𝑅𝑋𝑋</m:t>
                                </m:r>
                                <m:r>
                                  <a:rPr lang="en-US" sz="1200" i="0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​</m:t>
                                </m:r>
                                <m:d>
                                  <m:dPr>
                                    <m:ctrlPr>
                                      <a:rPr lang="en-US" sz="1200" i="0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200" i="0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en-US" sz="120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𝐽</m:t>
                                    </m:r>
                                    <m:r>
                                      <a:rPr lang="en-US" sz="1200" i="0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  <m:r>
                                      <a:rPr lang="en-US" sz="120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𝜏</m:t>
                                    </m:r>
                                  </m:e>
                                </m:d>
                                <m:r>
                                  <a:rPr lang="en-US" sz="1200" i="0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200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𝑅𝑌𝑌</m:t>
                                </m:r>
                                <m:r>
                                  <a:rPr lang="en-US" sz="1200" i="0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​</m:t>
                                </m:r>
                                <m:d>
                                  <m:dPr>
                                    <m:ctrlPr>
                                      <a:rPr lang="en-US" sz="1200" i="0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200" i="0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en-US" sz="120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𝐽</m:t>
                                    </m:r>
                                    <m:r>
                                      <a:rPr lang="en-US" sz="1200" i="0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  <m:r>
                                      <a:rPr lang="en-US" sz="120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𝜏</m:t>
                                    </m:r>
                                  </m:e>
                                </m:d>
                                <m:r>
                                  <a:rPr lang="en-US" sz="1200" i="0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200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𝑅𝑍𝑍</m:t>
                                </m:r>
                                <m:r>
                                  <a:rPr lang="en-US" sz="1200" i="0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​</m:t>
                                </m:r>
                                <m:d>
                                  <m:dPr>
                                    <m:ctrlPr>
                                      <a:rPr lang="en-US" sz="1200" i="0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200" i="0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en-US" sz="120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𝐽</m:t>
                                    </m:r>
                                    <m:r>
                                      <a:rPr lang="en-US" sz="1200" i="0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  <m:r>
                                      <a:rPr lang="en-US" sz="120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𝜏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3067340"/>
                      </a:ext>
                    </a:extLst>
                  </a:tr>
                  <a:tr h="243108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nor/>
                                  </m:rPr>
                                  <a:rPr lang="en-US" sz="1200" i="0" smtClean="0"/>
                                  <m:t>Scambio(</m:t>
                                </m:r>
                                <m:r>
                                  <m:rPr>
                                    <m:nor/>
                                  </m:rPr>
                                  <a:rPr lang="en-US" sz="1200" b="0" i="0" smtClean="0"/>
                                  <m:t>3</m:t>
                                </m:r>
                                <m:r>
                                  <m:rPr>
                                    <m:nor/>
                                  </m:rPr>
                                  <a:rPr lang="en-US" sz="1200" i="0" smtClean="0"/>
                                  <m:t>,</m:t>
                                </m:r>
                                <m:r>
                                  <m:rPr>
                                    <m:nor/>
                                  </m:rPr>
                                  <a:rPr lang="en-US" sz="1200" b="0" i="0" smtClean="0"/>
                                  <m:t>1</m:t>
                                </m:r>
                                <m:r>
                                  <m:rPr>
                                    <m:nor/>
                                  </m:rPr>
                                  <a:rPr lang="en-US" sz="1200" i="0" smtClean="0"/>
                                  <m:t>)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d>
                                  <m:dPr>
                                    <m:ctrlPr>
                                      <a:rPr lang="en-US" sz="12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200" i="1" dirty="0" smtClean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 sz="1200" i="0" dirty="0" smtClean="0">
                                        <a:latin typeface="Cambria Math" panose="02040503050406030204" pitchFamily="18" charset="0"/>
                                      </a:rPr>
                                      <m:t>0​,</m:t>
                                    </m:r>
                                    <m:r>
                                      <a:rPr lang="en-US" sz="1200" i="1" dirty="0" smtClean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 sz="1200" i="0" dirty="0" smtClean="0">
                                        <a:latin typeface="Cambria Math" panose="02040503050406030204" pitchFamily="18" charset="0"/>
                                      </a:rPr>
                                      <m:t>2​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200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𝑅𝑋𝑋</m:t>
                                </m:r>
                                <m:r>
                                  <a:rPr lang="en-US" sz="1200" i="0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​</m:t>
                                </m:r>
                                <m:d>
                                  <m:dPr>
                                    <m:ctrlPr>
                                      <a:rPr lang="en-US" sz="1200" i="0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200" i="0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en-US" sz="120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𝐽</m:t>
                                    </m:r>
                                    <m:r>
                                      <a:rPr lang="en-US" sz="1200" i="0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  <m:r>
                                      <a:rPr lang="en-US" sz="120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𝜏</m:t>
                                    </m:r>
                                  </m:e>
                                </m:d>
                                <m:r>
                                  <a:rPr lang="en-US" sz="1200" i="0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200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𝑅𝑌𝑌</m:t>
                                </m:r>
                                <m:r>
                                  <a:rPr lang="en-US" sz="1200" i="0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​</m:t>
                                </m:r>
                                <m:d>
                                  <m:dPr>
                                    <m:ctrlPr>
                                      <a:rPr lang="en-US" sz="1200" i="0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200" i="0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en-US" sz="120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𝐽</m:t>
                                    </m:r>
                                    <m:r>
                                      <a:rPr lang="en-US" sz="1200" i="0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  <m:r>
                                      <a:rPr lang="en-US" sz="120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𝜏</m:t>
                                    </m:r>
                                  </m:e>
                                </m:d>
                                <m:r>
                                  <a:rPr lang="en-US" sz="1200" i="0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200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𝑅𝑍𝑍</m:t>
                                </m:r>
                                <m:r>
                                  <a:rPr lang="en-US" sz="1200" i="0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​</m:t>
                                </m:r>
                                <m:d>
                                  <m:dPr>
                                    <m:ctrlPr>
                                      <a:rPr lang="en-US" sz="1200" i="0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200" i="0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en-US" sz="120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𝐽</m:t>
                                    </m:r>
                                    <m:r>
                                      <a:rPr lang="en-US" sz="1200" i="0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  <m:r>
                                      <a:rPr lang="en-US" sz="120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𝜏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31271688"/>
                      </a:ext>
                    </a:extLst>
                  </a:tr>
                  <a:tr h="283233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nor/>
                                  </m:rPr>
                                  <a:rPr lang="en-US" sz="1200" i="0" smtClean="0"/>
                                  <m:t>C</m:t>
                                </m:r>
                                <m:r>
                                  <m:rPr>
                                    <m:nor/>
                                  </m:rPr>
                                  <a:rPr lang="en-US" sz="1200" b="0" i="0" smtClean="0"/>
                                  <m:t>ampo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nor/>
                                  </m:rPr>
                                  <a:rPr lang="en-US" sz="1200" i="0" smtClean="0">
                                    <a:effectLst/>
                                  </a:rPr>
                                  <m:t>q0</m:t>
                                </m:r>
                                <m:r>
                                  <m:rPr>
                                    <m:nor/>
                                  </m:rPr>
                                  <a:rPr lang="en-US" sz="1200" i="0" smtClean="0"/>
                                  <m:t>​,</m:t>
                                </m:r>
                                <m:r>
                                  <m:rPr>
                                    <m:nor/>
                                  </m:rPr>
                                  <a:rPr lang="en-US" sz="1200" i="0" smtClean="0">
                                    <a:effectLst/>
                                  </a:rPr>
                                  <m:t>q1</m:t>
                                </m:r>
                                <m:r>
                                  <m:rPr>
                                    <m:nor/>
                                  </m:rPr>
                                  <a:rPr lang="en-US" sz="1200" i="0" smtClean="0"/>
                                  <m:t>​,</m:t>
                                </m:r>
                                <m:r>
                                  <m:rPr>
                                    <m:nor/>
                                  </m:rPr>
                                  <a:rPr lang="en-US" sz="1200" i="0" smtClean="0">
                                    <a:effectLst/>
                                  </a:rPr>
                                  <m:t>q2</m:t>
                                </m:r>
                                <m:r>
                                  <m:rPr>
                                    <m:nor/>
                                  </m:rPr>
                                  <a:rPr lang="en-US" sz="1200" i="0" smtClean="0"/>
                                  <m:t>​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sSubSup>
                                <m:sSubSupPr>
                                  <m:ctrlPr>
                                    <a:rPr lang="en-US" sz="12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2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12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𝑍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US" sz="1200" b="0" i="0" kern="1200" smtClean="0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200" b="0" i="0" kern="1200" smtClean="0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0</m:t>
                                      </m:r>
                                    </m:e>
                                  </m:d>
                                </m:sup>
                              </m:sSubSup>
                              <m:d>
                                <m:dPr>
                                  <m:ctrlPr>
                                    <a:rPr lang="en-US" sz="1200" i="0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i="0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</m:t>
                                  </m:r>
                                  <m:r>
                                    <a:rPr lang="en-US" sz="12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𝑏</m:t>
                                  </m:r>
                                  <m:r>
                                    <a:rPr lang="en-US" sz="12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𝜏</m:t>
                                  </m:r>
                                </m:e>
                              </m:d>
                            </m:oMath>
                          </a14:m>
                          <a:r>
                            <a:rPr lang="en-US" sz="1200" dirty="0"/>
                            <a:t>, </a:t>
                          </a:r>
                          <a14:m>
                            <m:oMath xmlns:m="http://schemas.openxmlformats.org/officeDocument/2006/math">
                              <m:sSubSup>
                                <m:sSubSupPr>
                                  <m:ctrlPr>
                                    <a:rPr lang="en-US" sz="12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2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12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𝑍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US" sz="1200" i="0" kern="1200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200" i="0" kern="1200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1</m:t>
                                      </m:r>
                                    </m:e>
                                  </m:d>
                                </m:sup>
                              </m:sSubSup>
                              <m:d>
                                <m:dPr>
                                  <m:ctrlPr>
                                    <a:rPr lang="en-US" sz="1200" i="0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i="0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</m:t>
                                  </m:r>
                                  <m:r>
                                    <a:rPr lang="en-US" sz="12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𝑏</m:t>
                                  </m:r>
                                  <m:r>
                                    <a:rPr lang="en-US" sz="12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𝜏</m:t>
                                  </m:r>
                                </m:e>
                              </m:d>
                            </m:oMath>
                          </a14:m>
                          <a:r>
                            <a:rPr lang="en-US" sz="1200" dirty="0"/>
                            <a:t>, </a:t>
                          </a:r>
                          <a14:m>
                            <m:oMath xmlns:m="http://schemas.openxmlformats.org/officeDocument/2006/math">
                              <m:sSubSup>
                                <m:sSubSupPr>
                                  <m:ctrlPr>
                                    <a:rPr lang="en-US" sz="12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2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12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𝑍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US" sz="1200" i="0" kern="1200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200" i="0" kern="1200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2</m:t>
                                      </m:r>
                                    </m:e>
                                  </m:d>
                                </m:sup>
                              </m:sSubSup>
                              <m:d>
                                <m:dPr>
                                  <m:ctrlPr>
                                    <a:rPr lang="en-US" sz="1200" i="0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i="0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</m:t>
                                  </m:r>
                                  <m:r>
                                    <a:rPr lang="en-US" sz="12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𝑏</m:t>
                                  </m:r>
                                  <m:r>
                                    <a:rPr lang="en-US" sz="12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𝜏</m:t>
                                  </m:r>
                                </m:e>
                              </m:d>
                            </m:oMath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84039892"/>
                      </a:ext>
                    </a:extLst>
                  </a:tr>
                  <a:tr h="254082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nor/>
                                  </m:rPr>
                                  <a:rPr lang="en-US" sz="1200" i="0" smtClean="0"/>
                                  <m:t>DM </m:t>
                                </m:r>
                                <m:d>
                                  <m:dPr>
                                    <m:sepChr m:val=","/>
                                    <m:ctrlPr>
                                      <a:rPr lang="en-US" sz="1200" i="0" kern="1200">
                                        <a:solidFill>
                                          <a:schemeClr val="dk1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200" i="0" kern="1200">
                                        <a:solidFill>
                                          <a:schemeClr val="dk1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en-US" sz="1200" i="0" kern="1200">
                                        <a:solidFill>
                                          <a:schemeClr val="dk1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d>
                                  <m:dPr>
                                    <m:ctrlPr>
                                      <a:rPr lang="en-US" sz="12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200" i="1" dirty="0" smtClean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 sz="1200" i="0" dirty="0" smtClean="0">
                                        <a:latin typeface="Cambria Math" panose="02040503050406030204" pitchFamily="18" charset="0"/>
                                      </a:rPr>
                                      <m:t>2​,</m:t>
                                    </m:r>
                                    <m:r>
                                      <a:rPr lang="en-US" sz="1200" i="1" dirty="0" smtClean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 sz="1200" i="0" dirty="0" smtClean="0">
                                        <a:latin typeface="Cambria Math" panose="02040503050406030204" pitchFamily="18" charset="0"/>
                                      </a:rPr>
                                      <m:t>1​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12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pPr>
                                <m:e>
                                  <m:r>
                                    <a:rPr lang="en-US" sz="12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𝐻</m:t>
                                  </m:r>
                                </m:e>
                                <m:sup>
                                  <m:d>
                                    <m:dPr>
                                      <m:ctrlPr>
                                        <a:rPr lang="en-US" sz="1200" i="0" kern="1200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200" i="0" kern="1200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2</m:t>
                                      </m:r>
                                    </m:e>
                                  </m:d>
                                </m:sup>
                              </m:sSup>
                            </m:oMath>
                          </a14:m>
                          <a:r>
                            <a:rPr lang="en-US" sz="1200" dirty="0"/>
                            <a:t>,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2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12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𝑍𝑍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200" i="0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i="0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</m:t>
                                  </m:r>
                                  <m:r>
                                    <a:rPr lang="en-US" sz="12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𝐷</m:t>
                                  </m:r>
                                  <m:r>
                                    <a:rPr lang="en-US" sz="12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𝜏</m:t>
                                  </m:r>
                                </m:e>
                              </m:d>
                            </m:oMath>
                          </a14:m>
                          <a:r>
                            <a:rPr lang="en-US" sz="1200" dirty="0"/>
                            <a:t>,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12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pPr>
                                <m:e>
                                  <m:r>
                                    <a:rPr lang="en-US" sz="12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𝐻</m:t>
                                  </m:r>
                                </m:e>
                                <m:sup>
                                  <m:d>
                                    <m:dPr>
                                      <m:ctrlPr>
                                        <a:rPr lang="en-US" sz="1200" i="0" kern="1200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200" i="0" kern="1200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2</m:t>
                                      </m:r>
                                    </m:e>
                                  </m:d>
                                </m:sup>
                              </m:sSup>
                            </m:oMath>
                          </a14:m>
                          <a:r>
                            <a:rPr lang="en-US" sz="1200" dirty="0"/>
                            <a:t>,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12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pPr>
                                <m:e>
                                  <m:r>
                                    <a:rPr lang="en-US" sz="12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𝐻</m:t>
                                  </m:r>
                                </m:e>
                                <m:sup>
                                  <m:d>
                                    <m:dPr>
                                      <m:ctrlPr>
                                        <a:rPr lang="en-US" sz="1200" i="0" kern="1200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200" i="0" kern="1200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1</m:t>
                                      </m:r>
                                    </m:e>
                                  </m:d>
                                </m:sup>
                              </m:sSup>
                            </m:oMath>
                          </a14:m>
                          <a:r>
                            <a:rPr lang="en-US" sz="1200" dirty="0"/>
                            <a:t>,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2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12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𝑍𝑍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200" i="0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i="0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−2</m:t>
                                  </m:r>
                                  <m:r>
                                    <a:rPr lang="en-US" sz="12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𝐷</m:t>
                                  </m:r>
                                  <m:r>
                                    <a:rPr lang="en-US" sz="12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𝜏</m:t>
                                  </m:r>
                                </m:e>
                              </m:d>
                            </m:oMath>
                          </a14:m>
                          <a:r>
                            <a:rPr lang="en-US" sz="1200" dirty="0"/>
                            <a:t>,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12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pPr>
                                <m:e>
                                  <m:r>
                                    <a:rPr lang="en-US" sz="12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𝐻</m:t>
                                  </m:r>
                                </m:e>
                                <m:sup>
                                  <m:d>
                                    <m:dPr>
                                      <m:ctrlPr>
                                        <a:rPr lang="en-US" sz="1200" i="0" kern="1200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200" i="0" kern="1200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1</m:t>
                                      </m:r>
                                    </m:e>
                                  </m:d>
                                </m:sup>
                              </m:sSup>
                            </m:oMath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4636173"/>
                      </a:ext>
                    </a:extLst>
                  </a:tr>
                  <a:tr h="282838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nor/>
                                  </m:rPr>
                                  <a:rPr lang="en-US" sz="1200" i="0" smtClean="0"/>
                                  <m:t>DM </m:t>
                                </m:r>
                                <m:d>
                                  <m:dPr>
                                    <m:sepChr m:val=","/>
                                    <m:ctrlPr>
                                      <a:rPr lang="en-US" sz="1200" b="0" i="0" kern="1200" smtClean="0">
                                        <a:solidFill>
                                          <a:schemeClr val="dk1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200" b="0" i="0" kern="1200" smtClean="0">
                                        <a:solidFill>
                                          <a:schemeClr val="dk1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</m:t>
                                    </m:r>
                                  </m:e>
                                  <m:e>
                                    <m:r>
                                      <a:rPr lang="en-US" sz="1200" b="0" i="0" kern="1200" smtClean="0">
                                        <a:solidFill>
                                          <a:schemeClr val="dk1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3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d>
                                  <m:dPr>
                                    <m:ctrlPr>
                                      <a:rPr lang="en-US" sz="12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200" i="1" dirty="0" smtClean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 sz="1200" b="0" i="0" dirty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en-US" sz="1200" i="0" dirty="0" smtClean="0">
                                        <a:latin typeface="Cambria Math" panose="02040503050406030204" pitchFamily="18" charset="0"/>
                                      </a:rPr>
                                      <m:t>​,</m:t>
                                    </m:r>
                                    <m:r>
                                      <a:rPr lang="en-US" sz="1200" i="1" dirty="0" smtClean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 sz="1200" b="0" i="0" dirty="0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en-US" sz="1200" i="0" dirty="0" smtClean="0">
                                        <a:latin typeface="Cambria Math" panose="02040503050406030204" pitchFamily="18" charset="0"/>
                                      </a:rPr>
                                      <m:t>​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pPr>
                                <m:e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𝐻</m:t>
                                  </m:r>
                                </m:e>
                                <m:sup>
                                  <m:d>
                                    <m:dPr>
                                      <m:ctrlPr>
                                        <a:rPr lang="en-US" sz="1400" i="0" kern="1200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400" i="0" kern="1200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1</m:t>
                                      </m:r>
                                    </m:e>
                                  </m:d>
                                </m:sup>
                              </m:sSup>
                            </m:oMath>
                          </a14:m>
                          <a:r>
                            <a:rPr lang="en-US" sz="1400" dirty="0"/>
                            <a:t>,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𝑍𝑍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400" i="0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i="0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0.8</m:t>
                                  </m:r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𝐷</m:t>
                                  </m:r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𝜏</m:t>
                                  </m:r>
                                </m:e>
                              </m:d>
                            </m:oMath>
                          </a14:m>
                          <a:r>
                            <a:rPr lang="en-US" sz="1400" dirty="0"/>
                            <a:t>,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pPr>
                                <m:e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𝐻</m:t>
                                  </m:r>
                                </m:e>
                                <m:sup>
                                  <m:d>
                                    <m:dPr>
                                      <m:ctrlPr>
                                        <a:rPr lang="en-US" sz="1400" i="0" kern="1200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400" i="0" kern="1200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1</m:t>
                                      </m:r>
                                    </m:e>
                                  </m:d>
                                </m:sup>
                              </m:sSup>
                            </m:oMath>
                          </a14:m>
                          <a:r>
                            <a:rPr lang="en-US" sz="1400" dirty="0"/>
                            <a:t>,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pPr>
                                <m:e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𝐻</m:t>
                                  </m:r>
                                </m:e>
                                <m:sup>
                                  <m:d>
                                    <m:dPr>
                                      <m:ctrlPr>
                                        <a:rPr lang="en-US" sz="1400" i="0" kern="1200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400" i="0" kern="1200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0</m:t>
                                      </m:r>
                                    </m:e>
                                  </m:d>
                                </m:sup>
                              </m:sSup>
                            </m:oMath>
                          </a14:m>
                          <a:r>
                            <a:rPr lang="en-US" sz="1400" dirty="0"/>
                            <a:t>,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𝑍𝑍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400" i="0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i="0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−0.8</m:t>
                                  </m:r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𝐷</m:t>
                                  </m:r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𝜏</m:t>
                                  </m:r>
                                </m:e>
                              </m:d>
                            </m:oMath>
                          </a14:m>
                          <a:r>
                            <a:rPr lang="en-US" sz="1400" dirty="0"/>
                            <a:t>,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pPr>
                                <m:e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𝐻</m:t>
                                  </m:r>
                                </m:e>
                                <m:sup>
                                  <m:d>
                                    <m:dPr>
                                      <m:ctrlPr>
                                        <a:rPr lang="en-US" sz="1400" i="0" kern="1200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400" i="0" kern="1200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0</m:t>
                                      </m:r>
                                    </m:e>
                                  </m:d>
                                </m:sup>
                              </m:sSup>
                            </m:oMath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0563795"/>
                      </a:ext>
                    </a:extLst>
                  </a:tr>
                  <a:tr h="27012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nor/>
                                  </m:rPr>
                                  <a:rPr lang="en-US" sz="1200" i="0" smtClean="0"/>
                                  <m:t>DM </m:t>
                                </m:r>
                                <m:d>
                                  <m:dPr>
                                    <m:sepChr m:val=","/>
                                    <m:ctrlPr>
                                      <a:rPr lang="en-US" sz="1200" b="0" i="0" kern="1200" smtClean="0">
                                        <a:solidFill>
                                          <a:schemeClr val="dk1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200" b="0" i="0" kern="1200" smtClean="0">
                                        <a:solidFill>
                                          <a:schemeClr val="dk1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3</m:t>
                                    </m:r>
                                  </m:e>
                                  <m:e>
                                    <m:r>
                                      <a:rPr lang="en-US" sz="1200" b="0" i="0" kern="1200" smtClean="0">
                                        <a:solidFill>
                                          <a:schemeClr val="dk1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d>
                                  <m:dPr>
                                    <m:ctrlPr>
                                      <a:rPr lang="en-US" sz="12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200" i="1" dirty="0" smtClean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 sz="1200" b="0" i="0" dirty="0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en-US" sz="1200" i="0" dirty="0" smtClean="0">
                                        <a:latin typeface="Cambria Math" panose="02040503050406030204" pitchFamily="18" charset="0"/>
                                      </a:rPr>
                                      <m:t>​,</m:t>
                                    </m:r>
                                    <m:r>
                                      <a:rPr lang="en-US" sz="1200" i="1" dirty="0" smtClean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 sz="1200" b="0" i="0" dirty="0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en-US" sz="1200" i="0" dirty="0" smtClean="0">
                                        <a:latin typeface="Cambria Math" panose="02040503050406030204" pitchFamily="18" charset="0"/>
                                      </a:rPr>
                                      <m:t>​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12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pPr>
                                <m:e>
                                  <m:r>
                                    <a:rPr lang="en-US" sz="12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𝐻</m:t>
                                  </m:r>
                                </m:e>
                                <m:sup>
                                  <m:d>
                                    <m:dPr>
                                      <m:ctrlPr>
                                        <a:rPr lang="en-US" sz="1200" i="0" kern="1200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200" i="0" kern="1200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0</m:t>
                                      </m:r>
                                    </m:e>
                                  </m:d>
                                </m:sup>
                              </m:sSup>
                            </m:oMath>
                          </a14:m>
                          <a:r>
                            <a:rPr lang="en-US" sz="1200" dirty="0"/>
                            <a:t>,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2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12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𝑍𝑍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200" i="0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i="0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0.8</m:t>
                                  </m:r>
                                  <m:r>
                                    <a:rPr lang="en-US" sz="12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𝐷</m:t>
                                  </m:r>
                                  <m:r>
                                    <a:rPr lang="en-US" sz="12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𝜏</m:t>
                                  </m:r>
                                </m:e>
                              </m:d>
                            </m:oMath>
                          </a14:m>
                          <a:r>
                            <a:rPr lang="en-US" sz="1200" dirty="0"/>
                            <a:t>,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12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pPr>
                                <m:e>
                                  <m:r>
                                    <a:rPr lang="en-US" sz="12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𝐻</m:t>
                                  </m:r>
                                </m:e>
                                <m:sup>
                                  <m:d>
                                    <m:dPr>
                                      <m:ctrlPr>
                                        <a:rPr lang="en-US" sz="1200" i="0" kern="1200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200" i="0" kern="1200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0</m:t>
                                      </m:r>
                                    </m:e>
                                  </m:d>
                                </m:sup>
                              </m:sSup>
                            </m:oMath>
                          </a14:m>
                          <a:r>
                            <a:rPr lang="en-US" sz="1200" dirty="0"/>
                            <a:t>,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12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pPr>
                                <m:e>
                                  <m:r>
                                    <a:rPr lang="en-US" sz="12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𝐻</m:t>
                                  </m:r>
                                </m:e>
                                <m:sup>
                                  <m:d>
                                    <m:dPr>
                                      <m:ctrlPr>
                                        <a:rPr lang="en-US" sz="1200" i="0" kern="1200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200" i="0" kern="1200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2</m:t>
                                      </m:r>
                                    </m:e>
                                  </m:d>
                                </m:sup>
                              </m:sSup>
                            </m:oMath>
                          </a14:m>
                          <a:r>
                            <a:rPr lang="en-US" sz="1200" dirty="0"/>
                            <a:t>,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2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12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𝑍𝑍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200" i="0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i="0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−0.8</m:t>
                                  </m:r>
                                  <m:r>
                                    <a:rPr lang="en-US" sz="12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𝐷</m:t>
                                  </m:r>
                                  <m:r>
                                    <a:rPr lang="en-US" sz="12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𝜏</m:t>
                                  </m:r>
                                </m:e>
                              </m:d>
                            </m:oMath>
                          </a14:m>
                          <a:r>
                            <a:rPr lang="en-US" sz="1200" dirty="0"/>
                            <a:t>,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12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pPr>
                                <m:e>
                                  <m:r>
                                    <a:rPr lang="en-US" sz="12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𝐻</m:t>
                                  </m:r>
                                </m:e>
                                <m:sup>
                                  <m:d>
                                    <m:dPr>
                                      <m:ctrlPr>
                                        <a:rPr lang="en-US" sz="1200" i="0" kern="1200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200" i="0" kern="1200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2</m:t>
                                      </m:r>
                                    </m:e>
                                  </m:d>
                                </m:sup>
                              </m:sSup>
                            </m:oMath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4416123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6" name="Table 15">
                <a:extLst>
                  <a:ext uri="{FF2B5EF4-FFF2-40B4-BE49-F238E27FC236}">
                    <a16:creationId xmlns:a16="http://schemas.microsoft.com/office/drawing/2014/main" id="{D97C2F76-C34F-1B53-B74C-F9EFF70CE874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419947" y="4287157"/>
              <a:ext cx="7691121" cy="232060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976120">
                      <a:extLst>
                        <a:ext uri="{9D8B030D-6E8A-4147-A177-3AD203B41FA5}">
                          <a16:colId xmlns:a16="http://schemas.microsoft.com/office/drawing/2014/main" val="2110275228"/>
                        </a:ext>
                      </a:extLst>
                    </a:gridCol>
                    <a:gridCol w="1642533">
                      <a:extLst>
                        <a:ext uri="{9D8B030D-6E8A-4147-A177-3AD203B41FA5}">
                          <a16:colId xmlns:a16="http://schemas.microsoft.com/office/drawing/2014/main" val="510094434"/>
                        </a:ext>
                      </a:extLst>
                    </a:gridCol>
                    <a:gridCol w="4072468">
                      <a:extLst>
                        <a:ext uri="{9D8B030D-6E8A-4147-A177-3AD203B41FA5}">
                          <a16:colId xmlns:a16="http://schemas.microsoft.com/office/drawing/2014/main" val="660264833"/>
                        </a:ext>
                      </a:extLst>
                    </a:gridCol>
                  </a:tblGrid>
                  <a:tr h="28549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10"/>
                          <a:stretch>
                            <a:fillRect l="-308" t="-2128" r="-289846" b="-72978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/>
                            <a:t>Qubit</a:t>
                          </a:r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0"/>
                          <a:stretch>
                            <a:fillRect l="-88939" t="-2128" r="-598" b="-72978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44284243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0"/>
                          <a:stretch>
                            <a:fillRect l="-308" t="-106667" r="-289846" b="-66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0"/>
                          <a:stretch>
                            <a:fillRect l="-121190" t="-106667" r="-250186" b="-66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0"/>
                          <a:stretch>
                            <a:fillRect l="-88939" t="-106667" r="-598" b="-66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94692388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0"/>
                          <a:stretch>
                            <a:fillRect l="-308" t="-206667" r="-289846" b="-56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0"/>
                          <a:stretch>
                            <a:fillRect l="-121190" t="-206667" r="-250186" b="-56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0"/>
                          <a:stretch>
                            <a:fillRect l="-88939" t="-206667" r="-598" b="-56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3067340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0"/>
                          <a:stretch>
                            <a:fillRect l="-308" t="-306667" r="-289846" b="-46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0"/>
                          <a:stretch>
                            <a:fillRect l="-121190" t="-306667" r="-250186" b="-46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0"/>
                          <a:stretch>
                            <a:fillRect l="-88939" t="-306667" r="-598" b="-46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31271688"/>
                      </a:ext>
                    </a:extLst>
                  </a:tr>
                  <a:tr h="31959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0"/>
                          <a:stretch>
                            <a:fillRect l="-308" t="-351923" r="-289846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0"/>
                          <a:stretch>
                            <a:fillRect l="-121190" t="-351923" r="-250186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0"/>
                          <a:stretch>
                            <a:fillRect l="-88939" t="-351923" r="-598" b="-3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84039892"/>
                      </a:ext>
                    </a:extLst>
                  </a:tr>
                  <a:tr h="28670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0"/>
                          <a:stretch>
                            <a:fillRect l="-308" t="-489583" r="-289846" b="-2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0"/>
                          <a:stretch>
                            <a:fillRect l="-121190" t="-489583" r="-250186" b="-2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0"/>
                          <a:stretch>
                            <a:fillRect l="-88939" t="-489583" r="-598" b="-22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24636173"/>
                      </a:ext>
                    </a:extLst>
                  </a:tr>
                  <a:tr h="31915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0"/>
                          <a:stretch>
                            <a:fillRect l="-308" t="-544231" r="-289846" b="-1076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0"/>
                          <a:stretch>
                            <a:fillRect l="-121190" t="-544231" r="-250186" b="-1076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0"/>
                          <a:stretch>
                            <a:fillRect l="-88939" t="-544231" r="-598" b="-10769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0563795"/>
                      </a:ext>
                    </a:extLst>
                  </a:tr>
                  <a:tr h="28670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0"/>
                          <a:stretch>
                            <a:fillRect l="-308" t="-712766" r="-289846" b="-1914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0"/>
                          <a:stretch>
                            <a:fillRect l="-121190" t="-712766" r="-250186" b="-1914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0"/>
                          <a:stretch>
                            <a:fillRect l="-88939" t="-712766" r="-598" b="-191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4416123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8" name="TextBox 17">
            <a:extLst>
              <a:ext uri="{FF2B5EF4-FFF2-40B4-BE49-F238E27FC236}">
                <a16:creationId xmlns:a16="http://schemas.microsoft.com/office/drawing/2014/main" id="{D3ADEB57-C936-649B-EE77-269D098C6AD6}"/>
              </a:ext>
            </a:extLst>
          </p:cNvPr>
          <p:cNvSpPr txBox="1"/>
          <p:nvPr/>
        </p:nvSpPr>
        <p:spPr>
          <a:xfrm>
            <a:off x="8649546" y="4426663"/>
            <a:ext cx="29921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Campo e </a:t>
            </a:r>
            <a:r>
              <a:rPr lang="en-US" sz="1200" dirty="0" err="1"/>
              <a:t>scambio</a:t>
            </a:r>
            <a:r>
              <a:rPr lang="en-US" sz="1200" dirty="0"/>
              <a:t> </a:t>
            </a:r>
            <a:r>
              <a:rPr lang="en-US" sz="1200" dirty="0" err="1"/>
              <a:t>commutano</a:t>
            </a:r>
            <a:r>
              <a:rPr lang="en-US" sz="1200" dirty="0"/>
              <a:t> in </a:t>
            </a:r>
            <a:r>
              <a:rPr lang="en-US" sz="1200" dirty="0" err="1"/>
              <a:t>entrambi</a:t>
            </a:r>
            <a:r>
              <a:rPr lang="en-US" sz="1200" dirty="0"/>
              <a:t> </a:t>
            </a:r>
            <a:r>
              <a:rPr lang="en-US" sz="1200" dirty="0" err="1"/>
              <a:t>i</a:t>
            </a:r>
            <a:r>
              <a:rPr lang="en-US" sz="1200" dirty="0"/>
              <a:t> </a:t>
            </a:r>
            <a:r>
              <a:rPr lang="en-US" sz="1200" dirty="0" err="1"/>
              <a:t>sistemi</a:t>
            </a:r>
            <a:r>
              <a:rPr lang="en-US" sz="1200" dirty="0"/>
              <a:t> - </a:t>
            </a:r>
            <a:r>
              <a:rPr lang="en-US" sz="1200" dirty="0" err="1"/>
              <a:t>l'ordine</a:t>
            </a:r>
            <a:r>
              <a:rPr lang="en-US" sz="1200" dirty="0"/>
              <a:t> </a:t>
            </a:r>
            <a:r>
              <a:rPr lang="en-US" sz="1200" dirty="0" err="1"/>
              <a:t>fra</a:t>
            </a:r>
            <a:r>
              <a:rPr lang="en-US" sz="1200" dirty="0"/>
              <a:t> loro è </a:t>
            </a:r>
            <a:r>
              <a:rPr lang="en-US" sz="1200" dirty="0" err="1"/>
              <a:t>arbitrario</a:t>
            </a:r>
            <a:r>
              <a:rPr lang="en-US" sz="1200" dirty="0"/>
              <a:t>, non </a:t>
            </a:r>
            <a:r>
              <a:rPr lang="en-US" sz="1200" dirty="0" err="1"/>
              <a:t>influisce</a:t>
            </a:r>
            <a:r>
              <a:rPr lang="en-US" sz="1200" dirty="0"/>
              <a:t> </a:t>
            </a:r>
            <a:r>
              <a:rPr lang="en-US" sz="1200" dirty="0" err="1"/>
              <a:t>sul</a:t>
            </a:r>
            <a:r>
              <a:rPr lang="en-US" sz="1200" dirty="0"/>
              <a:t> </a:t>
            </a:r>
            <a:r>
              <a:rPr lang="en-US" sz="1200" dirty="0" err="1"/>
              <a:t>risultato</a:t>
            </a:r>
            <a:r>
              <a:rPr lang="en-US" sz="1200" dirty="0"/>
              <a:t>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24" grpId="0" animBg="1"/>
      <p:bldP spid="25" grpId="0" animBg="1"/>
      <p:bldP spid="6" grpId="0"/>
      <p:bldP spid="10" grpId="0"/>
      <p:bldP spid="9" grpId="0" animBg="1"/>
      <p:bldP spid="15" grpId="0"/>
      <p:bldP spid="1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682</TotalTime>
  <Words>1903</Words>
  <Application>Microsoft Office PowerPoint</Application>
  <PresentationFormat>Widescreen</PresentationFormat>
  <Paragraphs>219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Quantum simulation of molecular spin systems on quantum hardware</dc:title>
  <dc:subject>PptxGenJS Presentation</dc:subject>
  <dc:creator>Samuele Schiavi</dc:creator>
  <cp:lastModifiedBy>Samuele SCHIAVI</cp:lastModifiedBy>
  <cp:revision>60</cp:revision>
  <dcterms:created xsi:type="dcterms:W3CDTF">2026-09-14T09:54:52Z</dcterms:created>
  <dcterms:modified xsi:type="dcterms:W3CDTF">2026-09-17T21:02:29Z</dcterms:modified>
</cp:coreProperties>
</file>