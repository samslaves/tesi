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1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623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8788" y="711105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Cos'è la simulazione quantistica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727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 appena visto (costo esponenziale) ha una risposta: non calcolare H, riprodurla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32675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6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di Feynman (1982): un sistema quantistico controllabile riproduce H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38515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6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Mappatura</a:t>
            </a:r>
            <a:r>
              <a:rPr lang="en-US" sz="16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6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gradi di libertà </a:t>
            </a:r>
            <a:r>
              <a:rPr lang="en-US" sz="16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fisici</a:t>
            </a:r>
            <a:r>
              <a:rPr lang="en-US" sz="16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(qui: spin-1/2 ) → qubit, diretto, nessun mapping </a:t>
            </a:r>
            <a:r>
              <a:rPr lang="en-US" sz="16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fermionico</a:t>
            </a:r>
            <a:endParaRPr lang="en-US" sz="16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 txBox="1"/>
              <p:nvPr/>
            </p:nvSpPr>
            <p:spPr>
              <a:xfrm>
                <a:off x="640080" y="4544354"/>
                <a:ext cx="5029200" cy="17288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279400" indent="-279400">
                  <a:buSzPct val="100000"/>
                  <a:buChar char="■"/>
                </a:pPr>
                <a:r>
                  <a:rPr lang="en-US" sz="1600" dirty="0" err="1"/>
                  <a:t>Simulazione</a:t>
                </a:r>
                <a:r>
                  <a:rPr lang="en-US" sz="1600" dirty="0"/>
                  <a:t> di </a:t>
                </a:r>
                <a:r>
                  <a:rPr lang="en-US" sz="1600" dirty="0" err="1"/>
                  <a:t>proprietà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statiche</a:t>
                </a:r>
                <a:r>
                  <a:rPr lang="en-US" sz="1600" dirty="0"/>
                  <a:t> (</a:t>
                </a:r>
                <a:r>
                  <a:rPr lang="en-US" sz="1600" dirty="0" err="1"/>
                  <a:t>stato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fondamentale</a:t>
                </a:r>
                <a:r>
                  <a:rPr lang="en-US" sz="1600" dirty="0"/>
                  <a:t>) con il Variational Quantum </a:t>
                </a:r>
                <a:r>
                  <a:rPr lang="en-US" sz="1600" dirty="0" err="1"/>
                  <a:t>Eigensolver</a:t>
                </a:r>
                <a:r>
                  <a:rPr lang="en-US" sz="1600" dirty="0"/>
                  <a:t> (VQE), e di </a:t>
                </a:r>
                <a:r>
                  <a:rPr lang="en-US" sz="1600" dirty="0" err="1"/>
                  <a:t>proprietà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dinamiche</a:t>
                </a:r>
                <a:r>
                  <a:rPr lang="en-US" sz="1600" dirty="0"/>
                  <a:t> come </a:t>
                </a:r>
                <a:r>
                  <a:rPr lang="en-US" sz="1600" dirty="0" err="1"/>
                  <a:t>evoluzione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temporale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i="1"/>
                      <m:t>𝑈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𝑡</m:t>
                        </m:r>
                      </m:e>
                    </m:d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𝑒</m:t>
                        </m:r>
                      </m:e>
                      <m:sup>
                        <m:r>
                          <a:rPr lang="en-US"/>
                          <m:t>−</m:t>
                        </m:r>
                        <m:r>
                          <a:rPr lang="en-US" i="1"/>
                          <m:t>𝑖𝐻𝑡</m:t>
                        </m:r>
                      </m:sup>
                    </m:sSup>
                  </m:oMath>
                </a14:m>
                <a:r>
                  <a:rPr lang="en-US" sz="1600" dirty="0"/>
                  <a:t>, </a:t>
                </a:r>
                <a:r>
                  <a:rPr lang="en-US" sz="1600" dirty="0" err="1"/>
                  <a:t>approssimata</a:t>
                </a:r>
                <a:r>
                  <a:rPr lang="en-US" sz="1600" dirty="0"/>
                  <a:t> con la </a:t>
                </a:r>
                <a:r>
                  <a:rPr lang="en-US" sz="1600" dirty="0" err="1"/>
                  <a:t>decomposizione</a:t>
                </a:r>
                <a:r>
                  <a:rPr lang="en-US" sz="1600" dirty="0"/>
                  <a:t> di Suzuki–Trotter.</a:t>
                </a:r>
                <a:endParaRPr lang="en-US" sz="1650" dirty="0"/>
              </a:p>
            </p:txBody>
          </p:sp>
        </mc:Choice>
        <mc:Fallback>
          <p:sp>
            <p:nvSpPr>
              <p:cNvPr id="11" name="Tex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4544354"/>
                <a:ext cx="5029200" cy="1728855"/>
              </a:xfrm>
              <a:prstGeom prst="rect">
                <a:avLst/>
              </a:prstGeom>
              <a:blipFill>
                <a:blip r:embed="rId3"/>
                <a:stretch>
                  <a:fillRect l="-2303" r="-84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8D4417A-549E-413E-0F47-6D041EBACBFD}"/>
              </a:ext>
            </a:extLst>
          </p:cNvPr>
          <p:cNvSpPr txBox="1"/>
          <p:nvPr/>
        </p:nvSpPr>
        <p:spPr>
          <a:xfrm>
            <a:off x="5959366" y="2343753"/>
            <a:ext cx="559224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Un </a:t>
            </a:r>
            <a:r>
              <a:rPr lang="en-US" sz="1300" b="1" dirty="0"/>
              <a:t>qubit</a:t>
            </a:r>
            <a:r>
              <a:rPr lang="en-US" sz="1300" dirty="0"/>
              <a:t> (o </a:t>
            </a:r>
            <a:r>
              <a:rPr lang="en-US" sz="1300" i="1" dirty="0"/>
              <a:t>bit </a:t>
            </a:r>
            <a:r>
              <a:rPr lang="en-US" sz="1300" i="1" dirty="0" err="1"/>
              <a:t>quantistico</a:t>
            </a:r>
            <a:r>
              <a:rPr lang="en-US" sz="1300" dirty="0"/>
              <a:t>) è </a:t>
            </a:r>
            <a:r>
              <a:rPr lang="en-US" sz="1300" dirty="0" err="1"/>
              <a:t>l'unità</a:t>
            </a:r>
            <a:r>
              <a:rPr lang="en-US" sz="1300" dirty="0"/>
              <a:t> di </a:t>
            </a:r>
            <a:r>
              <a:rPr lang="en-US" sz="1300" dirty="0" err="1"/>
              <a:t>misura</a:t>
            </a:r>
            <a:r>
              <a:rPr lang="en-US" sz="1300" dirty="0"/>
              <a:t> </a:t>
            </a:r>
            <a:r>
              <a:rPr lang="en-US" sz="1300" dirty="0" err="1"/>
              <a:t>fondamentale</a:t>
            </a:r>
            <a:r>
              <a:rPr lang="en-US" sz="1300" dirty="0"/>
              <a:t> </a:t>
            </a:r>
            <a:r>
              <a:rPr lang="en-US" sz="1300" dirty="0" err="1"/>
              <a:t>dell'informazione</a:t>
            </a:r>
            <a:r>
              <a:rPr lang="en-US" sz="1300" dirty="0"/>
              <a:t> </a:t>
            </a:r>
            <a:r>
              <a:rPr lang="en-US" sz="1300" dirty="0" err="1"/>
              <a:t>nel</a:t>
            </a:r>
            <a:r>
              <a:rPr lang="en-US" sz="1300" dirty="0"/>
              <a:t> </a:t>
            </a:r>
            <a:r>
              <a:rPr lang="en-US" sz="1300" dirty="0" err="1"/>
              <a:t>calcolo</a:t>
            </a:r>
            <a:r>
              <a:rPr lang="en-US" sz="1300" dirty="0"/>
              <a:t> </a:t>
            </a:r>
            <a:r>
              <a:rPr lang="en-US" sz="1300" dirty="0" err="1"/>
              <a:t>quantistico</a:t>
            </a:r>
            <a:r>
              <a:rPr lang="en-US" sz="1300" dirty="0"/>
              <a:t>, </a:t>
            </a:r>
            <a:r>
              <a:rPr lang="en-US" sz="1300" dirty="0" err="1"/>
              <a:t>l'equivalente</a:t>
            </a:r>
            <a:r>
              <a:rPr lang="en-US" sz="1300" dirty="0"/>
              <a:t> del bit </a:t>
            </a:r>
            <a:r>
              <a:rPr lang="en-US" sz="1300" dirty="0" err="1"/>
              <a:t>tradizionale</a:t>
            </a:r>
            <a:r>
              <a:rPr lang="en-US" sz="1300" dirty="0"/>
              <a:t> </a:t>
            </a:r>
            <a:r>
              <a:rPr lang="en-US" sz="1300" dirty="0" err="1"/>
              <a:t>dei</a:t>
            </a:r>
            <a:r>
              <a:rPr lang="en-US" sz="1300" dirty="0"/>
              <a:t> computer </a:t>
            </a:r>
            <a:r>
              <a:rPr lang="en-US" sz="1300" dirty="0" err="1"/>
              <a:t>classici</a:t>
            </a:r>
            <a:r>
              <a:rPr lang="en-US" sz="1300" dirty="0"/>
              <a:t>.</a:t>
            </a:r>
          </a:p>
          <a:p>
            <a:endParaRPr lang="en-US" sz="1300" dirty="0"/>
          </a:p>
          <a:p>
            <a:r>
              <a:rPr lang="en-US" sz="1300" dirty="0" err="1"/>
              <a:t>Caratterisitiche</a:t>
            </a:r>
            <a:r>
              <a:rPr lang="en-US" sz="1300" dirty="0"/>
              <a:t> del </a:t>
            </a:r>
            <a:r>
              <a:rPr lang="en-US" sz="1300" dirty="0" err="1"/>
              <a:t>quibit</a:t>
            </a:r>
            <a:r>
              <a:rPr lang="en-US" sz="1300" dirty="0"/>
              <a:t>:</a:t>
            </a:r>
          </a:p>
          <a:p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Stato misto (</a:t>
            </a:r>
            <a:r>
              <a:rPr lang="en-US" sz="1300" b="1" dirty="0" err="1"/>
              <a:t>Sovrapposizione</a:t>
            </a:r>
            <a:r>
              <a:rPr lang="en-US" sz="1300" b="1" dirty="0"/>
              <a:t>):</a:t>
            </a:r>
            <a:r>
              <a:rPr lang="en-US" sz="1300" dirty="0"/>
              <a:t> </a:t>
            </a:r>
            <a:r>
              <a:rPr lang="en-US" sz="1300" dirty="0" err="1"/>
              <a:t>Mentre</a:t>
            </a:r>
            <a:r>
              <a:rPr lang="en-US" sz="1300" dirty="0"/>
              <a:t> un bit </a:t>
            </a:r>
            <a:r>
              <a:rPr lang="en-US" sz="1300" dirty="0" err="1"/>
              <a:t>normale</a:t>
            </a:r>
            <a:r>
              <a:rPr lang="en-US" sz="1300" dirty="0"/>
              <a:t> </a:t>
            </a:r>
            <a:r>
              <a:rPr lang="en-US" sz="1300" dirty="0" err="1"/>
              <a:t>può</a:t>
            </a:r>
            <a:r>
              <a:rPr lang="en-US" sz="1300" dirty="0"/>
              <a:t> </a:t>
            </a:r>
            <a:r>
              <a:rPr lang="en-US" sz="1300" dirty="0" err="1"/>
              <a:t>essere</a:t>
            </a:r>
            <a:r>
              <a:rPr lang="en-US" sz="1300" dirty="0"/>
              <a:t> solo 0 o 1 (come un </a:t>
            </a:r>
            <a:r>
              <a:rPr lang="en-US" sz="1300" dirty="0" err="1"/>
              <a:t>interruttore</a:t>
            </a:r>
            <a:r>
              <a:rPr lang="en-US" sz="1300" dirty="0"/>
              <a:t> della luce </a:t>
            </a:r>
            <a:r>
              <a:rPr lang="en-US" sz="1300" dirty="0" err="1"/>
              <a:t>acceso</a:t>
            </a:r>
            <a:r>
              <a:rPr lang="en-US" sz="1300" dirty="0"/>
              <a:t> o </a:t>
            </a:r>
            <a:r>
              <a:rPr lang="en-US" sz="1300" dirty="0" err="1"/>
              <a:t>spento</a:t>
            </a:r>
            <a:r>
              <a:rPr lang="en-US" sz="1300" dirty="0"/>
              <a:t>), un qubit </a:t>
            </a:r>
            <a:r>
              <a:rPr lang="en-US" sz="1300" dirty="0" err="1"/>
              <a:t>può</a:t>
            </a:r>
            <a:r>
              <a:rPr lang="en-US" sz="1300" dirty="0"/>
              <a:t> </a:t>
            </a:r>
            <a:r>
              <a:rPr lang="en-US" sz="1300" dirty="0" err="1"/>
              <a:t>essere</a:t>
            </a:r>
            <a:r>
              <a:rPr lang="en-US" sz="1300" dirty="0"/>
              <a:t> 0, 1 </a:t>
            </a:r>
            <a:r>
              <a:rPr lang="en-US" sz="1300" dirty="0" err="1"/>
              <a:t>oppure</a:t>
            </a:r>
            <a:r>
              <a:rPr lang="en-US" sz="1300" dirty="0"/>
              <a:t> </a:t>
            </a:r>
            <a:r>
              <a:rPr lang="en-US" sz="1300" b="1" dirty="0" err="1"/>
              <a:t>entrambi</a:t>
            </a:r>
            <a:r>
              <a:rPr lang="en-US" sz="1300" b="1" dirty="0"/>
              <a:t> </a:t>
            </a:r>
            <a:r>
              <a:rPr lang="en-US" sz="1300" b="1" dirty="0" err="1"/>
              <a:t>contemporaneamente</a:t>
            </a:r>
            <a:r>
              <a:rPr lang="en-US" sz="1300" dirty="0"/>
              <a:t> </a:t>
            </a:r>
            <a:r>
              <a:rPr lang="en-US" sz="1300" dirty="0" err="1"/>
              <a:t>grazie</a:t>
            </a:r>
            <a:r>
              <a:rPr lang="en-US" sz="1300" dirty="0"/>
              <a:t> alla </a:t>
            </a:r>
            <a:r>
              <a:rPr lang="en-US" sz="1300" dirty="0" err="1"/>
              <a:t>sovrapposizione</a:t>
            </a:r>
            <a:r>
              <a:rPr lang="en-US" sz="1300" dirty="0"/>
              <a:t> </a:t>
            </a:r>
            <a:r>
              <a:rPr lang="en-US" sz="1300" dirty="0" err="1"/>
              <a:t>quantistica</a:t>
            </a:r>
            <a:r>
              <a:rPr lang="en-US" sz="1300" dirty="0"/>
              <a:t>.</a:t>
            </a:r>
            <a:br>
              <a:rPr lang="en-US" sz="1300" dirty="0"/>
            </a:b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La </a:t>
            </a:r>
            <a:r>
              <a:rPr lang="en-US" sz="1300" b="1" dirty="0" err="1"/>
              <a:t>misurazione</a:t>
            </a:r>
            <a:r>
              <a:rPr lang="en-US" sz="1300" b="1" dirty="0"/>
              <a:t>:</a:t>
            </a:r>
            <a:r>
              <a:rPr lang="en-US" sz="1300" dirty="0"/>
              <a:t> Il qubit </a:t>
            </a:r>
            <a:r>
              <a:rPr lang="en-US" sz="1300" dirty="0" err="1"/>
              <a:t>mantiene</a:t>
            </a:r>
            <a:r>
              <a:rPr lang="en-US" sz="1300" dirty="0"/>
              <a:t> </a:t>
            </a:r>
            <a:r>
              <a:rPr lang="en-US" sz="1300" dirty="0" err="1"/>
              <a:t>questa</a:t>
            </a:r>
            <a:r>
              <a:rPr lang="en-US" sz="1300" dirty="0"/>
              <a:t> natura "doppia" </a:t>
            </a:r>
            <a:r>
              <a:rPr lang="en-US" sz="1300" dirty="0" err="1"/>
              <a:t>finché</a:t>
            </a:r>
            <a:r>
              <a:rPr lang="en-US" sz="1300" dirty="0"/>
              <a:t> non </a:t>
            </a:r>
            <a:r>
              <a:rPr lang="en-US" sz="1300" dirty="0" err="1"/>
              <a:t>viene</a:t>
            </a:r>
            <a:r>
              <a:rPr lang="en-US" sz="1300" dirty="0"/>
              <a:t> </a:t>
            </a:r>
            <a:r>
              <a:rPr lang="en-US" sz="1300" dirty="0" err="1"/>
              <a:t>osservato</a:t>
            </a:r>
            <a:r>
              <a:rPr lang="en-US" sz="1300" dirty="0"/>
              <a:t> o </a:t>
            </a:r>
            <a:r>
              <a:rPr lang="en-US" sz="1300" dirty="0" err="1"/>
              <a:t>misurato</a:t>
            </a:r>
            <a:r>
              <a:rPr lang="en-US" sz="1300" dirty="0"/>
              <a:t>; </a:t>
            </a:r>
            <a:r>
              <a:rPr lang="en-US" sz="1300" dirty="0" err="1"/>
              <a:t>nel</a:t>
            </a:r>
            <a:r>
              <a:rPr lang="en-US" sz="1300" dirty="0"/>
              <a:t> </a:t>
            </a:r>
            <a:r>
              <a:rPr lang="en-US" sz="1300" dirty="0" err="1"/>
              <a:t>momento</a:t>
            </a:r>
            <a:r>
              <a:rPr lang="en-US" sz="1300" dirty="0"/>
              <a:t> </a:t>
            </a:r>
            <a:r>
              <a:rPr lang="en-US" sz="1300" dirty="0" err="1"/>
              <a:t>esatto</a:t>
            </a:r>
            <a:r>
              <a:rPr lang="en-US" sz="1300" dirty="0"/>
              <a:t> della </a:t>
            </a:r>
            <a:r>
              <a:rPr lang="en-US" sz="1300" dirty="0" err="1"/>
              <a:t>lettura</a:t>
            </a:r>
            <a:r>
              <a:rPr lang="en-US" sz="1300" dirty="0"/>
              <a:t>, il </a:t>
            </a:r>
            <a:r>
              <a:rPr lang="en-US" sz="1300" dirty="0" err="1"/>
              <a:t>suo</a:t>
            </a:r>
            <a:r>
              <a:rPr lang="en-US" sz="1300" dirty="0"/>
              <a:t> </a:t>
            </a:r>
            <a:r>
              <a:rPr lang="en-US" sz="1300" dirty="0" err="1"/>
              <a:t>stato</a:t>
            </a:r>
            <a:r>
              <a:rPr lang="en-US" sz="1300" dirty="0"/>
              <a:t> </a:t>
            </a:r>
            <a:r>
              <a:rPr lang="en-US" sz="1300" dirty="0" err="1"/>
              <a:t>collassa</a:t>
            </a:r>
            <a:r>
              <a:rPr lang="en-US" sz="1300" dirty="0"/>
              <a:t> </a:t>
            </a:r>
            <a:r>
              <a:rPr lang="en-US" sz="1300" dirty="0" err="1"/>
              <a:t>definendosi</a:t>
            </a:r>
            <a:r>
              <a:rPr lang="en-US" sz="1300" dirty="0"/>
              <a:t> in modo </a:t>
            </a:r>
            <a:r>
              <a:rPr lang="en-US" sz="1300" dirty="0" err="1"/>
              <a:t>definitivo</a:t>
            </a:r>
            <a:r>
              <a:rPr lang="en-US" sz="1300" dirty="0"/>
              <a:t> come 0 o 1.</a:t>
            </a:r>
            <a:br>
              <a:rPr lang="en-US" sz="1300" dirty="0"/>
            </a:b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Entanglement (</a:t>
            </a:r>
            <a:r>
              <a:rPr lang="en-US" sz="1300" b="1" dirty="0" err="1"/>
              <a:t>Correlazione</a:t>
            </a:r>
            <a:r>
              <a:rPr lang="en-US" sz="1300" b="1" dirty="0"/>
              <a:t> </a:t>
            </a:r>
            <a:r>
              <a:rPr lang="en-US" sz="1300" b="1" dirty="0" err="1"/>
              <a:t>quantistica</a:t>
            </a:r>
            <a:r>
              <a:rPr lang="en-US" sz="1300" b="1" dirty="0"/>
              <a:t>):</a:t>
            </a:r>
            <a:r>
              <a:rPr lang="en-US" sz="1300" dirty="0"/>
              <a:t> I qubit </a:t>
            </a:r>
            <a:r>
              <a:rPr lang="en-US" sz="1300" dirty="0" err="1"/>
              <a:t>possono</a:t>
            </a:r>
            <a:r>
              <a:rPr lang="en-US" sz="1300" dirty="0"/>
              <a:t> </a:t>
            </a:r>
            <a:r>
              <a:rPr lang="en-US" sz="1300" dirty="0" err="1"/>
              <a:t>essere</a:t>
            </a:r>
            <a:r>
              <a:rPr lang="en-US" sz="1300" dirty="0"/>
              <a:t> </a:t>
            </a:r>
            <a:r>
              <a:rPr lang="en-US" sz="1300" dirty="0" err="1"/>
              <a:t>collegati</a:t>
            </a:r>
            <a:r>
              <a:rPr lang="en-US" sz="1300" dirty="0"/>
              <a:t> </a:t>
            </a:r>
            <a:r>
              <a:rPr lang="en-US" sz="1300" dirty="0" err="1"/>
              <a:t>tra</a:t>
            </a:r>
            <a:r>
              <a:rPr lang="en-US" sz="1300" dirty="0"/>
              <a:t> loro in modo </a:t>
            </a:r>
            <a:r>
              <a:rPr lang="en-US" sz="1300" dirty="0" err="1"/>
              <a:t>che</a:t>
            </a:r>
            <a:r>
              <a:rPr lang="en-US" sz="1300" dirty="0"/>
              <a:t> lo </a:t>
            </a:r>
            <a:r>
              <a:rPr lang="en-US" sz="1300" dirty="0" err="1"/>
              <a:t>stato</a:t>
            </a:r>
            <a:r>
              <a:rPr lang="en-US" sz="1300" dirty="0"/>
              <a:t> di uno </a:t>
            </a:r>
            <a:r>
              <a:rPr lang="en-US" sz="1300" dirty="0" err="1"/>
              <a:t>influenzi</a:t>
            </a:r>
            <a:r>
              <a:rPr lang="en-US" sz="1300" dirty="0"/>
              <a:t> </a:t>
            </a:r>
            <a:r>
              <a:rPr lang="en-US" sz="1300" dirty="0" err="1"/>
              <a:t>istantaneamente</a:t>
            </a:r>
            <a:r>
              <a:rPr lang="en-US" sz="1300" dirty="0"/>
              <a:t> </a:t>
            </a:r>
            <a:r>
              <a:rPr lang="en-US" sz="1300" dirty="0" err="1"/>
              <a:t>l'altro</a:t>
            </a:r>
            <a:r>
              <a:rPr lang="en-US" sz="1300" dirty="0"/>
              <a:t>, </a:t>
            </a:r>
            <a:r>
              <a:rPr lang="en-US" sz="1300" dirty="0" err="1"/>
              <a:t>permettendo</a:t>
            </a:r>
            <a:r>
              <a:rPr lang="en-US" sz="1300" dirty="0"/>
              <a:t> di </a:t>
            </a:r>
            <a:r>
              <a:rPr lang="en-US" sz="1300" dirty="0" err="1"/>
              <a:t>elaborare</a:t>
            </a:r>
            <a:r>
              <a:rPr lang="en-US" sz="1300" dirty="0"/>
              <a:t> </a:t>
            </a:r>
            <a:r>
              <a:rPr lang="en-US" sz="1300" dirty="0" err="1"/>
              <a:t>una</a:t>
            </a:r>
            <a:r>
              <a:rPr lang="en-US" sz="1300" dirty="0"/>
              <a:t> </a:t>
            </a:r>
            <a:r>
              <a:rPr lang="en-US" sz="1300" dirty="0" err="1"/>
              <a:t>quantità</a:t>
            </a:r>
            <a:r>
              <a:rPr lang="en-US" sz="1300" dirty="0"/>
              <a:t> </a:t>
            </a:r>
            <a:r>
              <a:rPr lang="en-US" sz="1300" dirty="0" err="1"/>
              <a:t>immensa</a:t>
            </a:r>
            <a:r>
              <a:rPr lang="en-US" sz="1300" dirty="0"/>
              <a:t> di </a:t>
            </a:r>
            <a:r>
              <a:rPr lang="en-US" sz="1300" dirty="0" err="1"/>
              <a:t>dati</a:t>
            </a:r>
            <a:r>
              <a:rPr lang="en-US" sz="1300" dirty="0"/>
              <a:t> a </a:t>
            </a:r>
            <a:r>
              <a:rPr lang="en-US" sz="1300" dirty="0" err="1"/>
              <a:t>una</a:t>
            </a:r>
            <a:r>
              <a:rPr lang="en-US" sz="1300" dirty="0"/>
              <a:t> </a:t>
            </a:r>
            <a:r>
              <a:rPr lang="en-US" sz="1300" dirty="0" err="1"/>
              <a:t>velocità</a:t>
            </a:r>
            <a:r>
              <a:rPr lang="en-US" sz="1300" dirty="0"/>
              <a:t> </a:t>
            </a:r>
            <a:r>
              <a:rPr lang="en-US" sz="1300" dirty="0" err="1"/>
              <a:t>inarrivabile</a:t>
            </a:r>
            <a:r>
              <a:rPr lang="en-US" sz="1300" dirty="0"/>
              <a:t> per </a:t>
            </a:r>
            <a:r>
              <a:rPr lang="en-US" sz="1300" dirty="0" err="1"/>
              <a:t>i</a:t>
            </a:r>
            <a:r>
              <a:rPr lang="en-US" sz="1300" dirty="0"/>
              <a:t> computer </a:t>
            </a:r>
            <a:r>
              <a:rPr lang="en-US" sz="1300" dirty="0" err="1"/>
              <a:t>tradizionali</a:t>
            </a:r>
            <a:r>
              <a:rPr lang="en-US" sz="1300" dirty="0"/>
              <a:t>.</a:t>
            </a:r>
          </a:p>
          <a:p>
            <a:endParaRPr lang="en-US" sz="1400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F81D78E-2635-CA71-64D6-1587924DA2D3}"/>
                  </a:ext>
                </a:extLst>
              </p:cNvPr>
              <p:cNvSpPr txBox="1"/>
              <p:nvPr/>
            </p:nvSpPr>
            <p:spPr>
              <a:xfrm>
                <a:off x="5959368" y="2335383"/>
                <a:ext cx="5592247" cy="4417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00" dirty="0"/>
                  <a:t>Il </a:t>
                </a:r>
                <a:r>
                  <a:rPr lang="en-US" sz="1300" b="1" dirty="0"/>
                  <a:t>Variational Quantum </a:t>
                </a:r>
                <a:r>
                  <a:rPr lang="en-US" sz="1300" b="1" dirty="0" err="1"/>
                  <a:t>Eigensolver</a:t>
                </a:r>
                <a:r>
                  <a:rPr lang="en-US" sz="1300" b="1" dirty="0"/>
                  <a:t> (VQE)</a:t>
                </a:r>
                <a:r>
                  <a:rPr lang="en-US" sz="1300" dirty="0"/>
                  <a:t> e la </a:t>
                </a:r>
                <a:r>
                  <a:rPr lang="en-US" sz="1300" b="1" dirty="0" err="1"/>
                  <a:t>decomposizione</a:t>
                </a:r>
                <a:r>
                  <a:rPr lang="en-US" sz="1300" b="1" dirty="0"/>
                  <a:t> di Suzuki–Trotter</a:t>
                </a:r>
                <a:r>
                  <a:rPr lang="en-US" sz="1300" dirty="0"/>
                  <a:t> </a:t>
                </a:r>
                <a:r>
                  <a:rPr lang="en-US" sz="1300" dirty="0" err="1"/>
                  <a:t>sono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i</a:t>
                </a:r>
                <a:r>
                  <a:rPr lang="en-US" sz="1300" dirty="0"/>
                  <a:t> due </a:t>
                </a:r>
                <a:r>
                  <a:rPr lang="en-US" sz="1300" dirty="0" err="1"/>
                  <a:t>metodi</a:t>
                </a:r>
                <a:r>
                  <a:rPr lang="en-US" sz="1300" dirty="0"/>
                  <a:t> con cui </a:t>
                </a:r>
                <a:r>
                  <a:rPr lang="en-US" sz="1300" dirty="0" err="1"/>
                  <a:t>questa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tesi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realizza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concretamente</a:t>
                </a:r>
                <a:r>
                  <a:rPr lang="en-US" sz="1300" dirty="0"/>
                  <a:t> le due </a:t>
                </a:r>
                <a:r>
                  <a:rPr lang="en-US" sz="1300" dirty="0" err="1"/>
                  <a:t>proprietà</a:t>
                </a:r>
                <a:r>
                  <a:rPr lang="en-US" sz="1300" dirty="0"/>
                  <a:t>, </a:t>
                </a:r>
                <a:r>
                  <a:rPr lang="en-US" sz="1300" dirty="0" err="1"/>
                  <a:t>statica</a:t>
                </a:r>
                <a:r>
                  <a:rPr lang="en-US" sz="1300" dirty="0"/>
                  <a:t> e </a:t>
                </a:r>
                <a:r>
                  <a:rPr lang="en-US" sz="1300" dirty="0" err="1"/>
                  <a:t>dinamica</a:t>
                </a:r>
                <a:r>
                  <a:rPr lang="en-US" sz="1300" dirty="0"/>
                  <a:t>.</a:t>
                </a:r>
              </a:p>
              <a:p>
                <a:endParaRPr lang="en-US" sz="1300" dirty="0"/>
              </a:p>
              <a:p>
                <a:r>
                  <a:rPr lang="en-US" sz="1300" b="1" dirty="0"/>
                  <a:t>VQE — principio </a:t>
                </a:r>
                <a:r>
                  <a:rPr lang="en-US" sz="1300" b="1" dirty="0" err="1"/>
                  <a:t>variazionale</a:t>
                </a:r>
                <a:r>
                  <a:rPr lang="en-US" sz="1300" b="1" dirty="0"/>
                  <a:t>:</a:t>
                </a:r>
                <a:br>
                  <a:rPr lang="en-US" sz="1300" dirty="0"/>
                </a:br>
                <a:r>
                  <a:rPr lang="en-US" sz="1300" dirty="0"/>
                  <a:t>Si </a:t>
                </a:r>
                <a:r>
                  <a:rPr lang="en-US" sz="1300" dirty="0" err="1"/>
                  <a:t>prepara</a:t>
                </a:r>
                <a:r>
                  <a:rPr lang="en-US" sz="1300" dirty="0"/>
                  <a:t> uno </a:t>
                </a:r>
                <a:r>
                  <a:rPr lang="en-US" sz="1300" dirty="0" err="1"/>
                  <a:t>stato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sz="1300"/>
                        </m:ctrlPr>
                      </m:dPr>
                      <m:e>
                        <m:r>
                          <a:rPr lang="en-US" sz="1300"/>
                          <m:t>∣</m:t>
                        </m:r>
                        <m:r>
                          <a:rPr lang="en-US" sz="1300" i="1"/>
                          <m:t>𝜓</m:t>
                        </m:r>
                        <m:d>
                          <m:dPr>
                            <m:ctrlPr>
                              <a:rPr lang="en-US" sz="1300" i="1"/>
                            </m:ctrlPr>
                          </m:dPr>
                          <m:e>
                            <m:r>
                              <a:rPr lang="en-US" sz="1300" i="1"/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300" dirty="0"/>
                  <a:t> con un </a:t>
                </a:r>
                <a:r>
                  <a:rPr lang="en-US" sz="1300" dirty="0" err="1"/>
                  <a:t>circuito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che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dipende</a:t>
                </a:r>
                <a:r>
                  <a:rPr lang="en-US" sz="1300" dirty="0"/>
                  <a:t> da </a:t>
                </a:r>
                <a:r>
                  <a:rPr lang="en-US" sz="1300" dirty="0" err="1"/>
                  <a:t>parametri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r>
                      <a:rPr lang="en-US" sz="1300" i="1"/>
                      <m:t>𝜃</m:t>
                    </m:r>
                  </m:oMath>
                </a14:m>
                <a:r>
                  <a:rPr lang="en-US" sz="1300" dirty="0"/>
                  <a:t>, e </a:t>
                </a:r>
                <a:r>
                  <a:rPr lang="en-US" sz="1300" dirty="0" err="1"/>
                  <a:t>si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misura</a:t>
                </a:r>
                <a:r>
                  <a:rPr lang="en-US" sz="1300" dirty="0"/>
                  <a:t> la </a:t>
                </a:r>
                <a:r>
                  <a:rPr lang="en-US" sz="1300" dirty="0" err="1"/>
                  <a:t>sua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energia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r>
                      <a:rPr lang="en-US" sz="1300" i="1"/>
                      <m:t>𝐸</m:t>
                    </m:r>
                    <m:d>
                      <m:dPr>
                        <m:ctrlPr>
                          <a:rPr lang="en-US" sz="1300" i="1"/>
                        </m:ctrlPr>
                      </m:dPr>
                      <m:e>
                        <m:r>
                          <a:rPr lang="en-US" sz="1300" i="1"/>
                          <m:t>𝜃</m:t>
                        </m:r>
                      </m:e>
                    </m:d>
                    <m:r>
                      <a:rPr lang="en-US" sz="1300"/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1300" i="1"/>
                        </m:ctrlPr>
                      </m:dPr>
                      <m:e>
                        <m:r>
                          <a:rPr lang="en-US" sz="1300" i="1"/>
                          <m:t>𝜓</m:t>
                        </m:r>
                        <m:d>
                          <m:dPr>
                            <m:ctrlPr>
                              <a:rPr lang="en-US" sz="1300" i="1"/>
                            </m:ctrlPr>
                          </m:dPr>
                          <m:e>
                            <m:r>
                              <a:rPr lang="en-US" sz="1300" i="1"/>
                              <m:t>𝜃</m:t>
                            </m:r>
                          </m:e>
                        </m:d>
                        <m:r>
                          <a:rPr lang="en-US" sz="1300"/>
                          <m:t>∣</m:t>
                        </m:r>
                        <m:r>
                          <a:rPr lang="en-US" sz="1300" i="1"/>
                          <m:t>𝐻</m:t>
                        </m:r>
                        <m:r>
                          <a:rPr lang="en-US" sz="1300"/>
                          <m:t>∣</m:t>
                        </m:r>
                        <m:r>
                          <a:rPr lang="en-US" sz="1300" i="1"/>
                          <m:t>𝜓</m:t>
                        </m:r>
                        <m:d>
                          <m:dPr>
                            <m:ctrlPr>
                              <a:rPr lang="en-US" sz="1300" i="1"/>
                            </m:ctrlPr>
                          </m:dPr>
                          <m:e>
                            <m:r>
                              <a:rPr lang="en-US" sz="1300" i="1"/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300" dirty="0"/>
                  <a:t>. Il principio </a:t>
                </a:r>
                <a:r>
                  <a:rPr lang="en-US" sz="1300" dirty="0" err="1"/>
                  <a:t>variazionale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garantisce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che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r>
                      <a:rPr lang="en-US" sz="1300" i="1"/>
                      <m:t>𝐸</m:t>
                    </m:r>
                    <m:d>
                      <m:dPr>
                        <m:ctrlPr>
                          <a:rPr lang="en-US" sz="1300" i="1"/>
                        </m:ctrlPr>
                      </m:dPr>
                      <m:e>
                        <m:r>
                          <a:rPr lang="en-US" sz="1300" i="1"/>
                          <m:t>𝜃</m:t>
                        </m:r>
                      </m:e>
                    </m:d>
                    <m:r>
                      <a:rPr lang="en-US" sz="1300"/>
                      <m:t>≥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𝐸</m:t>
                        </m:r>
                      </m:e>
                      <m:sub>
                        <m:r>
                          <a:rPr lang="en-US" sz="1300"/>
                          <m:t>0</m:t>
                        </m:r>
                      </m:sub>
                    </m:sSub>
                  </m:oMath>
                </a14:m>
                <a:r>
                  <a:rPr lang="en-US" sz="1300" dirty="0"/>
                  <a:t>​ per ogni </a:t>
                </a:r>
                <a14:m>
                  <m:oMath xmlns:m="http://schemas.openxmlformats.org/officeDocument/2006/math">
                    <m:r>
                      <a:rPr lang="en-US" sz="1300" i="1"/>
                      <m:t>𝜃</m:t>
                    </m:r>
                  </m:oMath>
                </a14:m>
                <a:r>
                  <a:rPr lang="en-US" sz="1300" dirty="0"/>
                  <a:t>: non </a:t>
                </a:r>
                <a:r>
                  <a:rPr lang="en-US" sz="1300" dirty="0" err="1"/>
                  <a:t>si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può</a:t>
                </a:r>
                <a:r>
                  <a:rPr lang="en-US" sz="1300" dirty="0"/>
                  <a:t> </a:t>
                </a:r>
                <a:r>
                  <a:rPr lang="en-US" sz="1300" dirty="0" err="1"/>
                  <a:t>mai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scendere</a:t>
                </a:r>
                <a:r>
                  <a:rPr lang="en-US" sz="1300" dirty="0"/>
                  <a:t> sotto </a:t>
                </a:r>
                <a:r>
                  <a:rPr lang="en-US" sz="1300" dirty="0" err="1"/>
                  <a:t>l'energia</a:t>
                </a:r>
                <a:r>
                  <a:rPr lang="en-US" sz="1300" dirty="0"/>
                  <a:t> vera. Un </a:t>
                </a:r>
                <a:r>
                  <a:rPr lang="en-US" sz="1300" dirty="0" err="1"/>
                  <a:t>ottimizzatore</a:t>
                </a:r>
                <a:r>
                  <a:rPr lang="en-US" sz="1300" dirty="0"/>
                  <a:t> classico </a:t>
                </a:r>
                <a:r>
                  <a:rPr lang="en-US" sz="1300" dirty="0" err="1"/>
                  <a:t>regola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r>
                      <a:rPr lang="en-US" sz="1300" i="1"/>
                      <m:t>𝜃</m:t>
                    </m:r>
                  </m:oMath>
                </a14:m>
                <a:r>
                  <a:rPr lang="en-US" sz="1300" dirty="0"/>
                  <a:t> per </a:t>
                </a:r>
                <a:r>
                  <a:rPr lang="en-US" sz="1300" dirty="0" err="1"/>
                  <a:t>abbassare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r>
                      <a:rPr lang="en-US" sz="1300" i="1"/>
                      <m:t>𝐸</m:t>
                    </m:r>
                    <m:d>
                      <m:dPr>
                        <m:ctrlPr>
                          <a:rPr lang="en-US" sz="1300" i="1"/>
                        </m:ctrlPr>
                      </m:dPr>
                      <m:e>
                        <m:r>
                          <a:rPr lang="en-US" sz="1300" i="1"/>
                          <m:t>𝜃</m:t>
                        </m:r>
                      </m:e>
                    </m:d>
                  </m:oMath>
                </a14:m>
                <a:r>
                  <a:rPr lang="en-US" sz="1300" dirty="0"/>
                  <a:t> il </a:t>
                </a:r>
                <a:r>
                  <a:rPr lang="en-US" sz="1300" dirty="0" err="1"/>
                  <a:t>più</a:t>
                </a:r>
                <a:r>
                  <a:rPr lang="en-US" sz="1300" dirty="0"/>
                  <a:t> </a:t>
                </a:r>
                <a:r>
                  <a:rPr lang="en-US" sz="1300" dirty="0" err="1"/>
                  <a:t>possibile</a:t>
                </a:r>
                <a:r>
                  <a:rPr lang="en-US" sz="1300" dirty="0"/>
                  <a:t>, </a:t>
                </a:r>
                <a:r>
                  <a:rPr lang="en-US" sz="1300" dirty="0" err="1"/>
                  <a:t>avvicinandosi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così</a:t>
                </a:r>
                <a:r>
                  <a:rPr lang="en-US" sz="1300" dirty="0"/>
                  <a:t> </a:t>
                </a:r>
                <a:r>
                  <a:rPr lang="en-US" sz="1300" dirty="0" err="1"/>
                  <a:t>allo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stato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fondamentale</a:t>
                </a:r>
                <a:r>
                  <a:rPr lang="en-US" sz="1300" dirty="0"/>
                  <a:t>.</a:t>
                </a:r>
              </a:p>
              <a:p>
                <a:endParaRPr lang="en-US" sz="1300" dirty="0"/>
              </a:p>
              <a:p>
                <a:r>
                  <a:rPr lang="en-US" sz="1300" b="1" dirty="0"/>
                  <a:t>Trotter — </a:t>
                </a:r>
                <a:r>
                  <a:rPr lang="en-US" sz="1300" b="1" dirty="0" err="1"/>
                  <a:t>l'evoluzione</a:t>
                </a:r>
                <a:r>
                  <a:rPr lang="en-US" sz="1300" b="1" dirty="0"/>
                  <a:t> </a:t>
                </a:r>
                <a:r>
                  <a:rPr lang="en-US" sz="1300" b="1" dirty="0" err="1"/>
                  <a:t>approssimata</a:t>
                </a:r>
                <a:r>
                  <a:rPr lang="en-US" sz="1300" b="1" dirty="0"/>
                  <a:t>:</a:t>
                </a:r>
                <a:br>
                  <a:rPr lang="en-US" sz="1300" dirty="0"/>
                </a:br>
                <a:r>
                  <a:rPr lang="en-US" sz="1300" dirty="0" err="1"/>
                  <a:t>L'evoluzione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esatta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r>
                      <a:rPr lang="en-US" sz="1300" i="1"/>
                      <m:t>𝑈</m:t>
                    </m:r>
                    <m:d>
                      <m:dPr>
                        <m:ctrlPr>
                          <a:rPr lang="en-US" sz="1300" i="1"/>
                        </m:ctrlPr>
                      </m:dPr>
                      <m:e>
                        <m:r>
                          <a:rPr lang="en-US" sz="1300" i="1"/>
                          <m:t>𝑡</m:t>
                        </m:r>
                      </m:e>
                    </m:d>
                    <m:r>
                      <a:rPr lang="en-US" sz="1300"/>
                      <m:t>=</m:t>
                    </m:r>
                    <m:sSup>
                      <m:sSupPr>
                        <m:ctrlPr>
                          <a:rPr lang="en-US" sz="1300" i="1"/>
                        </m:ctrlPr>
                      </m:sSupPr>
                      <m:e>
                        <m:r>
                          <a:rPr lang="en-US" sz="1300" i="1"/>
                          <m:t>𝑒</m:t>
                        </m:r>
                      </m:e>
                      <m:sup>
                        <m:r>
                          <a:rPr lang="en-US" sz="1300"/>
                          <m:t>−</m:t>
                        </m:r>
                        <m:r>
                          <a:rPr lang="en-US" sz="1300" i="1"/>
                          <m:t>𝑖𝐻𝑡</m:t>
                        </m:r>
                      </m:sup>
                    </m:sSup>
                  </m:oMath>
                </a14:m>
                <a:r>
                  <a:rPr lang="en-US" sz="1300" dirty="0"/>
                  <a:t> non </a:t>
                </a:r>
                <a:r>
                  <a:rPr lang="en-US" sz="1300" dirty="0" err="1"/>
                  <a:t>si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implementa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direttamente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su</a:t>
                </a:r>
                <a:r>
                  <a:rPr lang="en-US" sz="1300" dirty="0"/>
                  <a:t> un </a:t>
                </a:r>
                <a:r>
                  <a:rPr lang="en-US" sz="1300" dirty="0" err="1"/>
                  <a:t>circuito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quando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r>
                      <a:rPr lang="en-US" sz="1300" i="1"/>
                      <m:t>𝐻</m:t>
                    </m:r>
                  </m:oMath>
                </a14:m>
                <a:r>
                  <a:rPr lang="en-US" sz="1300" dirty="0"/>
                  <a:t> ha </a:t>
                </a:r>
                <a:r>
                  <a:rPr lang="en-US" sz="1300" dirty="0" err="1"/>
                  <a:t>più</a:t>
                </a:r>
                <a:r>
                  <a:rPr lang="en-US" sz="1300" dirty="0"/>
                  <a:t> termini </a:t>
                </a:r>
                <a:r>
                  <a:rPr lang="en-US" sz="1300" dirty="0" err="1"/>
                  <a:t>che</a:t>
                </a:r>
                <a:r>
                  <a:rPr lang="en-US" sz="1300" dirty="0"/>
                  <a:t> non </a:t>
                </a:r>
                <a:r>
                  <a:rPr lang="en-US" sz="1300" dirty="0" err="1"/>
                  <a:t>commutano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fra</a:t>
                </a:r>
                <a:r>
                  <a:rPr lang="en-US" sz="1300" dirty="0"/>
                  <a:t> loro. La </a:t>
                </a:r>
                <a:r>
                  <a:rPr lang="en-US" sz="1300" dirty="0" err="1"/>
                  <a:t>si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spezza</a:t>
                </a:r>
                <a:r>
                  <a:rPr lang="en-US" sz="1300" dirty="0"/>
                  <a:t> in </a:t>
                </a:r>
                <a:r>
                  <a:rPr lang="en-US" sz="1300" dirty="0" err="1"/>
                  <a:t>molti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passi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piccoli</a:t>
                </a:r>
                <a:r>
                  <a:rPr lang="en-US" sz="1300" dirty="0"/>
                  <a:t>:</a:t>
                </a:r>
                <a:br>
                  <a:rPr lang="en-US" sz="1400" dirty="0"/>
                </a:br>
                <a:endParaRPr lang="en-US" sz="1400" dirty="0"/>
              </a:p>
              <a:p>
                <a14:m>
                  <m:oMathPara xmlns:m="http://schemas.openxmlformats.org/officeDocument/2006/math">
                    <m:oMath>
                      <m:r>
                        <a:rPr lang="en-US" sz="1400" i="1"/>
                        <m:t>𝑈</m:t>
                      </m:r>
                      <m:d>
                        <m:dPr>
                          <m:ctrlPr>
                            <a:rPr lang="en-US" sz="1400" i="1"/>
                          </m:ctrlPr>
                        </m:dPr>
                        <m:e>
                          <m:r>
                            <a:rPr lang="en-US" sz="1400" i="1"/>
                            <m:t>𝑡</m:t>
                          </m:r>
                        </m:e>
                      </m:d>
                      <m:r>
                        <a:rPr lang="en-US" sz="1400"/>
                        <m:t>≈</m:t>
                      </m:r>
                      <m:sSup>
                        <m:sSupPr>
                          <m:ctrlPr>
                            <a:rPr lang="en-US" sz="1400" i="1"/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/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/>
                                  </m:ctrlPr>
                                </m:sSupPr>
                                <m:e>
                                  <m:r>
                                    <a:rPr lang="en-US" sz="1400" i="1"/>
                                    <m:t>𝑒</m:t>
                                  </m:r>
                                </m:e>
                                <m:sup>
                                  <m:r>
                                    <a:rPr lang="en-US" sz="1400"/>
                                    <m:t>−</m:t>
                                  </m:r>
                                  <m:r>
                                    <a:rPr lang="en-US" sz="1400" i="1"/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/>
                                      </m:ctrlPr>
                                    </m:sSubPr>
                                    <m:e>
                                      <m:r>
                                        <a:rPr lang="en-US" sz="1400" i="1"/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/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i="1"/>
                                    <m:t>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400" i="1"/>
                                  </m:ctrlPr>
                                </m:sSupPr>
                                <m:e>
                                  <m:r>
                                    <a:rPr lang="en-US" sz="1400" i="1"/>
                                    <m:t>𝑒</m:t>
                                  </m:r>
                                </m:e>
                                <m:sup>
                                  <m:r>
                                    <a:rPr lang="en-US" sz="1400"/>
                                    <m:t>−</m:t>
                                  </m:r>
                                  <m:r>
                                    <a:rPr lang="en-US" sz="1400" i="1"/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/>
                                      </m:ctrlPr>
                                    </m:sSubPr>
                                    <m:e>
                                      <m:r>
                                        <a:rPr lang="en-US" sz="1400" i="1"/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/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400" i="1"/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400" i="1"/>
                            <m:t>𝑁</m:t>
                          </m:r>
                        </m:sup>
                      </m:sSup>
                      <m:r>
                        <a:rPr lang="en-US" sz="1400"/>
                        <m:t>, </m:t>
                      </m:r>
                      <m:r>
                        <a:rPr lang="en-US" sz="1400" i="1"/>
                        <m:t>𝜏</m:t>
                      </m:r>
                      <m:r>
                        <a:rPr lang="en-US" sz="1400"/>
                        <m:t>=</m:t>
                      </m:r>
                      <m:r>
                        <a:rPr lang="en-US" sz="1400" i="1"/>
                        <m:t>𝑡</m:t>
                      </m:r>
                      <m:r>
                        <a:rPr lang="en-US" sz="1400"/>
                        <m:t>/</m:t>
                      </m:r>
                      <m:r>
                        <a:rPr lang="en-US" sz="1400" i="1"/>
                        <m:t>𝑁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300" dirty="0"/>
                  <a:t>Ogni </a:t>
                </a:r>
                <a:r>
                  <a:rPr lang="en-US" sz="1300" dirty="0" err="1"/>
                  <a:t>fattore</a:t>
                </a:r>
                <a:r>
                  <a:rPr lang="en-US" sz="1300" dirty="0"/>
                  <a:t>, </a:t>
                </a:r>
                <a:r>
                  <a:rPr lang="en-US" sz="1300" dirty="0" err="1"/>
                  <a:t>preso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singolarmente</a:t>
                </a:r>
                <a:r>
                  <a:rPr lang="en-US" sz="1300" dirty="0"/>
                  <a:t>, </a:t>
                </a:r>
                <a:r>
                  <a:rPr lang="en-US" sz="1300" dirty="0" err="1"/>
                  <a:t>si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implementa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esattamente</a:t>
                </a:r>
                <a:r>
                  <a:rPr lang="en-US" sz="1300" dirty="0"/>
                  <a:t> in un </a:t>
                </a:r>
                <a:r>
                  <a:rPr lang="en-US" sz="1300" dirty="0" err="1"/>
                  <a:t>circuito</a:t>
                </a:r>
                <a:r>
                  <a:rPr lang="en-US" sz="1300" dirty="0"/>
                  <a:t>; </a:t>
                </a:r>
                <a:r>
                  <a:rPr lang="en-US" sz="1300" dirty="0" err="1"/>
                  <a:t>l'approssimazione</a:t>
                </a:r>
                <a:r>
                  <a:rPr lang="en-US" sz="1300" dirty="0"/>
                  <a:t> introduce un </a:t>
                </a:r>
                <a:r>
                  <a:rPr lang="en-US" sz="1300" dirty="0" err="1"/>
                  <a:t>errore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che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si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riduce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aumentando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r>
                      <a:rPr lang="en-US" sz="1300" i="1"/>
                      <m:t>𝑁</m:t>
                    </m:r>
                  </m:oMath>
                </a14:m>
                <a:r>
                  <a:rPr lang="en-US" sz="1300" dirty="0"/>
                  <a:t> — </a:t>
                </a:r>
                <a:r>
                  <a:rPr lang="en-US" sz="1300" dirty="0" err="1"/>
                  <a:t>più</a:t>
                </a:r>
                <a:r>
                  <a:rPr lang="en-US" sz="1300" dirty="0"/>
                  <a:t> </a:t>
                </a:r>
                <a:r>
                  <a:rPr lang="en-US" sz="1300" dirty="0" err="1"/>
                  <a:t>passi</a:t>
                </a:r>
                <a:r>
                  <a:rPr lang="en-US" sz="1300" dirty="0"/>
                  <a:t>, </a:t>
                </a:r>
                <a:r>
                  <a:rPr lang="en-US" sz="1300" dirty="0" err="1"/>
                  <a:t>più</a:t>
                </a:r>
                <a:r>
                  <a:rPr lang="en-US" sz="1300" dirty="0"/>
                  <a:t> </a:t>
                </a:r>
                <a:r>
                  <a:rPr lang="en-US" sz="1300" dirty="0" err="1"/>
                  <a:t>fedeltà</a:t>
                </a:r>
                <a:r>
                  <a:rPr lang="en-US" sz="1300" dirty="0"/>
                  <a:t>, a </a:t>
                </a:r>
                <a:r>
                  <a:rPr lang="en-US" sz="1300" dirty="0" err="1"/>
                  <a:t>costo</a:t>
                </a:r>
                <a:r>
                  <a:rPr lang="en-US" sz="1300" dirty="0"/>
                  <a:t> di un </a:t>
                </a:r>
                <a:r>
                  <a:rPr lang="en-US" sz="1300" dirty="0" err="1"/>
                  <a:t>circuito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più</a:t>
                </a:r>
                <a:r>
                  <a:rPr lang="en-US" sz="1300" dirty="0"/>
                  <a:t> </a:t>
                </a:r>
                <a:r>
                  <a:rPr lang="en-US" sz="1300" dirty="0" err="1"/>
                  <a:t>lungo</a:t>
                </a:r>
                <a:r>
                  <a:rPr lang="en-US" sz="1300" dirty="0"/>
                  <a:t>.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F81D78E-2635-CA71-64D6-1587924DA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368" y="2335383"/>
                <a:ext cx="5592247" cy="4417941"/>
              </a:xfrm>
              <a:prstGeom prst="rect">
                <a:avLst/>
              </a:prstGeom>
              <a:blipFill>
                <a:blip r:embed="rId4"/>
                <a:stretch>
                  <a:fillRect l="-218" t="-138" b="-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2C4C30-539D-7809-69F6-71DB02378B85}"/>
                  </a:ext>
                </a:extLst>
              </p:cNvPr>
              <p:cNvSpPr txBox="1"/>
              <p:nvPr/>
            </p:nvSpPr>
            <p:spPr>
              <a:xfrm>
                <a:off x="5959368" y="2343674"/>
                <a:ext cx="5592247" cy="3968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00" b="1" dirty="0"/>
                  <a:t>Un computer classico non </a:t>
                </a:r>
                <a:r>
                  <a:rPr lang="en-US" sz="1300" b="1" dirty="0" err="1"/>
                  <a:t>può</a:t>
                </a:r>
                <a:r>
                  <a:rPr lang="en-US" sz="1300" b="1" dirty="0"/>
                  <a:t> </a:t>
                </a:r>
                <a:r>
                  <a:rPr lang="en-US" sz="1300" b="1" dirty="0" err="1"/>
                  <a:t>simulare</a:t>
                </a:r>
                <a:r>
                  <a:rPr lang="en-US" sz="1300" b="1" dirty="0"/>
                  <a:t> in modo </a:t>
                </a:r>
                <a:r>
                  <a:rPr lang="en-US" sz="1300" b="1" dirty="0" err="1"/>
                  <a:t>efficiente</a:t>
                </a:r>
                <a:r>
                  <a:rPr lang="en-US" sz="1300" b="1" dirty="0"/>
                  <a:t> un </a:t>
                </a:r>
                <a:r>
                  <a:rPr lang="en-US" sz="1300" b="1" dirty="0" err="1"/>
                  <a:t>sistema</a:t>
                </a:r>
                <a:r>
                  <a:rPr lang="en-US" sz="1300" b="1" dirty="0"/>
                  <a:t> </a:t>
                </a:r>
                <a:r>
                  <a:rPr lang="en-US" sz="1300" b="1" dirty="0" err="1"/>
                  <a:t>quantistico</a:t>
                </a:r>
                <a:r>
                  <a:rPr lang="en-US" sz="1300" dirty="0"/>
                  <a:t>, </a:t>
                </a:r>
                <a:r>
                  <a:rPr lang="en-US" sz="1300" dirty="0" err="1"/>
                  <a:t>perché</a:t>
                </a:r>
                <a:r>
                  <a:rPr lang="en-US" sz="1300" dirty="0"/>
                  <a:t> lo </a:t>
                </a:r>
                <a:r>
                  <a:rPr lang="en-US" sz="1300" dirty="0" err="1"/>
                  <a:t>spazio</a:t>
                </a:r>
                <a:r>
                  <a:rPr lang="en-US" sz="1300" dirty="0"/>
                  <a:t> degli </a:t>
                </a:r>
                <a:r>
                  <a:rPr lang="en-US" sz="1300" dirty="0" err="1"/>
                  <a:t>stati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cresce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esponenzialmente</a:t>
                </a:r>
                <a:r>
                  <a:rPr lang="en-US" sz="1300" dirty="0"/>
                  <a:t> con il </a:t>
                </a:r>
                <a:r>
                  <a:rPr lang="en-US" sz="1300" dirty="0" err="1"/>
                  <a:t>numero</a:t>
                </a:r>
                <a:r>
                  <a:rPr lang="en-US" sz="1300" dirty="0"/>
                  <a:t> di </a:t>
                </a:r>
                <a:r>
                  <a:rPr lang="en-US" sz="1300" dirty="0" err="1"/>
                  <a:t>particelle</a:t>
                </a:r>
                <a:r>
                  <a:rPr lang="en-US" sz="1300" dirty="0"/>
                  <a:t> — per </a:t>
                </a:r>
                <a14:m>
                  <m:oMath xmlns:m="http://schemas.openxmlformats.org/officeDocument/2006/math">
                    <m:r>
                      <a:rPr lang="en-US" sz="1300" i="1"/>
                      <m:t>𝑁</m:t>
                    </m:r>
                  </m:oMath>
                </a14:m>
                <a:r>
                  <a:rPr lang="en-US" sz="1300" dirty="0"/>
                  <a:t> spin-1/2, la </a:t>
                </a:r>
                <a:r>
                  <a:rPr lang="en-US" sz="1300" dirty="0" err="1"/>
                  <a:t>dimensione</a:t>
                </a:r>
                <a:r>
                  <a:rPr lang="en-US" sz="1300" dirty="0"/>
                  <a:t> è</a:t>
                </a:r>
                <a:br>
                  <a:rPr lang="en-US" sz="1400" dirty="0"/>
                </a:br>
                <a:endParaRPr lang="en-US" sz="1400" dirty="0"/>
              </a:p>
              <a:p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1400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/>
                            <m:t>dim</m:t>
                          </m:r>
                        </m:fName>
                        <m:e>
                          <m:d>
                            <m:dPr>
                              <m:ctrlPr>
                                <a:rPr lang="en-US" sz="1400"/>
                              </m:ctrlPr>
                            </m:dPr>
                            <m:e>
                              <m:r>
                                <a:rPr lang="en-US" sz="1400"/>
                                <m:t>ℋ</m:t>
                              </m:r>
                            </m:e>
                          </m:d>
                        </m:e>
                      </m:func>
                      <m:r>
                        <a:rPr lang="en-US" sz="1400"/>
                        <m:t>=</m:t>
                      </m:r>
                      <m:sSup>
                        <m:sSupPr>
                          <m:ctrlPr>
                            <a:rPr lang="en-US" sz="1400"/>
                          </m:ctrlPr>
                        </m:sSupPr>
                        <m:e>
                          <m:r>
                            <a:rPr lang="en-US" sz="1400"/>
                            <m:t>2</m:t>
                          </m:r>
                        </m:e>
                        <m:sup>
                          <m:r>
                            <a:rPr lang="en-US" sz="1400" i="1"/>
                            <m:t>𝑁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300" dirty="0"/>
                  <a:t>(la </a:t>
                </a:r>
                <a:r>
                  <a:rPr lang="en-US" sz="1300" dirty="0" err="1"/>
                  <a:t>stessa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crescita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già</a:t>
                </a:r>
                <a:r>
                  <a:rPr lang="en-US" sz="1300" dirty="0"/>
                  <a:t> vista in "</a:t>
                </a:r>
                <a:r>
                  <a:rPr lang="en-US" sz="1300" dirty="0" err="1"/>
                  <a:t>Contesto</a:t>
                </a:r>
                <a:r>
                  <a:rPr lang="en-US" sz="1300" dirty="0"/>
                  <a:t>": </a:t>
                </a:r>
                <a:r>
                  <a:rPr lang="en-US" sz="1300" dirty="0" err="1"/>
                  <a:t>oltre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r>
                      <a:rPr lang="en-US" sz="1300" i="1"/>
                      <m:t>𝑁</m:t>
                    </m:r>
                    <m:r>
                      <a:rPr lang="en-US" sz="1300"/>
                      <m:t>≈50</m:t>
                    </m:r>
                  </m:oMath>
                </a14:m>
                <a:r>
                  <a:rPr lang="en-US" sz="1300" dirty="0"/>
                  <a:t> spin, </a:t>
                </a:r>
                <a:r>
                  <a:rPr lang="en-US" sz="1300" dirty="0" err="1"/>
                  <a:t>fuori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portata</a:t>
                </a:r>
                <a:r>
                  <a:rPr lang="en-US" sz="1300" dirty="0"/>
                  <a:t> per </a:t>
                </a:r>
                <a:r>
                  <a:rPr lang="en-US" sz="1300" dirty="0" err="1"/>
                  <a:t>qualunque</a:t>
                </a:r>
                <a:r>
                  <a:rPr lang="en-US" sz="1300" dirty="0"/>
                  <a:t> supercomputer).</a:t>
                </a:r>
              </a:p>
              <a:p>
                <a:r>
                  <a:rPr lang="en-US" sz="1300" dirty="0"/>
                  <a:t>La </a:t>
                </a:r>
                <a:r>
                  <a:rPr lang="en-US" sz="1300" dirty="0" err="1"/>
                  <a:t>sua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proposta</a:t>
                </a:r>
                <a:r>
                  <a:rPr lang="en-US" sz="1300" dirty="0"/>
                  <a:t>: </a:t>
                </a:r>
                <a:r>
                  <a:rPr lang="en-US" sz="1300" b="1" dirty="0" err="1"/>
                  <a:t>usare</a:t>
                </a:r>
                <a:r>
                  <a:rPr lang="en-US" sz="1300" b="1" dirty="0"/>
                  <a:t> un </a:t>
                </a:r>
                <a:r>
                  <a:rPr lang="en-US" sz="1300" b="1" dirty="0" err="1"/>
                  <a:t>sistema</a:t>
                </a:r>
                <a:r>
                  <a:rPr lang="en-US" sz="1300" b="1" dirty="0"/>
                  <a:t> </a:t>
                </a:r>
                <a:r>
                  <a:rPr lang="en-US" sz="1300" b="1" dirty="0" err="1"/>
                  <a:t>quantistico</a:t>
                </a:r>
                <a:r>
                  <a:rPr lang="en-US" sz="1300" b="1" dirty="0"/>
                  <a:t> per </a:t>
                </a:r>
                <a:r>
                  <a:rPr lang="en-US" sz="1300" b="1" dirty="0" err="1"/>
                  <a:t>simularne</a:t>
                </a:r>
                <a:r>
                  <a:rPr lang="en-US" sz="1300" b="1" dirty="0"/>
                  <a:t> un </a:t>
                </a:r>
                <a:r>
                  <a:rPr lang="en-US" sz="1300" b="1" dirty="0" err="1"/>
                  <a:t>altro</a:t>
                </a:r>
                <a:r>
                  <a:rPr lang="en-US" sz="1300" dirty="0"/>
                  <a:t>. </a:t>
                </a:r>
                <a:r>
                  <a:rPr lang="en-US" sz="1300" dirty="0" err="1"/>
                  <a:t>Invece</a:t>
                </a:r>
                <a:r>
                  <a:rPr lang="en-US" sz="1300" dirty="0"/>
                  <a:t> di </a:t>
                </a:r>
                <a:r>
                  <a:rPr lang="en-US" sz="1300" dirty="0" err="1"/>
                  <a:t>rappresentare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/>
                        </m:ctrlPr>
                      </m:sSupPr>
                      <m:e>
                        <m:r>
                          <a:rPr lang="en-US" sz="1300"/>
                          <m:t>2</m:t>
                        </m:r>
                      </m:e>
                      <m:sup>
                        <m:r>
                          <a:rPr lang="en-US" sz="1300" i="1"/>
                          <m:t>𝑁</m:t>
                        </m:r>
                      </m:sup>
                    </m:sSup>
                  </m:oMath>
                </a14:m>
                <a:r>
                  <a:rPr lang="en-US" sz="1300" dirty="0"/>
                  <a:t> </a:t>
                </a:r>
                <a:r>
                  <a:rPr lang="en-US" sz="1300" dirty="0" err="1"/>
                  <a:t>ampiezze</a:t>
                </a:r>
                <a:r>
                  <a:rPr lang="en-US" sz="1300" dirty="0"/>
                  <a:t> in memoria, </a:t>
                </a:r>
                <a:r>
                  <a:rPr lang="en-US" sz="1300" dirty="0" err="1"/>
                  <a:t>si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costruisce</a:t>
                </a:r>
                <a:r>
                  <a:rPr lang="en-US" sz="1300" dirty="0"/>
                  <a:t> un </a:t>
                </a:r>
                <a:r>
                  <a:rPr lang="en-US" sz="1300" dirty="0" err="1"/>
                  <a:t>dispositivo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quantistico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controllabile</a:t>
                </a:r>
                <a:r>
                  <a:rPr lang="en-US" sz="1300" dirty="0"/>
                  <a:t> la cui </a:t>
                </a:r>
                <a:r>
                  <a:rPr lang="en-US" sz="1300" dirty="0" err="1"/>
                  <a:t>evoluzione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riproduce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direttamente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quella</a:t>
                </a:r>
                <a:r>
                  <a:rPr lang="en-US" sz="1300" dirty="0"/>
                  <a:t> del </a:t>
                </a:r>
                <a:r>
                  <a:rPr lang="en-US" sz="1300" dirty="0" err="1"/>
                  <a:t>sistema</a:t>
                </a:r>
                <a:r>
                  <a:rPr lang="en-US" sz="1300" dirty="0"/>
                  <a:t> target:</a:t>
                </a:r>
                <a:br>
                  <a:rPr lang="en-US" sz="1400" dirty="0"/>
                </a:br>
                <a:endParaRPr lang="en-US" sz="1400" dirty="0"/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/>
                          </m:ctrlPr>
                        </m:sSubPr>
                        <m:e>
                          <m:r>
                            <a:rPr lang="en-US" sz="1400" i="1"/>
                            <m:t>𝑈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400"/>
                            <m:t>sim</m:t>
                          </m:r>
                        </m:sub>
                      </m:sSub>
                      <m:d>
                        <m:dPr>
                          <m:ctrlPr>
                            <a:rPr lang="en-US" sz="1400" i="1"/>
                          </m:ctrlPr>
                        </m:dPr>
                        <m:e>
                          <m:r>
                            <a:rPr lang="en-US" sz="1400" i="1"/>
                            <m:t>𝑡</m:t>
                          </m:r>
                        </m:e>
                      </m:d>
                      <m:r>
                        <a:rPr lang="en-US" sz="1400"/>
                        <m:t>=</m:t>
                      </m:r>
                      <m:sSup>
                        <m:sSupPr>
                          <m:ctrlPr>
                            <a:rPr lang="en-US" sz="1400" i="1"/>
                          </m:ctrlPr>
                        </m:sSupPr>
                        <m:e>
                          <m:r>
                            <a:rPr lang="en-US" sz="1400" i="1"/>
                            <m:t>𝑒</m:t>
                          </m:r>
                        </m:e>
                        <m:sup>
                          <m:r>
                            <a:rPr lang="en-US" sz="1400"/>
                            <m:t>−</m:t>
                          </m:r>
                          <m:r>
                            <a:rPr lang="en-US" sz="1400" i="1"/>
                            <m:t>𝑖</m:t>
                          </m:r>
                          <m:sSub>
                            <m:sSubPr>
                              <m:ctrlPr>
                                <a:rPr lang="en-US" sz="1400" i="1"/>
                              </m:ctrlPr>
                            </m:sSubPr>
                            <m:e>
                              <m:r>
                                <a:rPr lang="en-US" sz="1400" i="1"/>
                                <m:t>𝐻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400"/>
                                <m:t>sim</m:t>
                              </m:r>
                            </m:sub>
                          </m:sSub>
                          <m:r>
                            <a:rPr lang="en-US" sz="1400" i="1"/>
                            <m:t>𝑡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400"/>
                        <m:t>  </m:t>
                      </m:r>
                      <m:r>
                        <a:rPr lang="en-US" sz="1400"/>
                        <m:t>⟷</m:t>
                      </m:r>
                      <m:r>
                        <m:rPr>
                          <m:nor/>
                        </m:rPr>
                        <a:rPr lang="en-US" sz="1400"/>
                        <m:t>  </m:t>
                      </m:r>
                      <m:r>
                        <a:rPr lang="en-US" sz="1400" i="1"/>
                        <m:t>𝑈</m:t>
                      </m:r>
                      <m:d>
                        <m:dPr>
                          <m:ctrlPr>
                            <a:rPr lang="en-US" sz="1400" i="1"/>
                          </m:ctrlPr>
                        </m:dPr>
                        <m:e>
                          <m:r>
                            <a:rPr lang="en-US" sz="1400" i="1"/>
                            <m:t>𝑡</m:t>
                          </m:r>
                        </m:e>
                      </m:d>
                      <m:r>
                        <a:rPr lang="en-US" sz="1400"/>
                        <m:t>=</m:t>
                      </m:r>
                      <m:sSup>
                        <m:sSupPr>
                          <m:ctrlPr>
                            <a:rPr lang="en-US" sz="1400" i="1"/>
                          </m:ctrlPr>
                        </m:sSupPr>
                        <m:e>
                          <m:r>
                            <a:rPr lang="en-US" sz="1400" i="1"/>
                            <m:t>𝑒</m:t>
                          </m:r>
                        </m:e>
                        <m:sup>
                          <m:r>
                            <a:rPr lang="en-US" sz="1400"/>
                            <m:t>−</m:t>
                          </m:r>
                          <m:r>
                            <a:rPr lang="en-US" sz="1400" i="1"/>
                            <m:t>𝑖𝐻𝑡</m:t>
                          </m:r>
                        </m:sup>
                      </m:sSup>
                    </m:oMath>
                  </m:oMathPara>
                </a14:m>
                <a:endParaRPr lang="en-US" sz="1400" b="0" dirty="0"/>
              </a:p>
              <a:p>
                <a:endParaRPr lang="en-US" sz="1400" dirty="0"/>
              </a:p>
              <a:p>
                <a:r>
                  <a:rPr lang="en-US" sz="1300" dirty="0"/>
                  <a:t>Il </a:t>
                </a:r>
                <a:r>
                  <a:rPr lang="en-US" sz="1300" dirty="0" err="1"/>
                  <a:t>costo</a:t>
                </a:r>
                <a:r>
                  <a:rPr lang="en-US" sz="1300" dirty="0"/>
                  <a:t> non è </a:t>
                </a:r>
                <a:r>
                  <a:rPr lang="en-US" sz="1300" dirty="0" err="1"/>
                  <a:t>più</a:t>
                </a:r>
                <a:r>
                  <a:rPr lang="en-US" sz="1300" dirty="0"/>
                  <a:t> </a:t>
                </a:r>
                <a:r>
                  <a:rPr lang="en-US" sz="1300" dirty="0" err="1"/>
                  <a:t>esponenziale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nello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spazio</a:t>
                </a:r>
                <a:r>
                  <a:rPr lang="en-US" sz="1300" dirty="0"/>
                  <a:t> degli </a:t>
                </a:r>
                <a:r>
                  <a:rPr lang="en-US" sz="1300" dirty="0" err="1"/>
                  <a:t>stati</a:t>
                </a:r>
                <a:r>
                  <a:rPr lang="en-US" sz="1300" dirty="0"/>
                  <a:t>, ma </a:t>
                </a:r>
                <a:r>
                  <a:rPr lang="en-US" sz="1300" b="1" dirty="0" err="1"/>
                  <a:t>polinomiale</a:t>
                </a:r>
                <a:r>
                  <a:rPr lang="en-US" sz="1300" b="1" dirty="0"/>
                  <a:t> </a:t>
                </a:r>
                <a:r>
                  <a:rPr lang="en-US" sz="1300" b="1" dirty="0" err="1"/>
                  <a:t>nel</a:t>
                </a:r>
                <a:r>
                  <a:rPr lang="en-US" sz="1300" b="1" dirty="0"/>
                  <a:t> </a:t>
                </a:r>
                <a:r>
                  <a:rPr lang="en-US" sz="1300" b="1" dirty="0" err="1"/>
                  <a:t>numero</a:t>
                </a:r>
                <a:r>
                  <a:rPr lang="en-US" sz="1300" b="1" dirty="0"/>
                  <a:t> di qubit</a:t>
                </a:r>
                <a:r>
                  <a:rPr lang="en-US" sz="1300" dirty="0"/>
                  <a:t> — è </a:t>
                </a:r>
                <a:r>
                  <a:rPr lang="en-US" sz="1300" dirty="0" err="1"/>
                  <a:t>questa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l'osservazione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che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rende</a:t>
                </a:r>
                <a:r>
                  <a:rPr lang="en-US" sz="1300" dirty="0"/>
                  <a:t> la </a:t>
                </a:r>
                <a:r>
                  <a:rPr lang="en-US" sz="1300" dirty="0" err="1"/>
                  <a:t>simulazione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quantistica</a:t>
                </a:r>
                <a:r>
                  <a:rPr lang="en-US" sz="1300" dirty="0"/>
                  <a:t>, in </a:t>
                </a:r>
                <a:r>
                  <a:rPr lang="en-US" sz="1300" dirty="0" err="1"/>
                  <a:t>linea</a:t>
                </a:r>
                <a:r>
                  <a:rPr lang="en-US" sz="1300" dirty="0"/>
                  <a:t> di principio, </a:t>
                </a:r>
                <a:r>
                  <a:rPr lang="en-US" sz="1300" dirty="0" err="1"/>
                  <a:t>praticabile</a:t>
                </a:r>
                <a:r>
                  <a:rPr lang="en-US" sz="1300" dirty="0"/>
                  <a:t> dove </a:t>
                </a:r>
                <a:r>
                  <a:rPr lang="en-US" sz="1300" dirty="0" err="1"/>
                  <a:t>quella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classica</a:t>
                </a:r>
                <a:r>
                  <a:rPr lang="en-US" sz="1300" dirty="0"/>
                  <a:t> non lo è.</a:t>
                </a:r>
              </a:p>
              <a:p>
                <a:endParaRPr lang="en-US" sz="13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2C4C30-539D-7809-69F6-71DB02378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368" y="2343674"/>
                <a:ext cx="5592247" cy="3968779"/>
              </a:xfrm>
              <a:prstGeom prst="rect">
                <a:avLst/>
              </a:prstGeom>
              <a:blipFill>
                <a:blip r:embed="rId5"/>
                <a:stretch>
                  <a:fillRect l="-218" t="-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/>
      <p:bldP spid="13" grpId="1"/>
      <p:bldP spid="15" grpId="0"/>
      <p:bldP spid="16" grpId="0"/>
      <p:bldP spid="16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576</Words>
  <Application>Microsoft Office PowerPoint</Application>
  <PresentationFormat>Widescreen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8</cp:revision>
  <dcterms:created xsi:type="dcterms:W3CDTF">2026-09-15T09:56:14Z</dcterms:created>
  <dcterms:modified xsi:type="dcterms:W3CDTF">2026-09-15T10:58:38Z</dcterms:modified>
</cp:coreProperties>
</file>