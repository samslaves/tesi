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126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8623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8788" y="711105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34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3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quantistica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40080" y="157276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</a:t>
            </a:r>
            <a:r>
              <a:rPr lang="en-US" sz="155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r>
              <a:rPr lang="en-US" sz="155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della </a:t>
            </a:r>
            <a:r>
              <a:rPr lang="en-US" sz="155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</a:t>
            </a:r>
            <a:r>
              <a:rPr lang="en-US" sz="155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5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dello</a:t>
            </a:r>
            <a:r>
              <a:rPr lang="en-US" sz="155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5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spazio</a:t>
            </a:r>
            <a:r>
              <a:rPr lang="en-US" sz="155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Hilbert al </a:t>
            </a:r>
            <a:r>
              <a:rPr lang="en-US" sz="155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crescere</a:t>
            </a:r>
            <a:r>
              <a:rPr lang="en-US" sz="155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N ha una risposta: non calcolare H, riprodurla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60691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79400" indent="-279400">
              <a:buSzPct val="100000"/>
              <a:buChar char="■"/>
            </a:pP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di Feynman (1982): un sistema quantistico controllabile riproduce H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8"/>
              <p:cNvSpPr txBox="1"/>
              <p:nvPr/>
            </p:nvSpPr>
            <p:spPr>
              <a:xfrm>
                <a:off x="628788" y="3708921"/>
                <a:ext cx="5029200" cy="104823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279400" indent="-279400">
                  <a:buSzPct val="100000"/>
                  <a:buChar char="■"/>
                </a:pP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 gradi di libertà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fisici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(spin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 per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sistemi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qua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studiati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sono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mappati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ai qubit in modo diretto, nessun mapping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fermionico</a:t>
                </a:r>
                <a:endParaRPr lang="en-US" dirty="0"/>
              </a:p>
            </p:txBody>
          </p:sp>
        </mc:Choice>
        <mc:Fallback>
          <p:sp>
            <p:nvSpPr>
              <p:cNvPr id="10" name="Text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788" y="3708921"/>
                <a:ext cx="5029200" cy="1048230"/>
              </a:xfrm>
              <a:prstGeom prst="rect">
                <a:avLst/>
              </a:prstGeom>
              <a:blipFill>
                <a:blip r:embed="rId3"/>
                <a:stretch>
                  <a:fillRect l="-2545" b="-872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9"/>
          <p:cNvSpPr txBox="1"/>
          <p:nvPr/>
        </p:nvSpPr>
        <p:spPr>
          <a:xfrm>
            <a:off x="640080" y="4757150"/>
            <a:ext cx="5029200" cy="1578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79400" indent="-279400">
              <a:buSzPct val="100000"/>
              <a:buChar char="■"/>
            </a:pP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dell’evoluzione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termporale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richiede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preparazione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accurate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dello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fondamentale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D4417A-549E-413E-0F47-6D041EBACBFD}"/>
              </a:ext>
            </a:extLst>
          </p:cNvPr>
          <p:cNvSpPr txBox="1"/>
          <p:nvPr/>
        </p:nvSpPr>
        <p:spPr>
          <a:xfrm>
            <a:off x="5959362" y="3770725"/>
            <a:ext cx="559224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Mentre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un bit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normale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può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essere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solo 0 o 1, un qubit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può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essere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0, 1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oppure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entrambi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contemporaneamente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grazie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alla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sovrapposizione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quantistica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b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 qubit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mantiene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questa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natura "doppia"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finché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non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viene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osservato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misurato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nel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momento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esatto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della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lettura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il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collassa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definendosi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modo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definitivo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come 0 o 1.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F81D78E-2635-CA71-64D6-1587924DA2D3}"/>
                  </a:ext>
                </a:extLst>
              </p:cNvPr>
              <p:cNvSpPr txBox="1"/>
              <p:nvPr/>
            </p:nvSpPr>
            <p:spPr>
              <a:xfrm>
                <a:off x="5959364" y="5150571"/>
                <a:ext cx="5592247" cy="15784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Determinazione </a:t>
                </a:r>
                <a:r>
                  <a:rPr lang="en-US" sz="1600" dirty="0" err="1"/>
                  <a:t>dello</a:t>
                </a:r>
                <a:r>
                  <a:rPr lang="en-US" sz="1600" dirty="0"/>
                  <a:t> </a:t>
                </a:r>
                <a:r>
                  <a:rPr lang="en-US" sz="1600" b="1" dirty="0" err="1"/>
                  <a:t>stato</a:t>
                </a:r>
                <a:r>
                  <a:rPr lang="en-US" sz="1600" b="1" dirty="0"/>
                  <a:t> </a:t>
                </a:r>
                <a:r>
                  <a:rPr lang="en-US" sz="1600" b="1" dirty="0" err="1"/>
                  <a:t>fondamentale</a:t>
                </a:r>
                <a:r>
                  <a:rPr lang="en-US" sz="1600" dirty="0"/>
                  <a:t> per lo studio </a:t>
                </a:r>
                <a:r>
                  <a:rPr lang="en-US" sz="1600" dirty="0" err="1"/>
                  <a:t>statico</a:t>
                </a:r>
                <a:r>
                  <a:rPr lang="en-US" sz="1600" dirty="0"/>
                  <a:t> del </a:t>
                </a:r>
                <a:r>
                  <a:rPr lang="en-US" sz="1600" dirty="0" err="1"/>
                  <a:t>sistema</a:t>
                </a:r>
                <a:r>
                  <a:rPr lang="en-US" sz="1600" dirty="0"/>
                  <a:t>, e </a:t>
                </a:r>
                <a:r>
                  <a:rPr lang="en-US" sz="1600" dirty="0" err="1"/>
                  <a:t>simulazione</a:t>
                </a:r>
                <a:r>
                  <a:rPr lang="en-US" sz="1600" dirty="0"/>
                  <a:t> delle </a:t>
                </a:r>
                <a:r>
                  <a:rPr lang="en-US" sz="1600" dirty="0" err="1"/>
                  <a:t>proprietà</a:t>
                </a:r>
                <a:r>
                  <a:rPr lang="en-US" sz="1600" dirty="0"/>
                  <a:t> </a:t>
                </a:r>
                <a:r>
                  <a:rPr lang="en-US" sz="1600" dirty="0" err="1"/>
                  <a:t>dinamiche</a:t>
                </a:r>
                <a:r>
                  <a:rPr lang="en-US" sz="1600" dirty="0"/>
                  <a:t> come </a:t>
                </a:r>
                <a:r>
                  <a:rPr lang="en-US" sz="1600" b="1" dirty="0" err="1"/>
                  <a:t>evoluzione</a:t>
                </a:r>
                <a:r>
                  <a:rPr lang="en-US" sz="1600" b="1" dirty="0"/>
                  <a:t> </a:t>
                </a:r>
                <a:r>
                  <a:rPr lang="en-US" sz="1600" b="1" dirty="0" err="1"/>
                  <a:t>temporale</a:t>
                </a:r>
                <a:r>
                  <a:rPr lang="en-US" sz="1600" b="1" dirty="0"/>
                  <a:t> </a:t>
                </a:r>
                <a:r>
                  <a:rPr lang="en-US" sz="1600" dirty="0" err="1"/>
                  <a:t>approssimata</a:t>
                </a:r>
                <a:r>
                  <a:rPr lang="en-US" sz="1600" dirty="0"/>
                  <a:t> con la </a:t>
                </a:r>
                <a:r>
                  <a:rPr lang="en-US" sz="1600" dirty="0" err="1"/>
                  <a:t>decomposizione</a:t>
                </a:r>
                <a:r>
                  <a:rPr lang="en-US" sz="1600" dirty="0"/>
                  <a:t> di </a:t>
                </a:r>
                <a:r>
                  <a:rPr lang="en-US" sz="1600" b="1" dirty="0"/>
                  <a:t>Suzuki–Trotter</a:t>
                </a:r>
                <a:r>
                  <a:rPr lang="en-US" sz="1400" dirty="0"/>
                  <a:t>:</a:t>
                </a:r>
                <a:br>
                  <a:rPr lang="en-US" sz="1400" dirty="0"/>
                </a:br>
                <a:endParaRPr lang="en-US" sz="14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𝑖𝐻</m:t>
                          </m:r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1400">
                          <a:latin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en-US" sz="140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F81D78E-2635-CA71-64D6-1587924DA2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364" y="5150571"/>
                <a:ext cx="5592247" cy="1578445"/>
              </a:xfrm>
              <a:prstGeom prst="rect">
                <a:avLst/>
              </a:prstGeom>
              <a:blipFill>
                <a:blip r:embed="rId4"/>
                <a:stretch>
                  <a:fillRect l="-654" t="-1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2C4C30-539D-7809-69F6-71DB02378B85}"/>
                  </a:ext>
                </a:extLst>
              </p:cNvPr>
              <p:cNvSpPr txBox="1"/>
              <p:nvPr/>
            </p:nvSpPr>
            <p:spPr>
              <a:xfrm>
                <a:off x="5970965" y="2763521"/>
                <a:ext cx="5592247" cy="30961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usa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sistema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quantistico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per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simularne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un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altro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costruisce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un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dispositivo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quantistico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controllabile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la cui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evoluzione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riproduce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direttamente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quella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del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sistema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target:</a:t>
                </a:r>
                <a:br>
                  <a:rPr lang="en-US" sz="1600" dirty="0"/>
                </a:br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i="0"/>
                            <m:t>sim</m:t>
                          </m:r>
                        </m:sub>
                      </m:sSub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6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 i="0"/>
                                <m:t>sim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1600" i="0"/>
                        <m:t>  </m:t>
                      </m:r>
                      <m:r>
                        <a:rPr lang="en-US" sz="1600">
                          <a:latin typeface="Cambria Math" panose="02040503050406030204" pitchFamily="18" charset="0"/>
                        </a:rPr>
                        <m:t>⟷</m:t>
                      </m:r>
                      <m:r>
                        <m:rPr>
                          <m:nor/>
                        </m:rPr>
                        <a:rPr lang="en-US" sz="1600" i="0"/>
                        <m:t>  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6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𝑖𝐻𝑡</m:t>
                          </m:r>
                        </m:sup>
                      </m:sSup>
                    </m:oMath>
                  </m:oMathPara>
                </a14:m>
                <a:endParaRPr lang="en-US" sz="1600" b="0" dirty="0"/>
              </a:p>
              <a:p>
                <a:endParaRPr lang="en-US" sz="1600" dirty="0"/>
              </a:p>
              <a:p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 la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Hamiltoniana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è 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locale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—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ovvero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ogni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particella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interagisce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solo con un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numero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ristretto di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altre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particelle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vicine o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specifiche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solitamente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coppie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 — il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costo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termini di tempo di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calcolo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e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numero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di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porte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logiche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non è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più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esponenziale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ma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polinomiale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nel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numero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di qubit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  <a:p>
                <a:endParaRPr lang="en-US" sz="16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2C4C30-539D-7809-69F6-71DB02378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0965" y="2763521"/>
                <a:ext cx="5592247" cy="3096104"/>
              </a:xfrm>
              <a:prstGeom prst="rect">
                <a:avLst/>
              </a:prstGeom>
              <a:blipFill>
                <a:blip r:embed="rId5"/>
                <a:stretch>
                  <a:fillRect l="-545" t="-591" r="-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1">
            <a:extLst>
              <a:ext uri="{FF2B5EF4-FFF2-40B4-BE49-F238E27FC236}">
                <a16:creationId xmlns:a16="http://schemas.microsoft.com/office/drawing/2014/main" id="{D4FCE515-3D44-86BF-7E9B-48050D860483}"/>
              </a:ext>
            </a:extLst>
          </p:cNvPr>
          <p:cNvSpPr txBox="1"/>
          <p:nvPr/>
        </p:nvSpPr>
        <p:spPr>
          <a:xfrm>
            <a:off x="6059271" y="2281215"/>
            <a:ext cx="5732341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/>
      <p:bldP spid="13" grpId="1"/>
      <p:bldP spid="15" grpId="0"/>
      <p:bldP spid="16" grpId="0"/>
      <p:bldP spid="16" grpId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267</Words>
  <Application>Microsoft Office PowerPoint</Application>
  <PresentationFormat>Widescreen</PresentationFormat>
  <Paragraphs>16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 Math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simulation of molecular spin systems on quantum hardware</dc:title>
  <dc:subject>PptxGenJS Presentation</dc:subject>
  <dc:creator>Samuele Schiavi</dc:creator>
  <cp:lastModifiedBy>Samuele SCHIAVI</cp:lastModifiedBy>
  <cp:revision>18</cp:revision>
  <dcterms:created xsi:type="dcterms:W3CDTF">2026-09-15T09:56:14Z</dcterms:created>
  <dcterms:modified xsi:type="dcterms:W3CDTF">2026-09-16T10:47:54Z</dcterms:modified>
</cp:coreProperties>
</file>