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5" r:id="rId7"/>
    <p:sldId id="268" r:id="rId8"/>
    <p:sldId id="267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54" y="3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9961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4"/>
          <p:cNvSpPr txBox="1"/>
          <p:nvPr/>
        </p:nvSpPr>
        <p:spPr>
          <a:xfrm>
            <a:off x="822960" y="187452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4FD8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TESI DI LAUREA TRIENNALE IN FISICA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331720"/>
            <a:ext cx="9966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simulation of molecular spin systems on quantum hardware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920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Samuele Schiavi</a:t>
            </a:r>
            <a:endParaRPr lang="en-US" sz="20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Relatore: Prof. Alessandro Chiesa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61264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Università degli Studi di Parma  —  Corso di Laurea in Fisica</a:t>
            </a:r>
            <a:endParaRPr lang="en-US" sz="1300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Contesto</a:t>
            </a:r>
            <a:endParaRPr lang="en-US" sz="3800" dirty="0"/>
          </a:p>
        </p:txBody>
      </p:sp>
      <p:pic>
        <p:nvPicPr>
          <p:cNvPr id="4" name="Image 0" descr="/home/claude/deck/assets/preview_bullet1_moleco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83418"/>
            <a:ext cx="2606040" cy="1713823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3474720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Molecole magnetiche: spin localizzati accoppiati</a:t>
            </a:r>
            <a:endParaRPr lang="en-US" sz="1500" dirty="0"/>
          </a:p>
        </p:txBody>
      </p:sp>
      <p:pic>
        <p:nvPicPr>
          <p:cNvPr id="6" name="Image 1" descr="/home/claude/deck/assets/preview_bullet2_qu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448" y="1783418"/>
            <a:ext cx="2606040" cy="1713823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9159088" y="169164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di prova per l'informazione quantistica</a:t>
            </a:r>
            <a:endParaRPr lang="en-US" sz="1500" dirty="0"/>
          </a:p>
        </p:txBody>
      </p:sp>
      <p:pic>
        <p:nvPicPr>
          <p:cNvPr id="8" name="Image 2" descr="/home/claude/deck/assets/preview_bullet3_statiche_dinamich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000838"/>
            <a:ext cx="2606040" cy="1713823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3474720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Proprietà statiche e dinamiche da riprodurre</a:t>
            </a:r>
            <a:endParaRPr lang="en-US" sz="1500" dirty="0"/>
          </a:p>
        </p:txBody>
      </p:sp>
      <p:pic>
        <p:nvPicPr>
          <p:cNvPr id="10" name="Image 3" descr="/home/claude/deck/assets/hilbert_grow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448" y="4000838"/>
            <a:ext cx="2606040" cy="1713823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9159088" y="3909060"/>
            <a:ext cx="2392528" cy="1897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03200" indent="-203200">
              <a:buSzPct val="100000"/>
              <a:buChar char="■"/>
            </a:pPr>
            <a:r>
              <a:rPr lang="en-US" sz="15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Simulazione classica: costo esponenziale</a:t>
            </a:r>
            <a:endParaRPr lang="en-US" sz="1500" dirty="0"/>
          </a:p>
        </p:txBody>
      </p:sp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dim(</a:t>
            </a:r>
            <a:r>
              <a:rPr lang="en-US" sz="2400" b="1" i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ℋ</a:t>
            </a:r>
            <a:r>
              <a:rPr lang="en-US" sz="24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= 2</a:t>
            </a:r>
            <a:r>
              <a:rPr lang="en-US" sz="24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r>
              <a:rPr lang="en-US" sz="1300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N = numero di spin (qubit)</a:t>
            </a:r>
            <a:endParaRPr lang="en-US" sz="24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9" grpId="0" animBg="1"/>
      <p:bldP spid="11" grpId="0" animBg="1"/>
      <p:bldP spid="12" grpId="0" animBg="1"/>
      <p:bldP spid="1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 dell'arte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VQE: energia minimizzata su un circuito parametrico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36847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Ansatz hardware-efficient: generico, non sfrutta le simmetrie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16830"/>
            <a:ext cx="5029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Aperto: costruire l'ansatz sulla fisica del sistema</a:t>
            </a:r>
            <a:endParaRPr lang="en-US" sz="1700" dirty="0"/>
          </a:p>
        </p:txBody>
      </p:sp>
      <p:pic>
        <p:nvPicPr>
          <p:cNvPr id="8" name="Image 0" descr="/home/claude/deck/assets/preview_s3_bullet4_aper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9" name="Image 1" descr="/home/claude/deck/assets/preview_s3_bullet3_ansatz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pic>
        <p:nvPicPr>
          <p:cNvPr id="11" name="Image 3" descr="/home/claude/deck/assets/preview_s3_bullet1_vq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1600200"/>
            <a:ext cx="5486400" cy="3609137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40080" y="5989320"/>
            <a:ext cx="10911535" cy="658368"/>
          </a:xfrm>
          <a:prstGeom prst="roundRect">
            <a:avLst>
              <a:gd name="adj" fmla="val 1111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7"/>
          <p:cNvSpPr txBox="1"/>
          <p:nvPr/>
        </p:nvSpPr>
        <p:spPr>
          <a:xfrm>
            <a:off x="640080" y="5989320"/>
            <a:ext cx="1091153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 argminθ ⟨ψ(θ)|H|ψ(θ)⟩</a:t>
            </a:r>
            <a:endParaRPr lang="en-US" sz="22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12" grpId="0" animBg="1"/>
      <p:bldP spid="1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Obiettivi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286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Estendere il metodo VQE dal dimero al trimero di spin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29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chiuso: stato fondamentale, dinamica, correlatori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57200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04800" indent="-304800">
              <a:buSzPct val="100000"/>
              <a:buChar char="■"/>
            </a:pPr>
            <a:r>
              <a:rPr lang="en-US" sz="20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aperto: rumore realistico calibrato su hardware IBM</a:t>
            </a:r>
            <a:endParaRPr lang="en-US" sz="2000" dirty="0"/>
          </a:p>
        </p:txBody>
      </p:sp>
      <p:pic>
        <p:nvPicPr>
          <p:cNvPr id="7" name="Image 0" descr="/home/claude/deck/assets/preview_s4_obiettiv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828800"/>
            <a:ext cx="5394960" cy="3549701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Modello fisico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10911535" cy="914400"/>
          </a:xfrm>
          <a:prstGeom prst="roundRect">
            <a:avLst>
              <a:gd name="adj" fmla="val 8000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002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= J(X₁X₂+Y₁Y₂+Z₁Z₂) + b(Z₁+Z₂) + D(X₁Z₂−Z₁X₂)</a:t>
            </a:r>
            <a:endParaRPr lang="en-US" sz="2300" dirty="0"/>
          </a:p>
        </p:txBody>
      </p:sp>
      <p:pic>
        <p:nvPicPr>
          <p:cNvPr id="6" name="Image 0" descr="/home/claude/deck/assets/preview_s5_modell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788920"/>
            <a:ext cx="4572000" cy="2910535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0" y="2880360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Ogni spin 1/2 ↔ un qubit (mappatura diretta)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943600" y="3721608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J: scambio isotropo (Heisenberg)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5943600" y="4562856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D: termine di Dzyaloshinskii–Moriya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5943600" y="5404104"/>
            <a:ext cx="5577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sz="18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campo Zeeman lungo z</a:t>
            </a:r>
            <a:endParaRPr lang="en-US" sz="1800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 VQE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554480"/>
            <a:ext cx="10911535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|⟨ψ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VQE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|ψ</a:t>
            </a:r>
            <a:r>
              <a:rPr lang="en-US" sz="2100" b="1" baseline="-4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⟩|</a:t>
            </a:r>
            <a:r>
              <a:rPr lang="en-US" sz="2100" b="1" baseline="30000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 dirty="0"/>
          </a:p>
        </p:txBody>
      </p:sp>
      <p:pic>
        <p:nvPicPr>
          <p:cNvPr id="6" name="Image 0" descr="/home/claude/deck/assets/thesis_figs/circ_ha_hi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240280"/>
            <a:ext cx="3320851" cy="132588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40080" y="3621024"/>
            <a:ext cx="332085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— 6 parametri</a:t>
            </a:r>
            <a:endParaRPr lang="en-US" sz="1200" dirty="0"/>
          </a:p>
        </p:txBody>
      </p:sp>
      <p:pic>
        <p:nvPicPr>
          <p:cNvPr id="8" name="Image 1" descr="/home/claude/deck/assets/thesis_figs/circ_pma_ba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9531" y="2240280"/>
            <a:ext cx="4278335" cy="132588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4189531" y="3621024"/>
            <a:ext cx="42783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— 1 parametro (2 rami, b/J ≶ 2) —  </a:t>
            </a:r>
          </a:p>
          <a:p>
            <a:pPr algn="ctr"/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sul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singoletto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i="1" dirty="0" err="1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ramo</a:t>
            </a: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basso) — W = CNOT-Ry-CNOT</a:t>
            </a:r>
            <a:endParaRPr lang="en-US" sz="1200" dirty="0"/>
          </a:p>
        </p:txBody>
      </p:sp>
      <p:pic>
        <p:nvPicPr>
          <p:cNvPr id="10" name="Image 2" descr="/home/claude/deck/assets/thesis_figs/circ_pma_esteso_hi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6465" y="2240280"/>
            <a:ext cx="2321794" cy="132588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696465" y="3621024"/>
            <a:ext cx="232179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— 3 parametri</a:t>
            </a:r>
            <a:endParaRPr lang="en-US" sz="1200" dirty="0"/>
          </a:p>
        </p:txBody>
      </p:sp>
      <p:pic>
        <p:nvPicPr>
          <p:cNvPr id="12" name="Image 3" descr="/home/claude/deck/assets/preview_s6_breakou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515240"/>
            <a:ext cx="4572000" cy="2331720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5486400" y="451524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p:pic>
        <p:nvPicPr>
          <p:cNvPr id="14" name="Image 4" descr="/home/claude/deck/assets/preview_s6_confin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515240"/>
            <a:ext cx="4572000" cy="233172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5486400" y="451524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Qualunque numero di blocchi K: fedeltà invariata (F = 0.4912 per K = 1, 2, 3, 4) — limite strutturale, non di capacità espressiva</a:t>
            </a:r>
            <a:endParaRPr lang="en-US" sz="170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5" grpId="0" animBg="1"/>
      <p:bldP spid="15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ansatz generico non basta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377440"/>
          </a:xfrm>
          <a:prstGeom prst="roundRect">
            <a:avLst>
              <a:gd name="adj" fmla="val 3846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 — punto di lavoro principale del dimero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0.35,  D/J = 0.80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DM ha un'unica forma possibile nel dimero (un solo legame) — a differenza del trimero, dove servono più opzioni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1752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(6 par.):  F = 1.000000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36499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base (1 par.):  F = 0.9402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3712464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PMA esteso (3 par.):  F = 1.000000 (12 cifre) — 2 CNOT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0080" y="4297680"/>
            <a:ext cx="5120640" cy="1508760"/>
          </a:xfrm>
          <a:prstGeom prst="roundRect">
            <a:avLst>
              <a:gd name="adj" fmla="val 6061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60120" y="444398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Sensibilità a D/J — b/J = 0.35 fisso, PMA base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486460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D/J: 0.0 → F=1.0000    0.4 → F=0.9612    1.0 → F=0.8463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248656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conferma: la degradazione dipende anche da D, non solo dalla vicinanza all'incrocio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98932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degradazione non sparisce lontano dall'incrocio — dipende, indipendentemente, anche dall'intensità del termine DM</a:t>
            </a:r>
            <a:endParaRPr lang="en-US" sz="1500" dirty="0"/>
          </a:p>
        </p:txBody>
      </p:sp>
      <p:pic>
        <p:nvPicPr>
          <p:cNvPr id="16" name="Image 0" descr="/home/claude/deck/assets/thesis_figs/fig04_vqe_riparazion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9117" y="1965960"/>
            <a:ext cx="5508517" cy="338328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RISULTATI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criterio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al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trimero</a:t>
            </a:r>
            <a:r>
              <a:rPr lang="en-US" sz="30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ma cambia </a:t>
            </a:r>
            <a:r>
              <a:rPr lang="en-US" sz="30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l’ansatz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120640" cy="2148840"/>
          </a:xfrm>
          <a:prstGeom prst="roundRect">
            <a:avLst>
              <a:gd name="adj" fmla="val 4255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960120" y="187452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A — punto di lavoro principale del trimero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2185416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b/J = b_c = 2.4,  D/J = 0.15,  Opzione B del termine DM accesa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2487168"/>
            <a:ext cx="4480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Opzione B: rompe la simmetria residua (l'Opzione A la conserva) — apre il gap all'incrocio invece di lasciarlo esatto ma spostato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30540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RBS-2q.6:  F = 0.9999110739  (6 CNOT, 46 gate 1q)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34015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W-2q.6:  F = 0.9999999999999996  (6 CNOT, 25 gate 1q)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069080"/>
            <a:ext cx="5120640" cy="2057400"/>
          </a:xfrm>
          <a:prstGeom prst="roundRect">
            <a:avLst>
              <a:gd name="adj" fmla="val 4444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60120" y="423367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di verifica — 13 punti, b/J ∈ [0.3, 4.5]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654296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1.00000000 ovunque  (ansatz W-2q.6)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5038344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Stesso stato iniziale X|000⟩ in tutti i punti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5422392"/>
            <a:ext cx="4480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controllo aggiuntivo a conferma di Scenario A (sweep di verifica, non lo sweep principale) — nessuna logica a rami, a differenza del dimero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6364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capovolgimento: nel dimero RBS è il più economico; nel trimero è W — 25 gate 1-qubit contro 46, a parità di 6 CNOT</a:t>
            </a:r>
            <a:endParaRPr lang="en-US" sz="1500" dirty="0"/>
          </a:p>
        </p:txBody>
      </p:sp>
      <p:pic>
        <p:nvPicPr>
          <p:cNvPr id="16" name="Image 0" descr="/home/claude/deck/assets/thesis_figs/circ_w2q_anello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282" y="1246065"/>
            <a:ext cx="4096869" cy="2644234"/>
          </a:xfrm>
          <a:prstGeom prst="rect">
            <a:avLst/>
          </a:prstGeom>
        </p:spPr>
      </p:pic>
      <p:pic>
        <p:nvPicPr>
          <p:cNvPr id="17" name="Image 1" descr="/home/claude/deck/assets/thesis_figs/circ_rbs2q_anello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283" y="3661363"/>
            <a:ext cx="4096868" cy="2644234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436</TotalTime>
  <Words>665</Words>
  <Application>Microsoft Office PowerPoint</Application>
  <PresentationFormat>Widescreen</PresentationFormat>
  <Paragraphs>71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20</cp:revision>
  <dcterms:created xsi:type="dcterms:W3CDTF">2026-09-14T11:01:17Z</dcterms:created>
  <dcterms:modified xsi:type="dcterms:W3CDTF">2026-09-15T10:04:38Z</dcterms:modified>
</cp:coreProperties>
</file>