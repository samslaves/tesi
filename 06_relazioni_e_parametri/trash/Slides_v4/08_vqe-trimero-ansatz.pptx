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77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10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56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TRODUZIONE"/>
          <p:cNvSpPr txBox="1"/>
          <p:nvPr/>
        </p:nvSpPr>
        <p:spPr>
          <a:xfrm>
            <a:off x="640080" y="402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VQE - Ansatz"/>
              <p:cNvSpPr txBox="1"/>
              <p:nvPr/>
            </p:nvSpPr>
            <p:spPr>
              <a:xfrm>
                <a:off x="640079" y="713232"/>
                <a:ext cx="10865993" cy="7772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VQE – Preparazione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dello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32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parametrizzato</a:t>
                </a:r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b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3200" i="1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32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Ansatz</a:t>
                </a:r>
                <a:endParaRPr lang="en-US" sz="3200" dirty="0"/>
              </a:p>
            </p:txBody>
          </p:sp>
        </mc:Choice>
        <mc:Fallback>
          <p:sp>
            <p:nvSpPr>
              <p:cNvPr id="3" name="VQE - Ansatz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79" y="713232"/>
                <a:ext cx="10865993" cy="777240"/>
              </a:xfrm>
              <a:prstGeom prst="rect">
                <a:avLst/>
              </a:prstGeom>
              <a:blipFill>
                <a:blip r:embed="rId3"/>
                <a:stretch>
                  <a:fillRect l="-2245" b="-1328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hape 2"/>
          <p:cNvSpPr/>
          <p:nvPr/>
        </p:nvSpPr>
        <p:spPr>
          <a:xfrm>
            <a:off x="625463" y="1499572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itle Circuito Trimero">
            <a:extLst>
              <a:ext uri="{FF2B5EF4-FFF2-40B4-BE49-F238E27FC236}">
                <a16:creationId xmlns:a16="http://schemas.microsoft.com/office/drawing/2014/main" id="{6F06D79C-D78E-4C9A-C7FB-7D704A6485B9}"/>
              </a:ext>
            </a:extLst>
          </p:cNvPr>
          <p:cNvSpPr txBox="1"/>
          <p:nvPr/>
        </p:nvSpPr>
        <p:spPr>
          <a:xfrm>
            <a:off x="579921" y="1556999"/>
            <a:ext cx="109115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2100" b="1" i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endParaRPr lang="en-US" i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sto preparazione trimero">
                <a:extLst>
                  <a:ext uri="{FF2B5EF4-FFF2-40B4-BE49-F238E27FC236}">
                    <a16:creationId xmlns:a16="http://schemas.microsoft.com/office/drawing/2014/main" id="{505067FF-8756-102D-C3C1-5E6B2B24EAA0}"/>
                  </a:ext>
                </a:extLst>
              </p:cNvPr>
              <p:cNvSpPr txBox="1"/>
              <p:nvPr/>
            </p:nvSpPr>
            <p:spPr>
              <a:xfrm>
                <a:off x="625463" y="2225751"/>
                <a:ext cx="1091153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500" dirty="0"/>
                  <a:t>Due </a:t>
                </a:r>
                <a:r>
                  <a:rPr lang="en-US" sz="1500" dirty="0" err="1"/>
                  <a:t>circuiti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𝑈</m:t>
                    </m:r>
                    <m:d>
                      <m:dPr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che</a:t>
                </a:r>
                <a:r>
                  <a:rPr lang="en-US" sz="1500" dirty="0"/>
                  <a:t> a </a:t>
                </a:r>
                <a:r>
                  <a:rPr lang="en-US" sz="1500" dirty="0" err="1"/>
                  <a:t>partire</a:t>
                </a:r>
                <a:r>
                  <a:rPr lang="en-US" sz="1500" dirty="0"/>
                  <a:t> da </a:t>
                </a:r>
                <a14:m>
                  <m:oMath xmlns:m="http://schemas.openxmlformats.org/officeDocument/2006/math">
                    <m:r>
                      <a:rPr lang="en-US" sz="15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15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500" dirty="0"/>
                  <a:t> </a:t>
                </a:r>
                <a:r>
                  <a:rPr lang="en-US" sz="1500" dirty="0" err="1"/>
                  <a:t>preparano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5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⟩=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0" dirty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1500" b="0" i="0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500" dirty="0"/>
                  <a:t>, </a:t>
                </a:r>
                <a:r>
                  <a:rPr lang="en-US" sz="1500" dirty="0" err="1"/>
                  <a:t>confrontati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sulla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fedeltà</a:t>
                </a:r>
                <a:r>
                  <a:rPr lang="en-US" sz="1500" dirty="0"/>
                  <a:t> </a:t>
                </a:r>
                <a14:m>
                  <m:oMath xmlns:m="http://schemas.openxmlformats.org/officeDocument/2006/math">
                    <m:r>
                      <a:rPr lang="en-US" sz="15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500" i="0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500" i="0" dirty="0">
                            <a:latin typeface="Cambria Math" panose="02040503050406030204" pitchFamily="18" charset="0"/>
                          </a:rPr>
                          <m:t>⟨</m:t>
                        </m:r>
                        <m:r>
                          <a:rPr lang="en-US" sz="1500" i="1" dirty="0">
                            <a:latin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sz="15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d>
                    <m:r>
                      <a:rPr lang="en-US" sz="1500" i="1" dirty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500" i="0" dirty="0">
                        <a:latin typeface="Cambria Math" panose="02040503050406030204" pitchFamily="18" charset="0"/>
                      </a:rPr>
                      <m:t>₀⟩|²</m:t>
                    </m:r>
                  </m:oMath>
                </a14:m>
                <a:r>
                  <a:rPr lang="en-US" sz="1500" dirty="0"/>
                  <a:t> rispetto </a:t>
                </a:r>
                <a:r>
                  <a:rPr lang="en-US" sz="1500" dirty="0" err="1"/>
                  <a:t>allo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stato</a:t>
                </a:r>
                <a:r>
                  <a:rPr lang="en-US" sz="1500" dirty="0"/>
                  <a:t> </a:t>
                </a:r>
                <a:r>
                  <a:rPr lang="en-US" sz="1500" dirty="0" err="1"/>
                  <a:t>fondamentale</a:t>
                </a:r>
                <a:r>
                  <a:rPr lang="en-US" sz="1500" dirty="0"/>
                  <a:t> </a:t>
                </a:r>
                <a:r>
                  <a:rPr lang="en-US" sz="1500" dirty="0" err="1"/>
                  <a:t>vero</a:t>
                </a:r>
                <a:endParaRPr lang="en-US" sz="1500" dirty="0"/>
              </a:p>
            </p:txBody>
          </p:sp>
        </mc:Choice>
        <mc:Fallback xmlns="">
          <p:sp>
            <p:nvSpPr>
              <p:cNvPr id="8" name="Testo preparazione trimero">
                <a:extLst>
                  <a:ext uri="{FF2B5EF4-FFF2-40B4-BE49-F238E27FC236}">
                    <a16:creationId xmlns:a16="http://schemas.microsoft.com/office/drawing/2014/main" id="{505067FF-8756-102D-C3C1-5E6B2B24EA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463" y="2225751"/>
                <a:ext cx="10911535" cy="553998"/>
              </a:xfrm>
              <a:prstGeom prst="rect">
                <a:avLst/>
              </a:prstGeom>
              <a:blipFill>
                <a:blip r:embed="rId4"/>
                <a:stretch>
                  <a:fillRect t="-2198" b="-1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Circuito W-2q.6 trimero">
            <a:extLst>
              <a:ext uri="{FF2B5EF4-FFF2-40B4-BE49-F238E27FC236}">
                <a16:creationId xmlns:a16="http://schemas.microsoft.com/office/drawing/2014/main" id="{F7B5B225-88A3-5B3C-1336-0AA3661D68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173" y="3171404"/>
            <a:ext cx="5571825" cy="2290057"/>
          </a:xfrm>
          <a:prstGeom prst="rect">
            <a:avLst/>
          </a:prstGeom>
        </p:spPr>
      </p:pic>
      <p:pic>
        <p:nvPicPr>
          <p:cNvPr id="12" name="Circuito RBS-2q.6 trimero">
            <a:extLst>
              <a:ext uri="{FF2B5EF4-FFF2-40B4-BE49-F238E27FC236}">
                <a16:creationId xmlns:a16="http://schemas.microsoft.com/office/drawing/2014/main" id="{5ED0C11D-CCC9-E8F0-7A2F-87A8DE0AE6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538" y="3213350"/>
            <a:ext cx="5349299" cy="22481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Nota PMA esteso trimero">
                <a:extLst>
                  <a:ext uri="{FF2B5EF4-FFF2-40B4-BE49-F238E27FC236}">
                    <a16:creationId xmlns:a16="http://schemas.microsoft.com/office/drawing/2014/main" id="{D2943A68-9707-5CF2-981F-EBC027B2CA3D}"/>
                  </a:ext>
                </a:extLst>
              </p:cNvPr>
              <p:cNvSpPr txBox="1"/>
              <p:nvPr/>
            </p:nvSpPr>
            <p:spPr>
              <a:xfrm>
                <a:off x="787968" y="5689801"/>
                <a:ext cx="4818888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RBS-2q.6 (PMA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esteso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trimero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  <a:r>
                  <a:rPr lang="en-US" sz="1400" b="1" dirty="0"/>
                  <a:t>: </a:t>
                </a:r>
                <a:r>
                  <a:rPr lang="en-US" sz="1400" dirty="0"/>
                  <a:t>RBS + </a:t>
                </a:r>
                <a:r>
                  <a:rPr lang="en-US" sz="1400" dirty="0" err="1"/>
                  <a:t>tre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rotazioni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indipendenti</a:t>
                </a:r>
                <a:r>
                  <a:rPr lang="en-US" sz="1400" dirty="0"/>
                  <a:t> sui </a:t>
                </a:r>
                <a:r>
                  <a:rPr lang="en-US" sz="1400" dirty="0" err="1"/>
                  <a:t>tre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legami</a:t>
                </a:r>
                <a:r>
                  <a:rPr lang="en-US" sz="1400" dirty="0"/>
                  <a:t> del </a:t>
                </a:r>
                <a:r>
                  <a:rPr lang="en-US" sz="1400" dirty="0" err="1"/>
                  <a:t>triangolo</a:t>
                </a:r>
                <a:r>
                  <a:rPr lang="en-US" sz="1400" dirty="0"/>
                  <a:t> - </a:t>
                </a:r>
                <a:r>
                  <a:rPr lang="en-US" sz="1400" dirty="0" err="1"/>
                  <a:t>stessa</a:t>
                </a:r>
                <a:r>
                  <a:rPr lang="en-US" sz="1400" dirty="0"/>
                  <a:t> idea del </a:t>
                </a:r>
                <a:r>
                  <a:rPr lang="en-US" sz="1400" dirty="0" err="1"/>
                  <a:t>dimero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estesa</a:t>
                </a:r>
                <a:r>
                  <a:rPr lang="en-US" sz="1400" dirty="0"/>
                  <a:t> a </a:t>
                </a:r>
                <a:r>
                  <a:rPr lang="en-US" sz="1400" dirty="0" err="1"/>
                  <a:t>tre</a:t>
                </a:r>
                <a:r>
                  <a:rPr lang="en-US" sz="1400" dirty="0"/>
                  <a:t> spin: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1400" b="0" i="0" smtClean="0">
                        <a:latin typeface="Cambria Math" panose="02040503050406030204" pitchFamily="18" charset="0"/>
                      </a:rPr>
                      <m:t> &lt; 1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5" name="Nota PMA esteso trimero">
                <a:extLst>
                  <a:ext uri="{FF2B5EF4-FFF2-40B4-BE49-F238E27FC236}">
                    <a16:creationId xmlns:a16="http://schemas.microsoft.com/office/drawing/2014/main" id="{D2943A68-9707-5CF2-981F-EBC027B2C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68" y="5689801"/>
                <a:ext cx="4818888" cy="738664"/>
              </a:xfrm>
              <a:prstGeom prst="rect">
                <a:avLst/>
              </a:prstGeom>
              <a:blipFill>
                <a:blip r:embed="rId7"/>
                <a:stretch>
                  <a:fillRect l="-379" t="-820" b="-7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Nota PMA esteso trmero">
                <a:extLst>
                  <a:ext uri="{FF2B5EF4-FFF2-40B4-BE49-F238E27FC236}">
                    <a16:creationId xmlns:a16="http://schemas.microsoft.com/office/drawing/2014/main" id="{FCC1EC33-E840-6462-6166-E66176B5B039}"/>
                  </a:ext>
                </a:extLst>
              </p:cNvPr>
              <p:cNvSpPr txBox="1"/>
              <p:nvPr/>
            </p:nvSpPr>
            <p:spPr>
              <a:xfrm>
                <a:off x="6341641" y="5689801"/>
                <a:ext cx="481888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W-2q.6 (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circuito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scelto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- </a:t>
                </a:r>
                <a:r>
                  <a:rPr lang="en-US" sz="1400" b="1" dirty="0" err="1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trimero</a:t>
                </a:r>
                <a:r>
                  <a:rPr lang="en-US" sz="1400" b="1" dirty="0">
                    <a:solidFill>
                      <a:srgbClr val="16233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)</a:t>
                </a:r>
                <a:r>
                  <a:rPr lang="en-US" sz="1400" b="1" dirty="0"/>
                  <a:t>: </a:t>
                </a:r>
                <a:r>
                  <a:rPr lang="en-US" sz="1400" dirty="0" err="1"/>
                  <a:t>Stessa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struttura</a:t>
                </a:r>
                <a:r>
                  <a:rPr lang="en-US" sz="1400" dirty="0"/>
                  <a:t>, </a:t>
                </a:r>
                <a:r>
                  <a:rPr lang="en-US" sz="1400" dirty="0" err="1"/>
                  <a:t>blocco</a:t>
                </a:r>
                <a:r>
                  <a:rPr lang="en-US" sz="1400" dirty="0"/>
                  <a:t> </a:t>
                </a:r>
                <a14:m>
                  <m:oMath xmlns:m="http://schemas.openxmlformats.org/officeDocument/2006/math">
                    <m:r>
                      <a:rPr lang="en-US" sz="1400" i="1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sz="1400" dirty="0"/>
                  <a:t> al </a:t>
                </a:r>
                <a:r>
                  <a:rPr lang="en-US" sz="1400" dirty="0" err="1"/>
                  <a:t>posto</a:t>
                </a:r>
                <a:r>
                  <a:rPr lang="en-US" sz="1400" dirty="0"/>
                  <a:t> di RBS: </a:t>
                </a:r>
                <a14:m>
                  <m:oMath xmlns:m="http://schemas.openxmlformats.org/officeDocument/2006/math">
                    <m:r>
                      <a:rPr lang="en-US" sz="1400">
                        <a:latin typeface="Cambria Math" panose="02040503050406030204" pitchFamily="18" charset="0"/>
                      </a:rPr>
                      <m:t>ℱ</m:t>
                    </m:r>
                    <m:r>
                      <a:rPr lang="en-US" sz="14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17" name="Nota PMA esteso trmero">
                <a:extLst>
                  <a:ext uri="{FF2B5EF4-FFF2-40B4-BE49-F238E27FC236}">
                    <a16:creationId xmlns:a16="http://schemas.microsoft.com/office/drawing/2014/main" id="{FCC1EC33-E840-6462-6166-E66176B5B0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641" y="5689801"/>
                <a:ext cx="4818888" cy="523220"/>
              </a:xfrm>
              <a:prstGeom prst="rect">
                <a:avLst/>
              </a:prstGeom>
              <a:blipFill>
                <a:blip r:embed="rId8"/>
                <a:stretch>
                  <a:fillRect l="-379" t="-1163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104</Words>
  <Application>Microsoft Office PowerPoint</Application>
  <PresentationFormat>Widescreen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67</cp:revision>
  <cp:lastPrinted>2026-09-17T13:58:55Z</cp:lastPrinted>
  <dcterms:created xsi:type="dcterms:W3CDTF">2026-09-14T14:04:34Z</dcterms:created>
  <dcterms:modified xsi:type="dcterms:W3CDTF">2026-09-18T08:49:52Z</dcterms:modified>
</cp:coreProperties>
</file>