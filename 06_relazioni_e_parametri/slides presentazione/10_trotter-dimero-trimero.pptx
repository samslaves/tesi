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9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0.png"/><Relationship Id="rId5" Type="http://schemas.openxmlformats.org/officeDocument/2006/relationships/image" Target="../media/image310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Trotter: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convergenza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35F32-38C9-142C-E9B9-9BBB6AC3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34" y="2139695"/>
            <a:ext cx="5382271" cy="2345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DA67D3-E7A5-C13E-0658-3EDB1A371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093" y="2139695"/>
            <a:ext cx="5443220" cy="23447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/>
              <p:nvPr/>
            </p:nvSpPr>
            <p:spPr>
              <a:xfrm>
                <a:off x="6322981" y="4603338"/>
                <a:ext cx="5241333" cy="1822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4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𝑐𝑖𝑟𝑐𝑢𝑖𝑡𝑜</m:t>
                        </m:r>
                      </m:sub>
                    </m:sSub>
                    <m:r>
                      <a:rPr lang="en-US" sz="1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𝑒𝑠𝑎𝑡𝑡𝑜</m:t>
                        </m:r>
                      </m:sub>
                    </m:sSub>
                    <m:r>
                      <a:rPr lang="en-US" sz="1400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en-US" sz="1400" dirty="0"/>
                  <a:t>: </a:t>
                </a:r>
                <a:r>
                  <a:rPr lang="en-US" sz="1400" dirty="0" err="1"/>
                  <a:t>quanto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circuito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approssima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𝑖𝐻𝑡</m:t>
                        </m:r>
                      </m:sup>
                    </m:sSup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in generale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caso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peggiore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qualunque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) — </a:t>
                </a:r>
                <a:r>
                  <a:rPr lang="en-US" sz="1400" dirty="0" err="1"/>
                  <a:t>pendenza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400" dirty="0"/>
                  <a:t>−1.</a:t>
                </a:r>
              </a:p>
              <a:p>
                <a:pPr lvl="0"/>
                <a:endParaRPr lang="en-US" sz="14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sz="1400" dirty="0"/>
                  <a:t>: </a:t>
                </a:r>
                <a:r>
                  <a:rPr lang="en-US" sz="1400" dirty="0" err="1"/>
                  <a:t>quanto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sbaglia</a:t>
                </a:r>
                <a:r>
                  <a:rPr lang="en-US" sz="1400" dirty="0"/>
                  <a:t> </a:t>
                </a:r>
                <a:r>
                  <a:rPr lang="en-US" sz="1400" b="1" dirty="0" err="1"/>
                  <a:t>sullo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stato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iniziale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specifico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usiamo</a:t>
                </a:r>
                <a:r>
                  <a:rPr lang="en-US" sz="1400" dirty="0"/>
                  <a:t> (∣00⟩ o ∣000⟩) — </a:t>
                </a:r>
                <a:r>
                  <a:rPr lang="en-US" sz="1400" dirty="0" err="1"/>
                  <a:t>pendenza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perché</a:t>
                </a:r>
                <a:r>
                  <a:rPr lang="en-US" sz="1400" dirty="0"/>
                  <a:t> è </a:t>
                </a:r>
                <a:r>
                  <a:rPr lang="en-US" sz="1400" dirty="0" err="1"/>
                  <a:t>essenzialmente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quadrato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dell'errore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sull'ampiezza</a:t>
                </a:r>
                <a:r>
                  <a:rPr lang="en-US" sz="1400" dirty="0"/>
                  <a:t>.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981" y="4603338"/>
                <a:ext cx="5241333" cy="1822807"/>
              </a:xfrm>
              <a:prstGeom prst="rect">
                <a:avLst/>
              </a:prstGeom>
              <a:blipFill>
                <a:blip r:embed="rId5"/>
                <a:stretch>
                  <a:fillRect l="-349" r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/>
              <p:nvPr/>
            </p:nvSpPr>
            <p:spPr>
              <a:xfrm>
                <a:off x="652779" y="4802342"/>
                <a:ext cx="5164362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Si </a:t>
                </a:r>
                <a:r>
                  <a:rPr lang="en-US" sz="1400" dirty="0" err="1"/>
                  <a:t>inizializza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sistema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fuori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equilibrio</a:t>
                </a:r>
                <a:r>
                  <a:rPr lang="en-US" sz="1400" dirty="0"/>
                  <a:t> (es. ∣00⟩ per il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, ∣000⟩ per il </a:t>
                </a:r>
                <a:r>
                  <a:rPr lang="en-US" sz="1400" dirty="0" err="1"/>
                  <a:t>trimero</a:t>
                </a:r>
                <a:r>
                  <a:rPr lang="en-US" sz="1400" dirty="0"/>
                  <a:t>) e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osserva</a:t>
                </a:r>
                <a:r>
                  <a:rPr lang="en-US" sz="1400" dirty="0"/>
                  <a:t> come evolve </a:t>
                </a:r>
                <a:r>
                  <a:rPr lang="en-US" sz="1400" dirty="0" err="1"/>
                  <a:t>nel</a:t>
                </a:r>
                <a:r>
                  <a:rPr lang="en-US" sz="1400" dirty="0"/>
                  <a:t> tempo sotto la </a:t>
                </a:r>
                <a:r>
                  <a:rPr lang="en-US" sz="1400" dirty="0" err="1"/>
                  <a:t>dinamica</a:t>
                </a:r>
                <a:r>
                  <a:rPr lang="en-US" sz="1400" dirty="0"/>
                  <a:t> di Trotter.</a:t>
                </a:r>
              </a:p>
              <a:p>
                <a:endParaRPr lang="en-US" sz="1400" dirty="0"/>
              </a:p>
              <a:p>
                <a:r>
                  <a:rPr lang="en-US" sz="1400" b="1" dirty="0"/>
                  <a:t>Per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l'Hamiltoniana</a:t>
                </a:r>
                <a:r>
                  <a:rPr lang="en-US" sz="1400" dirty="0"/>
                  <a:t> non </a:t>
                </a:r>
                <a:r>
                  <a:rPr lang="en-US" sz="1400" dirty="0" err="1"/>
                  <a:t>commuta</a:t>
                </a:r>
                <a:r>
                  <a:rPr lang="en-US" sz="1400" dirty="0"/>
                  <a:t> con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𝑡𝑜𝑡</m:t>
                        </m:r>
                      </m:sup>
                    </m:sSubSup>
                  </m:oMath>
                </a14:m>
                <a:r>
                  <a:rPr lang="en-US" sz="1400" dirty="0"/>
                  <a:t>​ a causa del </a:t>
                </a:r>
                <a:r>
                  <a:rPr lang="en-US" sz="1400" dirty="0" err="1"/>
                  <a:t>termine</a:t>
                </a:r>
                <a:r>
                  <a:rPr lang="en-US" sz="1400" dirty="0"/>
                  <a:t> DM. </a:t>
                </a:r>
                <a:r>
                  <a:rPr lang="en-US" sz="1400" dirty="0" err="1"/>
                  <a:t>Quindi</a:t>
                </a:r>
                <a:r>
                  <a:rPr lang="en-US" sz="1400" dirty="0"/>
                  <a:t> lo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evolve in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b="1" dirty="0" err="1"/>
                  <a:t>sovrapposizione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autostati</a:t>
                </a:r>
                <a:r>
                  <a:rPr lang="en-US" sz="1400" dirty="0"/>
                  <a:t> con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400" dirty="0"/>
                  <a:t> diversi.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9" y="4802342"/>
                <a:ext cx="5164362" cy="1600438"/>
              </a:xfrm>
              <a:prstGeom prst="rect">
                <a:avLst/>
              </a:prstGeom>
              <a:blipFill>
                <a:blip r:embed="rId6"/>
                <a:stretch>
                  <a:fillRect l="-354" t="-1145" b="-3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138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35</cp:revision>
  <dcterms:created xsi:type="dcterms:W3CDTF">2026-09-14T17:34:23Z</dcterms:created>
  <dcterms:modified xsi:type="dcterms:W3CDTF">2026-09-20T09:51:58Z</dcterms:modified>
</cp:coreProperties>
</file>