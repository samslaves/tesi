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Misura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78" y="2144443"/>
            <a:ext cx="3100750" cy="1979778"/>
          </a:xfrm>
          <a:prstGeom prst="rect">
            <a:avLst/>
          </a:prstGeom>
        </p:spPr>
      </p:pic>
      <p:sp>
        <p:nvSpPr>
          <p:cNvPr id="6" name="Desc HA dimero">
            <a:extLst>
              <a:ext uri="{FF2B5EF4-FFF2-40B4-BE49-F238E27FC236}">
                <a16:creationId xmlns:a16="http://schemas.microsoft.com/office/drawing/2014/main" id="{5C99638C-F80B-AFD2-7BC6-2433BAA695B5}"/>
              </a:ext>
            </a:extLst>
          </p:cNvPr>
          <p:cNvSpPr txBox="1"/>
          <p:nvPr/>
        </p:nvSpPr>
        <p:spPr>
          <a:xfrm>
            <a:off x="1826442" y="2205037"/>
            <a:ext cx="1870364" cy="4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Trotter - solo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readout: è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ancilla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7D8C4-DD2F-D38E-EC11-6008FDCD1C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44968" y="2181211"/>
            <a:ext cx="2932250" cy="1983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esc HA dimero">
                <a:extLst>
                  <a:ext uri="{FF2B5EF4-FFF2-40B4-BE49-F238E27FC236}">
                    <a16:creationId xmlns:a16="http://schemas.microsoft.com/office/drawing/2014/main" id="{67903720-E12A-6F3C-0A65-B9880A913030}"/>
                  </a:ext>
                </a:extLst>
              </p:cNvPr>
              <p:cNvSpPr txBox="1"/>
              <p:nvPr/>
            </p:nvSpPr>
            <p:spPr>
              <a:xfrm>
                <a:off x="5644341" y="2205036"/>
                <a:ext cx="2286001" cy="43724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Gate + readout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simmetrico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sz="800" i="1" dirty="0">
                        <a:solidFill>
                          <a:srgbClr val="5B6B8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800" i="1" dirty="0">
                        <a:solidFill>
                          <a:srgbClr val="5B6B84"/>
                        </a:solidFill>
                        <a:latin typeface="Cambria Math" panose="02040503050406030204" pitchFamily="18" charset="0"/>
                      </a:rPr>
                      <m:t>=2.3%</m:t>
                    </m:r>
                  </m:oMath>
                </a14:m>
                <a:r>
                  <a:rPr lang="en-US" sz="800" dirty="0"/>
                  <a:t> - 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qui il readout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entra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per la prima volta, con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misura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via ancilla -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conteggi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genuinamente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campionati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800" dirty="0"/>
                  <a:t>(</a:t>
                </a:r>
                <a14:m>
                  <m:oMath xmlns:m="http://schemas.openxmlformats.org/officeDocument/2006/math">
                    <m:r>
                      <a:rPr lang="en-US" sz="800">
                        <a:latin typeface="Cambria Math" panose="02040503050406030204" pitchFamily="18" charset="0"/>
                      </a:rPr>
                      <m:t>2×</m:t>
                    </m:r>
                    <m:sSup>
                      <m:sSupPr>
                        <m:ctrlPr>
                          <a:rPr lang="en-US" sz="8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80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800" dirty="0"/>
                  <a:t>)</a:t>
                </a:r>
              </a:p>
            </p:txBody>
          </p:sp>
        </mc:Choice>
        <mc:Fallback xmlns="">
          <p:sp>
            <p:nvSpPr>
              <p:cNvPr id="13" name="Desc HA dimero">
                <a:extLst>
                  <a:ext uri="{FF2B5EF4-FFF2-40B4-BE49-F238E27FC236}">
                    <a16:creationId xmlns:a16="http://schemas.microsoft.com/office/drawing/2014/main" id="{67903720-E12A-6F3C-0A65-B9880A91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341" y="2205036"/>
                <a:ext cx="2286001" cy="437249"/>
              </a:xfrm>
              <a:prstGeom prst="rect">
                <a:avLst/>
              </a:prstGeom>
              <a:blipFill>
                <a:blip r:embed="rId5"/>
                <a:stretch>
                  <a:fillRect l="-2933" r="-3467" b="-845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79951677-3528-0F2C-FE48-401E784753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26599" y="2181211"/>
            <a:ext cx="3237714" cy="2189926"/>
          </a:xfrm>
          <a:prstGeom prst="rect">
            <a:avLst/>
          </a:prstGeom>
        </p:spPr>
      </p:pic>
      <p:sp>
        <p:nvSpPr>
          <p:cNvPr id="19" name="Desc HA dimero">
            <a:extLst>
              <a:ext uri="{FF2B5EF4-FFF2-40B4-BE49-F238E27FC236}">
                <a16:creationId xmlns:a16="http://schemas.microsoft.com/office/drawing/2014/main" id="{FD20E74D-FE77-24F4-B938-B978D09F3DD5}"/>
              </a:ext>
            </a:extLst>
          </p:cNvPr>
          <p:cNvSpPr txBox="1"/>
          <p:nvPr/>
        </p:nvSpPr>
        <p:spPr>
          <a:xfrm>
            <a:off x="9559637" y="2108327"/>
            <a:ext cx="2004677" cy="4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N* -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conteggi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genuinamente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campionati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2779" y="4634554"/>
            <a:ext cx="3027141" cy="21991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AA34C0-CDB7-D8AA-D702-539DB964FEC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44969" y="4802191"/>
            <a:ext cx="2932249" cy="198331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160E4B-8D84-B894-9DF5-44900F95FC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26599" y="4595581"/>
            <a:ext cx="3237713" cy="2189926"/>
          </a:xfrm>
          <a:prstGeom prst="rect">
            <a:avLst/>
          </a:prstGeom>
        </p:spPr>
      </p:pic>
      <p:sp>
        <p:nvSpPr>
          <p:cNvPr id="38" name="Desc HA dimero">
            <a:extLst>
              <a:ext uri="{FF2B5EF4-FFF2-40B4-BE49-F238E27FC236}">
                <a16:creationId xmlns:a16="http://schemas.microsoft.com/office/drawing/2014/main" id="{77E8B842-7FAC-36B4-4654-5469773E7987}"/>
              </a:ext>
            </a:extLst>
          </p:cNvPr>
          <p:cNvSpPr txBox="1"/>
          <p:nvPr/>
        </p:nvSpPr>
        <p:spPr>
          <a:xfrm>
            <a:off x="9559637" y="4545535"/>
            <a:ext cx="2004677" cy="609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L’estensione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qubit non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</a:t>
            </a:r>
            <a:endParaRPr lang="en-US" sz="800" dirty="0"/>
          </a:p>
        </p:txBody>
      </p:sp>
      <p:sp>
        <p:nvSpPr>
          <p:cNvPr id="40" name="Desc HA dimero">
            <a:extLst>
              <a:ext uri="{FF2B5EF4-FFF2-40B4-BE49-F238E27FC236}">
                <a16:creationId xmlns:a16="http://schemas.microsoft.com/office/drawing/2014/main" id="{74D20FAF-5907-903E-FE6B-04F387A7F98A}"/>
              </a:ext>
            </a:extLst>
          </p:cNvPr>
          <p:cNvSpPr txBox="1"/>
          <p:nvPr/>
        </p:nvSpPr>
        <p:spPr>
          <a:xfrm>
            <a:off x="9559637" y="2678557"/>
            <a:ext cx="2004677" cy="15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Simmetrico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solo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riscalamento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non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N*</a:t>
            </a:r>
          </a:p>
        </p:txBody>
      </p:sp>
      <p:sp>
        <p:nvSpPr>
          <p:cNvPr id="41" name="Desc HA dimero">
            <a:extLst>
              <a:ext uri="{FF2B5EF4-FFF2-40B4-BE49-F238E27FC236}">
                <a16:creationId xmlns:a16="http://schemas.microsoft.com/office/drawing/2014/main" id="{0BB4B631-355A-C02C-F4B4-8E87AE37EC9D}"/>
              </a:ext>
            </a:extLst>
          </p:cNvPr>
          <p:cNvSpPr txBox="1"/>
          <p:nvPr/>
        </p:nvSpPr>
        <p:spPr>
          <a:xfrm>
            <a:off x="9559633" y="2869230"/>
            <a:ext cx="2004677" cy="4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Asimmetrico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riscalamanto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traslazione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potrebbe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spostare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N* ma non lo fa (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50x il rapport </a:t>
            </a:r>
            <a:r>
              <a:rPr lang="en-US" sz="800" dirty="0"/>
              <a:t>p10​/p01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Desc HA dimero">
                <a:extLst>
                  <a:ext uri="{FF2B5EF4-FFF2-40B4-BE49-F238E27FC236}">
                    <a16:creationId xmlns:a16="http://schemas.microsoft.com/office/drawing/2014/main" id="{37AAD309-B767-5F05-34C3-D3D8E73049F2}"/>
                  </a:ext>
                </a:extLst>
              </p:cNvPr>
              <p:cNvSpPr txBox="1"/>
              <p:nvPr/>
            </p:nvSpPr>
            <p:spPr>
              <a:xfrm>
                <a:off x="827142" y="4232977"/>
                <a:ext cx="3165456" cy="2928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/>
                  <a:t>Il </a:t>
                </a:r>
                <a:r>
                  <a:rPr lang="en-US" sz="900" dirty="0" err="1"/>
                  <a:t>compromesso</a:t>
                </a:r>
                <a:r>
                  <a:rPr lang="en-US" sz="900" dirty="0"/>
                  <a:t> </a:t>
                </a:r>
                <a:r>
                  <a:rPr lang="en-US" sz="900" dirty="0" err="1"/>
                  <a:t>fra</a:t>
                </a:r>
                <a:r>
                  <a:rPr lang="en-US" sz="900" dirty="0"/>
                  <a:t> </a:t>
                </a:r>
                <a:r>
                  <a:rPr lang="en-US" sz="900" dirty="0" err="1"/>
                  <a:t>errore</a:t>
                </a:r>
                <a:r>
                  <a:rPr lang="en-US" sz="900" dirty="0"/>
                  <a:t> di Trotter e </a:t>
                </a:r>
                <a:r>
                  <a:rPr lang="en-US" sz="900" dirty="0" err="1"/>
                  <a:t>rumore</a:t>
                </a:r>
                <a:r>
                  <a:rPr lang="en-US" sz="900" dirty="0"/>
                  <a:t> di gate - </a:t>
                </a:r>
                <a:r>
                  <a:rPr lang="en-US" sz="900" dirty="0" err="1"/>
                  <a:t>creato</a:t>
                </a:r>
                <a:r>
                  <a:rPr lang="en-US" sz="900" dirty="0"/>
                  <a:t> dal </a:t>
                </a:r>
                <a:r>
                  <a:rPr lang="en-US" sz="900" dirty="0" err="1"/>
                  <a:t>rumore</a:t>
                </a:r>
                <a:r>
                  <a:rPr lang="en-US" sz="900" dirty="0"/>
                  <a:t>: senza </a:t>
                </a:r>
                <a:r>
                  <a:rPr lang="en-US" sz="900" dirty="0" err="1"/>
                  <a:t>rumore</a:t>
                </a:r>
                <a:r>
                  <a:rPr lang="en-US" sz="900" dirty="0"/>
                  <a:t>, </a:t>
                </a:r>
                <a:r>
                  <a:rPr lang="en-US" sz="900" dirty="0" err="1"/>
                  <a:t>l'ottimo</a:t>
                </a:r>
                <a:r>
                  <a:rPr lang="en-US" sz="900" dirty="0"/>
                  <a:t> </a:t>
                </a:r>
                <a:r>
                  <a:rPr lang="en-US" sz="900" dirty="0" err="1"/>
                  <a:t>sarebbe</a:t>
                </a:r>
                <a:r>
                  <a:rPr lang="en-US" sz="900" dirty="0"/>
                  <a:t> </a:t>
                </a:r>
                <a14:m>
                  <m:oMath xmlns:m="http://schemas.openxmlformats.org/officeDocument/2006/math">
                    <m:r>
                      <a:rPr lang="en-US" sz="900" i="1"/>
                      <m:t>𝑁</m:t>
                    </m:r>
                    <m:r>
                      <a:rPr lang="en-US" sz="900"/>
                      <m:t>→∞</m:t>
                    </m:r>
                  </m:oMath>
                </a14:m>
                <a:endParaRPr lang="en-US" sz="900" dirty="0"/>
              </a:p>
            </p:txBody>
          </p:sp>
        </mc:Choice>
        <mc:Fallback>
          <p:sp>
            <p:nvSpPr>
              <p:cNvPr id="5" name="Desc HA dimero">
                <a:extLst>
                  <a:ext uri="{FF2B5EF4-FFF2-40B4-BE49-F238E27FC236}">
                    <a16:creationId xmlns:a16="http://schemas.microsoft.com/office/drawing/2014/main" id="{37AAD309-B767-5F05-34C3-D3D8E7304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42" y="4232977"/>
                <a:ext cx="3165456" cy="292821"/>
              </a:xfrm>
              <a:prstGeom prst="rect">
                <a:avLst/>
              </a:prstGeom>
              <a:blipFill>
                <a:blip r:embed="rId10"/>
                <a:stretch>
                  <a:fillRect l="-2312" t="-8333" b="-229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esc HA dimero">
            <a:extLst>
              <a:ext uri="{FF2B5EF4-FFF2-40B4-BE49-F238E27FC236}">
                <a16:creationId xmlns:a16="http://schemas.microsoft.com/office/drawing/2014/main" id="{ED62ED61-319B-8C7B-1573-BB9B9AD69924}"/>
              </a:ext>
            </a:extLst>
          </p:cNvPr>
          <p:cNvSpPr txBox="1"/>
          <p:nvPr/>
        </p:nvSpPr>
        <p:spPr>
          <a:xfrm>
            <a:off x="4754880" y="4242560"/>
            <a:ext cx="3485374" cy="292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Il </a:t>
            </a:r>
            <a:r>
              <a:rPr lang="en-US" sz="900" dirty="0" err="1"/>
              <a:t>picco</a:t>
            </a:r>
            <a:r>
              <a:rPr lang="en-US" sz="900" dirty="0"/>
              <a:t> è </a:t>
            </a:r>
            <a:r>
              <a:rPr lang="en-US" sz="900" dirty="0" err="1"/>
              <a:t>già</a:t>
            </a:r>
            <a:r>
              <a:rPr lang="en-US" sz="900" dirty="0"/>
              <a:t> </a:t>
            </a:r>
            <a:r>
              <a:rPr lang="en-US" sz="900" dirty="0" err="1"/>
              <a:t>presente</a:t>
            </a:r>
            <a:r>
              <a:rPr lang="en-US" sz="900" dirty="0"/>
              <a:t> a </a:t>
            </a:r>
            <a:r>
              <a:rPr lang="en-US" sz="900" dirty="0" err="1"/>
              <a:t>rumore</a:t>
            </a:r>
            <a:r>
              <a:rPr lang="en-US" sz="900" dirty="0"/>
              <a:t> </a:t>
            </a:r>
            <a:r>
              <a:rPr lang="en-US" sz="900" dirty="0" err="1"/>
              <a:t>spento</a:t>
            </a:r>
            <a:r>
              <a:rPr lang="en-US" sz="900" dirty="0"/>
              <a:t> (</a:t>
            </a:r>
            <a:r>
              <a:rPr lang="en-US" sz="900" dirty="0" err="1"/>
              <a:t>interferenza</a:t>
            </a:r>
            <a:r>
              <a:rPr lang="en-US" sz="900" dirty="0"/>
              <a:t> di </a:t>
            </a:r>
            <a:r>
              <a:rPr lang="en-US" sz="900" dirty="0" err="1"/>
              <a:t>fase</a:t>
            </a:r>
            <a:r>
              <a:rPr lang="en-US" sz="900" dirty="0"/>
              <a:t> </a:t>
            </a:r>
            <a:r>
              <a:rPr lang="en-US" sz="900" dirty="0" err="1"/>
              <a:t>fra</a:t>
            </a:r>
            <a:r>
              <a:rPr lang="en-US" sz="900" dirty="0"/>
              <a:t> </a:t>
            </a:r>
            <a:r>
              <a:rPr lang="en-US" sz="900" dirty="0" err="1"/>
              <a:t>frequenze</a:t>
            </a:r>
            <a:r>
              <a:rPr lang="en-US" sz="900" dirty="0"/>
              <a:t> </a:t>
            </a:r>
            <a:r>
              <a:rPr lang="en-US" sz="900" dirty="0" err="1"/>
              <a:t>leggermente</a:t>
            </a:r>
            <a:r>
              <a:rPr lang="en-US" sz="900" dirty="0"/>
              <a:t> </a:t>
            </a:r>
            <a:r>
              <a:rPr lang="en-US" sz="900" dirty="0" err="1"/>
              <a:t>sbagliate</a:t>
            </a:r>
            <a:r>
              <a:rPr lang="en-US" sz="900" dirty="0"/>
              <a:t>) — il </a:t>
            </a:r>
            <a:r>
              <a:rPr lang="en-US" sz="900" dirty="0" err="1"/>
              <a:t>rumore</a:t>
            </a:r>
            <a:r>
              <a:rPr lang="en-US" sz="900" dirty="0"/>
              <a:t> lo </a:t>
            </a:r>
            <a:r>
              <a:rPr lang="en-US" sz="900" dirty="0" err="1"/>
              <a:t>accentua</a:t>
            </a:r>
            <a:r>
              <a:rPr lang="en-US" sz="900" dirty="0"/>
              <a:t>, non lo </a:t>
            </a:r>
            <a:r>
              <a:rPr lang="en-US" sz="900" dirty="0" err="1"/>
              <a:t>crea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173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71</cp:revision>
  <cp:lastPrinted>2026-09-18T09:16:31Z</cp:lastPrinted>
  <dcterms:created xsi:type="dcterms:W3CDTF">2026-09-14T17:34:23Z</dcterms:created>
  <dcterms:modified xsi:type="dcterms:W3CDTF">2026-09-18T09:19:07Z</dcterms:modified>
</cp:coreProperties>
</file>