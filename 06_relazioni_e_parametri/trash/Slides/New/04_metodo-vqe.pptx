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"/>
  </p:notesMasterIdLst>
  <p:sldIdLst>
    <p:sldId id="265" r:id="rId2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76" d="100"/>
          <a:sy n="76" d="100"/>
        </p:scale>
        <p:origin x="54" y="36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78856632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1148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2E8C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INTRODUZIONE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13232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Metodo VQE</a:t>
            </a:r>
            <a:endParaRPr lang="en-US" sz="3800" dirty="0"/>
          </a:p>
        </p:txBody>
      </p:sp>
      <p:sp>
        <p:nvSpPr>
          <p:cNvPr id="4" name="Shape 2"/>
          <p:cNvSpPr/>
          <p:nvPr/>
        </p:nvSpPr>
        <p:spPr>
          <a:xfrm>
            <a:off x="640080" y="1554480"/>
            <a:ext cx="10911535" cy="530352"/>
          </a:xfrm>
          <a:prstGeom prst="roundRect">
            <a:avLst>
              <a:gd name="adj" fmla="val 13793"/>
            </a:avLst>
          </a:prstGeom>
          <a:solidFill>
            <a:srgbClr val="F2F5F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 txBox="1"/>
          <p:nvPr/>
        </p:nvSpPr>
        <p:spPr>
          <a:xfrm>
            <a:off x="640080" y="1554480"/>
            <a:ext cx="10911535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100" b="1" dirty="0">
                <a:solidFill>
                  <a:srgbClr val="173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Hardware Efficient vs Physically Motivated Ansatz</a:t>
            </a:r>
            <a:endParaRPr lang="en-US" sz="2100" dirty="0"/>
          </a:p>
        </p:txBody>
      </p:sp>
      <p:pic>
        <p:nvPicPr>
          <p:cNvPr id="6" name="Image 0" descr="/home/claude/deck/assets/thesis_figs/circ_ha_hi-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2240280"/>
            <a:ext cx="3320851" cy="1325880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640080" y="3621024"/>
            <a:ext cx="3320851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 — 6 parametri</a:t>
            </a:r>
            <a:endParaRPr lang="en-US" sz="1200" dirty="0"/>
          </a:p>
        </p:txBody>
      </p:sp>
      <p:pic>
        <p:nvPicPr>
          <p:cNvPr id="8" name="Image 1" descr="/home/claude/deck/assets/thesis_figs/circ_pma_base-1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89531" y="2240280"/>
            <a:ext cx="4278335" cy="1325880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4189531" y="3621024"/>
            <a:ext cx="427833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200" i="1" dirty="0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PMA base — 1 parametro (2 rami, b/J ≶ 2) —  </a:t>
            </a:r>
          </a:p>
          <a:p>
            <a:pPr algn="ctr"/>
            <a:r>
              <a:rPr lang="en-US" sz="1200" i="1" dirty="0" err="1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preparato</a:t>
            </a:r>
            <a:r>
              <a:rPr lang="en-US" sz="1200" i="1" dirty="0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00" i="1" dirty="0" err="1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sul</a:t>
            </a:r>
            <a:r>
              <a:rPr lang="en-US" sz="1200" i="1" dirty="0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00" i="1" dirty="0" err="1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singoletto</a:t>
            </a:r>
            <a:r>
              <a:rPr lang="en-US" sz="1200" i="1" dirty="0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</a:t>
            </a:r>
            <a:r>
              <a:rPr lang="en-US" sz="1200" i="1" dirty="0" err="1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ramo</a:t>
            </a:r>
            <a:r>
              <a:rPr lang="en-US" sz="1200" i="1" dirty="0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basso) — W(</a:t>
            </a:r>
            <a:r>
              <a:rPr lang="el-GR" sz="1200" dirty="0"/>
              <a:t>θ</a:t>
            </a:r>
            <a:r>
              <a:rPr lang="en-US" sz="1200" dirty="0"/>
              <a:t>)</a:t>
            </a:r>
            <a:r>
              <a:rPr lang="en-US" sz="1200" i="1" dirty="0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= CNOT-Ry(</a:t>
            </a:r>
            <a:r>
              <a:rPr lang="el-GR" sz="1200" dirty="0"/>
              <a:t>θ</a:t>
            </a:r>
            <a:r>
              <a:rPr lang="en-US" sz="1200" dirty="0"/>
              <a:t>)</a:t>
            </a:r>
            <a:r>
              <a:rPr lang="en-US" sz="1200" i="1" dirty="0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-CNOT</a:t>
            </a:r>
            <a:endParaRPr lang="en-US" sz="1200" dirty="0"/>
          </a:p>
        </p:txBody>
      </p:sp>
      <p:pic>
        <p:nvPicPr>
          <p:cNvPr id="10" name="Image 2" descr="/home/claude/deck/assets/thesis_figs/circ_pma_esteso_hi-1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96465" y="2240280"/>
            <a:ext cx="2321794" cy="1325880"/>
          </a:xfrm>
          <a:prstGeom prst="rect">
            <a:avLst/>
          </a:prstGeom>
        </p:spPr>
      </p:pic>
      <p:sp>
        <p:nvSpPr>
          <p:cNvPr id="11" name="Text 6"/>
          <p:cNvSpPr txBox="1"/>
          <p:nvPr/>
        </p:nvSpPr>
        <p:spPr>
          <a:xfrm>
            <a:off x="8696465" y="3621024"/>
            <a:ext cx="232179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PMA esteso — 3 parametri</a:t>
            </a:r>
            <a:endParaRPr lang="en-US" sz="1200" dirty="0"/>
          </a:p>
        </p:txBody>
      </p:sp>
      <p:pic>
        <p:nvPicPr>
          <p:cNvPr id="12" name="Image 3" descr="/home/claude/deck/assets/preview_s6_breakout.png" hidden="1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0080" y="4023360"/>
            <a:ext cx="4572000" cy="2331720"/>
          </a:xfrm>
          <a:prstGeom prst="rect">
            <a:avLst/>
          </a:prstGeom>
        </p:spPr>
      </p:pic>
      <p:sp>
        <p:nvSpPr>
          <p:cNvPr id="13" name="Text 7" hidden="1"/>
          <p:cNvSpPr txBox="1"/>
          <p:nvPr/>
        </p:nvSpPr>
        <p:spPr>
          <a:xfrm>
            <a:off x="5486400" y="4023360"/>
            <a:ext cx="6062472" cy="2331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rotazioni Ry indipendenti rompono la conservazione di M — a partire da |10⟩ si copre l'intero spazio a 2 qubit (F = 1)</a:t>
            </a:r>
            <a:endParaRPr lang="en-US" sz="1700" dirty="0"/>
          </a:p>
        </p:txBody>
      </p:sp>
      <p:sp>
        <p:nvSpPr>
          <p:cNvPr id="15" name="Text 8"/>
          <p:cNvSpPr txBox="1"/>
          <p:nvPr/>
        </p:nvSpPr>
        <p:spPr>
          <a:xfrm>
            <a:off x="7100789" y="4222766"/>
            <a:ext cx="4368400" cy="25098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00" dirty="0"/>
              <a:t>La forma </a:t>
            </a:r>
            <a:r>
              <a:rPr lang="en-US" sz="1400" dirty="0" err="1"/>
              <a:t>resta</a:t>
            </a:r>
            <a:r>
              <a:rPr lang="en-US" sz="1400" dirty="0"/>
              <a:t> </a:t>
            </a:r>
            <a:r>
              <a:rPr lang="en-US" sz="1400" dirty="0" err="1"/>
              <a:t>strutturalmente</a:t>
            </a:r>
            <a:r>
              <a:rPr lang="en-US" sz="1400" dirty="0"/>
              <a:t> </a:t>
            </a:r>
            <a:r>
              <a:rPr lang="en-US" sz="1400" dirty="0" err="1"/>
              <a:t>identica</a:t>
            </a:r>
            <a:r>
              <a:rPr lang="en-US" sz="1400" dirty="0"/>
              <a:t> in ogni </a:t>
            </a:r>
            <a:r>
              <a:rPr lang="en-US" sz="1400" dirty="0" err="1"/>
              <a:t>riga</a:t>
            </a:r>
            <a:r>
              <a:rPr lang="en-US" sz="1400" dirty="0"/>
              <a:t>: sempre a∣01⟩−b∣10⟩, </a:t>
            </a:r>
            <a:r>
              <a:rPr lang="en-US" sz="1400" dirty="0" err="1"/>
              <a:t>mai</a:t>
            </a:r>
            <a:r>
              <a:rPr lang="en-US" sz="1400" dirty="0"/>
              <a:t> </a:t>
            </a:r>
            <a:r>
              <a:rPr lang="en-US" sz="1400" dirty="0" err="1"/>
              <a:t>una</a:t>
            </a:r>
            <a:r>
              <a:rPr lang="en-US" sz="1400" dirty="0"/>
              <a:t> </a:t>
            </a:r>
            <a:r>
              <a:rPr lang="en-US" sz="1400" dirty="0" err="1"/>
              <a:t>componente</a:t>
            </a:r>
            <a:r>
              <a:rPr lang="en-US" sz="1400" dirty="0"/>
              <a:t> </a:t>
            </a:r>
            <a:r>
              <a:rPr lang="en-US" sz="1400" dirty="0" err="1"/>
              <a:t>su</a:t>
            </a:r>
            <a:r>
              <a:rPr lang="en-US" sz="1400" dirty="0"/>
              <a:t> ∣00⟩ o ∣11⟩. Resta </a:t>
            </a:r>
            <a:r>
              <a:rPr lang="en-US" sz="1400" dirty="0" err="1"/>
              <a:t>nel</a:t>
            </a:r>
            <a:r>
              <a:rPr lang="en-US" sz="1400" dirty="0"/>
              <a:t> </a:t>
            </a:r>
            <a:r>
              <a:rPr lang="en-US" sz="1400" dirty="0" err="1"/>
              <a:t>sottospazio</a:t>
            </a:r>
            <a:r>
              <a:rPr lang="en-US" sz="1400" dirty="0"/>
              <a:t> del </a:t>
            </a:r>
            <a:r>
              <a:rPr lang="en-US" sz="1400" dirty="0" err="1"/>
              <a:t>singoletto</a:t>
            </a:r>
            <a:r>
              <a:rPr lang="en-US" sz="1400" dirty="0"/>
              <a:t> per ogni </a:t>
            </a:r>
            <a:r>
              <a:rPr lang="en-US" sz="1400" dirty="0">
                <a:effectLst/>
              </a:rPr>
              <a:t>θ</a:t>
            </a:r>
            <a:r>
              <a:rPr lang="en-US" sz="1400" dirty="0"/>
              <a:t>, sempre con la </a:t>
            </a:r>
            <a:r>
              <a:rPr lang="en-US" sz="1400" dirty="0" err="1"/>
              <a:t>stessa</a:t>
            </a:r>
            <a:r>
              <a:rPr lang="en-US" sz="1400" dirty="0"/>
              <a:t> "</a:t>
            </a:r>
            <a:r>
              <a:rPr lang="en-US" sz="1400" dirty="0" err="1"/>
              <a:t>impronta</a:t>
            </a:r>
            <a:r>
              <a:rPr lang="en-US" sz="1400" dirty="0"/>
              <a:t>" </a:t>
            </a:r>
            <a:r>
              <a:rPr lang="en-US" sz="1400" dirty="0" err="1"/>
              <a:t>algebrica</a:t>
            </a:r>
            <a:r>
              <a:rPr lang="en-US" sz="1400" dirty="0"/>
              <a:t> (</a:t>
            </a:r>
            <a:r>
              <a:rPr lang="en-US" sz="1400" dirty="0" err="1"/>
              <a:t>coefficiente</a:t>
            </a:r>
            <a:r>
              <a:rPr lang="en-US" sz="1400" dirty="0"/>
              <a:t> </a:t>
            </a:r>
            <a:r>
              <a:rPr lang="en-US" sz="1400" dirty="0" err="1"/>
              <a:t>positivo</a:t>
            </a:r>
            <a:r>
              <a:rPr lang="en-US" sz="1400" dirty="0"/>
              <a:t> </a:t>
            </a:r>
            <a:r>
              <a:rPr lang="en-US" sz="1400" dirty="0" err="1"/>
              <a:t>su</a:t>
            </a:r>
            <a:r>
              <a:rPr lang="en-US" sz="1400" dirty="0"/>
              <a:t> ∣01⟩, </a:t>
            </a:r>
            <a:r>
              <a:rPr lang="en-US" sz="1400" dirty="0" err="1"/>
              <a:t>negativo</a:t>
            </a:r>
            <a:r>
              <a:rPr lang="en-US" sz="1400" dirty="0"/>
              <a:t> </a:t>
            </a:r>
            <a:r>
              <a:rPr lang="en-US" sz="1400" dirty="0" err="1"/>
              <a:t>su</a:t>
            </a:r>
            <a:r>
              <a:rPr lang="en-US" sz="1400" dirty="0"/>
              <a:t> ∣10⟩).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7E0A3FF3-ED7A-048C-10F5-B3809728820D}"/>
              </a:ext>
            </a:extLst>
          </p:cNvPr>
          <p:cNvSpPr txBox="1"/>
          <p:nvPr/>
        </p:nvSpPr>
        <p:spPr>
          <a:xfrm>
            <a:off x="639927" y="3996290"/>
            <a:ext cx="5987896" cy="24622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l-GR" sz="1400" dirty="0"/>
              <a:t>|ψ₀⟩ = |00⟩  </a:t>
            </a:r>
            <a:r>
              <a:rPr lang="en-US" sz="1400" dirty="0"/>
              <a:t>				       </a:t>
            </a:r>
            <a:r>
              <a:rPr lang="el-GR" sz="1400" dirty="0"/>
              <a:t>(</a:t>
            </a:r>
            <a:r>
              <a:rPr lang="en-US" sz="1400" dirty="0" err="1"/>
              <a:t>iniziale</a:t>
            </a:r>
            <a:r>
              <a:rPr lang="en-US" sz="1400" dirty="0"/>
              <a:t>)</a:t>
            </a:r>
          </a:p>
          <a:p>
            <a:r>
              <a:rPr lang="en-US" sz="1400" dirty="0"/>
              <a:t>|</a:t>
            </a:r>
            <a:r>
              <a:rPr lang="el-GR" sz="1400" dirty="0"/>
              <a:t>ψ₁⟩ = </a:t>
            </a:r>
            <a:r>
              <a:rPr lang="en-US" sz="1400" dirty="0"/>
              <a:t>X(q₀)|</a:t>
            </a:r>
            <a:r>
              <a:rPr lang="el-GR" sz="1400" dirty="0"/>
              <a:t>ψ₀⟩ = |01⟩</a:t>
            </a:r>
          </a:p>
          <a:p>
            <a:r>
              <a:rPr lang="el-GR" sz="1400" dirty="0"/>
              <a:t>|ψ₂⟩ = </a:t>
            </a:r>
            <a:r>
              <a:rPr lang="en-US" sz="1400" dirty="0"/>
              <a:t>H(q₀)|</a:t>
            </a:r>
            <a:r>
              <a:rPr lang="el-GR" sz="1400" dirty="0"/>
              <a:t>ψ₁⟩ = (√2/2)|00⟩ − (√2/2)|01⟩</a:t>
            </a:r>
          </a:p>
          <a:p>
            <a:r>
              <a:rPr lang="el-GR" sz="1400" dirty="0"/>
              <a:t>|ψ₃⟩ = </a:t>
            </a:r>
            <a:r>
              <a:rPr lang="en-US" sz="1400" dirty="0"/>
              <a:t>CNOT(</a:t>
            </a:r>
            <a:r>
              <a:rPr lang="en-US" sz="1400" dirty="0" err="1"/>
              <a:t>q₀,q</a:t>
            </a:r>
            <a:r>
              <a:rPr lang="en-US" sz="1400" dirty="0"/>
              <a:t>₁)|</a:t>
            </a:r>
            <a:r>
              <a:rPr lang="el-GR" sz="1400" dirty="0"/>
              <a:t>ψ₂⟩ = (√2/2)|00⟩ − (√2/2)|11⟩</a:t>
            </a:r>
          </a:p>
          <a:p>
            <a:r>
              <a:rPr lang="el-GR" sz="1400" dirty="0"/>
              <a:t>|ψ₄⟩ = </a:t>
            </a:r>
            <a:r>
              <a:rPr lang="en-US" sz="1400" dirty="0"/>
              <a:t>X(q₀)|</a:t>
            </a:r>
            <a:r>
              <a:rPr lang="el-GR" sz="1400" dirty="0"/>
              <a:t>ψ₃⟩ = (√2/2)|01⟩ − (√2/2)|10⟩  </a:t>
            </a:r>
            <a:r>
              <a:rPr lang="en-US" sz="1400" dirty="0"/>
              <a:t>		       (</a:t>
            </a:r>
            <a:r>
              <a:rPr lang="en-US" sz="1400" dirty="0" err="1"/>
              <a:t>singoletto</a:t>
            </a:r>
            <a:r>
              <a:rPr lang="en-US" sz="1400" dirty="0"/>
              <a:t>)</a:t>
            </a:r>
          </a:p>
          <a:p>
            <a:endParaRPr lang="en-US" sz="1400" dirty="0"/>
          </a:p>
          <a:p>
            <a:r>
              <a:rPr lang="en-US" sz="1400" dirty="0" err="1"/>
              <a:t>Blocco</a:t>
            </a:r>
            <a:r>
              <a:rPr lang="en-US" sz="1400" dirty="0"/>
              <a:t> W(</a:t>
            </a:r>
            <a:r>
              <a:rPr lang="el-GR" sz="1400" dirty="0"/>
              <a:t>θ):</a:t>
            </a:r>
            <a:endParaRPr lang="en-US" sz="1400" dirty="0"/>
          </a:p>
          <a:p>
            <a:endParaRPr lang="el-GR" sz="1400" dirty="0"/>
          </a:p>
          <a:p>
            <a:r>
              <a:rPr lang="el-GR" sz="1400" dirty="0"/>
              <a:t>|ψ₅⟩ = </a:t>
            </a:r>
            <a:r>
              <a:rPr lang="en-US" sz="1400" dirty="0"/>
              <a:t>CNOT(</a:t>
            </a:r>
            <a:r>
              <a:rPr lang="en-US" sz="1400" dirty="0" err="1"/>
              <a:t>q₀,q</a:t>
            </a:r>
            <a:r>
              <a:rPr lang="en-US" sz="1400" dirty="0"/>
              <a:t>₁)|</a:t>
            </a:r>
            <a:r>
              <a:rPr lang="el-GR" sz="1400" dirty="0"/>
              <a:t>ψ₄⟩ = −(√2/2)|10⟩ + (√2/2)|11⟩</a:t>
            </a:r>
          </a:p>
          <a:p>
            <a:r>
              <a:rPr lang="el-GR" sz="1400" dirty="0"/>
              <a:t>|ψ₆⟩ = </a:t>
            </a:r>
            <a:r>
              <a:rPr lang="en-US" sz="1400" dirty="0"/>
              <a:t>Ry(</a:t>
            </a:r>
            <a:r>
              <a:rPr lang="el-GR" sz="1400" dirty="0"/>
              <a:t>θ;</a:t>
            </a:r>
            <a:r>
              <a:rPr lang="en-US" sz="1400" dirty="0"/>
              <a:t>q₀)|</a:t>
            </a:r>
            <a:r>
              <a:rPr lang="el-GR" sz="1400" dirty="0"/>
              <a:t>ψ₅⟩ = −</a:t>
            </a:r>
            <a:r>
              <a:rPr lang="en-US" sz="1400" dirty="0"/>
              <a:t>sin(</a:t>
            </a:r>
            <a:r>
              <a:rPr lang="el-GR" sz="1400" dirty="0"/>
              <a:t>θ/2+π/4)|10⟩ + </a:t>
            </a:r>
            <a:r>
              <a:rPr lang="en-US" sz="1400" dirty="0"/>
              <a:t>cos(</a:t>
            </a:r>
            <a:r>
              <a:rPr lang="el-GR" sz="1400" dirty="0"/>
              <a:t>θ/2+π/4)|11⟩</a:t>
            </a:r>
          </a:p>
          <a:p>
            <a:r>
              <a:rPr lang="el-GR" sz="1400" dirty="0"/>
              <a:t>|ψ₇⟩ = </a:t>
            </a:r>
            <a:r>
              <a:rPr lang="en-US" sz="1400" dirty="0"/>
              <a:t>CNOT(</a:t>
            </a:r>
            <a:r>
              <a:rPr lang="en-US" sz="1400" dirty="0" err="1"/>
              <a:t>q₀,q</a:t>
            </a:r>
            <a:r>
              <a:rPr lang="en-US" sz="1400" dirty="0"/>
              <a:t>₁)|</a:t>
            </a:r>
            <a:r>
              <a:rPr lang="el-GR" sz="1400" dirty="0"/>
              <a:t>ψ₆⟩ = </a:t>
            </a:r>
            <a:r>
              <a:rPr lang="en-US" sz="1400" dirty="0"/>
              <a:t>cos(</a:t>
            </a:r>
            <a:r>
              <a:rPr lang="el-GR" sz="1400" dirty="0"/>
              <a:t>θ/2+π/4)|01⟩ − </a:t>
            </a:r>
            <a:r>
              <a:rPr lang="en-US" sz="1400" dirty="0"/>
              <a:t>sin(</a:t>
            </a:r>
            <a:r>
              <a:rPr lang="el-GR" sz="1400" dirty="0"/>
              <a:t>θ/2+π/4)|10⟩  </a:t>
            </a:r>
            <a:r>
              <a:rPr lang="en-US" sz="1400" dirty="0"/>
              <a:t>       </a:t>
            </a:r>
            <a:r>
              <a:rPr lang="el-GR" sz="1400" dirty="0"/>
              <a:t>(</a:t>
            </a:r>
            <a:r>
              <a:rPr lang="en-US" sz="1400" dirty="0" err="1"/>
              <a:t>uscita</a:t>
            </a:r>
            <a:r>
              <a:rPr lang="en-US" sz="1400" dirty="0"/>
              <a:t>)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993A4C76-1E48-9791-A1AA-3674D87DAF40}"/>
              </a:ext>
            </a:extLst>
          </p:cNvPr>
          <p:cNvSpPr txBox="1"/>
          <p:nvPr/>
        </p:nvSpPr>
        <p:spPr>
          <a:xfrm>
            <a:off x="586479" y="4415195"/>
            <a:ext cx="5353968" cy="160043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l-GR" sz="1400" dirty="0"/>
              <a:t>|ψ</a:t>
            </a:r>
            <a:r>
              <a:rPr lang="en-US" sz="1400" dirty="0"/>
              <a:t>ₐ⟩ = |11⟩                                                                                          (</a:t>
            </a:r>
            <a:r>
              <a:rPr lang="en-US" sz="1400" dirty="0" err="1"/>
              <a:t>iniziale</a:t>
            </a:r>
            <a:r>
              <a:rPr lang="en-US" sz="1400" dirty="0"/>
              <a:t>)</a:t>
            </a:r>
          </a:p>
          <a:p>
            <a:endParaRPr lang="en-US" sz="1400" dirty="0"/>
          </a:p>
          <a:p>
            <a:r>
              <a:rPr lang="en-US" sz="1400" dirty="0" err="1"/>
              <a:t>Blocco</a:t>
            </a:r>
            <a:r>
              <a:rPr lang="en-US" sz="1400" dirty="0"/>
              <a:t> W(</a:t>
            </a:r>
            <a:r>
              <a:rPr lang="el-GR" sz="1400" dirty="0"/>
              <a:t>θ):</a:t>
            </a:r>
          </a:p>
          <a:p>
            <a:endParaRPr lang="el-GR" sz="1400" dirty="0"/>
          </a:p>
          <a:p>
            <a:r>
              <a:rPr lang="el-GR" sz="1400" dirty="0"/>
              <a:t>|ψᵦ⟩ = </a:t>
            </a:r>
            <a:r>
              <a:rPr lang="en-US" sz="1400" dirty="0"/>
              <a:t>CNOT(</a:t>
            </a:r>
            <a:r>
              <a:rPr lang="en-US" sz="1400" dirty="0" err="1"/>
              <a:t>q₀,q</a:t>
            </a:r>
            <a:r>
              <a:rPr lang="en-US" sz="1400" dirty="0"/>
              <a:t>₁)|</a:t>
            </a:r>
            <a:r>
              <a:rPr lang="el-GR" sz="1400" dirty="0"/>
              <a:t>ψ</a:t>
            </a:r>
            <a:r>
              <a:rPr lang="en-US" sz="1400" dirty="0"/>
              <a:t>ₐ⟩ = |01⟩</a:t>
            </a:r>
          </a:p>
          <a:p>
            <a:r>
              <a:rPr lang="en-US" sz="1400" dirty="0"/>
              <a:t>|</a:t>
            </a:r>
            <a:r>
              <a:rPr lang="el-GR" sz="1400" dirty="0"/>
              <a:t>ψ_</a:t>
            </a:r>
            <a:r>
              <a:rPr lang="en-US" sz="1400" dirty="0"/>
              <a:t>c⟩ = Ry(</a:t>
            </a:r>
            <a:r>
              <a:rPr lang="el-GR" sz="1400" dirty="0"/>
              <a:t>θ;</a:t>
            </a:r>
            <a:r>
              <a:rPr lang="en-US" sz="1400" dirty="0"/>
              <a:t>q₀)|</a:t>
            </a:r>
            <a:r>
              <a:rPr lang="el-GR" sz="1400" dirty="0"/>
              <a:t>ψᵦ⟩ = −</a:t>
            </a:r>
            <a:r>
              <a:rPr lang="en-US" sz="1400" dirty="0"/>
              <a:t>sin(</a:t>
            </a:r>
            <a:r>
              <a:rPr lang="el-GR" sz="1400" dirty="0"/>
              <a:t>θ/2)|00⟩ + </a:t>
            </a:r>
            <a:r>
              <a:rPr lang="en-US" sz="1400" dirty="0"/>
              <a:t>cos(</a:t>
            </a:r>
            <a:r>
              <a:rPr lang="el-GR" sz="1400" dirty="0"/>
              <a:t>θ/2)|01⟩</a:t>
            </a:r>
          </a:p>
          <a:p>
            <a:r>
              <a:rPr lang="el-GR" sz="1400" dirty="0"/>
              <a:t>|ψ_</a:t>
            </a:r>
            <a:r>
              <a:rPr lang="en-US" sz="1400" dirty="0"/>
              <a:t>d⟩ = CNOT(</a:t>
            </a:r>
            <a:r>
              <a:rPr lang="en-US" sz="1400" dirty="0" err="1"/>
              <a:t>q₀,q</a:t>
            </a:r>
            <a:r>
              <a:rPr lang="en-US" sz="1400" dirty="0"/>
              <a:t>₁)|</a:t>
            </a:r>
            <a:r>
              <a:rPr lang="el-GR" sz="1400" dirty="0"/>
              <a:t>ψ_</a:t>
            </a:r>
            <a:r>
              <a:rPr lang="en-US" sz="1400" dirty="0"/>
              <a:t>c⟩ = −sin(</a:t>
            </a:r>
            <a:r>
              <a:rPr lang="el-GR" sz="1400" dirty="0"/>
              <a:t>θ/2)|00⟩ + </a:t>
            </a:r>
            <a:r>
              <a:rPr lang="en-US" sz="1400" dirty="0"/>
              <a:t>cos(</a:t>
            </a:r>
            <a:r>
              <a:rPr lang="el-GR" sz="1400" dirty="0"/>
              <a:t>θ/2)|11⟩       (</a:t>
            </a:r>
            <a:r>
              <a:rPr lang="en-US" sz="1400" dirty="0" err="1"/>
              <a:t>uscita</a:t>
            </a:r>
            <a:r>
              <a:rPr lang="en-US" sz="1400" dirty="0"/>
              <a:t>)</a:t>
            </a:r>
          </a:p>
        </p:txBody>
      </p:sp>
      <p:sp>
        <p:nvSpPr>
          <p:cNvPr id="19" name="Text 8">
            <a:extLst>
              <a:ext uri="{FF2B5EF4-FFF2-40B4-BE49-F238E27FC236}">
                <a16:creationId xmlns:a16="http://schemas.microsoft.com/office/drawing/2014/main" id="{DC86982E-9DD4-E92E-8EE8-FEAB5945DE0B}"/>
              </a:ext>
            </a:extLst>
          </p:cNvPr>
          <p:cNvSpPr txBox="1"/>
          <p:nvPr/>
        </p:nvSpPr>
        <p:spPr>
          <a:xfrm>
            <a:off x="7100788" y="4222766"/>
            <a:ext cx="4448083" cy="25098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00" dirty="0"/>
              <a:t>La forma </a:t>
            </a:r>
            <a:r>
              <a:rPr lang="en-US" sz="1400" dirty="0" err="1"/>
              <a:t>resta</a:t>
            </a:r>
            <a:r>
              <a:rPr lang="en-US" sz="1400" dirty="0"/>
              <a:t> </a:t>
            </a:r>
            <a:r>
              <a:rPr lang="en-US" sz="1400" dirty="0" err="1"/>
              <a:t>strutturalmente</a:t>
            </a:r>
            <a:r>
              <a:rPr lang="en-US" sz="1400" dirty="0"/>
              <a:t> </a:t>
            </a:r>
            <a:r>
              <a:rPr lang="en-US" sz="1400" dirty="0" err="1"/>
              <a:t>identica</a:t>
            </a:r>
            <a:r>
              <a:rPr lang="en-US" sz="1400" dirty="0"/>
              <a:t>: sempre a∣00⟩+b∣11⟩, </a:t>
            </a:r>
            <a:r>
              <a:rPr lang="en-US" sz="1400" dirty="0" err="1"/>
              <a:t>mai</a:t>
            </a:r>
            <a:r>
              <a:rPr lang="en-US" sz="1400" dirty="0"/>
              <a:t> </a:t>
            </a:r>
            <a:r>
              <a:rPr lang="en-US" sz="1400" dirty="0" err="1"/>
              <a:t>una</a:t>
            </a:r>
            <a:r>
              <a:rPr lang="en-US" sz="1400" dirty="0"/>
              <a:t> </a:t>
            </a:r>
            <a:r>
              <a:rPr lang="en-US" sz="1400" dirty="0" err="1"/>
              <a:t>componente</a:t>
            </a:r>
            <a:r>
              <a:rPr lang="en-US" sz="1400" dirty="0"/>
              <a:t> </a:t>
            </a:r>
            <a:r>
              <a:rPr lang="en-US" sz="1400" dirty="0" err="1"/>
              <a:t>su</a:t>
            </a:r>
            <a:r>
              <a:rPr lang="en-US" sz="1400" dirty="0"/>
              <a:t> ∣01⟩ o ∣10⟩. Resta </a:t>
            </a:r>
            <a:r>
              <a:rPr lang="en-US" sz="1400" dirty="0" err="1"/>
              <a:t>nel</a:t>
            </a:r>
            <a:r>
              <a:rPr lang="en-US" sz="1400" dirty="0"/>
              <a:t> </a:t>
            </a:r>
            <a:r>
              <a:rPr lang="en-US" sz="1400" dirty="0" err="1"/>
              <a:t>sottospazio</a:t>
            </a:r>
            <a:r>
              <a:rPr lang="en-US" sz="1400" dirty="0"/>
              <a:t> di ∣11⟩ per ogni </a:t>
            </a:r>
            <a:r>
              <a:rPr lang="en-US" sz="1400" dirty="0">
                <a:effectLst/>
              </a:rPr>
              <a:t>θ</a:t>
            </a:r>
            <a:r>
              <a:rPr lang="en-US" sz="1400" dirty="0"/>
              <a:t>, con la </a:t>
            </a:r>
            <a:r>
              <a:rPr lang="en-US" sz="1400" dirty="0" err="1"/>
              <a:t>stessa</a:t>
            </a:r>
            <a:r>
              <a:rPr lang="en-US" sz="1400" dirty="0"/>
              <a:t> </a:t>
            </a:r>
            <a:r>
              <a:rPr lang="en-US" sz="1400" dirty="0" err="1"/>
              <a:t>espressione</a:t>
            </a:r>
            <a:r>
              <a:rPr lang="en-US" sz="1400" dirty="0"/>
              <a:t> </a:t>
            </a:r>
            <a:r>
              <a:rPr lang="en-US" sz="1400" dirty="0" err="1"/>
              <a:t>algebrica</a:t>
            </a:r>
            <a:r>
              <a:rPr lang="en-US" sz="1400" dirty="0"/>
              <a:t> −sin(</a:t>
            </a:r>
            <a:r>
              <a:rPr lang="en-US" sz="1400" dirty="0">
                <a:effectLst/>
              </a:rPr>
              <a:t>θ</a:t>
            </a:r>
            <a:r>
              <a:rPr lang="en-US" sz="1400" dirty="0"/>
              <a:t>/2)∣00⟩+cos(</a:t>
            </a:r>
            <a:r>
              <a:rPr lang="en-US" sz="1400" dirty="0">
                <a:effectLst/>
              </a:rPr>
              <a:t>θ</a:t>
            </a:r>
            <a:r>
              <a:rPr lang="en-US" sz="1400" dirty="0"/>
              <a:t>/2)∣11⟩ — il segno </a:t>
            </a:r>
            <a:r>
              <a:rPr lang="en-US" sz="1400" dirty="0" err="1"/>
              <a:t>numerico</a:t>
            </a:r>
            <a:r>
              <a:rPr lang="en-US" sz="1400" dirty="0"/>
              <a:t> di </a:t>
            </a:r>
            <a:r>
              <a:rPr lang="en-US" sz="1400" dirty="0" err="1"/>
              <a:t>ciascun</a:t>
            </a:r>
            <a:r>
              <a:rPr lang="en-US" sz="1400" dirty="0"/>
              <a:t> </a:t>
            </a:r>
            <a:r>
              <a:rPr lang="en-US" sz="1400" dirty="0" err="1"/>
              <a:t>coefficiente</a:t>
            </a:r>
            <a:r>
              <a:rPr lang="en-US" sz="1400" dirty="0"/>
              <a:t> </a:t>
            </a:r>
            <a:r>
              <a:rPr lang="en-US" sz="1400" dirty="0" err="1"/>
              <a:t>dipende</a:t>
            </a:r>
            <a:r>
              <a:rPr lang="en-US" sz="1400" dirty="0"/>
              <a:t> dal </a:t>
            </a:r>
            <a:r>
              <a:rPr lang="en-US" sz="1400" dirty="0" err="1"/>
              <a:t>valore</a:t>
            </a:r>
            <a:r>
              <a:rPr lang="en-US" sz="1400" dirty="0"/>
              <a:t> di </a:t>
            </a:r>
            <a:r>
              <a:rPr lang="en-US" sz="1400" dirty="0">
                <a:effectLst/>
              </a:rPr>
              <a:t>θ</a:t>
            </a:r>
            <a:r>
              <a:rPr lang="en-US" sz="1400" dirty="0"/>
              <a:t>, non è </a:t>
            </a:r>
            <a:r>
              <a:rPr lang="en-US" sz="1400" dirty="0" err="1"/>
              <a:t>fissato</a:t>
            </a:r>
            <a:r>
              <a:rPr lang="en-US" sz="1400" dirty="0"/>
              <a:t>.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6A20E4C6-F6C3-5DC8-3DC6-9F41427D9F6A}"/>
              </a:ext>
            </a:extLst>
          </p:cNvPr>
          <p:cNvSpPr txBox="1"/>
          <p:nvPr/>
        </p:nvSpPr>
        <p:spPr>
          <a:xfrm>
            <a:off x="738879" y="4697331"/>
            <a:ext cx="4899922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|00⟩ → X(q₁) → |10⟩ → RBS(</a:t>
            </a:r>
            <a:r>
              <a:rPr lang="el-GR" sz="1400" dirty="0"/>
              <a:t>φ) → −</a:t>
            </a:r>
            <a:r>
              <a:rPr lang="en-US" sz="1400" dirty="0"/>
              <a:t>sin</a:t>
            </a:r>
            <a:r>
              <a:rPr lang="el-GR" sz="1400" dirty="0"/>
              <a:t>φ|01⟩ + </a:t>
            </a:r>
            <a:r>
              <a:rPr lang="en-US" sz="1400" dirty="0"/>
              <a:t>cos</a:t>
            </a:r>
            <a:r>
              <a:rPr lang="el-GR" sz="1400" dirty="0"/>
              <a:t>φ|10⟩</a:t>
            </a:r>
          </a:p>
          <a:p>
            <a:endParaRPr lang="el-GR" sz="1400" dirty="0"/>
          </a:p>
          <a:p>
            <a:r>
              <a:rPr lang="el-GR" sz="1400" dirty="0"/>
              <a:t>→ </a:t>
            </a:r>
            <a:r>
              <a:rPr lang="en-US" sz="1400" dirty="0"/>
              <a:t>Ry(</a:t>
            </a:r>
            <a:r>
              <a:rPr lang="el-GR" sz="1400" dirty="0"/>
              <a:t>θ₁;</a:t>
            </a:r>
            <a:r>
              <a:rPr lang="en-US" sz="1400" dirty="0"/>
              <a:t>q₀), Ry(</a:t>
            </a:r>
            <a:r>
              <a:rPr lang="el-GR" sz="1400" dirty="0"/>
              <a:t>θ₂;</a:t>
            </a:r>
            <a:r>
              <a:rPr lang="en-US" sz="1400" dirty="0"/>
              <a:t>q₁) → </a:t>
            </a:r>
            <a:r>
              <a:rPr lang="en-US" sz="1400" dirty="0" err="1"/>
              <a:t>uscita</a:t>
            </a:r>
            <a:r>
              <a:rPr lang="en-US" sz="1400" dirty="0"/>
              <a:t>:</a:t>
            </a:r>
          </a:p>
          <a:p>
            <a:endParaRPr lang="en-US" sz="1400" dirty="0"/>
          </a:p>
          <a:p>
            <a:r>
              <a:rPr lang="en-US" sz="1400" dirty="0"/>
              <a:t>[sin</a:t>
            </a:r>
            <a:r>
              <a:rPr lang="el-GR" sz="1400" dirty="0"/>
              <a:t>φ </a:t>
            </a:r>
            <a:r>
              <a:rPr lang="en-US" sz="1400" dirty="0"/>
              <a:t>sin(</a:t>
            </a:r>
            <a:r>
              <a:rPr lang="el-GR" sz="1400" dirty="0"/>
              <a:t>θ₁/2)</a:t>
            </a:r>
            <a:r>
              <a:rPr lang="en-US" sz="1400" dirty="0"/>
              <a:t>cos(</a:t>
            </a:r>
            <a:r>
              <a:rPr lang="el-GR" sz="1400" dirty="0"/>
              <a:t>θ₂/2) − </a:t>
            </a:r>
            <a:r>
              <a:rPr lang="en-US" sz="1400" dirty="0"/>
              <a:t>cos</a:t>
            </a:r>
            <a:r>
              <a:rPr lang="el-GR" sz="1400" dirty="0"/>
              <a:t>φ </a:t>
            </a:r>
            <a:r>
              <a:rPr lang="en-US" sz="1400" dirty="0"/>
              <a:t>cos(</a:t>
            </a:r>
            <a:r>
              <a:rPr lang="el-GR" sz="1400" dirty="0"/>
              <a:t>θ₁/2)</a:t>
            </a:r>
            <a:r>
              <a:rPr lang="en-US" sz="1400" dirty="0"/>
              <a:t>sin(</a:t>
            </a:r>
            <a:r>
              <a:rPr lang="el-GR" sz="1400" dirty="0"/>
              <a:t>θ₂/2)]|00⟩</a:t>
            </a:r>
          </a:p>
          <a:p>
            <a:r>
              <a:rPr lang="el-GR" sz="1400" dirty="0"/>
              <a:t>−[</a:t>
            </a:r>
            <a:r>
              <a:rPr lang="en-US" sz="1400" dirty="0"/>
              <a:t>sin</a:t>
            </a:r>
            <a:r>
              <a:rPr lang="el-GR" sz="1400" dirty="0"/>
              <a:t>φ </a:t>
            </a:r>
            <a:r>
              <a:rPr lang="en-US" sz="1400" dirty="0"/>
              <a:t>cos(</a:t>
            </a:r>
            <a:r>
              <a:rPr lang="el-GR" sz="1400" dirty="0"/>
              <a:t>θ₁/2)</a:t>
            </a:r>
            <a:r>
              <a:rPr lang="en-US" sz="1400" dirty="0"/>
              <a:t>cos(</a:t>
            </a:r>
            <a:r>
              <a:rPr lang="el-GR" sz="1400" dirty="0"/>
              <a:t>θ₂/2) − </a:t>
            </a:r>
            <a:r>
              <a:rPr lang="en-US" sz="1400" dirty="0"/>
              <a:t>cos</a:t>
            </a:r>
            <a:r>
              <a:rPr lang="el-GR" sz="1400" dirty="0"/>
              <a:t>φ </a:t>
            </a:r>
            <a:r>
              <a:rPr lang="en-US" sz="1400" dirty="0"/>
              <a:t>sin(</a:t>
            </a:r>
            <a:r>
              <a:rPr lang="el-GR" sz="1400" dirty="0"/>
              <a:t>θ₁/2)</a:t>
            </a:r>
            <a:r>
              <a:rPr lang="en-US" sz="1400" dirty="0"/>
              <a:t>sin(</a:t>
            </a:r>
            <a:r>
              <a:rPr lang="el-GR" sz="1400" dirty="0"/>
              <a:t>θ₂/2)]|01⟩</a:t>
            </a:r>
          </a:p>
          <a:p>
            <a:r>
              <a:rPr lang="el-GR" sz="1400" dirty="0"/>
              <a:t>+[</a:t>
            </a:r>
            <a:r>
              <a:rPr lang="en-US" sz="1400" dirty="0"/>
              <a:t>sin</a:t>
            </a:r>
            <a:r>
              <a:rPr lang="el-GR" sz="1400" dirty="0"/>
              <a:t>φ </a:t>
            </a:r>
            <a:r>
              <a:rPr lang="en-US" sz="1400" dirty="0"/>
              <a:t>sin(</a:t>
            </a:r>
            <a:r>
              <a:rPr lang="el-GR" sz="1400" dirty="0"/>
              <a:t>θ₁/2)</a:t>
            </a:r>
            <a:r>
              <a:rPr lang="en-US" sz="1400" dirty="0"/>
              <a:t>sin(</a:t>
            </a:r>
            <a:r>
              <a:rPr lang="el-GR" sz="1400" dirty="0"/>
              <a:t>θ₂/2) + </a:t>
            </a:r>
            <a:r>
              <a:rPr lang="en-US" sz="1400" dirty="0"/>
              <a:t>cos</a:t>
            </a:r>
            <a:r>
              <a:rPr lang="el-GR" sz="1400" dirty="0"/>
              <a:t>φ </a:t>
            </a:r>
            <a:r>
              <a:rPr lang="en-US" sz="1400" dirty="0"/>
              <a:t>cos(</a:t>
            </a:r>
            <a:r>
              <a:rPr lang="el-GR" sz="1400" dirty="0"/>
              <a:t>θ₁/2)</a:t>
            </a:r>
            <a:r>
              <a:rPr lang="en-US" sz="1400" dirty="0"/>
              <a:t>cos(</a:t>
            </a:r>
            <a:r>
              <a:rPr lang="el-GR" sz="1400" dirty="0"/>
              <a:t>θ₂/2)]|10⟩</a:t>
            </a:r>
          </a:p>
          <a:p>
            <a:r>
              <a:rPr lang="el-GR" sz="1400" dirty="0"/>
              <a:t>−[</a:t>
            </a:r>
            <a:r>
              <a:rPr lang="en-US" sz="1400" dirty="0"/>
              <a:t>sin</a:t>
            </a:r>
            <a:r>
              <a:rPr lang="el-GR" sz="1400" dirty="0"/>
              <a:t>φ </a:t>
            </a:r>
            <a:r>
              <a:rPr lang="en-US" sz="1400" dirty="0"/>
              <a:t>sin(</a:t>
            </a:r>
            <a:r>
              <a:rPr lang="el-GR" sz="1400" dirty="0"/>
              <a:t>θ₂/2)</a:t>
            </a:r>
            <a:r>
              <a:rPr lang="en-US" sz="1400" dirty="0"/>
              <a:t>cos(</a:t>
            </a:r>
            <a:r>
              <a:rPr lang="el-GR" sz="1400" dirty="0"/>
              <a:t>θ₁/2) + </a:t>
            </a:r>
            <a:r>
              <a:rPr lang="en-US" sz="1400" dirty="0"/>
              <a:t>sin(</a:t>
            </a:r>
            <a:r>
              <a:rPr lang="el-GR" sz="1400" dirty="0"/>
              <a:t>θ₁/2)</a:t>
            </a:r>
            <a:r>
              <a:rPr lang="en-US" sz="1400" dirty="0"/>
              <a:t>cos</a:t>
            </a:r>
            <a:r>
              <a:rPr lang="el-GR" sz="1400" dirty="0"/>
              <a:t>φ </a:t>
            </a:r>
            <a:r>
              <a:rPr lang="en-US" sz="1400" dirty="0"/>
              <a:t>cos(</a:t>
            </a:r>
            <a:r>
              <a:rPr lang="el-GR" sz="1400" dirty="0"/>
              <a:t>θ₂/2)]|11⟩</a:t>
            </a:r>
            <a:endParaRPr lang="en-US" sz="1400" dirty="0"/>
          </a:p>
        </p:txBody>
      </p:sp>
      <p:sp>
        <p:nvSpPr>
          <p:cNvPr id="21" name="Text 8">
            <a:extLst>
              <a:ext uri="{FF2B5EF4-FFF2-40B4-BE49-F238E27FC236}">
                <a16:creationId xmlns:a16="http://schemas.microsoft.com/office/drawing/2014/main" id="{2FA3B022-32DE-900E-EA28-FD8308AF1787}"/>
              </a:ext>
            </a:extLst>
          </p:cNvPr>
          <p:cNvSpPr txBox="1"/>
          <p:nvPr/>
        </p:nvSpPr>
        <p:spPr>
          <a:xfrm>
            <a:off x="7100788" y="4415195"/>
            <a:ext cx="4448083" cy="25098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00" dirty="0"/>
              <a:t>Dopo il solo </a:t>
            </a:r>
            <a:r>
              <a:rPr lang="en-US" sz="1400" dirty="0" err="1"/>
              <a:t>blocco</a:t>
            </a:r>
            <a:r>
              <a:rPr lang="en-US" sz="1400" dirty="0"/>
              <a:t> RBS, lo </a:t>
            </a:r>
            <a:r>
              <a:rPr lang="en-US" sz="1400" dirty="0" err="1"/>
              <a:t>stato</a:t>
            </a:r>
            <a:r>
              <a:rPr lang="en-US" sz="1400" dirty="0"/>
              <a:t> è </a:t>
            </a:r>
            <a:r>
              <a:rPr lang="en-US" sz="1400" dirty="0" err="1"/>
              <a:t>ancora</a:t>
            </a:r>
            <a:r>
              <a:rPr lang="en-US" sz="1400" dirty="0"/>
              <a:t> </a:t>
            </a:r>
            <a:r>
              <a:rPr lang="en-US" sz="1400" dirty="0" err="1"/>
              <a:t>confinato</a:t>
            </a:r>
            <a:r>
              <a:rPr lang="en-US" sz="1400" dirty="0"/>
              <a:t> in {∣01⟩,∣10⟩} (</a:t>
            </a:r>
            <a:r>
              <a:rPr lang="en-US" sz="1400" dirty="0" err="1"/>
              <a:t>stessa</a:t>
            </a:r>
            <a:r>
              <a:rPr lang="en-US" sz="1400" dirty="0"/>
              <a:t> </a:t>
            </a:r>
            <a:r>
              <a:rPr lang="en-US" sz="1400" dirty="0" err="1"/>
              <a:t>conservazione</a:t>
            </a:r>
            <a:r>
              <a:rPr lang="en-US" sz="1400" dirty="0"/>
              <a:t> di </a:t>
            </a:r>
            <a:r>
              <a:rPr lang="en-US" sz="1400" dirty="0" err="1"/>
              <a:t>parità</a:t>
            </a:r>
            <a:r>
              <a:rPr lang="en-US" sz="1400" dirty="0"/>
              <a:t> vista per </a:t>
            </a:r>
            <a:r>
              <a:rPr lang="en-US" sz="1400" dirty="0">
                <a:effectLst/>
              </a:rPr>
              <a:t>W</a:t>
            </a:r>
            <a:r>
              <a:rPr lang="en-US" sz="1400" dirty="0"/>
              <a:t>). Sono le due </a:t>
            </a:r>
            <a:r>
              <a:rPr lang="en-US" sz="1400" dirty="0" err="1"/>
              <a:t>rotazioni</a:t>
            </a:r>
            <a:r>
              <a:rPr lang="en-US" sz="1400" dirty="0"/>
              <a:t> </a:t>
            </a:r>
            <a:r>
              <a:rPr lang="en-US" sz="1400" dirty="0" err="1"/>
              <a:t>finali</a:t>
            </a:r>
            <a:r>
              <a:rPr lang="en-US" sz="1400" dirty="0"/>
              <a:t> </a:t>
            </a:r>
            <a:r>
              <a:rPr lang="en-US" sz="1400" dirty="0" err="1"/>
              <a:t>indipendenti</a:t>
            </a:r>
            <a:r>
              <a:rPr lang="en-US" sz="1400" dirty="0"/>
              <a:t> (</a:t>
            </a:r>
            <a:r>
              <a:rPr lang="en-US" sz="1400" dirty="0">
                <a:effectLst/>
              </a:rPr>
              <a:t>θ1</a:t>
            </a:r>
            <a:r>
              <a:rPr lang="en-US" sz="1400" dirty="0"/>
              <a:t>​,</a:t>
            </a:r>
            <a:r>
              <a:rPr lang="en-US" sz="1400" dirty="0">
                <a:effectLst/>
              </a:rPr>
              <a:t>θ2</a:t>
            </a:r>
            <a:r>
              <a:rPr lang="en-US" sz="1400" dirty="0"/>
              <a:t>​, </a:t>
            </a:r>
            <a:r>
              <a:rPr lang="en-US" sz="1400" dirty="0" err="1"/>
              <a:t>una</a:t>
            </a:r>
            <a:r>
              <a:rPr lang="en-US" sz="1400" dirty="0"/>
              <a:t> per qubit, non </a:t>
            </a:r>
            <a:r>
              <a:rPr lang="en-US" sz="1400" dirty="0" err="1"/>
              <a:t>collegate</a:t>
            </a:r>
            <a:r>
              <a:rPr lang="en-US" sz="1400" dirty="0"/>
              <a:t> come </a:t>
            </a:r>
            <a:r>
              <a:rPr lang="en-US" sz="1400" dirty="0" err="1"/>
              <a:t>nel</a:t>
            </a:r>
            <a:r>
              <a:rPr lang="en-US" sz="1400" dirty="0"/>
              <a:t> </a:t>
            </a:r>
            <a:r>
              <a:rPr lang="en-US" sz="1400" dirty="0" err="1"/>
              <a:t>blocco</a:t>
            </a:r>
            <a:r>
              <a:rPr lang="en-US" sz="1400" dirty="0"/>
              <a:t> RBS) a </a:t>
            </a:r>
            <a:r>
              <a:rPr lang="en-US" sz="1400" dirty="0" err="1"/>
              <a:t>rompere</a:t>
            </a:r>
            <a:r>
              <a:rPr lang="en-US" sz="1400" dirty="0"/>
              <a:t> </a:t>
            </a:r>
            <a:r>
              <a:rPr lang="en-US" sz="1400" dirty="0" err="1"/>
              <a:t>deliberatamente</a:t>
            </a:r>
            <a:r>
              <a:rPr lang="en-US" sz="1400" dirty="0"/>
              <a:t> </a:t>
            </a:r>
            <a:r>
              <a:rPr lang="en-US" sz="1400" dirty="0" err="1"/>
              <a:t>quella</a:t>
            </a:r>
            <a:r>
              <a:rPr lang="en-US" sz="1400" dirty="0"/>
              <a:t> </a:t>
            </a:r>
            <a:r>
              <a:rPr lang="en-US" sz="1400" dirty="0" err="1"/>
              <a:t>conservazione</a:t>
            </a:r>
            <a:r>
              <a:rPr lang="en-US" sz="1400" dirty="0"/>
              <a:t> — </a:t>
            </a:r>
            <a:r>
              <a:rPr lang="en-US" sz="1400" dirty="0" err="1"/>
              <a:t>popolando</a:t>
            </a:r>
            <a:r>
              <a:rPr lang="en-US" sz="1400" dirty="0"/>
              <a:t> </a:t>
            </a:r>
            <a:r>
              <a:rPr lang="en-US" sz="1400" dirty="0" err="1"/>
              <a:t>anche</a:t>
            </a:r>
            <a:r>
              <a:rPr lang="en-US" sz="1400" dirty="0"/>
              <a:t> ∣00⟩ e ∣11⟩: è </a:t>
            </a:r>
            <a:r>
              <a:rPr lang="en-US" sz="1400" dirty="0" err="1"/>
              <a:t>esattamente</a:t>
            </a:r>
            <a:r>
              <a:rPr lang="en-US" sz="1400" dirty="0"/>
              <a:t> il </a:t>
            </a:r>
            <a:r>
              <a:rPr lang="en-US" sz="1400" dirty="0" err="1"/>
              <a:t>meccanismo</a:t>
            </a:r>
            <a:r>
              <a:rPr lang="en-US" sz="1400" dirty="0"/>
              <a:t>, </a:t>
            </a:r>
            <a:r>
              <a:rPr lang="en-US" sz="1400" dirty="0" err="1"/>
              <a:t>già</a:t>
            </a:r>
            <a:r>
              <a:rPr lang="en-US" sz="1400" dirty="0"/>
              <a:t> </a:t>
            </a:r>
            <a:r>
              <a:rPr lang="en-US" sz="1400" dirty="0" err="1"/>
              <a:t>discusso</a:t>
            </a:r>
            <a:r>
              <a:rPr lang="en-US" sz="1400" dirty="0"/>
              <a:t>, con cui PMA </a:t>
            </a:r>
            <a:r>
              <a:rPr lang="en-US" sz="1400" dirty="0" err="1"/>
              <a:t>esteso</a:t>
            </a:r>
            <a:r>
              <a:rPr lang="en-US" sz="1400" dirty="0"/>
              <a:t> </a:t>
            </a:r>
            <a:r>
              <a:rPr lang="en-US" sz="1400" dirty="0" err="1"/>
              <a:t>raggiunge</a:t>
            </a:r>
            <a:r>
              <a:rPr lang="en-US" sz="1400" dirty="0"/>
              <a:t> </a:t>
            </a:r>
            <a:r>
              <a:rPr lang="en-US" sz="1400" dirty="0" err="1"/>
              <a:t>entrambi</a:t>
            </a:r>
            <a:r>
              <a:rPr lang="en-US" sz="1400" dirty="0"/>
              <a:t> </a:t>
            </a:r>
            <a:r>
              <a:rPr lang="en-US" sz="1400" dirty="0" err="1"/>
              <a:t>i</a:t>
            </a:r>
            <a:r>
              <a:rPr lang="en-US" sz="1400" dirty="0"/>
              <a:t> rami </a:t>
            </a:r>
            <a:r>
              <a:rPr lang="en-US" sz="1400" dirty="0" err="1"/>
              <a:t>che</a:t>
            </a:r>
            <a:r>
              <a:rPr lang="en-US" sz="1400" dirty="0"/>
              <a:t> PMA base (senza </a:t>
            </a:r>
            <a:r>
              <a:rPr lang="en-US" sz="1400" dirty="0" err="1"/>
              <a:t>queste</a:t>
            </a:r>
            <a:r>
              <a:rPr lang="en-US" sz="1400" dirty="0"/>
              <a:t> due </a:t>
            </a:r>
            <a:r>
              <a:rPr lang="en-US" sz="1400" dirty="0" err="1"/>
              <a:t>rotazioni</a:t>
            </a:r>
            <a:r>
              <a:rPr lang="en-US" sz="1400" dirty="0"/>
              <a:t> extra) non </a:t>
            </a:r>
            <a:r>
              <a:rPr lang="en-US" sz="1400" dirty="0" err="1"/>
              <a:t>può</a:t>
            </a:r>
            <a:r>
              <a:rPr lang="en-US" sz="1400" dirty="0"/>
              <a:t> </a:t>
            </a:r>
            <a:r>
              <a:rPr lang="en-US" sz="1400" dirty="0" err="1"/>
              <a:t>toccare</a:t>
            </a:r>
            <a:r>
              <a:rPr lang="en-US" sz="1400" dirty="0"/>
              <a:t>.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1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8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1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1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10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6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8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9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10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6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7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8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10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1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2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4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6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7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5" grpId="0" animBg="1"/>
      <p:bldP spid="15" grpId="1" animBg="1"/>
      <p:bldP spid="16" grpId="0"/>
      <p:bldP spid="16" grpId="1"/>
      <p:bldP spid="18" grpId="0"/>
      <p:bldP spid="18" grpId="1"/>
      <p:bldP spid="19" grpId="0" animBg="1"/>
      <p:bldP spid="19" grpId="1" animBg="1"/>
      <p:bldP spid="20" grpId="0"/>
      <p:bldP spid="21" grpId="0" animBg="1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92</TotalTime>
  <Words>867</Words>
  <Application>Microsoft Office PowerPoint</Application>
  <PresentationFormat>Widescreen</PresentationFormat>
  <Paragraphs>38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Quantum simulation of molecular spin systems on quantum hardware</dc:title>
  <dc:subject>PptxGenJS Presentation</dc:subject>
  <dc:creator>Samuele Schiavi</dc:creator>
  <cp:lastModifiedBy>Samuele SCHIAVI</cp:lastModifiedBy>
  <cp:revision>10</cp:revision>
  <dcterms:created xsi:type="dcterms:W3CDTF">2026-09-14T14:04:34Z</dcterms:created>
  <dcterms:modified xsi:type="dcterms:W3CDTF">2026-09-15T13:29:31Z</dcterms:modified>
</cp:coreProperties>
</file>