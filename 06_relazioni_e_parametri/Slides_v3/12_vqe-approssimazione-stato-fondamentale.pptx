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</a:t>
            </a:r>
            <a:endParaRPr lang="en-US" sz="3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09C46F-1D81-6637-ED9D-5535D921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08" y="2148840"/>
            <a:ext cx="4652992" cy="3393948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40079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approssimazione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e gap</a:t>
            </a:r>
            <a:endParaRPr lang="en-US" sz="2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5715-53D8-A5AD-AE37-C85FD523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337" y="2148840"/>
            <a:ext cx="4652992" cy="3393947"/>
          </a:xfrm>
          <a:prstGeom prst="rect">
            <a:avLst/>
          </a:prstGeom>
        </p:spPr>
      </p:pic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7C30B9A2-D73B-A487-8EDD-4C2653116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938296"/>
              </p:ext>
            </p:extLst>
          </p:nvPr>
        </p:nvGraphicFramePr>
        <p:xfrm>
          <a:off x="6175046" y="5542788"/>
          <a:ext cx="5389267" cy="1203960"/>
        </p:xfrm>
        <a:graphic>
          <a:graphicData uri="http://schemas.openxmlformats.org/drawingml/2006/table">
            <a:tbl>
              <a:tblPr/>
              <a:tblGrid>
                <a:gridCol w="587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(J=1,J'=0.4)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+3/2, +1/2, −1/2, −3/2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− 4J'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3A297860-CA20-BB7D-CC53-DBD5D8A49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7761"/>
              </p:ext>
            </p:extLst>
          </p:nvPr>
        </p:nvGraphicFramePr>
        <p:xfrm>
          <a:off x="498764" y="5542788"/>
          <a:ext cx="4605250" cy="1203960"/>
        </p:xfrm>
        <a:graphic>
          <a:graphicData uri="http://schemas.openxmlformats.org/drawingml/2006/table">
            <a:tbl>
              <a:tblPr/>
              <a:tblGrid>
                <a:gridCol w="849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2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 da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 0, 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 (costante)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CF0F13-CB84-B142-9213-F65E40667424}"/>
                  </a:ext>
                </a:extLst>
              </p:cNvPr>
              <p:cNvSpPr txBox="1"/>
              <p:nvPr/>
            </p:nvSpPr>
            <p:spPr>
              <a:xfrm>
                <a:off x="4962700" y="2577353"/>
                <a:ext cx="1596637" cy="2292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err="1"/>
                  <a:t>Attivando</a:t>
                </a:r>
                <a:r>
                  <a:rPr lang="en-US" sz="1100" dirty="0"/>
                  <a:t> il </a:t>
                </a:r>
                <a:r>
                  <a:rPr lang="en-US" sz="1100" dirty="0" err="1"/>
                  <a:t>termine</a:t>
                </a:r>
                <a:r>
                  <a:rPr lang="en-US" sz="1100" dirty="0"/>
                  <a:t> DM, il punto in cui </a:t>
                </a:r>
                <a:r>
                  <a:rPr lang="en-US" sz="1100" dirty="0" err="1"/>
                  <a:t>i</a:t>
                </a:r>
                <a:r>
                  <a:rPr lang="en-US" sz="1100" dirty="0"/>
                  <a:t> due </a:t>
                </a:r>
                <a:r>
                  <a:rPr lang="en-US" sz="1100" dirty="0" err="1"/>
                  <a:t>livelli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restano</a:t>
                </a:r>
                <a:r>
                  <a:rPr lang="en-US" sz="1100" dirty="0"/>
                  <a:t> </a:t>
                </a:r>
                <a:r>
                  <a:rPr lang="en-US" sz="1100" dirty="0" err="1"/>
                  <a:t>più</a:t>
                </a:r>
                <a:r>
                  <a:rPr lang="en-US" sz="1100" dirty="0"/>
                  <a:t> </a:t>
                </a:r>
                <a:r>
                  <a:rPr lang="en-US" sz="1100" dirty="0" err="1"/>
                  <a:t>vicini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fra</a:t>
                </a:r>
                <a:r>
                  <a:rPr lang="en-US" sz="1100" dirty="0"/>
                  <a:t> loro non coincide </a:t>
                </a:r>
                <a:r>
                  <a:rPr lang="en-US" sz="1100" dirty="0" err="1"/>
                  <a:t>esattamente</a:t>
                </a:r>
                <a:r>
                  <a:rPr lang="en-US" sz="1100" dirty="0"/>
                  <a:t> con il punto in cui </a:t>
                </a:r>
                <a:r>
                  <a:rPr lang="en-US" sz="1100" dirty="0" err="1"/>
                  <a:t>si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incrociavano</a:t>
                </a:r>
                <a:r>
                  <a:rPr lang="en-US" sz="1100" dirty="0"/>
                  <a:t> prima </a:t>
                </a:r>
                <a:r>
                  <a:rPr lang="en-US" sz="1100" dirty="0" err="1"/>
                  <a:t>che</a:t>
                </a:r>
                <a:r>
                  <a:rPr lang="en-US" sz="1100" dirty="0"/>
                  <a:t> il DM fosse </a:t>
                </a:r>
                <a:r>
                  <a:rPr lang="en-US" sz="1100" dirty="0" err="1"/>
                  <a:t>acceso</a:t>
                </a:r>
                <a:r>
                  <a:rPr lang="en-US" sz="1100" dirty="0"/>
                  <a:t> - </a:t>
                </a:r>
                <a:r>
                  <a:rPr lang="en-US" sz="1100" dirty="0" err="1"/>
                  <a:t>si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sposta</a:t>
                </a:r>
                <a:r>
                  <a:rPr lang="en-US" sz="1100" dirty="0"/>
                  <a:t> </a:t>
                </a:r>
                <a:r>
                  <a:rPr lang="en-US" sz="1100" dirty="0" err="1"/>
                  <a:t>leggermente</a:t>
                </a:r>
                <a:r>
                  <a:rPr lang="en-US" sz="1100" dirty="0"/>
                  <a:t>, in </a:t>
                </a:r>
                <a:r>
                  <a:rPr lang="en-US" sz="1100" dirty="0" err="1"/>
                  <a:t>entrambi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sistemi</a:t>
                </a:r>
                <a:r>
                  <a:rPr lang="en-US" sz="1100" dirty="0"/>
                  <a:t> (</a:t>
                </a:r>
                <a:r>
                  <a:rPr lang="en-US" sz="1100" dirty="0" err="1"/>
                  <a:t>dimero</a:t>
                </a:r>
                <a:r>
                  <a:rPr lang="en-US" sz="1100" dirty="0"/>
                  <a:t>: da </a:t>
                </a:r>
                <a14:m>
                  <m:oMath xmlns:m="http://schemas.openxmlformats.org/officeDocument/2006/math">
                    <m:r>
                      <a:rPr lang="en-US" sz="1100" i="1"/>
                      <m:t>𝑏</m:t>
                    </m:r>
                    <m:r>
                      <a:rPr lang="en-US" sz="1100"/>
                      <m:t>/</m:t>
                    </m:r>
                    <m:r>
                      <a:rPr lang="en-US" sz="1100" i="1"/>
                      <m:t>𝐽</m:t>
                    </m:r>
                    <m:r>
                      <a:rPr lang="en-US" sz="1100"/>
                      <m:t>=</m:t>
                    </m:r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2 a </a:t>
                </a:r>
                <a14:m>
                  <m:oMath xmlns:m="http://schemas.openxmlformats.org/officeDocument/2006/math">
                    <m:r>
                      <a:rPr lang="en-US" sz="1100"/>
                      <m:t>2.07</m:t>
                    </m:r>
                  </m:oMath>
                </a14:m>
                <a:r>
                  <a:rPr lang="en-US" sz="1100" dirty="0"/>
                  <a:t>; </a:t>
                </a:r>
                <a:r>
                  <a:rPr lang="en-US" sz="1100" dirty="0" err="1"/>
                  <a:t>trimero</a:t>
                </a:r>
                <a:r>
                  <a:rPr lang="en-US" sz="1100" dirty="0"/>
                  <a:t>: da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100"/>
                      <m:t>=2.4</m:t>
                    </m:r>
                  </m:oMath>
                </a14:m>
                <a:r>
                  <a:rPr lang="en-US" sz="1100" dirty="0"/>
                  <a:t> a </a:t>
                </a:r>
                <a14:m>
                  <m:oMath xmlns:m="http://schemas.openxmlformats.org/officeDocument/2006/math">
                    <m:r>
                      <a:rPr lang="en-US" sz="1100"/>
                      <m:t>2.41</m:t>
                    </m:r>
                  </m:oMath>
                </a14:m>
                <a:r>
                  <a:rPr lang="en-US" sz="1100" dirty="0"/>
                  <a:t>).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CF0F13-CB84-B142-9213-F65E40667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700" y="2577353"/>
                <a:ext cx="1596637" cy="2292935"/>
              </a:xfrm>
              <a:prstGeom prst="rect">
                <a:avLst/>
              </a:prstGeom>
              <a:blipFill>
                <a:blip r:embed="rId5"/>
                <a:stretch>
                  <a:fillRect t="-266" r="-1908"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179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23</cp:revision>
  <dcterms:created xsi:type="dcterms:W3CDTF">2026-09-14T17:34:23Z</dcterms:created>
  <dcterms:modified xsi:type="dcterms:W3CDTF">2026-09-17T17:04:40Z</dcterms:modified>
</cp:coreProperties>
</file>