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"/>
  </p:notesMasterIdLst>
  <p:sldIdLst>
    <p:sldId id="265" r:id="rId2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08" d="100"/>
          <a:sy n="108" d="100"/>
        </p:scale>
        <p:origin x="636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8856632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2E8C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INTRODUZIONE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13232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 err="1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Simulazione</a:t>
            </a:r>
            <a:r>
              <a:rPr lang="en-US" sz="380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3800" b="1" dirty="0" err="1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Dinamica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640080" y="1554480"/>
            <a:ext cx="10911535" cy="530352"/>
          </a:xfrm>
          <a:prstGeom prst="roundRect">
            <a:avLst>
              <a:gd name="adj" fmla="val 13793"/>
            </a:avLst>
          </a:prstGeom>
          <a:solidFill>
            <a:srgbClr val="F2F5F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 txBox="1"/>
          <p:nvPr/>
        </p:nvSpPr>
        <p:spPr>
          <a:xfrm>
            <a:off x="640080" y="1554480"/>
            <a:ext cx="1091153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100" b="1" dirty="0">
                <a:solidFill>
                  <a:srgbClr val="173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</a:t>
            </a:r>
            <a:r>
              <a:rPr lang="en-US" sz="2100" b="1" dirty="0" err="1">
                <a:solidFill>
                  <a:srgbClr val="173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Decomposizione</a:t>
            </a:r>
            <a:r>
              <a:rPr lang="en-US" sz="2100" b="1" dirty="0">
                <a:solidFill>
                  <a:srgbClr val="173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di Suzuki-Trotter</a:t>
            </a:r>
            <a:endParaRPr lang="en-US" sz="2100" dirty="0"/>
          </a:p>
        </p:txBody>
      </p:sp>
      <p:pic>
        <p:nvPicPr>
          <p:cNvPr id="12" name="Image 3" descr="/home/claude/deck/assets/preview_s6_breakout.png" hidden="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4023360"/>
            <a:ext cx="4572000" cy="2331720"/>
          </a:xfrm>
          <a:prstGeom prst="rect">
            <a:avLst/>
          </a:prstGeom>
        </p:spPr>
      </p:pic>
      <p:sp>
        <p:nvSpPr>
          <p:cNvPr id="13" name="Text 7" hidden="1"/>
          <p:cNvSpPr txBox="1"/>
          <p:nvPr/>
        </p:nvSpPr>
        <p:spPr>
          <a:xfrm>
            <a:off x="5486400" y="4023360"/>
            <a:ext cx="6062472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rotazioni Ry indipendenti rompono la conservazione di M — a partire da |10⟩ si copre l'intero spazio a 2 qubit (F = 1)</a:t>
            </a:r>
            <a:endParaRPr lang="en-US" sz="170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35B84FBB-B33B-65D0-4B60-4C7A3C4FD839}"/>
                  </a:ext>
                </a:extLst>
              </p:cNvPr>
              <p:cNvSpPr txBox="1"/>
              <p:nvPr/>
            </p:nvSpPr>
            <p:spPr>
              <a:xfrm>
                <a:off x="637337" y="2148840"/>
                <a:ext cx="10908792" cy="514275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400" dirty="0"/>
                  <a:t>Per </a:t>
                </a:r>
                <a:r>
                  <a:rPr lang="en-US" sz="1400" dirty="0" err="1"/>
                  <a:t>una</a:t>
                </a:r>
                <a:r>
                  <a:rPr lang="en-US" sz="1400" dirty="0"/>
                  <a:t> </a:t>
                </a:r>
                <a:r>
                  <a:rPr lang="en-US" sz="1400" dirty="0" err="1"/>
                  <a:t>Hamiltoniana</a:t>
                </a:r>
                <a:r>
                  <a:rPr lang="en-US" sz="1400" dirty="0"/>
                  <a:t> somma di </a:t>
                </a:r>
                <a:r>
                  <a:rPr lang="en-US" sz="1400" dirty="0" err="1"/>
                  <a:t>operatori</a:t>
                </a:r>
                <a:r>
                  <a:rPr lang="en-US" sz="1400" dirty="0"/>
                  <a:t> </a:t>
                </a:r>
                <a:r>
                  <a:rPr lang="en-US" sz="1400" dirty="0" err="1"/>
                  <a:t>locali</a:t>
                </a:r>
                <a:endParaRPr lang="en-US" sz="1400" dirty="0"/>
              </a:p>
              <a:p>
                <a:endParaRPr lang="en-US" sz="1400" dirty="0"/>
              </a:p>
              <a:p>
                <a:pPr algn="ctr"/>
                <a:r>
                  <a:rPr lang="en-US" sz="1400" dirty="0"/>
                  <a:t> </a:t>
                </a:r>
                <a14:m>
                  <m:oMath xmlns:m="http://schemas.openxmlformats.org/officeDocument/2006/math">
                    <m:r>
                      <a:rPr lang="en-US" sz="1400" i="1" dirty="0">
                        <a:latin typeface="Cambria Math" panose="02040503050406030204" pitchFamily="18" charset="0"/>
                      </a:rPr>
                      <m:t>𝐻</m:t>
                    </m:r>
                    <m:r>
                      <a:rPr lang="en-US" sz="1400" dirty="0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limLoc m:val="undOvr"/>
                        <m:supHide m:val="on"/>
                        <m:ctrlPr>
                          <a:rPr lang="en-US" sz="1400" i="1" dirty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1400" i="1" dirty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en-US" sz="14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i="1" dirty="0">
                                <a:latin typeface="Cambria Math" panose="02040503050406030204" pitchFamily="18" charset="0"/>
                              </a:rPr>
                              <m:t>𝐻</m:t>
                            </m:r>
                          </m:e>
                          <m:sub>
                            <m:r>
                              <a:rPr lang="en-US" sz="1400" i="1" dirty="0"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</m:e>
                    </m:nary>
                  </m:oMath>
                </a14:m>
                <a:endParaRPr lang="en-US" sz="1400" dirty="0"/>
              </a:p>
              <a:p>
                <a:pPr algn="ctr"/>
                <a:endParaRPr lang="en-US" sz="1400" dirty="0"/>
              </a:p>
              <a:p>
                <a:r>
                  <a:rPr lang="en-US" sz="1400" dirty="0"/>
                  <a:t>in generale </a:t>
                </a:r>
                <a:r>
                  <a:rPr lang="en-US" sz="1400" dirty="0" err="1"/>
                  <a:t>i</a:t>
                </a:r>
                <a:r>
                  <a:rPr lang="en-US" sz="1400" dirty="0"/>
                  <a:t> </a:t>
                </a:r>
                <a:r>
                  <a:rPr lang="en-US" sz="1400" dirty="0" err="1"/>
                  <a:t>singoli</a:t>
                </a:r>
                <a:r>
                  <a:rPr lang="en-US" sz="1400" dirty="0"/>
                  <a:t> termini </a:t>
                </a:r>
                <a:r>
                  <a:rPr lang="en-US" sz="1400" b="1" dirty="0"/>
                  <a:t>non </a:t>
                </a:r>
                <a:r>
                  <a:rPr lang="en-US" sz="1400" b="1" dirty="0" err="1"/>
                  <a:t>commutano</a:t>
                </a:r>
                <a:r>
                  <a:rPr lang="en-US" sz="1400" dirty="0"/>
                  <a:t>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14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d>
                          <m:dPr>
                            <m:begChr m:val="["/>
                            <m:endChr m:val="]"/>
                            <m:ctrlPr>
                              <a:rPr lang="en-US" sz="14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1400" i="1" dirty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400" i="1" dirty="0">
                                    <a:latin typeface="Cambria Math" panose="02040503050406030204" pitchFamily="18" charset="0"/>
                                  </a:rPr>
                                  <m:t>𝐻</m:t>
                                </m:r>
                              </m:e>
                              <m:sub>
                                <m:r>
                                  <a:rPr lang="en-US" sz="1400" i="1" dirty="0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  <m:r>
                              <a:rPr lang="en-US" sz="1400" i="0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en-US" sz="1400" i="1" dirty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400" i="1" dirty="0">
                                    <a:latin typeface="Cambria Math" panose="02040503050406030204" pitchFamily="18" charset="0"/>
                                  </a:rPr>
                                  <m:t>𝐻</m:t>
                                </m:r>
                              </m:e>
                              <m:sub>
                                <m:r>
                                  <a:rPr lang="en-US" sz="1400" i="1" dirty="0">
                                    <a:latin typeface="Cambria Math" panose="02040503050406030204" pitchFamily="18" charset="0"/>
                                  </a:rPr>
                                  <m:t>𝑗</m:t>
                                </m:r>
                              </m:sub>
                            </m:sSub>
                          </m:e>
                        </m:d>
                        <m:r>
                          <a:rPr lang="en-US" sz="1400" i="0" dirty="0">
                            <a:latin typeface="Cambria Math" panose="02040503050406030204" pitchFamily="18" charset="0"/>
                          </a:rPr>
                          <m:t>≠0</m:t>
                        </m:r>
                      </m:e>
                    </m:d>
                  </m:oMath>
                </a14:m>
                <a:r>
                  <a:rPr lang="en-US" sz="1400" dirty="0"/>
                  <a:t>, </a:t>
                </a:r>
                <a:r>
                  <a:rPr lang="en-US" sz="1400" dirty="0" err="1"/>
                  <a:t>l'esponenziale</a:t>
                </a:r>
                <a:r>
                  <a:rPr lang="en-US" sz="1400" dirty="0"/>
                  <a:t> della somma </a:t>
                </a:r>
                <a:r>
                  <a:rPr lang="en-US" sz="1400" b="1" dirty="0"/>
                  <a:t>non è</a:t>
                </a:r>
                <a:r>
                  <a:rPr lang="en-US" sz="1400" dirty="0"/>
                  <a:t> il </a:t>
                </a:r>
                <a:r>
                  <a:rPr lang="en-US" sz="1400" dirty="0" err="1"/>
                  <a:t>prodotto</a:t>
                </a:r>
                <a:r>
                  <a:rPr lang="en-US" sz="1400" dirty="0"/>
                  <a:t> degli </a:t>
                </a:r>
                <a:r>
                  <a:rPr lang="en-US" sz="1400" dirty="0" err="1"/>
                  <a:t>esponenziali</a:t>
                </a:r>
                <a:r>
                  <a:rPr lang="en-US" sz="1400" dirty="0"/>
                  <a:t> </a:t>
                </a:r>
              </a:p>
              <a:p>
                <a:br>
                  <a:rPr lang="en-US" sz="1400" dirty="0"/>
                </a:br>
                <a14:m>
                  <m:oMathPara xmlns:m="http://schemas.openxmlformats.org/officeDocument/2006/math">
                    <m:oMath>
                      <m:sSup>
                        <m:sSupPr>
                          <m:ctrlPr>
                            <a:rPr lang="en-US" sz="1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400" i="1" dirty="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US" sz="1400" i="0" dirty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1400" i="1" dirty="0">
                              <a:latin typeface="Cambria Math" panose="02040503050406030204" pitchFamily="18" charset="0"/>
                            </a:rPr>
                            <m:t>𝑖</m:t>
                          </m:r>
                          <m:d>
                            <m:dPr>
                              <m:ctrlPr>
                                <a:rPr lang="en-US" sz="14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nary>
                                <m:naryPr>
                                  <m:chr m:val="∑"/>
                                  <m:limLoc m:val="undOvr"/>
                                  <m:supHide m:val="on"/>
                                  <m:ctrlPr>
                                    <a:rPr lang="en-US" sz="14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naryPr>
                                <m:sub>
                                  <m:r>
                                    <a:rPr lang="en-US" sz="1400" i="1" dirty="0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  <m:sup/>
                                <m:e>
                                  <m:sSub>
                                    <m:sSubPr>
                                      <m:ctrlPr>
                                        <a:rPr lang="en-US" sz="14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400" i="1" dirty="0">
                                          <a:latin typeface="Cambria Math" panose="02040503050406030204" pitchFamily="18" charset="0"/>
                                        </a:rPr>
                                        <m:t>𝐻</m:t>
                                      </m:r>
                                    </m:e>
                                    <m:sub>
                                      <m:r>
                                        <a:rPr lang="en-US" sz="1400" i="1" dirty="0">
                                          <a:latin typeface="Cambria Math" panose="02040503050406030204" pitchFamily="18" charset="0"/>
                                        </a:rPr>
                                        <m:t>𝑗</m:t>
                                      </m:r>
                                    </m:sub>
                                  </m:sSub>
                                </m:e>
                              </m:nary>
                            </m:e>
                          </m:d>
                          <m:r>
                            <a:rPr lang="en-US" sz="1400" i="1" dirty="0">
                              <a:latin typeface="Cambria Math" panose="02040503050406030204" pitchFamily="18" charset="0"/>
                            </a:rPr>
                            <m:t>𝑡</m:t>
                          </m:r>
                        </m:sup>
                      </m:sSup>
                      <m:r>
                        <a:rPr lang="en-US" sz="1400" i="0" dirty="0">
                          <a:latin typeface="Cambria Math" panose="02040503050406030204" pitchFamily="18" charset="0"/>
                        </a:rPr>
                        <m:t>≠</m:t>
                      </m:r>
                      <m:nary>
                        <m:naryPr>
                          <m:chr m:val="∏"/>
                          <m:limLoc m:val="undOvr"/>
                          <m:supHide m:val="on"/>
                          <m:ctrlPr>
                            <a:rPr lang="en-US" sz="1400" i="1" dirty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1400" i="1" dirty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/>
                        <m:e>
                          <m:sSup>
                            <m:sSupPr>
                              <m:ctrlPr>
                                <a:rPr lang="en-US" sz="1400" i="1" dirty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400" i="1" dirty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en-US" sz="1400" i="0" dirty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sz="1400" i="1" dirty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sSub>
                                <m:sSubPr>
                                  <m:ctrlPr>
                                    <a:rPr lang="en-US" sz="14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400" i="1" dirty="0">
                                      <a:latin typeface="Cambria Math" panose="02040503050406030204" pitchFamily="18" charset="0"/>
                                    </a:rPr>
                                    <m:t>𝐻</m:t>
                                  </m:r>
                                </m:e>
                                <m:sub>
                                  <m:r>
                                    <a:rPr lang="en-US" sz="1400" i="1" dirty="0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</m:sSub>
                              <m:r>
                                <a:rPr lang="en-US" sz="1400" i="1" dirty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p>
                          </m:sSup>
                        </m:e>
                      </m:nary>
                    </m:oMath>
                  </m:oMathPara>
                </a14:m>
                <a:endParaRPr lang="en-US" sz="1400" dirty="0"/>
              </a:p>
              <a:p>
                <a:endParaRPr lang="en-US" sz="1400" dirty="0"/>
              </a:p>
              <a:p>
                <a:r>
                  <a:rPr lang="en-US" sz="1400" dirty="0"/>
                  <a:t>Per </a:t>
                </a:r>
                <a:r>
                  <a:rPr lang="en-US" sz="1400" dirty="0" err="1"/>
                  <a:t>mappare</a:t>
                </a:r>
                <a:r>
                  <a:rPr lang="en-US" sz="1400" dirty="0"/>
                  <a:t> </a:t>
                </a:r>
                <a:r>
                  <a:rPr lang="en-US" sz="1400" dirty="0" err="1"/>
                  <a:t>questa</a:t>
                </a:r>
                <a:r>
                  <a:rPr lang="en-US" sz="1400" dirty="0"/>
                  <a:t> </a:t>
                </a:r>
                <a:r>
                  <a:rPr lang="en-US" sz="1400" dirty="0" err="1"/>
                  <a:t>evoluzione</a:t>
                </a:r>
                <a:r>
                  <a:rPr lang="en-US" sz="1400" dirty="0"/>
                  <a:t> </a:t>
                </a:r>
                <a:r>
                  <a:rPr lang="en-US" sz="1400" dirty="0" err="1"/>
                  <a:t>su</a:t>
                </a:r>
                <a:r>
                  <a:rPr lang="en-US" sz="1400" dirty="0"/>
                  <a:t> </a:t>
                </a:r>
                <a:r>
                  <a:rPr lang="en-US" sz="1400" dirty="0" err="1"/>
                  <a:t>porte</a:t>
                </a:r>
                <a:r>
                  <a:rPr lang="en-US" sz="1400" dirty="0"/>
                  <a:t> </a:t>
                </a:r>
                <a:r>
                  <a:rPr lang="en-US" sz="1400" dirty="0" err="1"/>
                  <a:t>quantistiche</a:t>
                </a:r>
                <a:r>
                  <a:rPr lang="en-US" sz="1400" dirty="0"/>
                  <a:t> </a:t>
                </a:r>
                <a:r>
                  <a:rPr lang="en-US" sz="1400" dirty="0" err="1"/>
                  <a:t>logiche</a:t>
                </a:r>
                <a:r>
                  <a:rPr lang="en-US" sz="1400" dirty="0"/>
                  <a:t>, </a:t>
                </a:r>
                <a:r>
                  <a:rPr lang="en-US" sz="1400" dirty="0" err="1"/>
                  <a:t>si</a:t>
                </a:r>
                <a:r>
                  <a:rPr lang="en-US" sz="1400" dirty="0"/>
                  <a:t> divide il tempo </a:t>
                </a:r>
                <a:r>
                  <a:rPr lang="en-US" sz="1400" dirty="0" err="1"/>
                  <a:t>totale</a:t>
                </a:r>
                <a:r>
                  <a:rPr lang="en-US" sz="1400" dirty="0"/>
                  <a:t> t in r </a:t>
                </a:r>
                <a:r>
                  <a:rPr lang="en-US" sz="1400" dirty="0" err="1"/>
                  <a:t>piccoli</a:t>
                </a:r>
                <a:r>
                  <a:rPr lang="en-US" sz="1400" dirty="0"/>
                  <a:t> intervalli </a:t>
                </a:r>
                <a:r>
                  <a:rPr lang="en-US" sz="1400" dirty="0" err="1"/>
                  <a:t>temporali</a:t>
                </a:r>
                <a:r>
                  <a:rPr lang="en-US" sz="1400" dirty="0"/>
                  <a:t> </a:t>
                </a:r>
                <a14:m>
                  <m:oMath xmlns:m="http://schemas.openxmlformats.org/officeDocument/2006/math">
                    <m:r>
                      <a:rPr lang="en-US" sz="1400" i="1" dirty="0" smtClean="0">
                        <a:latin typeface="Cambria Math" panose="02040503050406030204" pitchFamily="18" charset="0"/>
                      </a:rPr>
                      <m:t>𝛥</m:t>
                    </m:r>
                    <m:r>
                      <a:rPr lang="en-US" sz="1400" i="1" dirty="0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sz="1400" i="0" dirty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400" i="1" dirty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sz="1400" i="0" dirty="0">
                        <a:latin typeface="Cambria Math" panose="02040503050406030204" pitchFamily="18" charset="0"/>
                      </a:rPr>
                      <m:t>/</m:t>
                    </m:r>
                    <m:r>
                      <a:rPr lang="en-US" sz="1400" i="1" dirty="0"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lang="en-US" sz="1400" dirty="0"/>
                  <a:t>. Sotto </a:t>
                </a:r>
                <a:r>
                  <a:rPr lang="en-US" sz="1400" dirty="0" err="1"/>
                  <a:t>l'ipotesi</a:t>
                </a:r>
                <a:r>
                  <a:rPr lang="en-US" sz="1400" dirty="0"/>
                  <a:t> di </a:t>
                </a:r>
                <a14:m>
                  <m:oMath xmlns:m="http://schemas.openxmlformats.org/officeDocument/2006/math">
                    <m:r>
                      <a:rPr lang="en-US" sz="1400" i="1" dirty="0" smtClean="0">
                        <a:latin typeface="Cambria Math" panose="02040503050406030204" pitchFamily="18" charset="0"/>
                      </a:rPr>
                      <m:t>𝛥</m:t>
                    </m:r>
                    <m:r>
                      <a:rPr lang="en-US" sz="1400" i="1" dirty="0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sz="1400" i="0" dirty="0">
                        <a:latin typeface="Cambria Math" panose="02040503050406030204" pitchFamily="18" charset="0"/>
                      </a:rPr>
                      <m:t>→0</m:t>
                    </m:r>
                    <m:r>
                      <a:rPr lang="en-US" sz="1400" b="0" i="1" dirty="0" smtClean="0">
                        <a:latin typeface="Cambria Math" panose="02040503050406030204" pitchFamily="18" charset="0"/>
                      </a:rPr>
                      <m:t> </m:t>
                    </m:r>
                    <m:d>
                      <m:dPr>
                        <m:ctrlPr>
                          <a:rPr lang="en-US" sz="14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400" i="1" dirty="0">
                            <a:latin typeface="Cambria Math" panose="02040503050406030204" pitchFamily="18" charset="0"/>
                          </a:rPr>
                          <m:t>𝑜𝑣𝑣𝑒𝑟</m:t>
                        </m:r>
                        <m:r>
                          <m:rPr>
                            <m:sty m:val="p"/>
                          </m:rPr>
                          <a:rPr lang="en-US" sz="1400" b="0" i="1" dirty="0" smtClean="0">
                            <a:latin typeface="Cambria Math" panose="02040503050406030204" pitchFamily="18" charset="0"/>
                          </a:rPr>
                          <m:t>o</m:t>
                        </m:r>
                        <m:r>
                          <a:rPr lang="en-US" sz="1400" i="0" dirty="0">
                            <a:latin typeface="Cambria Math" panose="02040503050406030204" pitchFamily="18" charset="0"/>
                          </a:rPr>
                          <m:t>→∞</m:t>
                        </m:r>
                      </m:e>
                    </m:d>
                  </m:oMath>
                </a14:m>
                <a:r>
                  <a:rPr lang="en-US" sz="1400" dirty="0"/>
                  <a:t>, </a:t>
                </a:r>
                <a:r>
                  <a:rPr lang="en-US" sz="1400" dirty="0" err="1"/>
                  <a:t>si</a:t>
                </a:r>
                <a:r>
                  <a:rPr lang="en-US" sz="1400" dirty="0"/>
                  <a:t> </a:t>
                </a:r>
                <a:r>
                  <a:rPr lang="en-US" sz="1400" dirty="0" err="1"/>
                  <a:t>applica</a:t>
                </a:r>
                <a:r>
                  <a:rPr lang="en-US" sz="1400" dirty="0"/>
                  <a:t> la </a:t>
                </a:r>
                <a:r>
                  <a:rPr lang="en-US" sz="1400" b="1" dirty="0"/>
                  <a:t>formula Totter</a:t>
                </a:r>
                <a:endParaRPr lang="en-US" sz="1400" dirty="0"/>
              </a:p>
              <a:p>
                <a:br>
                  <a:rPr lang="en-US" sz="1400" dirty="0"/>
                </a:br>
                <a14:m>
                  <m:oMathPara xmlns:m="http://schemas.openxmlformats.org/officeDocument/2006/math">
                    <m:oMath>
                      <m:sSup>
                        <m:sSupPr>
                          <m:ctrlPr>
                            <a:rPr lang="en-US" sz="1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400" i="1" dirty="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US" sz="1400" i="0" dirty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1400" i="1" dirty="0">
                              <a:latin typeface="Cambria Math" panose="02040503050406030204" pitchFamily="18" charset="0"/>
                            </a:rPr>
                            <m:t>𝑖𝐻𝑡</m:t>
                          </m:r>
                        </m:sup>
                      </m:sSup>
                      <m:r>
                        <a:rPr lang="en-US" sz="1400" i="0" dirty="0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sz="1400" i="1" dirty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sz="1400" i="0" dirty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sz="1400" i="0" dirty="0">
                                  <a:latin typeface="Cambria Math" panose="02040503050406030204" pitchFamily="18" charset="0"/>
                                </a:rPr>
                                <m:t>lim</m:t>
                              </m:r>
                            </m:e>
                            <m:lim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  <m:r>
                                <a:rPr lang="en-US" sz="1400" i="0" dirty="0">
                                  <a:latin typeface="Cambria Math" panose="02040503050406030204" pitchFamily="18" charset="0"/>
                                </a:rPr>
                                <m:t>→∞</m:t>
                              </m:r>
                            </m:lim>
                          </m:limLow>
                        </m:fName>
                        <m:e>
                          <m:sSup>
                            <m:sSupPr>
                              <m:ctrlPr>
                                <a:rPr lang="en-US" sz="1400" i="1" dirty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sz="14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nary>
                                    <m:naryPr>
                                      <m:chr m:val="∏"/>
                                      <m:limLoc m:val="undOvr"/>
                                      <m:supHide m:val="on"/>
                                      <m:ctrlPr>
                                        <a:rPr lang="en-US" sz="14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naryPr>
                                    <m:sub>
                                      <m:r>
                                        <a:rPr lang="en-US" sz="1400" i="1" dirty="0">
                                          <a:latin typeface="Cambria Math" panose="02040503050406030204" pitchFamily="18" charset="0"/>
                                        </a:rPr>
                                        <m:t>𝑗</m:t>
                                      </m:r>
                                    </m:sub>
                                    <m:sup/>
                                    <m:e>
                                      <m:sSup>
                                        <m:sSupPr>
                                          <m:ctrlPr>
                                            <a:rPr lang="en-US" sz="1400" i="1" dirty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r>
                                            <a:rPr lang="en-US" sz="1400" i="1" dirty="0">
                                              <a:latin typeface="Cambria Math" panose="02040503050406030204" pitchFamily="18" charset="0"/>
                                            </a:rPr>
                                            <m:t>𝑒</m:t>
                                          </m:r>
                                        </m:e>
                                        <m:sup>
                                          <m:r>
                                            <a:rPr lang="en-US" sz="1400" i="0" dirty="0">
                                              <a:latin typeface="Cambria Math" panose="02040503050406030204" pitchFamily="18" charset="0"/>
                                            </a:rPr>
                                            <m:t>−</m:t>
                                          </m:r>
                                          <m:r>
                                            <a:rPr lang="en-US" sz="1400" i="1" dirty="0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  <m:sSub>
                                            <m:sSubPr>
                                              <m:ctrlPr>
                                                <a:rPr lang="en-US" sz="1400" i="1" dirty="0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sz="1400" i="1" dirty="0">
                                                  <a:latin typeface="Cambria Math" panose="02040503050406030204" pitchFamily="18" charset="0"/>
                                                </a:rPr>
                                                <m:t>𝐻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sz="1400" i="1" dirty="0">
                                                  <a:latin typeface="Cambria Math" panose="02040503050406030204" pitchFamily="18" charset="0"/>
                                                </a:rPr>
                                                <m:t>𝑗</m:t>
                                              </m:r>
                                            </m:sub>
                                          </m:sSub>
                                          <m:f>
                                            <m:fPr>
                                              <m:ctrlPr>
                                                <a:rPr lang="en-US" sz="1400" i="1" dirty="0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fPr>
                                            <m:num>
                                              <m:r>
                                                <a:rPr lang="en-US" sz="1400" i="1" dirty="0">
                                                  <a:latin typeface="Cambria Math" panose="02040503050406030204" pitchFamily="18" charset="0"/>
                                                </a:rPr>
                                                <m:t>𝑡</m:t>
                                              </m:r>
                                            </m:num>
                                            <m:den>
                                              <m:r>
                                                <a:rPr lang="en-US" sz="1400" i="1">
                                                  <a:latin typeface="Cambria Math" panose="02040503050406030204" pitchFamily="18" charset="0"/>
                                                </a:rPr>
                                                <m:t>𝑁</m:t>
                                              </m:r>
                                            </m:den>
                                          </m:f>
                                        </m:sup>
                                      </m:sSup>
                                    </m:e>
                                  </m:nary>
                                </m:e>
                              </m:d>
                            </m:e>
                            <m:sup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sup>
                          </m:sSup>
                        </m:e>
                      </m:func>
                    </m:oMath>
                  </m:oMathPara>
                </a14:m>
                <a:endParaRPr lang="en-US" sz="1400" dirty="0"/>
              </a:p>
              <a:p>
                <a:endParaRPr lang="en-US" sz="1400" dirty="0"/>
              </a:p>
              <a:p>
                <a:r>
                  <a:rPr lang="en-US" sz="1400" dirty="0"/>
                  <a:t>Per un </a:t>
                </a:r>
                <a:r>
                  <a:rPr lang="en-US" sz="1400" dirty="0" err="1"/>
                  <a:t>numero</a:t>
                </a:r>
                <a:r>
                  <a:rPr lang="en-US" sz="1400" dirty="0"/>
                  <a:t> di step </a:t>
                </a:r>
                <a14:m>
                  <m:oMath xmlns:m="http://schemas.openxmlformats.org/officeDocument/2006/math">
                    <m:r>
                      <a:rPr lang="en-US" sz="1400" i="1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en-US" sz="1400" dirty="0"/>
                  <a:t> finito, </a:t>
                </a:r>
                <a:r>
                  <a:rPr lang="en-US" sz="1400" dirty="0" err="1"/>
                  <a:t>l'approssimazione</a:t>
                </a:r>
                <a:r>
                  <a:rPr lang="en-US" sz="1400" dirty="0"/>
                  <a:t> al primo </a:t>
                </a:r>
                <a:r>
                  <a:rPr lang="en-US" sz="1400" dirty="0" err="1"/>
                  <a:t>ordine</a:t>
                </a:r>
                <a:r>
                  <a:rPr lang="en-US" sz="1400" dirty="0"/>
                  <a:t> introduce un </a:t>
                </a:r>
                <a:r>
                  <a:rPr lang="en-US" sz="1400" dirty="0" err="1"/>
                  <a:t>errore</a:t>
                </a:r>
                <a:r>
                  <a:rPr lang="en-US" sz="1400" dirty="0"/>
                  <a:t> </a:t>
                </a:r>
                <a:r>
                  <a:rPr lang="en-US" sz="1400" dirty="0" err="1"/>
                  <a:t>controllabile</a:t>
                </a:r>
                <a:r>
                  <a:rPr lang="en-US" sz="1400" dirty="0"/>
                  <a:t> (</a:t>
                </a:r>
                <a:r>
                  <a:rPr lang="en-US" sz="1400" dirty="0" err="1"/>
                  <a:t>errore</a:t>
                </a:r>
                <a:r>
                  <a:rPr lang="en-US" sz="1400" dirty="0"/>
                  <a:t> di Trotter) legato ai </a:t>
                </a:r>
                <a:r>
                  <a:rPr lang="en-US" sz="1400" dirty="0" err="1"/>
                  <a:t>commutatori</a:t>
                </a:r>
                <a:endParaRPr lang="en-US" sz="1400" dirty="0"/>
              </a:p>
              <a:p>
                <a:endParaRPr lang="en-US" sz="1400" dirty="0"/>
              </a:p>
              <a:p>
                <a:pPr/>
                <a14:m>
                  <m:oMathPara xmlns:m="http://schemas.openxmlformats.org/officeDocument/2006/math">
                    <m:oMath>
                      <m:r>
                        <a:rPr lang="en-US" sz="1400" i="1">
                          <a:latin typeface="Cambria Math" panose="02040503050406030204" pitchFamily="18" charset="0"/>
                        </a:rPr>
                        <m:t>𝑈</m:t>
                      </m:r>
                      <m:d>
                        <m:d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sz="1400" i="1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US" sz="140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𝑖𝐻</m:t>
                          </m:r>
                          <m:r>
                            <m:rPr>
                              <m:sty m:val="p"/>
                            </m:rPr>
                            <a:rPr lang="en-US" sz="1400" i="1">
                              <a:latin typeface="Cambria Math" panose="02040503050406030204" pitchFamily="18" charset="0"/>
                            </a:rPr>
                            <m:t>t</m:t>
                          </m:r>
                        </m:sup>
                      </m:sSup>
                      <m:r>
                        <a:rPr lang="en-US" sz="1400">
                          <a:latin typeface="Cambria Math" panose="02040503050406030204" pitchFamily="18" charset="0"/>
                        </a:rPr>
                        <m:t>≈</m:t>
                      </m:r>
                      <m:sSup>
                        <m:sSup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sz="1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sz="14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1400" i="1">
                                      <a:latin typeface="Cambria Math" panose="02040503050406030204" pitchFamily="18" charset="0"/>
                                    </a:rPr>
                                    <m:t>𝑒</m:t>
                                  </m:r>
                                </m:e>
                                <m:sup>
                                  <m:r>
                                    <a:rPr lang="en-US" sz="140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sz="14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  <m:sSub>
                                    <m:sSubPr>
                                      <m:ctrlPr>
                                        <a:rPr lang="en-US" sz="1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400" i="1">
                                          <a:latin typeface="Cambria Math" panose="02040503050406030204" pitchFamily="18" charset="0"/>
                                        </a:rPr>
                                        <m:t>𝐻</m:t>
                                      </m:r>
                                    </m:e>
                                    <m:sub>
                                      <m:r>
                                        <a:rPr lang="en-US" sz="1400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  <m:r>
                                    <a:rPr lang="en-US" sz="1400" i="1">
                                      <a:latin typeface="Cambria Math" panose="02040503050406030204" pitchFamily="18" charset="0"/>
                                    </a:rPr>
                                    <m:t>𝜏</m:t>
                                  </m:r>
                                </m:sup>
                              </m:sSup>
                              <m:sSup>
                                <m:sSupPr>
                                  <m:ctrlPr>
                                    <a:rPr lang="en-US" sz="14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1400" i="1">
                                      <a:latin typeface="Cambria Math" panose="02040503050406030204" pitchFamily="18" charset="0"/>
                                    </a:rPr>
                                    <m:t>𝑒</m:t>
                                  </m:r>
                                </m:e>
                                <m:sup>
                                  <m:r>
                                    <a:rPr lang="en-US" sz="140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sz="14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  <m:sSub>
                                    <m:sSubPr>
                                      <m:ctrlPr>
                                        <a:rPr lang="en-US" sz="1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400" i="1">
                                          <a:latin typeface="Cambria Math" panose="02040503050406030204" pitchFamily="18" charset="0"/>
                                        </a:rPr>
                                        <m:t>𝐻</m:t>
                                      </m:r>
                                    </m:e>
                                    <m:sub>
                                      <m:r>
                                        <a:rPr lang="en-US" sz="140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b>
                                  </m:sSub>
                                  <m:r>
                                    <a:rPr lang="en-US" sz="1400" i="1">
                                      <a:latin typeface="Cambria Math" panose="02040503050406030204" pitchFamily="18" charset="0"/>
                                    </a:rPr>
                                    <m:t>𝜏</m:t>
                                  </m:r>
                                </m:sup>
                              </m:sSup>
                            </m:e>
                          </m:d>
                        </m:e>
                        <m:sup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</m:sSup>
                      <m:r>
                        <a:rPr lang="en-US" sz="1400" dirty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1400" dirty="0">
                          <a:latin typeface="Cambria Math" panose="02040503050406030204" pitchFamily="18" charset="0"/>
                        </a:rPr>
                        <m:t>𝒪</m:t>
                      </m:r>
                      <m:d>
                        <m:dPr>
                          <m:ctrlPr>
                            <a:rPr lang="en-US" sz="14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sz="1400" i="1" dirty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p>
                                <m:sSupPr>
                                  <m:ctrlPr>
                                    <a:rPr lang="en-US" sz="14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1400" i="1" dirty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  <m:sup>
                                  <m:r>
                                    <a:rPr lang="en-US" sz="1400" dirty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num>
                            <m:den>
                              <m:r>
                                <a:rPr lang="en-US" sz="1400" i="1" dirty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den>
                          </m:f>
                        </m:e>
                      </m:d>
                      <m:r>
                        <a:rPr lang="en-US" sz="1400"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en-US" sz="1400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1400" i="1">
                          <a:latin typeface="Cambria Math" panose="02040503050406030204" pitchFamily="18" charset="0"/>
                        </a:rPr>
                        <m:t>𝜏</m:t>
                      </m:r>
                      <m:r>
                        <a:rPr lang="en-US" sz="140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1400" i="1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US" sz="1400">
                          <a:latin typeface="Cambria Math" panose="02040503050406030204" pitchFamily="18" charset="0"/>
                        </a:rPr>
                        <m:t>/</m:t>
                      </m:r>
                      <m:r>
                        <a:rPr lang="en-US" sz="1400" i="1">
                          <a:latin typeface="Cambria Math" panose="02040503050406030204" pitchFamily="18" charset="0"/>
                        </a:rPr>
                        <m:t>𝑁</m:t>
                      </m:r>
                    </m:oMath>
                  </m:oMathPara>
                </a14:m>
                <a:endParaRPr lang="en-US" sz="1400" dirty="0"/>
              </a:p>
              <a:p>
                <a:endParaRPr lang="en-US" sz="1400" dirty="0"/>
              </a:p>
              <a:p>
                <a:endParaRPr lang="en-US" sz="1400" dirty="0"/>
              </a:p>
            </p:txBody>
          </p:sp>
        </mc:Choice>
        <mc:Fallback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35B84FBB-B33B-65D0-4B60-4C7A3C4FD83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7337" y="2148840"/>
                <a:ext cx="10908792" cy="5142755"/>
              </a:xfrm>
              <a:prstGeom prst="rect">
                <a:avLst/>
              </a:prstGeom>
              <a:blipFill>
                <a:blip r:embed="rId4"/>
                <a:stretch>
                  <a:fillRect l="-168" t="-2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115</TotalTime>
  <Words>151</Words>
  <Application>Microsoft Office PowerPoint</Application>
  <PresentationFormat>Widescreen</PresentationFormat>
  <Paragraphs>18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Arial</vt:lpstr>
      <vt:lpstr>Calibri</vt:lpstr>
      <vt:lpstr>Cambria Math</vt:lpstr>
      <vt:lpstr>Office Theme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Quantum simulation of molecular spin systems on quantum hardware</dc:title>
  <dc:subject>PptxGenJS Presentation</dc:subject>
  <dc:creator>Samuele Schiavi</dc:creator>
  <cp:lastModifiedBy>Samuele SCHIAVI</cp:lastModifiedBy>
  <cp:revision>19</cp:revision>
  <dcterms:created xsi:type="dcterms:W3CDTF">2026-09-14T14:04:34Z</dcterms:created>
  <dcterms:modified xsi:type="dcterms:W3CDTF">2026-09-16T15:23:25Z</dcterms:modified>
</cp:coreProperties>
</file>