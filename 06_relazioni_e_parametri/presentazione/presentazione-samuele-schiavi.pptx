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4" r:id="rId3"/>
    <p:sldId id="271" r:id="rId4"/>
    <p:sldId id="288" r:id="rId5"/>
    <p:sldId id="289" r:id="rId6"/>
    <p:sldId id="276" r:id="rId7"/>
    <p:sldId id="277" r:id="rId8"/>
    <p:sldId id="290" r:id="rId9"/>
    <p:sldId id="278" r:id="rId10"/>
    <p:sldId id="292" r:id="rId11"/>
    <p:sldId id="286" r:id="rId12"/>
    <p:sldId id="282" r:id="rId13"/>
    <p:sldId id="287" r:id="rId14"/>
    <p:sldId id="294" r:id="rId15"/>
    <p:sldId id="296" r:id="rId16"/>
    <p:sldId id="293" r:id="rId17"/>
    <p:sldId id="295" r:id="rId18"/>
  </p:sldIdLst>
  <p:sldSz cx="12192000" cy="6858000"/>
  <p:notesSz cx="7315200" cy="960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6B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52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2121E-5795-163E-306A-637981369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7E38E7-A43F-1C35-AF4F-29D94F1D1C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0C0133-68CB-E8A4-FF8B-6C5E687D3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A868C-1502-8C2A-EFFA-B0C038A197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1112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1F0BF-2509-09C4-49D3-FACFDF7F2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EF64B1-5BF1-7872-B043-E7A302F8DB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29ACDA-B859-5B1D-E137-1DBD0B373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73C2C-9B2A-CE87-1726-A06E895416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032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8B9D0-7A38-0C88-389A-996CCC8CD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0F27F-91AF-CBF8-1121-F7BCA345B1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015D83-7455-F9D7-AD33-F0AA068B7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08485-DE82-C7F6-B56A-87EB25FC1F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8010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601FF-3ED6-6FC6-1306-744F19D35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427FA-58E9-F237-1163-67743CEE9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B87BFF-C051-3F58-10BD-B8D49B8C4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3E172-C8AE-D416-08EC-49290C064E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014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822960" y="1874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4F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 DI LAUREA TRIENNALE IN FISICA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simulation of molecular spin systems on quantum hardware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92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Samuele Schiavi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Relatore: Prof. Alessandro Chiesa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26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Parma  —  Corso di Laurea in Fisica</a:t>
            </a:r>
            <a:endParaRPr lang="en-US" sz="13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9F5F2E-936A-C9B2-9AFA-42B5F9070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460" y="342900"/>
            <a:ext cx="1564919" cy="14173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3014121" y="1640591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molecolari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spin ½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accoppiati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costuiscono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privilegiate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studio di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fenomeni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quantistici</a:t>
            </a:r>
            <a:endParaRPr lang="en-US" sz="1600" dirty="0">
              <a:solidFill>
                <a:srgbClr val="1623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3014120" y="3855515"/>
            <a:ext cx="2514911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computer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mappando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ciascuno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spin ½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direttamente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qubit,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aggirare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</a:t>
            </a:r>
            <a:endParaRPr lang="en-US" sz="1600" b="0" dirty="0">
              <a:solidFill>
                <a:srgbClr val="1623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buSzPct val="100000"/>
            </a:pP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9159087" y="3868893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effciente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delle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proprietà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statiche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fondamentale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dinamiche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eccitati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di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quantistici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interagenti</a:t>
            </a:r>
            <a:endParaRPr lang="en-US" sz="1600" b="1" dirty="0"/>
          </a:p>
        </p:txBody>
      </p:sp>
      <p:pic>
        <p:nvPicPr>
          <p:cNvPr id="10" name="Image 3" descr="/home/claude/deck/assets/hilbert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753" y="1897076"/>
            <a:ext cx="2558673" cy="1713823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9159087" y="1490472"/>
            <a:ext cx="2349042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loro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diventa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rapidamente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intrattabile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spin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coinvolti</a:t>
            </a: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640080" y="5861731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 txBox="1"/>
          <p:nvPr/>
        </p:nvSpPr>
        <p:spPr>
          <a:xfrm>
            <a:off x="640080" y="5861731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</a:t>
            </a:r>
            <a:r>
              <a:rPr lang="en-US" sz="14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Hilbert </a:t>
            </a:r>
            <a:r>
              <a:rPr lang="en-US" sz="14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ℋ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come 2</a:t>
            </a:r>
            <a:r>
              <a:rPr lang="en-US" sz="1400" b="1" baseline="3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(con N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spin). La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diagonalizzazione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esatta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già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poche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decine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particelle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esaurisce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risorse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supercomputers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classici</a:t>
            </a:r>
            <a:endParaRPr 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6C853E2-69BB-A737-4158-C200FBF94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40591"/>
            <a:ext cx="1991478" cy="1999476"/>
          </a:xfrm>
          <a:prstGeom prst="rect">
            <a:avLst/>
          </a:prstGeom>
        </p:spPr>
      </p:pic>
      <p:pic>
        <p:nvPicPr>
          <p:cNvPr id="17" name="Picture 16" descr="The image depicts a polar coordinate diagram with a circle, an arrow indicating direction, and a point marked at a specific position, likely illustrating complex numbers or vector direction in polar form.&#10;&#10;AI-generated content may be incorrect.">
            <a:extLst>
              <a:ext uri="{FF2B5EF4-FFF2-40B4-BE49-F238E27FC236}">
                <a16:creationId xmlns:a16="http://schemas.microsoft.com/office/drawing/2014/main" id="{827E5CC9-23E0-D692-7E01-D78C8D5ADE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66003"/>
            <a:ext cx="1990800" cy="1764791"/>
          </a:xfrm>
          <a:prstGeom prst="rect">
            <a:avLst/>
          </a:prstGeom>
        </p:spPr>
      </p:pic>
      <p:pic>
        <p:nvPicPr>
          <p:cNvPr id="19" name="Picture 18" descr="The diagram illustrates a phase diagram with axes for S (spin quantum number) and M (magnetic quantum number), depicting transitions between different quantum states and their corresponding energy levels.&#10;&#10;AI-generated content may be incorrect.">
            <a:extLst>
              <a:ext uri="{FF2B5EF4-FFF2-40B4-BE49-F238E27FC236}">
                <a16:creationId xmlns:a16="http://schemas.microsoft.com/office/drawing/2014/main" id="{6CABA6C0-B66E-87A8-99AE-2A8C18B295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8079" y="3908104"/>
            <a:ext cx="1691961" cy="1090581"/>
          </a:xfrm>
          <a:prstGeom prst="rect">
            <a:avLst/>
          </a:prstGeom>
        </p:spPr>
      </p:pic>
      <p:pic>
        <p:nvPicPr>
          <p:cNvPr id="21" name="Picture 20" descr="The diagram shows a comparison of magnetization over time for different numbers of turns in a coil, illustrating the relationship between coil turns and magnetic field strength.&#10;&#10;AI-generated content may be incorrect.">
            <a:extLst>
              <a:ext uri="{FF2B5EF4-FFF2-40B4-BE49-F238E27FC236}">
                <a16:creationId xmlns:a16="http://schemas.microsoft.com/office/drawing/2014/main" id="{62D8E6C9-4CC4-8295-1935-46A8632501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4768" y="4595979"/>
            <a:ext cx="1781023" cy="1034815"/>
          </a:xfrm>
          <a:prstGeom prst="rect">
            <a:avLst/>
          </a:prstGeom>
        </p:spPr>
      </p:pic>
      <p:sp>
        <p:nvSpPr>
          <p:cNvPr id="6" name="Desc HA dimero">
            <a:extLst>
              <a:ext uri="{FF2B5EF4-FFF2-40B4-BE49-F238E27FC236}">
                <a16:creationId xmlns:a16="http://schemas.microsoft.com/office/drawing/2014/main" id="{0372A8A6-9823-8578-2EF5-595D23930FAC}"/>
              </a:ext>
            </a:extLst>
          </p:cNvPr>
          <p:cNvSpPr txBox="1"/>
          <p:nvPr/>
        </p:nvSpPr>
        <p:spPr>
          <a:xfrm>
            <a:off x="1945605" y="6493840"/>
            <a:ext cx="8300484" cy="33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 err="1">
                <a:solidFill>
                  <a:srgbClr val="5B6B84"/>
                </a:solidFill>
              </a:rPr>
              <a:t>Peruzzo</a:t>
            </a:r>
            <a:r>
              <a:rPr lang="en-US" sz="1100" i="1" dirty="0">
                <a:solidFill>
                  <a:srgbClr val="5B6B84"/>
                </a:solidFill>
              </a:rPr>
              <a:t> et al., Nat. Commun. 5, 4213 (2014); Chiesa et al., Rep. Prog. Phys. 87, 034501 (2024); Chicco et al., JACS 146, 1053 (2024)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2" grpId="0" animBg="1"/>
      <p:bldP spid="13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515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097006" y="1521823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Estendere</a:t>
            </a:r>
            <a:r>
              <a:rPr lang="en-US" dirty="0"/>
              <a:t> la </a:t>
            </a:r>
            <a:r>
              <a:rPr lang="en-US" dirty="0" err="1"/>
              <a:t>simulazione</a:t>
            </a:r>
            <a:r>
              <a:rPr lang="en-US" dirty="0"/>
              <a:t> ad un </a:t>
            </a:r>
            <a:r>
              <a:rPr lang="en-US" dirty="0" err="1"/>
              <a:t>triangolo</a:t>
            </a:r>
            <a:r>
              <a:rPr lang="en-US" dirty="0"/>
              <a:t> o ad </a:t>
            </a:r>
            <a:r>
              <a:rPr lang="en-US" dirty="0" err="1"/>
              <a:t>una</a:t>
            </a:r>
            <a:r>
              <a:rPr lang="en-US" dirty="0"/>
              <a:t> catena di </a:t>
            </a:r>
            <a:r>
              <a:rPr lang="en-US" dirty="0" err="1"/>
              <a:t>tre</a:t>
            </a:r>
            <a:r>
              <a:rPr lang="en-US" dirty="0"/>
              <a:t> spin </a:t>
            </a:r>
            <a:r>
              <a:rPr lang="en-US" dirty="0" err="1"/>
              <a:t>interagenti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606494" y="4181697"/>
            <a:ext cx="5055568" cy="11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Aggiungere</a:t>
            </a:r>
            <a:r>
              <a:rPr lang="en-US" dirty="0"/>
              <a:t> il </a:t>
            </a:r>
            <a:r>
              <a:rPr lang="en-US" dirty="0" err="1"/>
              <a:t>rumore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deriva</a:t>
            </a:r>
            <a:r>
              <a:rPr lang="en-US" dirty="0"/>
              <a:t> </a:t>
            </a:r>
            <a:r>
              <a:rPr lang="en-US" dirty="0" err="1"/>
              <a:t>dalla</a:t>
            </a:r>
            <a:r>
              <a:rPr lang="en-US" dirty="0"/>
              <a:t> </a:t>
            </a:r>
            <a:r>
              <a:rPr lang="en-US" dirty="0" err="1"/>
              <a:t>interazione</a:t>
            </a:r>
            <a:r>
              <a:rPr lang="en-US" dirty="0"/>
              <a:t> non </a:t>
            </a:r>
            <a:r>
              <a:rPr lang="en-US" dirty="0" err="1"/>
              <a:t>voluta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hardware </a:t>
            </a:r>
            <a:r>
              <a:rPr lang="en-US" dirty="0" err="1"/>
              <a:t>quantistico</a:t>
            </a:r>
            <a:r>
              <a:rPr lang="en-US" dirty="0"/>
              <a:t> e </a:t>
            </a:r>
            <a:r>
              <a:rPr lang="en-US" dirty="0" err="1"/>
              <a:t>ambiente</a:t>
            </a:r>
            <a:endParaRPr lang="en-US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08C972C1-A68F-A424-B6E8-E8E790D220C1}"/>
              </a:ext>
            </a:extLst>
          </p:cNvPr>
          <p:cNvSpPr txBox="1"/>
          <p:nvPr/>
        </p:nvSpPr>
        <p:spPr>
          <a:xfrm>
            <a:off x="671566" y="1521823"/>
            <a:ext cx="49925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Studiare</a:t>
            </a:r>
            <a:r>
              <a:rPr lang="en-US" dirty="0"/>
              <a:t> come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prototipo</a:t>
            </a:r>
            <a:r>
              <a:rPr lang="en-US" dirty="0"/>
              <a:t> un </a:t>
            </a:r>
            <a:r>
              <a:rPr lang="en-US" dirty="0" err="1"/>
              <a:t>dimero</a:t>
            </a:r>
            <a:r>
              <a:rPr lang="en-US" dirty="0"/>
              <a:t> di spin: </a:t>
            </a:r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fondamentale</a:t>
            </a:r>
            <a:r>
              <a:rPr lang="en-US" dirty="0"/>
              <a:t> e </a:t>
            </a:r>
            <a:r>
              <a:rPr lang="en-US" dirty="0" err="1"/>
              <a:t>dinamica</a:t>
            </a:r>
            <a:r>
              <a:rPr lang="en-US" dirty="0"/>
              <a:t> (</a:t>
            </a:r>
            <a:r>
              <a:rPr lang="en-US" dirty="0" err="1"/>
              <a:t>noisless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DE1FD8-EB97-E210-0592-6017625E3919}"/>
                  </a:ext>
                </a:extLst>
              </p:cNvPr>
              <p:cNvSpPr txBox="1"/>
              <p:nvPr/>
            </p:nvSpPr>
            <p:spPr>
              <a:xfrm>
                <a:off x="857250" y="2421437"/>
                <a:ext cx="4807829" cy="2120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400" dirty="0"/>
                  <a:t>Due soli spin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400" dirty="0"/>
                  <a:t> </a:t>
                </a:r>
                <a:r>
                  <a:rPr lang="en-US" sz="1400" dirty="0" err="1"/>
                  <a:t>accoppiati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mappati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direttamente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su</a:t>
                </a:r>
                <a:r>
                  <a:rPr lang="en-US" sz="1400" dirty="0"/>
                  <a:t> </a:t>
                </a:r>
                <a:r>
                  <a:rPr lang="en-US" sz="1400" b="1" dirty="0"/>
                  <a:t>2 qubit</a:t>
                </a:r>
                <a:r>
                  <a:rPr lang="en-US" sz="1400" dirty="0"/>
                  <a:t>.</a:t>
                </a:r>
              </a:p>
              <a:p>
                <a:pPr algn="just"/>
                <a:r>
                  <a:rPr lang="en-US" sz="1400" dirty="0" err="1"/>
                  <a:t>Hamiltoniana</a:t>
                </a:r>
                <a:r>
                  <a:rPr lang="en-US" sz="1400" dirty="0"/>
                  <a:t> in termini delle </a:t>
                </a:r>
                <a:r>
                  <a:rPr lang="en-US" sz="1400" dirty="0" err="1"/>
                  <a:t>matrici</a:t>
                </a:r>
                <a:r>
                  <a:rPr lang="en-US" sz="1400" dirty="0"/>
                  <a:t> di Pauli:</a:t>
                </a:r>
              </a:p>
              <a:p>
                <a:pPr algn="just"/>
                <a:endParaRPr lang="en-US" sz="1400" dirty="0"/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nor/>
                        </m:rPr>
                        <a:rPr lang="en-US" sz="1400" i="0"/>
                        <m:t> 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400" b="0" dirty="0"/>
              </a:p>
              <a:p>
                <a:pPr lvl="0" algn="just"/>
                <a:endParaRPr lang="en-US" sz="1400" dirty="0"/>
              </a:p>
              <a:p>
                <a:pPr algn="just"/>
                <a:r>
                  <a:rPr lang="en-US" sz="1400" dirty="0" err="1"/>
                  <a:t>tre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parametri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fisici</a:t>
                </a:r>
                <a:r>
                  <a:rPr lang="en-US" sz="1400" dirty="0"/>
                  <a:t>: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400" dirty="0"/>
                  <a:t> (</a:t>
                </a:r>
                <a:r>
                  <a:rPr lang="en-US" sz="1400" dirty="0" err="1"/>
                  <a:t>accoppiamento</a:t>
                </a:r>
                <a:r>
                  <a:rPr lang="en-US" sz="1400" dirty="0"/>
                  <a:t>),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400" dirty="0"/>
                  <a:t> (campo),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400" dirty="0"/>
                  <a:t> (</a:t>
                </a:r>
                <a:r>
                  <a:rPr lang="en-US" sz="1400" dirty="0" err="1"/>
                  <a:t>interazione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Dzyaloshinskii</a:t>
                </a:r>
                <a:r>
                  <a:rPr lang="en-US" sz="1400" dirty="0"/>
                  <a:t>–Moriya) </a:t>
                </a:r>
                <a:r>
                  <a:rPr lang="en-US" sz="1400" dirty="0" err="1"/>
                  <a:t>sufficienti</a:t>
                </a:r>
                <a:r>
                  <a:rPr lang="en-US" sz="1400" dirty="0"/>
                  <a:t> a </a:t>
                </a:r>
                <a:r>
                  <a:rPr lang="en-US" sz="1400" dirty="0" err="1"/>
                  <a:t>produrre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una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fisica</a:t>
                </a:r>
                <a:r>
                  <a:rPr lang="en-US" sz="1400" dirty="0"/>
                  <a:t> non </a:t>
                </a:r>
                <a:r>
                  <a:rPr lang="en-US" sz="1400" dirty="0" err="1"/>
                  <a:t>banale</a:t>
                </a:r>
                <a:r>
                  <a:rPr lang="en-US" sz="1400" dirty="0"/>
                  <a:t>.</a:t>
                </a:r>
              </a:p>
              <a:p>
                <a:pPr marL="304800" indent="-304800" algn="just">
                  <a:buSzPct val="100000"/>
                  <a:buChar char="■"/>
                </a:pPr>
                <a:endParaRPr 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DE1FD8-EB97-E210-0592-6017625E3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2421437"/>
                <a:ext cx="4807829" cy="2120068"/>
              </a:xfrm>
              <a:prstGeom prst="rect">
                <a:avLst/>
              </a:prstGeom>
              <a:blipFill>
                <a:blip r:embed="rId3"/>
                <a:stretch>
                  <a:fillRect l="-381" r="-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E3D762-0137-95C8-2AA3-3DB7C6CE0B1F}"/>
                  </a:ext>
                </a:extLst>
              </p:cNvPr>
              <p:cNvSpPr txBox="1"/>
              <p:nvPr/>
            </p:nvSpPr>
            <p:spPr>
              <a:xfrm>
                <a:off x="6343650" y="2390503"/>
                <a:ext cx="5485698" cy="2189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400" dirty="0"/>
                  <a:t>Tre spin</a:t>
                </a:r>
                <a:r>
                  <a:rPr lang="en-US" sz="1400" dirty="0">
                    <a:solidFill>
                      <a:srgbClr val="16233A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400" dirty="0"/>
                  <a:t> </a:t>
                </a:r>
                <a:r>
                  <a:rPr lang="en-US" sz="1400" dirty="0" err="1"/>
                  <a:t>disposti</a:t>
                </a:r>
                <a:r>
                  <a:rPr lang="en-US" sz="1400" dirty="0"/>
                  <a:t> a </a:t>
                </a:r>
                <a:r>
                  <a:rPr lang="en-US" sz="1400" dirty="0" err="1"/>
                  <a:t>triangolo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isoscele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anello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chiuso</a:t>
                </a:r>
                <a:r>
                  <a:rPr lang="en-US" sz="1400" dirty="0"/>
                  <a:t>). </a:t>
                </a:r>
                <a:r>
                  <a:rPr lang="en-US" sz="1400" dirty="0" err="1"/>
                  <a:t>Hamiltoniana</a:t>
                </a:r>
                <a:r>
                  <a:rPr lang="en-US" sz="1400" dirty="0"/>
                  <a:t> in termini delle </a:t>
                </a:r>
                <a:r>
                  <a:rPr lang="en-US" sz="1400" dirty="0" err="1"/>
                  <a:t>matrici</a:t>
                </a:r>
                <a:r>
                  <a:rPr lang="en-US" sz="1400" dirty="0"/>
                  <a:t> di Pauli</a:t>
                </a:r>
                <a:br>
                  <a:rPr lang="en-US" sz="1400" dirty="0"/>
                </a:br>
                <a:endParaRPr lang="en-US" sz="1400" dirty="0"/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12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nor/>
                        </m:rPr>
                        <a:rPr lang="en-US" sz="1200" i="0"/>
                        <m:t> 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m:rPr>
                          <m:nor/>
                        </m:rPr>
                        <a:rPr lang="en-US" sz="1200" i="0"/>
                        <m:t>  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⟨"/>
                              <m:endChr m:val="⟩"/>
                              <m:sepChr m:val=",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sz="1200" i="0"/>
                            <m:t> </m:t>
                          </m:r>
                        </m:e>
                      </m:nary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200" b="0" dirty="0"/>
              </a:p>
              <a:p>
                <a:pPr algn="just"/>
                <a:endParaRPr lang="en-US" sz="1400" dirty="0"/>
              </a:p>
              <a:p>
                <a:pPr algn="just"/>
                <a:r>
                  <a:rPr lang="en-US" sz="1400" dirty="0"/>
                  <a:t>un </a:t>
                </a:r>
                <a:r>
                  <a:rPr lang="en-US" sz="1400" dirty="0" err="1"/>
                  <a:t>legame</a:t>
                </a:r>
                <a:r>
                  <a:rPr lang="en-US" sz="1400" dirty="0"/>
                  <a:t> in </a:t>
                </a:r>
                <a:r>
                  <a:rPr lang="en-US" sz="1400" dirty="0" err="1"/>
                  <a:t>più</a:t>
                </a:r>
                <a:r>
                  <a:rPr lang="en-US" sz="1400" dirty="0"/>
                  <a:t> rispetto al </a:t>
                </a:r>
                <a:r>
                  <a:rPr lang="en-US" sz="1400" dirty="0" err="1"/>
                  <a:t>dimero</a:t>
                </a:r>
                <a:r>
                  <a:rPr lang="en-US" sz="1400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14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400" dirty="0"/>
                  <a:t>), </a:t>
                </a:r>
                <a:r>
                  <a:rPr lang="en-US" sz="1400" dirty="0" err="1"/>
                  <a:t>sufficiente</a:t>
                </a:r>
                <a:r>
                  <a:rPr lang="en-US" sz="1400" dirty="0"/>
                  <a:t> a </a:t>
                </a:r>
                <a:r>
                  <a:rPr lang="en-US" sz="1400" dirty="0" err="1"/>
                  <a:t>introdurre</a:t>
                </a:r>
                <a:r>
                  <a:rPr lang="en-US" sz="1400" dirty="0"/>
                  <a:t> un </a:t>
                </a:r>
                <a:r>
                  <a:rPr lang="en-US" sz="1400" dirty="0" err="1"/>
                  <a:t>fenomeno</a:t>
                </a:r>
                <a:r>
                  <a:rPr lang="en-US" sz="1400" dirty="0"/>
                  <a:t> del </a:t>
                </a:r>
                <a:r>
                  <a:rPr lang="en-US" sz="1400" dirty="0" err="1"/>
                  <a:t>tutto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assente</a:t>
                </a:r>
                <a:r>
                  <a:rPr lang="en-US" sz="1400" dirty="0"/>
                  <a:t> a due spin: la </a:t>
                </a:r>
                <a:r>
                  <a:rPr lang="en-US" sz="1400" b="1" dirty="0" err="1"/>
                  <a:t>frustrazione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geometrica</a:t>
                </a:r>
                <a:r>
                  <a:rPr lang="en-US" sz="1400" dirty="0"/>
                  <a:t>.</a:t>
                </a:r>
              </a:p>
              <a:p>
                <a:pPr algn="just" rtl="0">
                  <a:buNone/>
                </a:pPr>
                <a:endParaRPr lang="en-US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E3D762-0137-95C8-2AA3-3DB7C6CE0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3650" y="2390503"/>
                <a:ext cx="5485698" cy="2189702"/>
              </a:xfrm>
              <a:prstGeom prst="rect">
                <a:avLst/>
              </a:prstGeom>
              <a:blipFill>
                <a:blip r:embed="rId4"/>
                <a:stretch>
                  <a:fillRect l="-333" r="-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C4AF3E-EA4E-9ADF-4264-78ADB52E8F5A}"/>
                  </a:ext>
                </a:extLst>
              </p:cNvPr>
              <p:cNvSpPr txBox="1"/>
              <p:nvPr/>
            </p:nvSpPr>
            <p:spPr>
              <a:xfrm>
                <a:off x="859261" y="5212708"/>
                <a:ext cx="4805818" cy="1476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it-IT" sz="1400" dirty="0"/>
                  <a:t>Modellizzazione degli effetti dell'ambiente tramite il formalismo dei canali quantistici, descritti dagli operatori di Kraus</a:t>
                </a:r>
                <a14:m>
                  <m:oMath xmlns:m="http://schemas.openxmlformats.org/officeDocument/2006/math"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it-IT" sz="14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400" dirty="0"/>
                  <a:t>nella mappa non unitaria</a:t>
                </a:r>
              </a:p>
              <a:p>
                <a:pPr algn="just"/>
                <a:endParaRPr lang="it-IT" sz="1400" dirty="0"/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i="0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14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0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sSubSup>
                        <m:sSubSup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400" i="0" dirty="0"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C4AF3E-EA4E-9ADF-4264-78ADB52E8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261" y="5212708"/>
                <a:ext cx="4805818" cy="1476943"/>
              </a:xfrm>
              <a:prstGeom prst="rect">
                <a:avLst/>
              </a:prstGeom>
              <a:blipFill>
                <a:blip r:embed="rId5"/>
                <a:stretch>
                  <a:fillRect l="-381" t="-826" r="-381" b="-69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 animBg="1"/>
      <p:bldP spid="12" grpId="0"/>
      <p:bldP spid="14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28788" y="711105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32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28788" y="1387335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28788" y="1387335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Hilbert al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N ha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28787" y="2864478"/>
            <a:ext cx="4076120" cy="47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 (1982)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2C4C30-539D-7809-69F6-71DB02378B85}"/>
              </a:ext>
            </a:extLst>
          </p:cNvPr>
          <p:cNvSpPr txBox="1"/>
          <p:nvPr/>
        </p:nvSpPr>
        <p:spPr>
          <a:xfrm>
            <a:off x="809870" y="3336856"/>
            <a:ext cx="39006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Un computer </a:t>
            </a:r>
            <a:r>
              <a:rPr lang="en-US" sz="1400" dirty="0" err="1"/>
              <a:t>quantistico</a:t>
            </a:r>
            <a:r>
              <a:rPr lang="en-US" sz="1400" dirty="0"/>
              <a:t> </a:t>
            </a:r>
            <a:r>
              <a:rPr lang="en-US" sz="1400" dirty="0" err="1"/>
              <a:t>dovrebbe</a:t>
            </a:r>
            <a:r>
              <a:rPr lang="en-US" sz="1400" dirty="0"/>
              <a:t> </a:t>
            </a:r>
            <a:r>
              <a:rPr lang="en-US" sz="1400" dirty="0" err="1"/>
              <a:t>poter</a:t>
            </a:r>
            <a:r>
              <a:rPr lang="en-US" sz="1400" dirty="0"/>
              <a:t> </a:t>
            </a:r>
            <a:r>
              <a:rPr lang="en-US" sz="1400" dirty="0" err="1"/>
              <a:t>simulare</a:t>
            </a:r>
            <a:r>
              <a:rPr lang="en-US" sz="1400" dirty="0"/>
              <a:t> </a:t>
            </a:r>
            <a:r>
              <a:rPr lang="en-US" sz="1400" dirty="0" err="1"/>
              <a:t>qualsiasi</a:t>
            </a:r>
            <a:r>
              <a:rPr lang="en-US" sz="1400" dirty="0"/>
              <a:t> </a:t>
            </a:r>
            <a:r>
              <a:rPr lang="en-US" sz="1400" dirty="0" err="1"/>
              <a:t>sistema</a:t>
            </a:r>
            <a:r>
              <a:rPr lang="en-US" sz="1400" dirty="0"/>
              <a:t> </a:t>
            </a:r>
            <a:r>
              <a:rPr lang="en-US" sz="1400" dirty="0" err="1"/>
              <a:t>quantistico</a:t>
            </a:r>
            <a:r>
              <a:rPr lang="en-US" sz="1400" dirty="0"/>
              <a:t> locale in modo </a:t>
            </a:r>
            <a:r>
              <a:rPr lang="en-US" sz="1400" dirty="0" err="1"/>
              <a:t>efficiente</a:t>
            </a:r>
            <a:r>
              <a:rPr lang="en-US" sz="14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757B0E-C20E-962C-76D7-E7164CA457B1}"/>
                  </a:ext>
                </a:extLst>
              </p:cNvPr>
              <p:cNvSpPr txBox="1"/>
              <p:nvPr/>
            </p:nvSpPr>
            <p:spPr>
              <a:xfrm>
                <a:off x="5560829" y="2318744"/>
                <a:ext cx="5901070" cy="4777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400" b="1" dirty="0" err="1"/>
                  <a:t>Decomposizione</a:t>
                </a:r>
                <a:r>
                  <a:rPr lang="en-US" sz="1400" b="1" dirty="0"/>
                  <a:t> di Suzuki - Trotter:</a:t>
                </a:r>
                <a:r>
                  <a:rPr lang="en-US" sz="1400" dirty="0"/>
                  <a:t> per </a:t>
                </a:r>
                <a:r>
                  <a:rPr lang="en-US" sz="1400" dirty="0" err="1"/>
                  <a:t>una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Hamiltoniana</a:t>
                </a:r>
                <a:r>
                  <a:rPr lang="en-US" sz="1400" dirty="0"/>
                  <a:t> somma di </a:t>
                </a:r>
                <a:r>
                  <a:rPr lang="en-US" sz="1400" dirty="0" err="1"/>
                  <a:t>operatori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locali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in generale </a:t>
                </a:r>
                <a:r>
                  <a:rPr lang="en-US" sz="1400" dirty="0" err="1"/>
                  <a:t>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singoli</a:t>
                </a:r>
                <a:r>
                  <a:rPr lang="en-US" sz="1400" dirty="0"/>
                  <a:t> termini </a:t>
                </a:r>
                <a:r>
                  <a:rPr lang="en-US" sz="1400" b="1" dirty="0"/>
                  <a:t>non </a:t>
                </a:r>
                <a:r>
                  <a:rPr lang="en-US" sz="1400" b="1" dirty="0" err="1"/>
                  <a:t>commutano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≠0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l'esponenziale</a:t>
                </a:r>
                <a:r>
                  <a:rPr lang="en-US" sz="1400" dirty="0"/>
                  <a:t> della somma </a:t>
                </a:r>
                <a:r>
                  <a:rPr lang="en-US" sz="1400" b="1" dirty="0"/>
                  <a:t>non è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prodotto</a:t>
                </a:r>
                <a:r>
                  <a:rPr lang="en-US" sz="1400" dirty="0"/>
                  <a:t> degli </a:t>
                </a:r>
                <a:r>
                  <a:rPr lang="en-US" sz="1400" dirty="0" err="1"/>
                  <a:t>esponenziali</a:t>
                </a:r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:r>
                  <a:rPr lang="en-US" sz="1400" dirty="0"/>
                  <a:t>	 	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supHide m:val="on"/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1400" dirty="0">
                        <a:latin typeface="Cambria Math" panose="02040503050406030204" pitchFamily="18" charset="0"/>
                      </a:rPr>
                      <m:t>≠</m:t>
                    </m:r>
                    <m:nary>
                      <m:naryPr>
                        <m:chr m:val="∏"/>
                        <m:limLoc m:val="undOvr"/>
                        <m:sup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1400" dirty="0"/>
                  <a:t> </a:t>
                </a:r>
              </a:p>
              <a:p>
                <a:pPr algn="just"/>
                <a:endParaRPr lang="en-US" sz="1400" dirty="0"/>
              </a:p>
              <a:p>
                <a:pPr algn="just"/>
                <a:r>
                  <a:rPr lang="en-US" sz="1400" dirty="0"/>
                  <a:t>Per </a:t>
                </a:r>
                <a:r>
                  <a:rPr lang="en-US" sz="1400" dirty="0" err="1"/>
                  <a:t>mappare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questa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evoluzione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su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porte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quantistiche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logiche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divide il tempo </a:t>
                </a:r>
                <a:r>
                  <a:rPr lang="en-US" sz="1400" dirty="0" err="1"/>
                  <a:t>totale</a:t>
                </a:r>
                <a:r>
                  <a:rPr lang="en-US" sz="1400" dirty="0"/>
                  <a:t> t in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dirty="0" err="1"/>
                  <a:t>piccoli</a:t>
                </a:r>
                <a:r>
                  <a:rPr lang="en-US" sz="1400" dirty="0"/>
                  <a:t> intervalli </a:t>
                </a:r>
                <a:r>
                  <a:rPr lang="en-US" sz="1400" dirty="0" err="1"/>
                  <a:t>temporali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. Sotto </a:t>
                </a:r>
                <a:r>
                  <a:rPr lang="en-US" sz="1400" dirty="0" err="1"/>
                  <a:t>l'ipotesi</a:t>
                </a:r>
                <a:r>
                  <a:rPr lang="en-US" sz="1400" dirty="0"/>
                  <a:t> di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→0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𝑜𝑣𝑣𝑒𝑟</m:t>
                        </m:r>
                        <m:r>
                          <m:rPr>
                            <m:sty m:val="p"/>
                          </m:rPr>
                          <a:rPr lang="en-US" sz="1400" i="1" dirty="0"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→∞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applica</a:t>
                </a:r>
                <a:r>
                  <a:rPr lang="en-US" sz="1400" dirty="0"/>
                  <a:t> la </a:t>
                </a:r>
                <a:r>
                  <a:rPr lang="en-US" sz="1400" b="1" dirty="0"/>
                  <a:t>formula Totter</a:t>
                </a:r>
                <a:endParaRPr lang="en-US" sz="1400" dirty="0"/>
              </a:p>
              <a:p>
                <a:pPr algn="just"/>
                <a:br>
                  <a:rPr lang="en-US" sz="1400" dirty="0"/>
                </a:b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𝑖𝐻𝑡</m:t>
                          </m:r>
                        </m:sup>
                      </m:sSup>
                      <m:r>
                        <a:rPr lang="en-US" sz="1400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400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400" dirty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1400" dirty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∏"/>
                                      <m:limLoc m:val="undOvr"/>
                                      <m:supHide m:val="on"/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sz="1400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𝐻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f>
                                            <m:fPr>
                                              <m:ctrlP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den>
                                          </m:f>
                                        </m:sup>
                                      </m:sSup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:r>
                  <a:rPr lang="en-US" sz="1400" dirty="0"/>
                  <a:t>Per un </a:t>
                </a:r>
                <a:r>
                  <a:rPr lang="en-US" sz="1400" dirty="0" err="1"/>
                  <a:t>numero</a:t>
                </a:r>
                <a:r>
                  <a:rPr lang="en-US" sz="1400" dirty="0"/>
                  <a:t> di step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 finito, </a:t>
                </a:r>
                <a:r>
                  <a:rPr lang="en-US" sz="1400" dirty="0" err="1"/>
                  <a:t>l'approssimazione</a:t>
                </a:r>
                <a:r>
                  <a:rPr lang="en-US" sz="1400" dirty="0"/>
                  <a:t> al primo </a:t>
                </a:r>
                <a:r>
                  <a:rPr lang="en-US" sz="1400" dirty="0" err="1"/>
                  <a:t>ordine</a:t>
                </a:r>
                <a:r>
                  <a:rPr lang="en-US" sz="1400" dirty="0"/>
                  <a:t> introduce un </a:t>
                </a:r>
                <a:r>
                  <a:rPr lang="en-US" sz="1400" dirty="0" err="1"/>
                  <a:t>errore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controllabile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errore</a:t>
                </a:r>
                <a:r>
                  <a:rPr lang="en-US" sz="1400" dirty="0"/>
                  <a:t> di Trotter) legato ai </a:t>
                </a:r>
                <a:r>
                  <a:rPr lang="en-US" sz="1400" dirty="0" err="1"/>
                  <a:t>commutatori</a:t>
                </a:r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𝑖𝐻</m:t>
                          </m:r>
                          <m:r>
                            <m:rPr>
                              <m:sty m:val="p"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400">
                          <a:latin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sz="140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400" i="1" dirty="0"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:endParaRPr lang="en-US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757B0E-C20E-962C-76D7-E7164CA45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0829" y="2318744"/>
                <a:ext cx="5901070" cy="4777270"/>
              </a:xfrm>
              <a:prstGeom prst="rect">
                <a:avLst/>
              </a:prstGeom>
              <a:blipFill>
                <a:blip r:embed="rId3"/>
                <a:stretch>
                  <a:fillRect l="-310" t="-1913" r="-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esc HA dimero">
            <a:extLst>
              <a:ext uri="{FF2B5EF4-FFF2-40B4-BE49-F238E27FC236}">
                <a16:creationId xmlns:a16="http://schemas.microsoft.com/office/drawing/2014/main" id="{488356C8-D2B5-A1E3-C22D-0A0B7E6FA194}"/>
              </a:ext>
            </a:extLst>
          </p:cNvPr>
          <p:cNvSpPr txBox="1"/>
          <p:nvPr/>
        </p:nvSpPr>
        <p:spPr>
          <a:xfrm>
            <a:off x="933724" y="5028644"/>
            <a:ext cx="3257589" cy="33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5B6B84"/>
                </a:solidFill>
              </a:rPr>
              <a:t>Lloyd, Science 273, 1073 (1996)</a:t>
            </a: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04B988AC-3E27-D498-3480-97C1AE0072CF}"/>
              </a:ext>
            </a:extLst>
          </p:cNvPr>
          <p:cNvSpPr txBox="1"/>
          <p:nvPr/>
        </p:nvSpPr>
        <p:spPr>
          <a:xfrm>
            <a:off x="640080" y="4519177"/>
            <a:ext cx="4064827" cy="47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 (1996)</a:t>
            </a:r>
            <a:endParaRPr lang="en-US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Quantum </a:t>
            </a:r>
            <a:r>
              <a:rPr lang="en-US" sz="32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Eigensolver</a:t>
            </a:r>
            <a:r>
              <a:rPr lang="en-US" sz="3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(VQE)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356870"/>
            <a:ext cx="10938487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356870"/>
            <a:ext cx="109651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r>
              <a:rPr lang="en-US" sz="20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ibrido</a:t>
            </a:r>
            <a:r>
              <a:rPr lang="en-US" sz="20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0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-classico per </a:t>
            </a:r>
            <a:r>
              <a:rPr lang="en-US" sz="20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trovare</a:t>
            </a:r>
            <a:r>
              <a:rPr lang="en-US" sz="20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</a:t>
            </a:r>
            <a:r>
              <a:rPr lang="en-US" sz="20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r>
              <a:rPr lang="en-US" sz="20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fondamentale</a:t>
            </a:r>
            <a:r>
              <a:rPr lang="en-US" sz="20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un </a:t>
            </a:r>
            <a:r>
              <a:rPr lang="en-US" sz="20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20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Hamiltoniano</a:t>
            </a:r>
            <a:endParaRPr lang="en-US" sz="20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B77664-07E3-BF79-6E15-C980E588CBC9}"/>
                  </a:ext>
                </a:extLst>
              </p:cNvPr>
              <p:cNvSpPr txBox="1"/>
              <p:nvPr/>
            </p:nvSpPr>
            <p:spPr>
              <a:xfrm>
                <a:off x="613432" y="2932825"/>
                <a:ext cx="3862875" cy="2916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400" dirty="0"/>
                  <a:t>Il Variational Quantum </a:t>
                </a:r>
                <a:r>
                  <a:rPr lang="en-US" sz="1400" dirty="0" err="1"/>
                  <a:t>Eigensolver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sfrutta</a:t>
                </a:r>
                <a:r>
                  <a:rPr lang="en-US" sz="1400" dirty="0"/>
                  <a:t> il </a:t>
                </a:r>
                <a:r>
                  <a:rPr lang="en-US" sz="1400" b="1" dirty="0"/>
                  <a:t>Principio </a:t>
                </a:r>
                <a:r>
                  <a:rPr lang="en-US" sz="1400" b="1" dirty="0" err="1"/>
                  <a:t>Variazionale</a:t>
                </a:r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d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:r>
                  <a:rPr lang="en-US" sz="1400" dirty="0"/>
                  <a:t>il computer </a:t>
                </a:r>
                <a:r>
                  <a:rPr lang="en-US" sz="1400" dirty="0" err="1"/>
                  <a:t>quantistico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prepara</a:t>
                </a:r>
                <a:r>
                  <a:rPr lang="en-US" sz="1400" dirty="0"/>
                  <a:t> lo </a:t>
                </a:r>
                <a:r>
                  <a:rPr lang="en-US" sz="1400" dirty="0" err="1"/>
                  <a:t>stato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variazionale</a:t>
                </a:r>
                <a14:m>
                  <m:oMath xmlns:m="http://schemas.openxmlformats.org/officeDocument/2006/math"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4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400" dirty="0"/>
                  <a:t> (</a:t>
                </a:r>
                <a:r>
                  <a:rPr lang="en-US" sz="1400" i="1" dirty="0"/>
                  <a:t>Ansatz</a:t>
                </a:r>
                <a:r>
                  <a:rPr lang="en-US" sz="1400" dirty="0"/>
                  <a:t>) e </a:t>
                </a:r>
                <a:r>
                  <a:rPr lang="en-US" sz="1400" dirty="0" err="1"/>
                  <a:t>misura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valore</a:t>
                </a:r>
                <a:r>
                  <a:rPr lang="en-US" sz="1400" dirty="0"/>
                  <a:t> di </a:t>
                </a:r>
                <a:r>
                  <a:rPr lang="en-US" sz="1400" dirty="0" err="1"/>
                  <a:t>aspettazione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dell'energia</a:t>
                </a:r>
                <a:r>
                  <a:rPr lang="en-US" sz="1400" dirty="0"/>
                  <a:t>.</a:t>
                </a:r>
              </a:p>
              <a:p>
                <a:pPr algn="just"/>
                <a:r>
                  <a:rPr lang="en-US" sz="1400" dirty="0" err="1"/>
                  <a:t>L'ottimizzatore</a:t>
                </a:r>
                <a:r>
                  <a:rPr lang="en-US" sz="1400" dirty="0"/>
                  <a:t> classico </a:t>
                </a:r>
                <a:r>
                  <a:rPr lang="en-US" sz="1400" dirty="0" err="1"/>
                  <a:t>aggiorna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parametri</a:t>
                </a:r>
                <a:r>
                  <a:rPr lang="en-US" sz="1400" dirty="0"/>
                  <a:t> θ per </a:t>
                </a:r>
                <a:r>
                  <a:rPr lang="en-US" sz="1400" dirty="0" err="1"/>
                  <a:t>convergere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allo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stato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fondamentale</a:t>
                </a:r>
                <a:r>
                  <a:rPr lang="en-US" sz="1400" dirty="0"/>
                  <a:t> E₀.</a:t>
                </a:r>
                <a:br>
                  <a:rPr lang="en-US" sz="1400" dirty="0"/>
                </a:br>
                <a:endParaRPr lang="en-US" sz="1400" dirty="0"/>
              </a:p>
              <a:p>
                <a:pPr algn="just"/>
                <a:endParaRPr lang="en-US" sz="1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B77664-07E3-BF79-6E15-C980E588C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32" y="2932825"/>
                <a:ext cx="3862875" cy="2916632"/>
              </a:xfrm>
              <a:prstGeom prst="rect">
                <a:avLst/>
              </a:prstGeom>
              <a:blipFill>
                <a:blip r:embed="rId3"/>
                <a:stretch>
                  <a:fillRect l="-474" t="-418" r="-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920F1B5-B27E-939F-033A-307E3B04F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19" y="2423425"/>
            <a:ext cx="6868853" cy="3935432"/>
          </a:xfrm>
          <a:prstGeom prst="rect">
            <a:avLst/>
          </a:prstGeom>
        </p:spPr>
      </p:pic>
      <p:sp>
        <p:nvSpPr>
          <p:cNvPr id="7" name="Desc HA dimero">
            <a:extLst>
              <a:ext uri="{FF2B5EF4-FFF2-40B4-BE49-F238E27FC236}">
                <a16:creationId xmlns:a16="http://schemas.microsoft.com/office/drawing/2014/main" id="{AB5A24D4-B68B-731D-1D46-ACE02FF345E6}"/>
              </a:ext>
            </a:extLst>
          </p:cNvPr>
          <p:cNvSpPr txBox="1"/>
          <p:nvPr/>
        </p:nvSpPr>
        <p:spPr>
          <a:xfrm>
            <a:off x="9007615" y="6455089"/>
            <a:ext cx="2570953" cy="33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 i="1" dirty="0" err="1">
                <a:solidFill>
                  <a:srgbClr val="5B6B84"/>
                </a:solidFill>
              </a:rPr>
              <a:t>Peruzzo</a:t>
            </a:r>
            <a:r>
              <a:rPr lang="fr-FR" sz="1100" i="1" dirty="0">
                <a:solidFill>
                  <a:srgbClr val="5B6B84"/>
                </a:solidFill>
              </a:rPr>
              <a:t> et al., Nat. Commun. 5, 4213 (2014)</a:t>
            </a:r>
            <a:endParaRPr lang="en-US" sz="1100" i="1" dirty="0">
              <a:solidFill>
                <a:srgbClr val="5B6B84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ZIONE"/>
          <p:cNvSpPr txBox="1"/>
          <p:nvPr/>
        </p:nvSpPr>
        <p:spPr>
          <a:xfrm>
            <a:off x="640080" y="402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VQE - Ansatz"/>
              <p:cNvSpPr txBox="1"/>
              <p:nvPr/>
            </p:nvSpPr>
            <p:spPr>
              <a:xfrm>
                <a:off x="640079" y="713232"/>
                <a:ext cx="10911535" cy="7772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VQE – Preparazione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dello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parametrizzato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320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Ansatz</a:t>
                </a:r>
                <a:endParaRPr lang="en-US" sz="3200" dirty="0"/>
              </a:p>
            </p:txBody>
          </p:sp>
        </mc:Choice>
        <mc:Fallback xmlns="">
          <p:sp>
            <p:nvSpPr>
              <p:cNvPr id="3" name="VQE - Ansatz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79" y="713232"/>
                <a:ext cx="10911535" cy="777240"/>
              </a:xfrm>
              <a:prstGeom prst="rect">
                <a:avLst/>
              </a:prstGeom>
              <a:blipFill>
                <a:blip r:embed="rId3"/>
                <a:stretch>
                  <a:fillRect l="-2235" b="-1328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hape 2"/>
          <p:cNvSpPr/>
          <p:nvPr/>
        </p:nvSpPr>
        <p:spPr>
          <a:xfrm>
            <a:off x="640080" y="1371524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itle Circuito Dimero">
            <a:extLst>
              <a:ext uri="{FF2B5EF4-FFF2-40B4-BE49-F238E27FC236}">
                <a16:creationId xmlns:a16="http://schemas.microsoft.com/office/drawing/2014/main" id="{BE6BF56F-A15E-A307-5156-A586A89A37E6}"/>
              </a:ext>
            </a:extLst>
          </p:cNvPr>
          <p:cNvSpPr txBox="1"/>
          <p:nvPr/>
        </p:nvSpPr>
        <p:spPr>
          <a:xfrm>
            <a:off x="566927" y="1432099"/>
            <a:ext cx="109115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endParaRPr lang="en-US" i="1" dirty="0"/>
          </a:p>
        </p:txBody>
      </p:sp>
      <p:pic>
        <p:nvPicPr>
          <p:cNvPr id="45" name="Circuito HA" descr="/home/claude/deck/assets/thesis_figs/circ_ha_hi-1.png">
            <a:extLst>
              <a:ext uri="{FF2B5EF4-FFF2-40B4-BE49-F238E27FC236}">
                <a16:creationId xmlns:a16="http://schemas.microsoft.com/office/drawing/2014/main" id="{1EE5CC7D-46B7-29D4-4BB4-0B636AD00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438" y="2611609"/>
            <a:ext cx="4035417" cy="1611177"/>
          </a:xfrm>
          <a:prstGeom prst="rect">
            <a:avLst/>
          </a:prstGeom>
        </p:spPr>
      </p:pic>
      <p:pic>
        <p:nvPicPr>
          <p:cNvPr id="47" name="Circuito PMA base" descr="/home/claude/deck/assets/thesis_figs/circ_pma_base-1.png">
            <a:extLst>
              <a:ext uri="{FF2B5EF4-FFF2-40B4-BE49-F238E27FC236}">
                <a16:creationId xmlns:a16="http://schemas.microsoft.com/office/drawing/2014/main" id="{3E2C2FE4-0132-06CB-74A2-3D08E99ACA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3747" y="2725140"/>
            <a:ext cx="4897162" cy="1517658"/>
          </a:xfrm>
          <a:prstGeom prst="rect">
            <a:avLst/>
          </a:prstGeom>
        </p:spPr>
      </p:pic>
      <p:pic>
        <p:nvPicPr>
          <p:cNvPr id="49" name="Circuito PMA esteso" descr="/home/claude/deck/assets/thesis_figs/circ_pma_esteso_hi-1.png">
            <a:extLst>
              <a:ext uri="{FF2B5EF4-FFF2-40B4-BE49-F238E27FC236}">
                <a16:creationId xmlns:a16="http://schemas.microsoft.com/office/drawing/2014/main" id="{AA570C23-D55D-0B01-C6FF-459811ABB1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0537" y="2666473"/>
            <a:ext cx="2793210" cy="1595086"/>
          </a:xfrm>
          <a:prstGeom prst="rect">
            <a:avLst/>
          </a:prstGeom>
        </p:spPr>
      </p:pic>
      <p:sp>
        <p:nvSpPr>
          <p:cNvPr id="51" name="Desc HA dimero">
            <a:extLst>
              <a:ext uri="{FF2B5EF4-FFF2-40B4-BE49-F238E27FC236}">
                <a16:creationId xmlns:a16="http://schemas.microsoft.com/office/drawing/2014/main" id="{19DF8F39-8D23-F2FB-317C-4BFF77513A58}"/>
              </a:ext>
            </a:extLst>
          </p:cNvPr>
          <p:cNvSpPr txBox="1"/>
          <p:nvPr/>
        </p:nvSpPr>
        <p:spPr>
          <a:xfrm>
            <a:off x="829686" y="4171654"/>
            <a:ext cx="3320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— 6 parametri</a:t>
            </a:r>
            <a:endParaRPr lang="en-US" sz="1600" dirty="0"/>
          </a:p>
        </p:txBody>
      </p:sp>
      <p:sp>
        <p:nvSpPr>
          <p:cNvPr id="58" name="Nota HA dimero">
            <a:extLst>
              <a:ext uri="{FF2B5EF4-FFF2-40B4-BE49-F238E27FC236}">
                <a16:creationId xmlns:a16="http://schemas.microsoft.com/office/drawing/2014/main" id="{C4DA91CF-8ACC-CBFC-7DBB-B57CF5694554}"/>
              </a:ext>
            </a:extLst>
          </p:cNvPr>
          <p:cNvSpPr txBox="1"/>
          <p:nvPr/>
        </p:nvSpPr>
        <p:spPr>
          <a:xfrm>
            <a:off x="926246" y="5862311"/>
            <a:ext cx="2971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r>
              <a:rPr lang="en-US" sz="1600" dirty="0"/>
              <a:t>: </a:t>
            </a:r>
            <a:r>
              <a:rPr lang="en-US" sz="1600" dirty="0" err="1"/>
              <a:t>termine</a:t>
            </a:r>
            <a:r>
              <a:rPr lang="en-US" sz="1600" dirty="0"/>
              <a:t> di </a:t>
            </a:r>
            <a:r>
              <a:rPr lang="en-US" sz="1600" dirty="0" err="1"/>
              <a:t>confronto</a:t>
            </a:r>
            <a:r>
              <a:rPr lang="en-US" sz="1600" dirty="0"/>
              <a:t> (baseline </a:t>
            </a:r>
            <a:r>
              <a:rPr lang="en-US" sz="1600" dirty="0" err="1"/>
              <a:t>generica</a:t>
            </a:r>
            <a:r>
              <a:rPr lang="en-US" sz="1600" dirty="0"/>
              <a:t>, senza </a:t>
            </a:r>
            <a:r>
              <a:rPr lang="en-US" sz="1600" dirty="0" err="1"/>
              <a:t>usare</a:t>
            </a:r>
            <a:r>
              <a:rPr lang="en-US" sz="1600" dirty="0"/>
              <a:t> la </a:t>
            </a:r>
            <a:r>
              <a:rPr lang="en-US" sz="1600" dirty="0" err="1"/>
              <a:t>fisica</a:t>
            </a:r>
            <a:r>
              <a:rPr lang="en-US" sz="1600" dirty="0"/>
              <a:t> del </a:t>
            </a:r>
            <a:r>
              <a:rPr lang="en-US" sz="1600" dirty="0" err="1"/>
              <a:t>problema</a:t>
            </a:r>
            <a:r>
              <a:rPr lang="en-US" sz="16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sto preparazione dimero">
                <a:extLst>
                  <a:ext uri="{FF2B5EF4-FFF2-40B4-BE49-F238E27FC236}">
                    <a16:creationId xmlns:a16="http://schemas.microsoft.com/office/drawing/2014/main" id="{484C8D53-7FD2-B924-14BD-0593E4C50EAC}"/>
                  </a:ext>
                </a:extLst>
              </p:cNvPr>
              <p:cNvSpPr txBox="1"/>
              <p:nvPr/>
            </p:nvSpPr>
            <p:spPr>
              <a:xfrm>
                <a:off x="640080" y="2121028"/>
                <a:ext cx="1091153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dirty="0"/>
                  <a:t>Tre </a:t>
                </a:r>
                <a:r>
                  <a:rPr lang="en-US" sz="1500" dirty="0" err="1"/>
                  <a:t>circuiti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che</a:t>
                </a:r>
                <a:r>
                  <a:rPr lang="en-US" sz="1500" dirty="0"/>
                  <a:t> a </a:t>
                </a:r>
                <a:r>
                  <a:rPr lang="en-US" sz="1500" dirty="0" err="1"/>
                  <a:t>partire</a:t>
                </a:r>
                <a:r>
                  <a:rPr lang="en-US" sz="1500" dirty="0"/>
                  <a:t> da </a:t>
                </a:r>
                <a14:m>
                  <m:oMath xmlns:m="http://schemas.openxmlformats.org/officeDocument/2006/math">
                    <m:r>
                      <a:rPr lang="en-US" sz="15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00⟩</m:t>
                    </m:r>
                  </m:oMath>
                </a14:m>
                <a:r>
                  <a:rPr lang="en-US" sz="1500" dirty="0"/>
                  <a:t> </a:t>
                </a:r>
                <a:r>
                  <a:rPr lang="en-US" sz="1500" dirty="0" err="1"/>
                  <a:t>preparano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⟩=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0" dirty="0">
                        <a:latin typeface="Cambria Math" panose="02040503050406030204" pitchFamily="18" charset="0"/>
                      </a:rPr>
                      <m:t>00⟩</m:t>
                    </m:r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confrontati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sulla</a:t>
                </a:r>
                <a:r>
                  <a:rPr lang="en-US" sz="1500" dirty="0"/>
                  <a:t> fidelity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5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₀⟩|²</m:t>
                    </m:r>
                  </m:oMath>
                </a14:m>
                <a:r>
                  <a:rPr lang="en-US" sz="1500" dirty="0"/>
                  <a:t> rispetto </a:t>
                </a:r>
                <a:r>
                  <a:rPr lang="en-US" sz="1500" dirty="0" err="1"/>
                  <a:t>allo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stato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fondamentale</a:t>
                </a:r>
                <a:r>
                  <a:rPr lang="en-US" sz="1500" dirty="0"/>
                  <a:t> </a:t>
                </a:r>
                <a:r>
                  <a:rPr lang="en-US" sz="1500" dirty="0" err="1"/>
                  <a:t>vero</a:t>
                </a:r>
                <a:endParaRPr lang="en-US" sz="1500" dirty="0"/>
              </a:p>
            </p:txBody>
          </p:sp>
        </mc:Choice>
        <mc:Fallback xmlns="">
          <p:sp>
            <p:nvSpPr>
              <p:cNvPr id="61" name="Testo preparazione dimero">
                <a:extLst>
                  <a:ext uri="{FF2B5EF4-FFF2-40B4-BE49-F238E27FC236}">
                    <a16:creationId xmlns:a16="http://schemas.microsoft.com/office/drawing/2014/main" id="{484C8D53-7FD2-B924-14BD-0593E4C50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2121028"/>
                <a:ext cx="10911535" cy="553998"/>
              </a:xfrm>
              <a:prstGeom prst="rect">
                <a:avLst/>
              </a:prstGeom>
              <a:blipFill>
                <a:blip r:embed="rId7"/>
                <a:stretch>
                  <a:fillRect t="-2198" b="-10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rimitiva RBS">
            <a:extLst>
              <a:ext uri="{FF2B5EF4-FFF2-40B4-BE49-F238E27FC236}">
                <a16:creationId xmlns:a16="http://schemas.microsoft.com/office/drawing/2014/main" id="{873D5CD8-F838-21B0-87B1-2B4C6961C7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1164" y="4195188"/>
            <a:ext cx="3808091" cy="18456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Espressione RBS">
                <a:extLst>
                  <a:ext uri="{FF2B5EF4-FFF2-40B4-BE49-F238E27FC236}">
                    <a16:creationId xmlns:a16="http://schemas.microsoft.com/office/drawing/2014/main" id="{BFEA6134-4C48-E54A-4F06-D5A4E00D0403}"/>
                  </a:ext>
                </a:extLst>
              </p:cNvPr>
              <p:cNvSpPr txBox="1"/>
              <p:nvPr/>
            </p:nvSpPr>
            <p:spPr>
              <a:xfrm>
                <a:off x="4630212" y="5881685"/>
                <a:ext cx="2931268" cy="8806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𝑅𝐵𝑆</m:t>
                    </m:r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sz="16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bSup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</m:e>
                        </m:d>
                      </m:sup>
                    </m:sSup>
                  </m:oMath>
                </a14:m>
                <a:r>
                  <a:rPr lang="en-US" sz="1600" dirty="0"/>
                  <a:t> - </a:t>
                </a:r>
                <a:r>
                  <a:rPr lang="en-US" sz="1600" dirty="0" err="1"/>
                  <a:t>rotazione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reale</a:t>
                </a:r>
                <a:r>
                  <a:rPr lang="en-US" sz="1600" dirty="0"/>
                  <a:t> - Reconfigurable Beam Splitter</a:t>
                </a:r>
              </a:p>
            </p:txBody>
          </p:sp>
        </mc:Choice>
        <mc:Fallback xmlns="">
          <p:sp>
            <p:nvSpPr>
              <p:cNvPr id="8" name="Espressione RBS">
                <a:extLst>
                  <a:ext uri="{FF2B5EF4-FFF2-40B4-BE49-F238E27FC236}">
                    <a16:creationId xmlns:a16="http://schemas.microsoft.com/office/drawing/2014/main" id="{BFEA6134-4C48-E54A-4F06-D5A4E00D0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0212" y="5881685"/>
                <a:ext cx="2931268" cy="880626"/>
              </a:xfrm>
              <a:prstGeom prst="rect">
                <a:avLst/>
              </a:prstGeom>
              <a:blipFill>
                <a:blip r:embed="rId9"/>
                <a:stretch>
                  <a:fillRect l="-1250" r="-1250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rimitiva W">
            <a:extLst>
              <a:ext uri="{FF2B5EF4-FFF2-40B4-BE49-F238E27FC236}">
                <a16:creationId xmlns:a16="http://schemas.microsoft.com/office/drawing/2014/main" id="{B65FF388-D5E2-6034-32EE-E3F69E9BD0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32473" y="4104353"/>
            <a:ext cx="2782727" cy="19157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spressione W">
                <a:extLst>
                  <a:ext uri="{FF2B5EF4-FFF2-40B4-BE49-F238E27FC236}">
                    <a16:creationId xmlns:a16="http://schemas.microsoft.com/office/drawing/2014/main" id="{7BD904AA-68DA-BB45-2757-10D370F7DF55}"/>
                  </a:ext>
                </a:extLst>
              </p:cNvPr>
              <p:cNvSpPr txBox="1"/>
              <p:nvPr/>
            </p:nvSpPr>
            <p:spPr>
              <a:xfrm>
                <a:off x="8138573" y="5862311"/>
                <a:ext cx="3165353" cy="3881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600" i="0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600" i="0" dirty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𝜃</m:t>
                        </m:r>
                        <m:sSubSup>
                          <m:sSubSup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bSup>
                      </m:sup>
                    </m:sSup>
                  </m:oMath>
                </a14:m>
                <a:r>
                  <a:rPr lang="en-US" sz="1600" dirty="0"/>
                  <a:t> - </a:t>
                </a:r>
                <a:r>
                  <a:rPr lang="en-US" sz="1600" dirty="0" err="1"/>
                  <a:t>rotazione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reale</a:t>
                </a:r>
                <a:endParaRPr lang="en-US" sz="1600" dirty="0"/>
              </a:p>
            </p:txBody>
          </p:sp>
        </mc:Choice>
        <mc:Fallback xmlns="">
          <p:sp>
            <p:nvSpPr>
              <p:cNvPr id="12" name="Espressione W">
                <a:extLst>
                  <a:ext uri="{FF2B5EF4-FFF2-40B4-BE49-F238E27FC236}">
                    <a16:creationId xmlns:a16="http://schemas.microsoft.com/office/drawing/2014/main" id="{7BD904AA-68DA-BB45-2757-10D370F7D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8573" y="5862311"/>
                <a:ext cx="3165353" cy="388183"/>
              </a:xfrm>
              <a:prstGeom prst="rect">
                <a:avLst/>
              </a:prstGeom>
              <a:blipFill>
                <a:blip r:embed="rId11"/>
                <a:stretch>
                  <a:fillRect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esc PMA Esteso dimero">
            <a:extLst>
              <a:ext uri="{FF2B5EF4-FFF2-40B4-BE49-F238E27FC236}">
                <a16:creationId xmlns:a16="http://schemas.microsoft.com/office/drawing/2014/main" id="{871ACACE-49F0-03A4-A212-419EF8028965}"/>
              </a:ext>
            </a:extLst>
          </p:cNvPr>
          <p:cNvSpPr txBox="1"/>
          <p:nvPr/>
        </p:nvSpPr>
        <p:spPr>
          <a:xfrm>
            <a:off x="4685805" y="4215369"/>
            <a:ext cx="2321794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— 3 parametri</a:t>
            </a:r>
            <a:endParaRPr lang="en-US" sz="1600" dirty="0"/>
          </a:p>
        </p:txBody>
      </p:sp>
      <p:sp>
        <p:nvSpPr>
          <p:cNvPr id="11" name="Desc PMA base dimero">
            <a:extLst>
              <a:ext uri="{FF2B5EF4-FFF2-40B4-BE49-F238E27FC236}">
                <a16:creationId xmlns:a16="http://schemas.microsoft.com/office/drawing/2014/main" id="{EC601EB6-E0EC-A24E-8CD9-9DD6A6755A68}"/>
              </a:ext>
            </a:extLst>
          </p:cNvPr>
          <p:cNvSpPr txBox="1"/>
          <p:nvPr/>
        </p:nvSpPr>
        <p:spPr>
          <a:xfrm>
            <a:off x="7273280" y="4175012"/>
            <a:ext cx="4278335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— 1 parametro (2 rami, b/J ≶ 2)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ZIONE"/>
          <p:cNvSpPr txBox="1"/>
          <p:nvPr/>
        </p:nvSpPr>
        <p:spPr>
          <a:xfrm>
            <a:off x="640080" y="402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VQE - Ansatz"/>
              <p:cNvSpPr txBox="1"/>
              <p:nvPr/>
            </p:nvSpPr>
            <p:spPr>
              <a:xfrm>
                <a:off x="640079" y="713232"/>
                <a:ext cx="10865993" cy="7772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VQE – Preparazione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dello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parametrizzato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320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Ansatz</a:t>
                </a:r>
                <a:endParaRPr lang="en-US" sz="3200" dirty="0"/>
              </a:p>
            </p:txBody>
          </p:sp>
        </mc:Choice>
        <mc:Fallback xmlns="">
          <p:sp>
            <p:nvSpPr>
              <p:cNvPr id="3" name="VQE - Ansatz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79" y="713232"/>
                <a:ext cx="10865993" cy="777240"/>
              </a:xfrm>
              <a:prstGeom prst="rect">
                <a:avLst/>
              </a:prstGeom>
              <a:blipFill>
                <a:blip r:embed="rId3"/>
                <a:stretch>
                  <a:fillRect l="-2245" b="-1328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hape 2"/>
          <p:cNvSpPr/>
          <p:nvPr/>
        </p:nvSpPr>
        <p:spPr>
          <a:xfrm>
            <a:off x="625463" y="136135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itle Circuito Trimero">
            <a:extLst>
              <a:ext uri="{FF2B5EF4-FFF2-40B4-BE49-F238E27FC236}">
                <a16:creationId xmlns:a16="http://schemas.microsoft.com/office/drawing/2014/main" id="{6F06D79C-D78E-4C9A-C7FB-7D704A6485B9}"/>
              </a:ext>
            </a:extLst>
          </p:cNvPr>
          <p:cNvSpPr txBox="1"/>
          <p:nvPr/>
        </p:nvSpPr>
        <p:spPr>
          <a:xfrm>
            <a:off x="579921" y="1418777"/>
            <a:ext cx="109115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sto preparazione trimero">
                <a:extLst>
                  <a:ext uri="{FF2B5EF4-FFF2-40B4-BE49-F238E27FC236}">
                    <a16:creationId xmlns:a16="http://schemas.microsoft.com/office/drawing/2014/main" id="{505067FF-8756-102D-C3C1-5E6B2B24EAA0}"/>
                  </a:ext>
                </a:extLst>
              </p:cNvPr>
              <p:cNvSpPr txBox="1"/>
              <p:nvPr/>
            </p:nvSpPr>
            <p:spPr>
              <a:xfrm>
                <a:off x="625463" y="2135377"/>
                <a:ext cx="1091153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dirty="0"/>
                  <a:t>Due </a:t>
                </a:r>
                <a:r>
                  <a:rPr lang="en-US" sz="1500" dirty="0" err="1"/>
                  <a:t>circuiti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che</a:t>
                </a:r>
                <a:r>
                  <a:rPr lang="en-US" sz="1500" dirty="0"/>
                  <a:t> a </a:t>
                </a:r>
                <a:r>
                  <a:rPr lang="en-US" sz="1500" dirty="0" err="1"/>
                  <a:t>partire</a:t>
                </a:r>
                <a:r>
                  <a:rPr lang="en-US" sz="1500" dirty="0"/>
                  <a:t> da </a:t>
                </a:r>
                <a14:m>
                  <m:oMath xmlns:m="http://schemas.openxmlformats.org/officeDocument/2006/math">
                    <m:r>
                      <a:rPr lang="en-US" sz="15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1500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500" dirty="0"/>
                  <a:t> </a:t>
                </a:r>
                <a:r>
                  <a:rPr lang="en-US" sz="1500" dirty="0" err="1"/>
                  <a:t>preparano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⟩=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0" dirty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1500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confrontati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sulla</a:t>
                </a:r>
                <a:r>
                  <a:rPr lang="en-US" sz="1500" dirty="0"/>
                  <a:t> fidelity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5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₀⟩|²</m:t>
                    </m:r>
                  </m:oMath>
                </a14:m>
                <a:r>
                  <a:rPr lang="en-US" sz="1500" dirty="0"/>
                  <a:t> rispetto </a:t>
                </a:r>
                <a:r>
                  <a:rPr lang="en-US" sz="1500" dirty="0" err="1"/>
                  <a:t>allo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stato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fondamentale</a:t>
                </a:r>
                <a:r>
                  <a:rPr lang="en-US" sz="1500" dirty="0"/>
                  <a:t> </a:t>
                </a:r>
                <a:r>
                  <a:rPr lang="en-US" sz="1500" dirty="0" err="1"/>
                  <a:t>vero</a:t>
                </a:r>
                <a:endParaRPr lang="en-US" sz="1500" dirty="0"/>
              </a:p>
            </p:txBody>
          </p:sp>
        </mc:Choice>
        <mc:Fallback xmlns="">
          <p:sp>
            <p:nvSpPr>
              <p:cNvPr id="8" name="Testo preparazione trimero">
                <a:extLst>
                  <a:ext uri="{FF2B5EF4-FFF2-40B4-BE49-F238E27FC236}">
                    <a16:creationId xmlns:a16="http://schemas.microsoft.com/office/drawing/2014/main" id="{505067FF-8756-102D-C3C1-5E6B2B24E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63" y="2135377"/>
                <a:ext cx="10911535" cy="553998"/>
              </a:xfrm>
              <a:prstGeom prst="rect">
                <a:avLst/>
              </a:prstGeom>
              <a:blipFill>
                <a:blip r:embed="rId4"/>
                <a:stretch>
                  <a:fillRect t="-2198" b="-1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ircuito W-2q.6 trimero">
            <a:extLst>
              <a:ext uri="{FF2B5EF4-FFF2-40B4-BE49-F238E27FC236}">
                <a16:creationId xmlns:a16="http://schemas.microsoft.com/office/drawing/2014/main" id="{F7B5B225-88A3-5B3C-1336-0AA3661D68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173" y="2841794"/>
            <a:ext cx="5571825" cy="2290057"/>
          </a:xfrm>
          <a:prstGeom prst="rect">
            <a:avLst/>
          </a:prstGeom>
        </p:spPr>
      </p:pic>
      <p:pic>
        <p:nvPicPr>
          <p:cNvPr id="12" name="Circuito RBS-2q.6 trimero">
            <a:extLst>
              <a:ext uri="{FF2B5EF4-FFF2-40B4-BE49-F238E27FC236}">
                <a16:creationId xmlns:a16="http://schemas.microsoft.com/office/drawing/2014/main" id="{5ED0C11D-CCC9-E8F0-7A2F-87A8DE0AE6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538" y="2883740"/>
            <a:ext cx="5349299" cy="22481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Nota PMA esteso trimero">
                <a:extLst>
                  <a:ext uri="{FF2B5EF4-FFF2-40B4-BE49-F238E27FC236}">
                    <a16:creationId xmlns:a16="http://schemas.microsoft.com/office/drawing/2014/main" id="{D2943A68-9707-5CF2-981F-EBC027B2CA3D}"/>
                  </a:ext>
                </a:extLst>
              </p:cNvPr>
              <p:cNvSpPr txBox="1"/>
              <p:nvPr/>
            </p:nvSpPr>
            <p:spPr>
              <a:xfrm>
                <a:off x="787968" y="5833340"/>
                <a:ext cx="481888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6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RBS-2q.6 (PMA </a:t>
                </a:r>
                <a:r>
                  <a:rPr lang="en-US" sz="16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esteso</a:t>
                </a:r>
                <a:r>
                  <a:rPr lang="en-US" sz="16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</a:t>
                </a:r>
                <a:r>
                  <a:rPr lang="en-US" sz="16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trimero</a:t>
                </a:r>
                <a:r>
                  <a:rPr lang="en-US" sz="16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</a:t>
                </a:r>
                <a:r>
                  <a:rPr lang="en-US" sz="1600" b="1" dirty="0"/>
                  <a:t>: </a:t>
                </a:r>
                <a:r>
                  <a:rPr lang="en-US" sz="1600" dirty="0"/>
                  <a:t>RBS + </a:t>
                </a:r>
                <a:r>
                  <a:rPr lang="en-US" sz="1600" dirty="0" err="1"/>
                  <a:t>tre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rotazioni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indipendenti</a:t>
                </a:r>
                <a:r>
                  <a:rPr lang="en-US" sz="1600" dirty="0"/>
                  <a:t> sui </a:t>
                </a:r>
                <a:r>
                  <a:rPr lang="en-US" sz="1600" dirty="0" err="1"/>
                  <a:t>tre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legami</a:t>
                </a:r>
                <a:r>
                  <a:rPr lang="en-US" sz="1600" dirty="0"/>
                  <a:t> del </a:t>
                </a:r>
                <a:r>
                  <a:rPr lang="en-US" sz="1600" dirty="0" err="1"/>
                  <a:t>triangolo</a:t>
                </a:r>
                <a:r>
                  <a:rPr lang="en-US" sz="1600" dirty="0"/>
                  <a:t> - </a:t>
                </a:r>
                <a:r>
                  <a:rPr lang="en-US" sz="1600" dirty="0" err="1"/>
                  <a:t>stessa</a:t>
                </a:r>
                <a:r>
                  <a:rPr lang="en-US" sz="1600" dirty="0"/>
                  <a:t> idea del </a:t>
                </a:r>
                <a:r>
                  <a:rPr lang="en-US" sz="1600" dirty="0" err="1"/>
                  <a:t>dimero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estesa</a:t>
                </a:r>
                <a:r>
                  <a:rPr lang="en-US" sz="1600" dirty="0"/>
                  <a:t> a </a:t>
                </a:r>
                <a:r>
                  <a:rPr lang="en-US" sz="1600" dirty="0" err="1"/>
                  <a:t>tre</a:t>
                </a:r>
                <a:r>
                  <a:rPr lang="en-US" sz="1600" dirty="0"/>
                  <a:t> spin: 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&lt; 1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5" name="Nota PMA esteso trimero">
                <a:extLst>
                  <a:ext uri="{FF2B5EF4-FFF2-40B4-BE49-F238E27FC236}">
                    <a16:creationId xmlns:a16="http://schemas.microsoft.com/office/drawing/2014/main" id="{D2943A68-9707-5CF2-981F-EBC027B2C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68" y="5833340"/>
                <a:ext cx="4818888" cy="830997"/>
              </a:xfrm>
              <a:prstGeom prst="rect">
                <a:avLst/>
              </a:prstGeom>
              <a:blipFill>
                <a:blip r:embed="rId7"/>
                <a:stretch>
                  <a:fillRect l="-632" t="-2206" r="-632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Nota PMA esteso trmero">
                <a:extLst>
                  <a:ext uri="{FF2B5EF4-FFF2-40B4-BE49-F238E27FC236}">
                    <a16:creationId xmlns:a16="http://schemas.microsoft.com/office/drawing/2014/main" id="{FCC1EC33-E840-6462-6166-E66176B5B039}"/>
                  </a:ext>
                </a:extLst>
              </p:cNvPr>
              <p:cNvSpPr txBox="1"/>
              <p:nvPr/>
            </p:nvSpPr>
            <p:spPr>
              <a:xfrm>
                <a:off x="6405437" y="5829404"/>
                <a:ext cx="481888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6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W-2q.6 (</a:t>
                </a:r>
                <a:r>
                  <a:rPr lang="en-US" sz="16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circuito</a:t>
                </a:r>
                <a:r>
                  <a:rPr lang="en-US" sz="16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6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scelto</a:t>
                </a:r>
                <a:r>
                  <a:rPr lang="en-US" sz="16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</a:t>
                </a:r>
                <a:r>
                  <a:rPr lang="en-US" sz="16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trimero</a:t>
                </a:r>
                <a:r>
                  <a:rPr lang="en-US" sz="16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</a:t>
                </a:r>
                <a:r>
                  <a:rPr lang="en-US" sz="1600" b="1" dirty="0"/>
                  <a:t>: </a:t>
                </a:r>
                <a:r>
                  <a:rPr lang="en-US" sz="1600" dirty="0" err="1"/>
                  <a:t>Stessa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struttura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blocco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1600" dirty="0"/>
                  <a:t> al </a:t>
                </a:r>
                <a:r>
                  <a:rPr lang="en-US" sz="1600" dirty="0" err="1"/>
                  <a:t>posto</a:t>
                </a:r>
                <a:r>
                  <a:rPr lang="en-US" sz="1600" dirty="0"/>
                  <a:t> di RBS: 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7" name="Nota PMA esteso trmero">
                <a:extLst>
                  <a:ext uri="{FF2B5EF4-FFF2-40B4-BE49-F238E27FC236}">
                    <a16:creationId xmlns:a16="http://schemas.microsoft.com/office/drawing/2014/main" id="{FCC1EC33-E840-6462-6166-E66176B5B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437" y="5829404"/>
                <a:ext cx="4818888" cy="584775"/>
              </a:xfrm>
              <a:prstGeom prst="rect">
                <a:avLst/>
              </a:prstGeom>
              <a:blipFill>
                <a:blip r:embed="rId8"/>
                <a:stretch>
                  <a:fillRect l="-759" t="-3125" r="-633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84E39E-24EE-14F4-46F7-D5FDA08E9ECF}"/>
                  </a:ext>
                </a:extLst>
              </p:cNvPr>
              <p:cNvSpPr txBox="1"/>
              <p:nvPr/>
            </p:nvSpPr>
            <p:spPr>
              <a:xfrm>
                <a:off x="561510" y="3469226"/>
                <a:ext cx="280782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84E39E-24EE-14F4-46F7-D5FDA08E9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510" y="3469226"/>
                <a:ext cx="280782" cy="276999"/>
              </a:xfrm>
              <a:prstGeom prst="rect">
                <a:avLst/>
              </a:prstGeom>
              <a:blipFill>
                <a:blip r:embed="rId9"/>
                <a:stretch>
                  <a:fillRect l="-21739" r="-4348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11DAD5-B514-573C-AA9B-0037F4D882D2}"/>
                  </a:ext>
                </a:extLst>
              </p:cNvPr>
              <p:cNvSpPr txBox="1"/>
              <p:nvPr/>
            </p:nvSpPr>
            <p:spPr>
              <a:xfrm>
                <a:off x="561510" y="3974564"/>
                <a:ext cx="275460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11DAD5-B514-573C-AA9B-0037F4D88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510" y="3974564"/>
                <a:ext cx="275460" cy="276999"/>
              </a:xfrm>
              <a:prstGeom prst="rect">
                <a:avLst/>
              </a:prstGeom>
              <a:blipFill>
                <a:blip r:embed="rId10"/>
                <a:stretch>
                  <a:fillRect l="-22222" r="-444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B79525-A1C8-6C76-E3EC-3EFFAEBD40DA}"/>
                  </a:ext>
                </a:extLst>
              </p:cNvPr>
              <p:cNvSpPr txBox="1"/>
              <p:nvPr/>
            </p:nvSpPr>
            <p:spPr>
              <a:xfrm>
                <a:off x="573202" y="4479902"/>
                <a:ext cx="280781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B79525-A1C8-6C76-E3EC-3EFFAEBD4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02" y="4479902"/>
                <a:ext cx="280781" cy="276999"/>
              </a:xfrm>
              <a:prstGeom prst="rect">
                <a:avLst/>
              </a:prstGeom>
              <a:blipFill>
                <a:blip r:embed="rId11"/>
                <a:stretch>
                  <a:fillRect l="-21739" r="-434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1E7CEDE-A963-EABC-49D6-2B3F42060F0E}"/>
                  </a:ext>
                </a:extLst>
              </p:cNvPr>
              <p:cNvSpPr txBox="1"/>
              <p:nvPr/>
            </p:nvSpPr>
            <p:spPr>
              <a:xfrm>
                <a:off x="5951998" y="3453007"/>
                <a:ext cx="280782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1E7CEDE-A963-EABC-49D6-2B3F42060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998" y="3453007"/>
                <a:ext cx="280782" cy="276999"/>
              </a:xfrm>
              <a:prstGeom prst="rect">
                <a:avLst/>
              </a:prstGeom>
              <a:blipFill>
                <a:blip r:embed="rId12"/>
                <a:stretch>
                  <a:fillRect l="-21739" r="-4348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BA0BD74-C0BF-38B8-290C-D2933908B1BF}"/>
                  </a:ext>
                </a:extLst>
              </p:cNvPr>
              <p:cNvSpPr txBox="1"/>
              <p:nvPr/>
            </p:nvSpPr>
            <p:spPr>
              <a:xfrm>
                <a:off x="5951998" y="3958345"/>
                <a:ext cx="275460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BA0BD74-C0BF-38B8-290C-D2933908B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998" y="3958345"/>
                <a:ext cx="275460" cy="276999"/>
              </a:xfrm>
              <a:prstGeom prst="rect">
                <a:avLst/>
              </a:prstGeom>
              <a:blipFill>
                <a:blip r:embed="rId13"/>
                <a:stretch>
                  <a:fillRect l="-21739" r="-2174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4DBB760-55C4-48B1-B41F-4EB8A2F69C08}"/>
                  </a:ext>
                </a:extLst>
              </p:cNvPr>
              <p:cNvSpPr txBox="1"/>
              <p:nvPr/>
            </p:nvSpPr>
            <p:spPr>
              <a:xfrm>
                <a:off x="5963690" y="4463683"/>
                <a:ext cx="280781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4DBB760-55C4-48B1-B41F-4EB8A2F69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690" y="4463683"/>
                <a:ext cx="280781" cy="276999"/>
              </a:xfrm>
              <a:prstGeom prst="rect">
                <a:avLst/>
              </a:prstGeom>
              <a:blipFill>
                <a:blip r:embed="rId14"/>
                <a:stretch>
                  <a:fillRect l="-21739" r="-4348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B25565AF-A183-309D-7BAF-B3460DA3DE06}"/>
              </a:ext>
            </a:extLst>
          </p:cNvPr>
          <p:cNvSpPr txBox="1"/>
          <p:nvPr/>
        </p:nvSpPr>
        <p:spPr>
          <a:xfrm>
            <a:off x="1241026" y="4846195"/>
            <a:ext cx="405632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A71933-0F1F-ED0E-0E97-68DBD739494E}"/>
              </a:ext>
            </a:extLst>
          </p:cNvPr>
          <p:cNvSpPr txBox="1"/>
          <p:nvPr/>
        </p:nvSpPr>
        <p:spPr>
          <a:xfrm>
            <a:off x="6590325" y="4868753"/>
            <a:ext cx="405632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Statica</a:t>
            </a:r>
            <a:endParaRPr lang="en-US" sz="3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A09C46F-1D81-6637-ED9D-5535D92130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9125" y="1957028"/>
            <a:ext cx="4603714" cy="3586051"/>
          </a:xfrm>
          <a:prstGeom prst="rect">
            <a:avLst/>
          </a:prstGeom>
        </p:spPr>
      </p:pic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362881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Primitive a due qubit">
            <a:extLst>
              <a:ext uri="{FF2B5EF4-FFF2-40B4-BE49-F238E27FC236}">
                <a16:creationId xmlns:a16="http://schemas.microsoft.com/office/drawing/2014/main" id="{F1723D25-7A93-CFC7-BD25-4E48F41785D7}"/>
              </a:ext>
            </a:extLst>
          </p:cNvPr>
          <p:cNvSpPr txBox="1"/>
          <p:nvPr/>
        </p:nvSpPr>
        <p:spPr>
          <a:xfrm>
            <a:off x="652778" y="1362881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Livelli di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approssimazione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 e gap</a:t>
            </a:r>
            <a:endParaRPr lang="en-US" sz="2100" i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B885715-53D8-A5AD-AE37-C85FD523B1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77516" y="1940496"/>
            <a:ext cx="4603713" cy="3586051"/>
          </a:xfrm>
          <a:prstGeom prst="rect">
            <a:avLst/>
          </a:prstGeom>
        </p:spPr>
      </p:pic>
      <p:graphicFrame>
        <p:nvGraphicFramePr>
          <p:cNvPr id="28" name="Table 0">
            <a:extLst>
              <a:ext uri="{FF2B5EF4-FFF2-40B4-BE49-F238E27FC236}">
                <a16:creationId xmlns:a16="http://schemas.microsoft.com/office/drawing/2014/main" id="{7C30B9A2-D73B-A487-8EDD-4C2653116E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095681"/>
              </p:ext>
            </p:extLst>
          </p:nvPr>
        </p:nvGraphicFramePr>
        <p:xfrm>
          <a:off x="5922335" y="5517535"/>
          <a:ext cx="5641974" cy="1280160"/>
        </p:xfrm>
        <a:graphic>
          <a:graphicData uri="http://schemas.openxmlformats.org/drawingml/2006/table">
            <a:tbl>
              <a:tblPr/>
              <a:tblGrid>
                <a:gridCol w="614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56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9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122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56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S₁₂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Energia (b=0)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(J=1,J'=0.4)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 (M)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+ 2J'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+3/2, +1/2, −1/2, −3/2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− 4J'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+1/2, −1/2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+1/2, −1/2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2" name="Table 0">
            <a:extLst>
              <a:ext uri="{FF2B5EF4-FFF2-40B4-BE49-F238E27FC236}">
                <a16:creationId xmlns:a16="http://schemas.microsoft.com/office/drawing/2014/main" id="{3A297860-CA20-BB7D-CC53-DBD5D8A49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904225"/>
              </p:ext>
            </p:extLst>
          </p:nvPr>
        </p:nvGraphicFramePr>
        <p:xfrm>
          <a:off x="652779" y="5592089"/>
          <a:ext cx="4535910" cy="1203960"/>
        </p:xfrm>
        <a:graphic>
          <a:graphicData uri="http://schemas.openxmlformats.org/drawingml/2006/table">
            <a:tbl>
              <a:tblPr/>
              <a:tblGrid>
                <a:gridCol w="836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22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8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23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1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(J=1)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 (M)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1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Tripletto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+ 2bM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dipende da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 0, −1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7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Singoletto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−3.0 (costante)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3028" y="713232"/>
            <a:ext cx="108992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40984"/>
            <a:ext cx="4772165" cy="1654107"/>
          </a:xfrm>
          <a:prstGeom prst="roundRect">
            <a:avLst>
              <a:gd name="adj" fmla="val 3846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8267" y="3641263"/>
            <a:ext cx="5179895" cy="3181444"/>
          </a:xfrm>
          <a:prstGeom prst="rect">
            <a:avLst/>
          </a:prstGeom>
        </p:spPr>
      </p:pic>
      <p:sp>
        <p:nvSpPr>
          <p:cNvPr id="17" name="Shape 9">
            <a:extLst>
              <a:ext uri="{FF2B5EF4-FFF2-40B4-BE49-F238E27FC236}">
                <a16:creationId xmlns:a16="http://schemas.microsoft.com/office/drawing/2014/main" id="{488AC17E-E47C-B563-1AFB-E9465463B42C}"/>
              </a:ext>
            </a:extLst>
          </p:cNvPr>
          <p:cNvSpPr/>
          <p:nvPr/>
        </p:nvSpPr>
        <p:spPr>
          <a:xfrm>
            <a:off x="6720688" y="1951756"/>
            <a:ext cx="4800600" cy="1667487"/>
          </a:xfrm>
          <a:prstGeom prst="roundRect">
            <a:avLst>
              <a:gd name="adj" fmla="val 606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10">
                <a:extLst>
                  <a:ext uri="{FF2B5EF4-FFF2-40B4-BE49-F238E27FC236}">
                    <a16:creationId xmlns:a16="http://schemas.microsoft.com/office/drawing/2014/main" id="{DD0AA3B3-009A-1CDA-FC09-2F110BD262B8}"/>
                  </a:ext>
                </a:extLst>
              </p:cNvPr>
              <p:cNvSpPr txBox="1"/>
              <p:nvPr/>
            </p:nvSpPr>
            <p:spPr>
              <a:xfrm>
                <a:off x="974634" y="2024121"/>
                <a:ext cx="4480560" cy="3291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5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Punto di </a:t>
                </a:r>
                <a:r>
                  <a:rPr lang="en-US" sz="15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incrocio</a:t>
                </a:r>
                <a:r>
                  <a:rPr lang="en-US" sz="15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1" i="1" dirty="0" err="1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1" i="1" dirty="0" err="1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sz="1500" b="1" i="1" dirty="0" err="1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endParaRPr lang="en-US" sz="1500" b="1" dirty="0"/>
              </a:p>
            </p:txBody>
          </p:sp>
        </mc:Choice>
        <mc:Fallback xmlns="">
          <p:sp>
            <p:nvSpPr>
              <p:cNvPr id="18" name="Text 10">
                <a:extLst>
                  <a:ext uri="{FF2B5EF4-FFF2-40B4-BE49-F238E27FC236}">
                    <a16:creationId xmlns:a16="http://schemas.microsoft.com/office/drawing/2014/main" id="{DD0AA3B3-009A-1CDA-FC09-2F110BD26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634" y="2024121"/>
                <a:ext cx="4480560" cy="329184"/>
              </a:xfrm>
              <a:prstGeom prst="rect">
                <a:avLst/>
              </a:prstGeom>
              <a:blipFill>
                <a:blip r:embed="rId4"/>
                <a:stretch>
                  <a:fillRect l="-2585" t="-1852" b="-1851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4">
            <a:extLst>
              <a:ext uri="{FF2B5EF4-FFF2-40B4-BE49-F238E27FC236}">
                <a16:creationId xmlns:a16="http://schemas.microsoft.com/office/drawing/2014/main" id="{9C1EF0B7-F5C7-5CAB-D386-063FB5455466}"/>
              </a:ext>
            </a:extLst>
          </p:cNvPr>
          <p:cNvSpPr txBox="1"/>
          <p:nvPr/>
        </p:nvSpPr>
        <p:spPr>
          <a:xfrm>
            <a:off x="974634" y="2353305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2,  D/J = 0.2</a:t>
            </a:r>
            <a:endParaRPr lang="en-US" sz="130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589AEB8D-7E20-4EE9-583F-AAF655D143C6}"/>
              </a:ext>
            </a:extLst>
          </p:cNvPr>
          <p:cNvSpPr txBox="1"/>
          <p:nvPr/>
        </p:nvSpPr>
        <p:spPr>
          <a:xfrm>
            <a:off x="975360" y="2658189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(6 par.):  F = 1.000000</a:t>
            </a:r>
            <a:endParaRPr lang="en-US" sz="135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2CBC856D-E0D5-332F-2C6A-5028E5F70E25}"/>
              </a:ext>
            </a:extLst>
          </p:cNvPr>
          <p:cNvSpPr txBox="1"/>
          <p:nvPr/>
        </p:nvSpPr>
        <p:spPr>
          <a:xfrm>
            <a:off x="975360" y="2968663"/>
            <a:ext cx="314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(1 par.):  F = 0.701</a:t>
            </a:r>
            <a:endParaRPr lang="en-US" sz="135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7916E202-C893-D83E-E888-CD095B062221}"/>
              </a:ext>
            </a:extLst>
          </p:cNvPr>
          <p:cNvSpPr txBox="1"/>
          <p:nvPr/>
        </p:nvSpPr>
        <p:spPr>
          <a:xfrm>
            <a:off x="975360" y="3278715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(3 par.):  F = 1.000000 (12 </a:t>
            </a:r>
            <a:r>
              <a:rPr lang="en-US" sz="135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cifre</a:t>
            </a: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50" dirty="0"/>
          </a:p>
        </p:txBody>
      </p:sp>
      <p:sp>
        <p:nvSpPr>
          <p:cNvPr id="29" name="Text 3"/>
          <p:cNvSpPr txBox="1"/>
          <p:nvPr/>
        </p:nvSpPr>
        <p:spPr>
          <a:xfrm>
            <a:off x="7056145" y="2042411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di </a:t>
            </a:r>
            <a:r>
              <a:rPr lang="en-US" sz="15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lavoro</a:t>
            </a:r>
            <a:endParaRPr lang="en-US" sz="1500" dirty="0"/>
          </a:p>
        </p:txBody>
      </p:sp>
      <p:sp>
        <p:nvSpPr>
          <p:cNvPr id="30" name="Text 4"/>
          <p:cNvSpPr txBox="1"/>
          <p:nvPr/>
        </p:nvSpPr>
        <p:spPr>
          <a:xfrm>
            <a:off x="7056145" y="2353307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0.35,  D/J = 0.80</a:t>
            </a:r>
            <a:endParaRPr lang="en-US" sz="1300" dirty="0"/>
          </a:p>
        </p:txBody>
      </p:sp>
      <p:sp>
        <p:nvSpPr>
          <p:cNvPr id="31" name="Text 6"/>
          <p:cNvSpPr txBox="1"/>
          <p:nvPr/>
        </p:nvSpPr>
        <p:spPr>
          <a:xfrm>
            <a:off x="7040728" y="2658191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(6 par.):  F = 1.000000</a:t>
            </a:r>
            <a:endParaRPr lang="en-US" sz="1350" dirty="0"/>
          </a:p>
        </p:txBody>
      </p:sp>
      <p:sp>
        <p:nvSpPr>
          <p:cNvPr id="32" name="Text 7"/>
          <p:cNvSpPr txBox="1"/>
          <p:nvPr/>
        </p:nvSpPr>
        <p:spPr>
          <a:xfrm>
            <a:off x="7056145" y="2968665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(1 par.):  F = 0.940</a:t>
            </a:r>
            <a:endParaRPr lang="en-US" sz="1350" dirty="0"/>
          </a:p>
        </p:txBody>
      </p:sp>
      <p:sp>
        <p:nvSpPr>
          <p:cNvPr id="33" name="Text 8"/>
          <p:cNvSpPr txBox="1"/>
          <p:nvPr/>
        </p:nvSpPr>
        <p:spPr>
          <a:xfrm>
            <a:off x="7034671" y="3276229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(3 par.):  F = 1.000000 (12 </a:t>
            </a:r>
            <a:r>
              <a:rPr lang="en-US" sz="135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cifre</a:t>
            </a: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3838D7-7D73-76E0-9DD6-9FB484B8590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64434" y="3649807"/>
            <a:ext cx="4258698" cy="3227645"/>
          </a:xfrm>
          <a:prstGeom prst="rect">
            <a:avLst/>
          </a:prstGeom>
        </p:spPr>
      </p:pic>
      <p:sp>
        <p:nvSpPr>
          <p:cNvPr id="7" name="Shape 2">
            <a:extLst>
              <a:ext uri="{FF2B5EF4-FFF2-40B4-BE49-F238E27FC236}">
                <a16:creationId xmlns:a16="http://schemas.microsoft.com/office/drawing/2014/main" id="{DCA06EA8-36E8-D670-F396-71CA9D378364}"/>
              </a:ext>
            </a:extLst>
          </p:cNvPr>
          <p:cNvSpPr/>
          <p:nvPr/>
        </p:nvSpPr>
        <p:spPr>
          <a:xfrm>
            <a:off x="655295" y="133593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itle Circuito Trimero">
            <a:extLst>
              <a:ext uri="{FF2B5EF4-FFF2-40B4-BE49-F238E27FC236}">
                <a16:creationId xmlns:a16="http://schemas.microsoft.com/office/drawing/2014/main" id="{78B8907C-D744-5EDC-938C-7982696992D8}"/>
              </a:ext>
            </a:extLst>
          </p:cNvPr>
          <p:cNvSpPr txBox="1"/>
          <p:nvPr/>
        </p:nvSpPr>
        <p:spPr>
          <a:xfrm>
            <a:off x="609753" y="1393359"/>
            <a:ext cx="109115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Ansatz 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sensibilità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DM</a:t>
            </a:r>
            <a:endParaRPr 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12">
                <a:extLst>
                  <a:ext uri="{FF2B5EF4-FFF2-40B4-BE49-F238E27FC236}">
                    <a16:creationId xmlns:a16="http://schemas.microsoft.com/office/drawing/2014/main" id="{EFB4FAC2-0E80-E610-7ECF-FBA3D1B90421}"/>
                  </a:ext>
                </a:extLst>
              </p:cNvPr>
              <p:cNvSpPr txBox="1"/>
              <p:nvPr/>
            </p:nvSpPr>
            <p:spPr>
              <a:xfrm>
                <a:off x="9436605" y="2317435"/>
                <a:ext cx="2078626" cy="71724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Scelto</a:t>
                </a:r>
                <a:r>
                  <a:rPr lang="en-US" sz="14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a </a:t>
                </a:r>
                <a:r>
                  <a:rPr lang="en-US" sz="14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dimostrare</a:t>
                </a:r>
                <a:r>
                  <a:rPr lang="en-US" sz="14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4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che</a:t>
                </a:r>
                <a:r>
                  <a:rPr lang="en-US" sz="14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il </a:t>
                </a:r>
                <a:r>
                  <a:rPr lang="en-US" sz="14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problema</a:t>
                </a:r>
                <a:r>
                  <a:rPr lang="en-US" sz="14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del PMA base non è solo un </a:t>
                </a:r>
                <a:r>
                  <a:rPr lang="en-US" sz="14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problema</a:t>
                </a:r>
                <a:r>
                  <a:rPr lang="en-US" sz="14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di </a:t>
                </a:r>
                <a:r>
                  <a:rPr lang="en-US" sz="14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vicinanza</a:t>
                </a:r>
                <a:r>
                  <a:rPr lang="en-US" sz="14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err="1">
                            <a:solidFill>
                              <a:srgbClr val="5B6B8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err="1">
                            <a:solidFill>
                              <a:srgbClr val="5B6B84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400" i="1" dirty="0" err="1">
                            <a:solidFill>
                              <a:srgbClr val="5B6B84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9" name="Text 12">
                <a:extLst>
                  <a:ext uri="{FF2B5EF4-FFF2-40B4-BE49-F238E27FC236}">
                    <a16:creationId xmlns:a16="http://schemas.microsoft.com/office/drawing/2014/main" id="{EFB4FAC2-0E80-E610-7ECF-FBA3D1B90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6605" y="2317435"/>
                <a:ext cx="2078626" cy="717243"/>
              </a:xfrm>
              <a:prstGeom prst="rect">
                <a:avLst/>
              </a:prstGeom>
              <a:blipFill>
                <a:blip r:embed="rId6"/>
                <a:stretch>
                  <a:fillRect l="-5279" t="-16949" r="-4985" b="-2457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12">
            <a:extLst>
              <a:ext uri="{FF2B5EF4-FFF2-40B4-BE49-F238E27FC236}">
                <a16:creationId xmlns:a16="http://schemas.microsoft.com/office/drawing/2014/main" id="{F4FFC866-10AE-81A3-5E5A-3C6C18F12820}"/>
              </a:ext>
            </a:extLst>
          </p:cNvPr>
          <p:cNvSpPr txBox="1"/>
          <p:nvPr/>
        </p:nvSpPr>
        <p:spPr>
          <a:xfrm>
            <a:off x="9155540" y="5672470"/>
            <a:ext cx="2365748" cy="614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degradazione dipende anche da D, non solo </a:t>
            </a:r>
            <a:r>
              <a:rPr lang="en-US" sz="14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</a:t>
            </a:r>
            <a:r>
              <a:rPr lang="en-US" sz="14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vicinanza</a:t>
            </a:r>
            <a:r>
              <a:rPr lang="en-US" sz="14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all'incrocio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endParaRPr lang="en-US" sz="32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346933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Primitive a due qubit">
            <a:extLst>
              <a:ext uri="{FF2B5EF4-FFF2-40B4-BE49-F238E27FC236}">
                <a16:creationId xmlns:a16="http://schemas.microsoft.com/office/drawing/2014/main" id="{F1723D25-7A93-CFC7-BD25-4E48F41785D7}"/>
              </a:ext>
            </a:extLst>
          </p:cNvPr>
          <p:cNvSpPr txBox="1"/>
          <p:nvPr/>
        </p:nvSpPr>
        <p:spPr>
          <a:xfrm>
            <a:off x="652778" y="1346933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Trotter: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convergenza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sz="21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635F32-38C9-142C-E9B9-9BBB6AC38F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0816" y="1919891"/>
            <a:ext cx="3440756" cy="26077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DA67D3-E7A5-C13E-0658-3EDB1A3715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1556" y="4310339"/>
            <a:ext cx="3361498" cy="25476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40B33C-239B-8E60-76CB-5263CC5B132F}"/>
                  </a:ext>
                </a:extLst>
              </p:cNvPr>
              <p:cNvSpPr txBox="1"/>
              <p:nvPr/>
            </p:nvSpPr>
            <p:spPr>
              <a:xfrm>
                <a:off x="7869506" y="5106062"/>
                <a:ext cx="3657359" cy="15776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/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𝑐𝑖𝑟𝑐𝑢𝑖𝑡𝑜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𝑒𝑠𝑎𝑡𝑡𝑜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lang="en-US" sz="1600" dirty="0"/>
                  <a:t>: </a:t>
                </a:r>
                <a:r>
                  <a:rPr lang="en-US" sz="1600" dirty="0" err="1"/>
                  <a:t>quanto</a:t>
                </a:r>
                <a:r>
                  <a:rPr lang="en-US" sz="1600" dirty="0"/>
                  <a:t> il </a:t>
                </a:r>
                <a:r>
                  <a:rPr lang="en-US" sz="1600" dirty="0" err="1"/>
                  <a:t>circuito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approssima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6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𝑖𝐻𝑡</m:t>
                        </m:r>
                      </m:sup>
                    </m:sSup>
                  </m:oMath>
                </a14:m>
                <a:r>
                  <a:rPr lang="en-US" sz="1600" dirty="0"/>
                  <a:t> </a:t>
                </a:r>
                <a:r>
                  <a:rPr lang="en-US" sz="1600" b="1" dirty="0"/>
                  <a:t>in generale</a:t>
                </a:r>
                <a:r>
                  <a:rPr lang="en-US" sz="1600" dirty="0"/>
                  <a:t> (</a:t>
                </a:r>
                <a:r>
                  <a:rPr lang="en-US" sz="1600" dirty="0" err="1"/>
                  <a:t>caso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peggiore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su</a:t>
                </a:r>
                <a:r>
                  <a:rPr lang="en-US" sz="1600" dirty="0"/>
                  <a:t> </a:t>
                </a:r>
                <a:r>
                  <a:rPr lang="en-US" sz="1600" dirty="0" err="1"/>
                  <a:t>qualunque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stato</a:t>
                </a:r>
                <a:r>
                  <a:rPr lang="en-US" sz="1600" dirty="0"/>
                  <a:t>) .</a:t>
                </a:r>
              </a:p>
              <a:p>
                <a:pPr lvl="0"/>
                <a:endParaRPr lang="en-US" sz="1600" dirty="0"/>
              </a:p>
              <a:p>
                <a:pPr lvl="0" algn="just"/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sz="1600" dirty="0"/>
                  <a:t>: </a:t>
                </a:r>
                <a:r>
                  <a:rPr lang="en-US" sz="1600" dirty="0" err="1"/>
                  <a:t>quanto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sbaglia</a:t>
                </a:r>
                <a:r>
                  <a:rPr lang="en-US" sz="1600" dirty="0"/>
                  <a:t> </a:t>
                </a:r>
                <a:r>
                  <a:rPr lang="en-US" sz="1600" b="1" dirty="0" err="1"/>
                  <a:t>sullo</a:t>
                </a:r>
                <a:r>
                  <a:rPr lang="en-US" sz="1600" b="1" dirty="0"/>
                  <a:t> </a:t>
                </a:r>
                <a:r>
                  <a:rPr lang="en-US" sz="1600" b="1" dirty="0" err="1"/>
                  <a:t>stato</a:t>
                </a:r>
                <a:r>
                  <a:rPr lang="en-US" sz="1600" b="1" dirty="0"/>
                  <a:t> </a:t>
                </a:r>
                <a:r>
                  <a:rPr lang="en-US" sz="1600" b="1" dirty="0" err="1"/>
                  <a:t>iniziale</a:t>
                </a:r>
                <a:r>
                  <a:rPr lang="en-US" sz="1600" b="1" dirty="0"/>
                  <a:t> </a:t>
                </a:r>
                <a:r>
                  <a:rPr lang="en-US" sz="1600" b="1" dirty="0" err="1"/>
                  <a:t>specifico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che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usiamo</a:t>
                </a:r>
                <a:r>
                  <a:rPr lang="en-US" sz="1600" dirty="0"/>
                  <a:t> (∣00⟩ o ∣000⟩).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40B33C-239B-8E60-76CB-5263CC5B1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9506" y="5106062"/>
                <a:ext cx="3657359" cy="1577676"/>
              </a:xfrm>
              <a:prstGeom prst="rect">
                <a:avLst/>
              </a:prstGeom>
              <a:blipFill>
                <a:blip r:embed="rId5"/>
                <a:stretch>
                  <a:fillRect l="-1000" t="-1163" r="-833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0458C2-6980-59D4-2538-994A71279422}"/>
                  </a:ext>
                </a:extLst>
              </p:cNvPr>
              <p:cNvSpPr txBox="1"/>
              <p:nvPr/>
            </p:nvSpPr>
            <p:spPr>
              <a:xfrm>
                <a:off x="7881862" y="2063468"/>
                <a:ext cx="3657359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600" dirty="0"/>
                  <a:t>Si </a:t>
                </a:r>
                <a:r>
                  <a:rPr lang="en-US" sz="1600" dirty="0" err="1"/>
                  <a:t>inizializza</a:t>
                </a:r>
                <a:r>
                  <a:rPr lang="en-US" sz="1600" dirty="0"/>
                  <a:t> il </a:t>
                </a:r>
                <a:r>
                  <a:rPr lang="en-US" sz="1600" dirty="0" err="1"/>
                  <a:t>sistema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fuori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equilibrio</a:t>
                </a:r>
                <a:r>
                  <a:rPr lang="en-US" sz="1600" dirty="0"/>
                  <a:t> (es. ∣00⟩ per il </a:t>
                </a:r>
                <a:r>
                  <a:rPr lang="en-US" sz="1600" dirty="0" err="1"/>
                  <a:t>dimero</a:t>
                </a:r>
                <a:r>
                  <a:rPr lang="en-US" sz="1600" dirty="0"/>
                  <a:t>, ∣000⟩ per il </a:t>
                </a:r>
                <a:r>
                  <a:rPr lang="en-US" sz="1600" dirty="0" err="1"/>
                  <a:t>trimero</a:t>
                </a:r>
                <a:r>
                  <a:rPr lang="en-US" sz="1600" dirty="0"/>
                  <a:t>) e </a:t>
                </a:r>
                <a:r>
                  <a:rPr lang="en-US" sz="1600" dirty="0" err="1"/>
                  <a:t>si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osserva</a:t>
                </a:r>
                <a:r>
                  <a:rPr lang="en-US" sz="1600" dirty="0"/>
                  <a:t> come evolve </a:t>
                </a:r>
                <a:r>
                  <a:rPr lang="en-US" sz="1600" dirty="0" err="1"/>
                  <a:t>nel</a:t>
                </a:r>
                <a:r>
                  <a:rPr lang="en-US" sz="1600" dirty="0"/>
                  <a:t> tempo sotto la </a:t>
                </a:r>
                <a:r>
                  <a:rPr lang="en-US" sz="1600" dirty="0" err="1"/>
                  <a:t>dinamica</a:t>
                </a:r>
                <a:r>
                  <a:rPr lang="en-US" sz="1600" dirty="0"/>
                  <a:t> di Trotter.</a:t>
                </a:r>
              </a:p>
              <a:p>
                <a:endParaRPr lang="en-US" sz="1600" dirty="0"/>
              </a:p>
              <a:p>
                <a:r>
                  <a:rPr lang="en-US" sz="1600" b="1" dirty="0"/>
                  <a:t>Per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l'Hamiltoniana</a:t>
                </a:r>
                <a:r>
                  <a:rPr lang="en-US" sz="1600" dirty="0"/>
                  <a:t> non </a:t>
                </a:r>
                <a:r>
                  <a:rPr lang="en-US" sz="1600" dirty="0" err="1"/>
                  <a:t>commuta</a:t>
                </a:r>
                <a:r>
                  <a:rPr lang="en-US" sz="1600" dirty="0"/>
                  <a:t> con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𝑡𝑜𝑡</m:t>
                        </m:r>
                      </m:sup>
                    </m:sSubSup>
                  </m:oMath>
                </a14:m>
                <a:r>
                  <a:rPr lang="en-US" sz="1600" dirty="0"/>
                  <a:t>​ a causa del </a:t>
                </a:r>
                <a:r>
                  <a:rPr lang="en-US" sz="1600" dirty="0" err="1"/>
                  <a:t>termine</a:t>
                </a:r>
                <a:r>
                  <a:rPr lang="en-US" sz="1600" dirty="0"/>
                  <a:t> DM. </a:t>
                </a:r>
                <a:r>
                  <a:rPr lang="en-US" sz="1600" dirty="0" err="1"/>
                  <a:t>Quindi</a:t>
                </a:r>
                <a:r>
                  <a:rPr lang="en-US" sz="1600" dirty="0"/>
                  <a:t> lo </a:t>
                </a:r>
                <a:r>
                  <a:rPr lang="en-US" sz="1600" dirty="0" err="1"/>
                  <a:t>stato</a:t>
                </a:r>
                <a:r>
                  <a:rPr lang="en-US" sz="1600" dirty="0"/>
                  <a:t> evolve in </a:t>
                </a:r>
                <a:r>
                  <a:rPr lang="en-US" sz="1600" dirty="0" err="1"/>
                  <a:t>una</a:t>
                </a:r>
                <a:r>
                  <a:rPr lang="en-US" sz="1600" dirty="0"/>
                  <a:t> </a:t>
                </a:r>
                <a:r>
                  <a:rPr lang="en-US" sz="1600" b="1" dirty="0" err="1"/>
                  <a:t>sovrapposizione</a:t>
                </a:r>
                <a:r>
                  <a:rPr lang="en-US" sz="1600" dirty="0"/>
                  <a:t> di </a:t>
                </a:r>
                <a:r>
                  <a:rPr lang="en-US" sz="1600" dirty="0" err="1"/>
                  <a:t>autostati</a:t>
                </a:r>
                <a:r>
                  <a:rPr lang="en-US" sz="1600" dirty="0"/>
                  <a:t> con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600" dirty="0"/>
                  <a:t> diversi.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0458C2-6980-59D4-2538-994A71279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1862" y="2063468"/>
                <a:ext cx="3657359" cy="2308324"/>
              </a:xfrm>
              <a:prstGeom prst="rect">
                <a:avLst/>
              </a:prstGeom>
              <a:blipFill>
                <a:blip r:embed="rId6"/>
                <a:stretch>
                  <a:fillRect l="-1000" t="-792" r="-833" b="-2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ADA6E3C5-83A0-140F-8E1A-D8C4C642349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932314" y="1951037"/>
            <a:ext cx="3440756" cy="26077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0809F54-E7F3-B3B6-C935-E45BF7FA50A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932314" y="4338449"/>
            <a:ext cx="3361496" cy="2547661"/>
          </a:xfrm>
          <a:prstGeom prst="rect">
            <a:avLst/>
          </a:prstGeom>
        </p:spPr>
      </p:pic>
      <p:sp>
        <p:nvSpPr>
          <p:cNvPr id="22" name="Desc HA dimero">
            <a:extLst>
              <a:ext uri="{FF2B5EF4-FFF2-40B4-BE49-F238E27FC236}">
                <a16:creationId xmlns:a16="http://schemas.microsoft.com/office/drawing/2014/main" id="{1895D645-6D2F-7852-6953-A662F718AFD9}"/>
              </a:ext>
            </a:extLst>
          </p:cNvPr>
          <p:cNvSpPr txBox="1"/>
          <p:nvPr/>
        </p:nvSpPr>
        <p:spPr>
          <a:xfrm>
            <a:off x="640080" y="1872082"/>
            <a:ext cx="825934" cy="382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endParaRPr lang="en-US" sz="1600" dirty="0"/>
          </a:p>
        </p:txBody>
      </p:sp>
      <p:sp>
        <p:nvSpPr>
          <p:cNvPr id="25" name="Desc HA dimero">
            <a:extLst>
              <a:ext uri="{FF2B5EF4-FFF2-40B4-BE49-F238E27FC236}">
                <a16:creationId xmlns:a16="http://schemas.microsoft.com/office/drawing/2014/main" id="{D85B1A9E-D31E-1178-7649-F6D0741DDF3F}"/>
              </a:ext>
            </a:extLst>
          </p:cNvPr>
          <p:cNvSpPr txBox="1"/>
          <p:nvPr/>
        </p:nvSpPr>
        <p:spPr>
          <a:xfrm>
            <a:off x="570816" y="4371792"/>
            <a:ext cx="825934" cy="382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r>
              <a:rPr lang="en-US" sz="3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Rumorosa</a:t>
            </a:r>
            <a:endParaRPr lang="en-US" sz="32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368197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Primitive a due qubit">
            <a:extLst>
              <a:ext uri="{FF2B5EF4-FFF2-40B4-BE49-F238E27FC236}">
                <a16:creationId xmlns:a16="http://schemas.microsoft.com/office/drawing/2014/main" id="{F1723D25-7A93-CFC7-BD25-4E48F41785D7}"/>
              </a:ext>
            </a:extLst>
          </p:cNvPr>
          <p:cNvSpPr txBox="1"/>
          <p:nvPr/>
        </p:nvSpPr>
        <p:spPr>
          <a:xfrm>
            <a:off x="652778" y="1368197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Preparazione</a:t>
            </a:r>
            <a:r>
              <a:rPr lang="en-US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 </a:t>
            </a:r>
            <a:r>
              <a:rPr lang="en-US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rumorosa</a:t>
            </a:r>
            <a:r>
              <a:rPr lang="en-US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Trotter </a:t>
            </a:r>
            <a:r>
              <a:rPr lang="en-US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rumoroso</a:t>
            </a:r>
            <a:endParaRPr lang="en-US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C354B9-9594-A124-F417-10AAB2CF1E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6808" y="1938265"/>
            <a:ext cx="3277937" cy="248433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7B0FB15-F805-6F7F-4AB6-04416F6B22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5051" y="4224580"/>
            <a:ext cx="3505762" cy="2657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2D453B-68D4-FF21-2449-0EF66E63F0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31217" y="1898549"/>
            <a:ext cx="3456465" cy="2619636"/>
          </a:xfrm>
          <a:prstGeom prst="rect">
            <a:avLst/>
          </a:prstGeom>
        </p:spPr>
      </p:pic>
      <p:sp>
        <p:nvSpPr>
          <p:cNvPr id="25" name="Desc HA dimero">
            <a:extLst>
              <a:ext uri="{FF2B5EF4-FFF2-40B4-BE49-F238E27FC236}">
                <a16:creationId xmlns:a16="http://schemas.microsoft.com/office/drawing/2014/main" id="{CC103478-1A2D-592F-5BDD-F418F8581675}"/>
              </a:ext>
            </a:extLst>
          </p:cNvPr>
          <p:cNvSpPr txBox="1"/>
          <p:nvPr/>
        </p:nvSpPr>
        <p:spPr>
          <a:xfrm>
            <a:off x="8534754" y="3771571"/>
            <a:ext cx="3077405" cy="1171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</a:t>
            </a: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 </a:t>
            </a: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ottimizzati</a:t>
            </a: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senza  </a:t>
            </a: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</a:t>
            </a: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(poi </a:t>
            </a: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eseguiti</a:t>
            </a: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sotto </a:t>
            </a: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</a:t>
            </a: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</a:t>
            </a: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</a:t>
            </a: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quelli</a:t>
            </a: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ottimizzati</a:t>
            </a: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direttamente</a:t>
            </a: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gate </a:t>
            </a: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rumorosi</a:t>
            </a: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(noise-aware)</a:t>
            </a:r>
            <a:endParaRPr lang="en-US" sz="1600" dirty="0"/>
          </a:p>
        </p:txBody>
      </p:sp>
      <p:sp>
        <p:nvSpPr>
          <p:cNvPr id="43" name="Desc HA dimero">
            <a:extLst>
              <a:ext uri="{FF2B5EF4-FFF2-40B4-BE49-F238E27FC236}">
                <a16:creationId xmlns:a16="http://schemas.microsoft.com/office/drawing/2014/main" id="{15DD6FB7-9B2D-3B59-A430-6431E4611D36}"/>
              </a:ext>
            </a:extLst>
          </p:cNvPr>
          <p:cNvSpPr txBox="1"/>
          <p:nvPr/>
        </p:nvSpPr>
        <p:spPr>
          <a:xfrm>
            <a:off x="4065585" y="3482289"/>
            <a:ext cx="825934" cy="382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endParaRPr lang="en-US" sz="1600" dirty="0"/>
          </a:p>
        </p:txBody>
      </p:sp>
      <p:sp>
        <p:nvSpPr>
          <p:cNvPr id="45" name="Desc HA dimero">
            <a:extLst>
              <a:ext uri="{FF2B5EF4-FFF2-40B4-BE49-F238E27FC236}">
                <a16:creationId xmlns:a16="http://schemas.microsoft.com/office/drawing/2014/main" id="{D103FC39-DA99-5F93-68A4-A6E8688D90C2}"/>
              </a:ext>
            </a:extLst>
          </p:cNvPr>
          <p:cNvSpPr txBox="1"/>
          <p:nvPr/>
        </p:nvSpPr>
        <p:spPr>
          <a:xfrm>
            <a:off x="4065585" y="5854540"/>
            <a:ext cx="711922" cy="382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sz="1600" dirty="0"/>
          </a:p>
        </p:txBody>
      </p:sp>
      <p:sp>
        <p:nvSpPr>
          <p:cNvPr id="47" name="Desc HA dimero">
            <a:extLst>
              <a:ext uri="{FF2B5EF4-FFF2-40B4-BE49-F238E27FC236}">
                <a16:creationId xmlns:a16="http://schemas.microsoft.com/office/drawing/2014/main" id="{88FC02DC-F79A-C344-488E-3EC716C654DF}"/>
              </a:ext>
            </a:extLst>
          </p:cNvPr>
          <p:cNvSpPr txBox="1"/>
          <p:nvPr/>
        </p:nvSpPr>
        <p:spPr>
          <a:xfrm>
            <a:off x="2776294" y="1916867"/>
            <a:ext cx="2165175" cy="1148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 di Trotter </a:t>
            </a: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</a:t>
            </a: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</a:t>
            </a: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solo </a:t>
            </a: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</a:t>
            </a: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gate (1q+2q) - </a:t>
            </a: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</a:t>
            </a: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readout. </a:t>
            </a:r>
            <a:endParaRPr lang="en-US" sz="1600" dirty="0"/>
          </a:p>
        </p:txBody>
      </p:sp>
      <p:sp>
        <p:nvSpPr>
          <p:cNvPr id="57" name="Desc HA dimero">
            <a:extLst>
              <a:ext uri="{FF2B5EF4-FFF2-40B4-BE49-F238E27FC236}">
                <a16:creationId xmlns:a16="http://schemas.microsoft.com/office/drawing/2014/main" id="{9956ACE5-EDDB-562E-73B3-7C0C3C3F5F1D}"/>
              </a:ext>
            </a:extLst>
          </p:cNvPr>
          <p:cNvSpPr txBox="1"/>
          <p:nvPr/>
        </p:nvSpPr>
        <p:spPr>
          <a:xfrm>
            <a:off x="2741791" y="4357122"/>
            <a:ext cx="1978586" cy="1396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</a:t>
            </a: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compromesso</a:t>
            </a: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</a:t>
            </a: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dal </a:t>
            </a: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</a:t>
            </a: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</a:t>
            </a: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</a:t>
            </a: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Trotter (</a:t>
            </a: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</a:t>
            </a: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vuole</a:t>
            </a: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 grande) ed </a:t>
            </a: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</a:t>
            </a: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</a:t>
            </a: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dal </a:t>
            </a: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</a:t>
            </a: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</a:t>
            </a: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vuole</a:t>
            </a: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 piccolo)</a:t>
            </a:r>
            <a:endParaRPr lang="en-US" sz="1600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80B94AAF-EFDF-2ECE-71F3-DA86EC756ED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31217" y="4291456"/>
            <a:ext cx="3441304" cy="26081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264BED-F39D-2F3A-89A1-23503B31556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8841" y="5406338"/>
            <a:ext cx="3733159" cy="149326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09BE118-F796-3FBB-A5FA-8C53356DCA49}"/>
              </a:ext>
            </a:extLst>
          </p:cNvPr>
          <p:cNvSpPr txBox="1"/>
          <p:nvPr/>
        </p:nvSpPr>
        <p:spPr>
          <a:xfrm>
            <a:off x="8472365" y="5044478"/>
            <a:ext cx="32673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Degradazione</a:t>
            </a: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fidelity quasi doppia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0572D5-457C-2E07-DEC0-F6FE0D00E75E}"/>
              </a:ext>
            </a:extLst>
          </p:cNvPr>
          <p:cNvSpPr txBox="1"/>
          <p:nvPr/>
        </p:nvSpPr>
        <p:spPr>
          <a:xfrm>
            <a:off x="8357776" y="1902095"/>
            <a:ext cx="36447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err="1"/>
              <a:t>Parametri</a:t>
            </a:r>
            <a:r>
              <a:rPr lang="en-US" sz="1400" dirty="0"/>
              <a:t> </a:t>
            </a:r>
            <a:r>
              <a:rPr lang="en-US" sz="1400" dirty="0" err="1"/>
              <a:t>calibrati</a:t>
            </a:r>
            <a:r>
              <a:rPr lang="en-US" sz="1400" dirty="0"/>
              <a:t> </a:t>
            </a:r>
            <a:r>
              <a:rPr lang="en-US" sz="1400" dirty="0" err="1"/>
              <a:t>su</a:t>
            </a:r>
            <a:r>
              <a:rPr lang="en-US" sz="1400" dirty="0"/>
              <a:t> </a:t>
            </a:r>
            <a:r>
              <a:rPr lang="en-US" sz="1400" dirty="0" err="1"/>
              <a:t>ibm_torino</a:t>
            </a:r>
            <a:r>
              <a:rPr lang="en-US" sz="1400" dirty="0"/>
              <a:t> (IBM Heron r1, 133 qubit): </a:t>
            </a:r>
          </a:p>
        </p:txBody>
      </p:sp>
      <p:pic>
        <p:nvPicPr>
          <p:cNvPr id="7" name="Picture 6" descr="Эволюция IBM: от табулирующих машин до суперкомпьютеров">
            <a:extLst>
              <a:ext uri="{FF2B5EF4-FFF2-40B4-BE49-F238E27FC236}">
                <a16:creationId xmlns:a16="http://schemas.microsoft.com/office/drawing/2014/main" id="{97B98A25-5E8D-82E8-3A55-BD83CFDA382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0366" t="18086" r="2096" b="16150"/>
          <a:stretch>
            <a:fillRect/>
          </a:stretch>
        </p:blipFill>
        <p:spPr>
          <a:xfrm>
            <a:off x="10123601" y="2326590"/>
            <a:ext cx="1616149" cy="12818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729E6F-5819-7C9D-CE53-9E5B7C1D8673}"/>
                  </a:ext>
                </a:extLst>
              </p:cNvPr>
              <p:cNvSpPr txBox="1"/>
              <p:nvPr/>
            </p:nvSpPr>
            <p:spPr>
              <a:xfrm>
                <a:off x="8357776" y="2605941"/>
                <a:ext cx="1889618" cy="779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sz="1400">
                          <a:latin typeface="Cambria Math" panose="02040503050406030204" pitchFamily="18" charset="0"/>
                        </a:rPr>
                        <m:t>=2.9×</m:t>
                      </m:r>
                      <m:sSup>
                        <m:sSupPr>
                          <m:ctrlPr>
                            <a:rPr lang="en-US" sz="14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</m:oMath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sz="1400">
                          <a:latin typeface="Cambria Math" panose="02040503050406030204" pitchFamily="18" charset="0"/>
                        </a:rPr>
                        <m:t>=3.8×</m:t>
                      </m:r>
                      <m:sSup>
                        <m:sSupPr>
                          <m:ctrlPr>
                            <a:rPr lang="en-US" sz="14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</m:oMath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𝑟𝑒𝑎𝑑𝑜𝑢𝑡</m:t>
                          </m:r>
                        </m:sub>
                      </m:sSub>
                      <m:r>
                        <a:rPr lang="en-US" sz="1400">
                          <a:latin typeface="Cambria Math" panose="02040503050406030204" pitchFamily="18" charset="0"/>
                        </a:rPr>
                        <m:t>=2.3×</m:t>
                      </m:r>
                      <m:sSup>
                        <m:sSupPr>
                          <m:ctrlPr>
                            <a:rPr lang="en-US" sz="14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729E6F-5819-7C9D-CE53-9E5B7C1D8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7776" y="2605941"/>
                <a:ext cx="1889618" cy="7794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79" y="713232"/>
            <a:ext cx="844012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r>
              <a:rPr lang="en-US" sz="3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32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Correlatori</a:t>
            </a:r>
            <a:r>
              <a:rPr lang="en-US" sz="3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sotto Rumore</a:t>
            </a:r>
            <a:endParaRPr lang="en-US" sz="32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36288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Primitive a due qubit">
                <a:extLst>
                  <a:ext uri="{FF2B5EF4-FFF2-40B4-BE49-F238E27FC236}">
                    <a16:creationId xmlns:a16="http://schemas.microsoft.com/office/drawing/2014/main" id="{F1723D25-7A93-CFC7-BD25-4E48F41785D7}"/>
                  </a:ext>
                </a:extLst>
              </p:cNvPr>
              <p:cNvSpPr txBox="1"/>
              <p:nvPr/>
            </p:nvSpPr>
            <p:spPr>
              <a:xfrm>
                <a:off x="652778" y="1362882"/>
                <a:ext cx="10911535" cy="5303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Funzioni di </a:t>
                </a:r>
                <a:r>
                  <a:rPr lang="en-US" b="1" i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correlazione</a:t>
                </a:r>
                <a:r>
                  <a:rPr lang="en-US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b="1" i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dinamica</a:t>
                </a:r>
                <a:r>
                  <a:rPr lang="en-US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𝛼𝛽</m:t>
                        </m:r>
                      </m:sup>
                    </m:sSubSup>
                    <m:d>
                      <m:dPr>
                        <m:ctrlP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1" i="1" dirty="0" smtClean="0">
                        <a:solidFill>
                          <a:srgbClr val="173A5E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begChr m:val="|"/>
                            <m:endChr m:val="|"/>
                            <m:ctrlP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sSubSup>
                              <m:sSubSupPr>
                                <m:ctrlP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</m:d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Canali di </a:t>
                </a:r>
                <a:r>
                  <a:rPr lang="en-US" b="1" i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rumore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173A5E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i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𝑟𝑒𝑎𝑑𝑜𝑢𝑡</m:t>
                        </m:r>
                      </m:sub>
                    </m:sSub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23" name="Primitive a due qubit">
                <a:extLst>
                  <a:ext uri="{FF2B5EF4-FFF2-40B4-BE49-F238E27FC236}">
                    <a16:creationId xmlns:a16="http://schemas.microsoft.com/office/drawing/2014/main" id="{F1723D25-7A93-CFC7-BD25-4E48F4178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78" y="1362882"/>
                <a:ext cx="10911535" cy="530352"/>
              </a:xfrm>
              <a:prstGeom prst="rect">
                <a:avLst/>
              </a:prstGeom>
              <a:blipFill>
                <a:blip r:embed="rId3"/>
                <a:stretch>
                  <a:fillRect b="-344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4C6A78A-257D-587D-1AF8-AC1AEDA7EB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0016" y="1547023"/>
            <a:ext cx="5975145" cy="301902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246AD95-B561-7223-B5C7-D57F6C230011}"/>
              </a:ext>
            </a:extLst>
          </p:cNvPr>
          <p:cNvSpPr txBox="1"/>
          <p:nvPr/>
        </p:nvSpPr>
        <p:spPr>
          <a:xfrm>
            <a:off x="803119" y="5376056"/>
            <a:ext cx="4784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err="1"/>
              <a:t>Simulatore</a:t>
            </a:r>
            <a:r>
              <a:rPr lang="en-US" sz="1400" dirty="0"/>
              <a:t> con </a:t>
            </a:r>
            <a:r>
              <a:rPr lang="en-US" sz="1400" dirty="0" err="1"/>
              <a:t>rumore</a:t>
            </a:r>
            <a:r>
              <a:rPr lang="en-US" sz="1400" dirty="0"/>
              <a:t>: ogni gate e ogni </a:t>
            </a:r>
            <a:r>
              <a:rPr lang="en-US" sz="1400" dirty="0" err="1"/>
              <a:t>lettura</a:t>
            </a:r>
            <a:r>
              <a:rPr lang="en-US" sz="1400" dirty="0"/>
              <a:t> introduce </a:t>
            </a:r>
            <a:r>
              <a:rPr lang="en-US" sz="1400" dirty="0" err="1"/>
              <a:t>errore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B1517B-B1BD-BF3C-6426-E8C970564BB0}"/>
              </a:ext>
            </a:extLst>
          </p:cNvPr>
          <p:cNvSpPr txBox="1"/>
          <p:nvPr/>
        </p:nvSpPr>
        <p:spPr>
          <a:xfrm>
            <a:off x="803119" y="5961649"/>
            <a:ext cx="47842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err="1"/>
              <a:t>Modello</a:t>
            </a:r>
            <a:r>
              <a:rPr lang="en-US" sz="1400" dirty="0"/>
              <a:t> </a:t>
            </a:r>
            <a:r>
              <a:rPr lang="en-US" sz="1400" dirty="0" err="1"/>
              <a:t>minimale</a:t>
            </a:r>
            <a:r>
              <a:rPr lang="en-US" sz="1400" dirty="0"/>
              <a:t>: 2 </a:t>
            </a:r>
            <a:r>
              <a:rPr lang="en-US" sz="1400" dirty="0" err="1"/>
              <a:t>canali</a:t>
            </a:r>
            <a:r>
              <a:rPr lang="en-US" sz="1400" dirty="0"/>
              <a:t> - </a:t>
            </a:r>
            <a:r>
              <a:rPr lang="en-US" sz="1400" dirty="0" err="1"/>
              <a:t>depolarizzante</a:t>
            </a:r>
            <a:r>
              <a:rPr lang="en-US" sz="1400" dirty="0"/>
              <a:t> (gate) + </a:t>
            </a:r>
            <a:r>
              <a:rPr lang="en-US" sz="1400" dirty="0" err="1"/>
              <a:t>lettura</a:t>
            </a:r>
            <a:endParaRPr 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FB850E4-AF86-6D3F-F8BE-73BFF7A8E481}"/>
              </a:ext>
            </a:extLst>
          </p:cNvPr>
          <p:cNvSpPr txBox="1"/>
          <p:nvPr/>
        </p:nvSpPr>
        <p:spPr>
          <a:xfrm>
            <a:off x="803119" y="4790463"/>
            <a:ext cx="4784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/>
              <a:t>È un </a:t>
            </a:r>
            <a:r>
              <a:rPr lang="en-US" sz="1400" dirty="0" err="1"/>
              <a:t>numero</a:t>
            </a:r>
            <a:r>
              <a:rPr lang="en-US" sz="1400" dirty="0"/>
              <a:t> </a:t>
            </a:r>
            <a:r>
              <a:rPr lang="en-US" sz="1400" dirty="0" err="1"/>
              <a:t>complesso</a:t>
            </a:r>
            <a:r>
              <a:rPr lang="en-US" sz="1400" dirty="0"/>
              <a:t> - </a:t>
            </a:r>
            <a:r>
              <a:rPr lang="en-US" sz="1400" dirty="0" err="1"/>
              <a:t>si</a:t>
            </a:r>
            <a:r>
              <a:rPr lang="en-US" sz="1400" dirty="0"/>
              <a:t> </a:t>
            </a:r>
            <a:r>
              <a:rPr lang="en-US" sz="1400" dirty="0" err="1"/>
              <a:t>misura</a:t>
            </a:r>
            <a:r>
              <a:rPr lang="en-US" sz="1400" dirty="0"/>
              <a:t> con </a:t>
            </a:r>
            <a:r>
              <a:rPr lang="en-US" sz="1400" dirty="0" err="1"/>
              <a:t>un'ancilla</a:t>
            </a:r>
            <a:r>
              <a:rPr lang="en-US" sz="1400" dirty="0"/>
              <a:t> in </a:t>
            </a:r>
            <a:r>
              <a:rPr lang="en-US" sz="1400" dirty="0" err="1"/>
              <a:t>sovrapposizione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661771-F176-396D-0B97-59F67AE73A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81140" y="2574504"/>
            <a:ext cx="5203610" cy="326408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85800" y="1691132"/>
            <a:ext cx="10865814" cy="3623215"/>
          </a:xfrm>
          <a:prstGeom prst="roundRect">
            <a:avLst>
              <a:gd name="adj" fmla="val 3922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1371597" y="1999234"/>
            <a:ext cx="9436397" cy="6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FontTx/>
              <a:buChar char="■"/>
            </a:pPr>
            <a:r>
              <a:rPr lang="en-US" dirty="0"/>
              <a:t>Ho </a:t>
            </a:r>
            <a:r>
              <a:rPr lang="en-US" dirty="0" err="1"/>
              <a:t>studiato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modello</a:t>
            </a:r>
            <a:r>
              <a:rPr lang="en-US" dirty="0"/>
              <a:t> di spin </a:t>
            </a:r>
            <a:r>
              <a:rPr lang="en-US" dirty="0" err="1"/>
              <a:t>interagenti</a:t>
            </a:r>
            <a:r>
              <a:rPr lang="en-US" dirty="0"/>
              <a:t> come test di </a:t>
            </a:r>
            <a:r>
              <a:rPr lang="en-US" dirty="0" err="1"/>
              <a:t>algoritmi</a:t>
            </a:r>
            <a:r>
              <a:rPr lang="en-US" dirty="0"/>
              <a:t> di </a:t>
            </a:r>
            <a:r>
              <a:rPr lang="en-US" dirty="0" err="1"/>
              <a:t>simulazione</a:t>
            </a:r>
            <a:r>
              <a:rPr lang="en-US" dirty="0"/>
              <a:t> </a:t>
            </a:r>
            <a:r>
              <a:rPr lang="en-US" dirty="0" err="1"/>
              <a:t>quantistica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hardware.</a:t>
            </a:r>
          </a:p>
          <a:p>
            <a:pPr marL="203200" indent="-203200">
              <a:buSzPct val="100000"/>
              <a:buChar char="■"/>
            </a:pP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1371597" y="2889113"/>
            <a:ext cx="9436397" cy="6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dirty="0"/>
              <a:t>Stato </a:t>
            </a:r>
            <a:r>
              <a:rPr lang="en-US" dirty="0" err="1"/>
              <a:t>fondamentale</a:t>
            </a:r>
            <a:r>
              <a:rPr lang="en-US" dirty="0"/>
              <a:t> </a:t>
            </a:r>
            <a:r>
              <a:rPr lang="en-US" dirty="0" err="1"/>
              <a:t>determinato</a:t>
            </a:r>
            <a:r>
              <a:rPr lang="en-US" dirty="0"/>
              <a:t> con </a:t>
            </a: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dirty="0" err="1"/>
              <a:t>ibrido</a:t>
            </a:r>
            <a:r>
              <a:rPr lang="en-US" dirty="0"/>
              <a:t> (VQE),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combina</a:t>
            </a:r>
            <a:r>
              <a:rPr lang="en-US" dirty="0"/>
              <a:t> hardware classico e </a:t>
            </a:r>
            <a:r>
              <a:rPr lang="en-US" dirty="0" err="1"/>
              <a:t>quantistico</a:t>
            </a:r>
            <a:r>
              <a:rPr lang="en-US" dirty="0"/>
              <a:t> ed </a:t>
            </a:r>
            <a:r>
              <a:rPr lang="en-US" dirty="0" err="1"/>
              <a:t>evoluzione</a:t>
            </a:r>
            <a:r>
              <a:rPr lang="en-US" dirty="0"/>
              <a:t> </a:t>
            </a:r>
            <a:r>
              <a:rPr lang="en-US" dirty="0" err="1"/>
              <a:t>temporale</a:t>
            </a:r>
            <a:r>
              <a:rPr lang="en-US" dirty="0"/>
              <a:t> </a:t>
            </a:r>
            <a:r>
              <a:rPr lang="en-US" dirty="0" err="1"/>
              <a:t>tramite</a:t>
            </a:r>
            <a:r>
              <a:rPr lang="en-US" dirty="0"/>
              <a:t> </a:t>
            </a:r>
            <a:r>
              <a:rPr lang="en-US" dirty="0" err="1"/>
              <a:t>simulazione</a:t>
            </a:r>
            <a:r>
              <a:rPr lang="en-US" dirty="0"/>
              <a:t> </a:t>
            </a:r>
            <a:r>
              <a:rPr lang="en-US" dirty="0" err="1"/>
              <a:t>quantistica</a:t>
            </a:r>
            <a:r>
              <a:rPr lang="en-US" dirty="0"/>
              <a:t>.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1371595" y="3726511"/>
            <a:ext cx="9436397" cy="812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dirty="0"/>
              <a:t>La performance cambia con </a:t>
            </a:r>
            <a:r>
              <a:rPr lang="en-US" dirty="0" err="1"/>
              <a:t>rumore</a:t>
            </a:r>
            <a:r>
              <a:rPr lang="en-US" dirty="0"/>
              <a:t> </a:t>
            </a:r>
            <a:r>
              <a:rPr lang="en-US" dirty="0" err="1"/>
              <a:t>realistico</a:t>
            </a:r>
            <a:r>
              <a:rPr lang="en-US" dirty="0"/>
              <a:t> </a:t>
            </a:r>
            <a:r>
              <a:rPr lang="en-US" dirty="0" err="1"/>
              <a:t>dell’hardware</a:t>
            </a:r>
            <a:r>
              <a:rPr lang="en-US" dirty="0"/>
              <a:t>. </a:t>
            </a:r>
            <a:r>
              <a:rPr lang="en-US" dirty="0" err="1"/>
              <a:t>L’ottimizzazione</a:t>
            </a:r>
            <a:r>
              <a:rPr lang="en-US" dirty="0"/>
              <a:t> VQE </a:t>
            </a:r>
            <a:r>
              <a:rPr lang="en-US" dirty="0" err="1"/>
              <a:t>dipende</a:t>
            </a:r>
            <a:r>
              <a:rPr lang="en-US" dirty="0"/>
              <a:t> dal </a:t>
            </a:r>
            <a:r>
              <a:rPr lang="en-US" dirty="0" err="1"/>
              <a:t>rumore</a:t>
            </a:r>
            <a:r>
              <a:rPr lang="en-US" dirty="0"/>
              <a:t>: </a:t>
            </a:r>
            <a:r>
              <a:rPr lang="en-US" dirty="0" err="1"/>
              <a:t>sfruttare</a:t>
            </a:r>
            <a:r>
              <a:rPr lang="en-US" dirty="0"/>
              <a:t> le </a:t>
            </a:r>
            <a:r>
              <a:rPr lang="en-US" dirty="0" err="1"/>
              <a:t>simmetrie</a:t>
            </a:r>
            <a:r>
              <a:rPr lang="en-US" dirty="0"/>
              <a:t> del </a:t>
            </a:r>
            <a:r>
              <a:rPr lang="en-US" dirty="0" err="1"/>
              <a:t>sistema</a:t>
            </a:r>
            <a:r>
              <a:rPr lang="en-US" dirty="0"/>
              <a:t> (</a:t>
            </a:r>
            <a:r>
              <a:rPr lang="en-US" dirty="0" err="1"/>
              <a:t>invece</a:t>
            </a:r>
            <a:r>
              <a:rPr lang="en-US" dirty="0"/>
              <a:t> di un ansatz </a:t>
            </a:r>
            <a:r>
              <a:rPr lang="en-US" dirty="0" err="1"/>
              <a:t>generico</a:t>
            </a:r>
            <a:r>
              <a:rPr lang="en-US" dirty="0"/>
              <a:t>) </a:t>
            </a:r>
            <a:r>
              <a:rPr lang="en-US" dirty="0" err="1"/>
              <a:t>riduce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gate e </a:t>
            </a:r>
            <a:r>
              <a:rPr lang="en-US" dirty="0" err="1"/>
              <a:t>quindi</a:t>
            </a:r>
            <a:r>
              <a:rPr lang="en-US" dirty="0"/>
              <a:t> </a:t>
            </a:r>
            <a:r>
              <a:rPr lang="en-US" dirty="0" err="1"/>
              <a:t>l’errore</a:t>
            </a:r>
            <a:r>
              <a:rPr lang="en-US" dirty="0"/>
              <a:t>.</a:t>
            </a: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F17DFE82-D9B5-4D7B-7A30-8F854853FC99}"/>
              </a:ext>
            </a:extLst>
          </p:cNvPr>
          <p:cNvSpPr txBox="1"/>
          <p:nvPr/>
        </p:nvSpPr>
        <p:spPr>
          <a:xfrm>
            <a:off x="1371594" y="4786574"/>
            <a:ext cx="9436397" cy="455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stessi</a:t>
            </a:r>
            <a:r>
              <a:rPr lang="en-US" dirty="0"/>
              <a:t> </a:t>
            </a:r>
            <a:r>
              <a:rPr lang="en-US" dirty="0" err="1"/>
              <a:t>principi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estendono</a:t>
            </a:r>
            <a:r>
              <a:rPr lang="en-US" dirty="0"/>
              <a:t> a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grandi</a:t>
            </a:r>
            <a:r>
              <a:rPr lang="en-US" dirty="0"/>
              <a:t>. </a:t>
            </a: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C8244BA8-E1F1-EEBE-F97B-4B3F70AA9757}"/>
              </a:ext>
            </a:extLst>
          </p:cNvPr>
          <p:cNvSpPr/>
          <p:nvPr/>
        </p:nvSpPr>
        <p:spPr>
          <a:xfrm>
            <a:off x="640079" y="5702879"/>
            <a:ext cx="10911535" cy="883778"/>
          </a:xfrm>
          <a:prstGeom prst="roundRect">
            <a:avLst>
              <a:gd name="adj" fmla="val 6667"/>
            </a:avLst>
          </a:prstGeom>
          <a:solidFill>
            <a:srgbClr val="173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E865BA36-11F4-BF6A-347C-E4BCAAC40B46}"/>
              </a:ext>
            </a:extLst>
          </p:cNvPr>
          <p:cNvSpPr txBox="1"/>
          <p:nvPr/>
        </p:nvSpPr>
        <p:spPr>
          <a:xfrm>
            <a:off x="1005839" y="5608943"/>
            <a:ext cx="10180015" cy="97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approccio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entrambe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l’ansatz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costruito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sulla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fisica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simmetrie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il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correlatore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ottenuto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VQE e Trotter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insieme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il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calibrato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hardware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</a:t>
            </a:r>
            <a:r>
              <a:rPr lang="en-US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3E3FF-A4A7-DCE3-2E66-A0B662539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ZIONE">
            <a:extLst>
              <a:ext uri="{FF2B5EF4-FFF2-40B4-BE49-F238E27FC236}">
                <a16:creationId xmlns:a16="http://schemas.microsoft.com/office/drawing/2014/main" id="{E1B87AA3-AE16-E27B-71EB-462120728049}"/>
              </a:ext>
            </a:extLst>
          </p:cNvPr>
          <p:cNvSpPr txBox="1"/>
          <p:nvPr/>
        </p:nvSpPr>
        <p:spPr>
          <a:xfrm>
            <a:off x="640080" y="402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VQE - Ansatz">
            <a:extLst>
              <a:ext uri="{FF2B5EF4-FFF2-40B4-BE49-F238E27FC236}">
                <a16:creationId xmlns:a16="http://schemas.microsoft.com/office/drawing/2014/main" id="{D112AB17-D687-9162-4F1D-A5239DE44D3F}"/>
              </a:ext>
            </a:extLst>
          </p:cNvPr>
          <p:cNvSpPr txBox="1"/>
          <p:nvPr/>
        </p:nvSpPr>
        <p:spPr>
          <a:xfrm>
            <a:off x="640079" y="713232"/>
            <a:ext cx="1086599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di  Trotter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BF49A56-D02F-2A6A-9DB0-2571DE710FDD}"/>
              </a:ext>
            </a:extLst>
          </p:cNvPr>
          <p:cNvSpPr/>
          <p:nvPr/>
        </p:nvSpPr>
        <p:spPr>
          <a:xfrm>
            <a:off x="625463" y="136135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itle Circuito Trimero">
            <a:extLst>
              <a:ext uri="{FF2B5EF4-FFF2-40B4-BE49-F238E27FC236}">
                <a16:creationId xmlns:a16="http://schemas.microsoft.com/office/drawing/2014/main" id="{84152968-1F43-ED94-AB85-1B864A0DC428}"/>
              </a:ext>
            </a:extLst>
          </p:cNvPr>
          <p:cNvSpPr txBox="1"/>
          <p:nvPr/>
        </p:nvSpPr>
        <p:spPr>
          <a:xfrm>
            <a:off x="579921" y="1418777"/>
            <a:ext cx="109115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Decomposizione</a:t>
            </a:r>
            <a:endParaRPr lang="en-US" i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59BFAE-4D2E-2E68-1DA8-E9756CE247FE}"/>
              </a:ext>
            </a:extLst>
          </p:cNvPr>
          <p:cNvSpPr txBox="1"/>
          <p:nvPr/>
        </p:nvSpPr>
        <p:spPr>
          <a:xfrm>
            <a:off x="-1" y="4161581"/>
            <a:ext cx="69783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068BF173-5D57-687D-5BC1-CE7AC472E6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539629"/>
                  </p:ext>
                </p:extLst>
              </p:nvPr>
            </p:nvGraphicFramePr>
            <p:xfrm>
              <a:off x="625463" y="4176225"/>
              <a:ext cx="7691121" cy="23187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76120">
                      <a:extLst>
                        <a:ext uri="{9D8B030D-6E8A-4147-A177-3AD203B41FA5}">
                          <a16:colId xmlns:a16="http://schemas.microsoft.com/office/drawing/2014/main" val="2110275228"/>
                        </a:ext>
                      </a:extLst>
                    </a:gridCol>
                    <a:gridCol w="1642533">
                      <a:extLst>
                        <a:ext uri="{9D8B030D-6E8A-4147-A177-3AD203B41FA5}">
                          <a16:colId xmlns:a16="http://schemas.microsoft.com/office/drawing/2014/main" val="510094434"/>
                        </a:ext>
                      </a:extLst>
                    </a:gridCol>
                    <a:gridCol w="4072468">
                      <a:extLst>
                        <a:ext uri="{9D8B030D-6E8A-4147-A177-3AD203B41FA5}">
                          <a16:colId xmlns:a16="http://schemas.microsoft.com/office/drawing/2014/main" val="660264833"/>
                        </a:ext>
                      </a:extLst>
                    </a:gridCol>
                  </a:tblGrid>
                  <a:tr h="25301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Termine di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oMath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Qubit</a:t>
                          </a:r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Blocchi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200" b="1" i="0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lang="en-US" sz="12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200" b="1" i="1" kern="1200">
                                          <a:solidFill>
                                            <a:schemeClr val="lt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 kern="1200">
                                          <a:solidFill>
                                            <a:schemeClr val="lt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200" b="1" i="1" kern="1200">
                                          <a:solidFill>
                                            <a:schemeClr val="lt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1200" b="1" i="0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Δ</m:t>
                                  </m:r>
                                  <m:r>
                                    <a:rPr lang="en-US" sz="12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sup>
                              </m:sSup>
                            </m:oMath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4284243"/>
                      </a:ext>
                    </a:extLst>
                  </a:tr>
                  <a:tr h="24310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Scambio(1,2)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2​,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𝑅𝑋𝑋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𝑅𝑌𝑌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𝑅𝑍𝑍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4692388"/>
                      </a:ext>
                    </a:extLst>
                  </a:tr>
                  <a:tr h="24310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Scambio(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smtClean="0"/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smtClean="0"/>
                                  <m:t>3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)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1​,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0​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𝑅𝑋𝑋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𝑅𝑌𝑌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𝑅𝑍𝑍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067340"/>
                      </a:ext>
                    </a:extLst>
                  </a:tr>
                  <a:tr h="24310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Scambio(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smtClean="0"/>
                                  <m:t>3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smtClean="0"/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)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0​,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2​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𝑅𝑋𝑋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𝑅𝑌𝑌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𝑅𝑍𝑍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31271688"/>
                      </a:ext>
                    </a:extLst>
                  </a:tr>
                  <a:tr h="28323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smtClean="0"/>
                                  <m:t>ampo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>
                                    <a:effectLst/>
                                  </a:rPr>
                                  <m:t>q0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​,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>
                                    <a:effectLst/>
                                  </a:rPr>
                                  <m:t>q1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​,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>
                                    <a:effectLst/>
                                  </a:rPr>
                                  <m:t>q2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​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200" b="0" i="0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0" i="0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4039892"/>
                      </a:ext>
                    </a:extLst>
                  </a:tr>
                  <a:tr h="25408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DM 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en-US" sz="1200" i="0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200" i="0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2​,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−2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4636173"/>
                      </a:ext>
                    </a:extLst>
                  </a:tr>
                  <a:tr h="28283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DM 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b="0" i="0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​,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b="0" i="0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0.8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−0.8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0563795"/>
                      </a:ext>
                    </a:extLst>
                  </a:tr>
                  <a:tr h="27012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DM 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b="0" i="0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​,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b="0" i="0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0.8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−0.8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441612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068BF173-5D57-687D-5BC1-CE7AC472E6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539629"/>
                  </p:ext>
                </p:extLst>
              </p:nvPr>
            </p:nvGraphicFramePr>
            <p:xfrm>
              <a:off x="625463" y="4176225"/>
              <a:ext cx="7691121" cy="23187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76120">
                      <a:extLst>
                        <a:ext uri="{9D8B030D-6E8A-4147-A177-3AD203B41FA5}">
                          <a16:colId xmlns:a16="http://schemas.microsoft.com/office/drawing/2014/main" val="2110275228"/>
                        </a:ext>
                      </a:extLst>
                    </a:gridCol>
                    <a:gridCol w="1642533">
                      <a:extLst>
                        <a:ext uri="{9D8B030D-6E8A-4147-A177-3AD203B41FA5}">
                          <a16:colId xmlns:a16="http://schemas.microsoft.com/office/drawing/2014/main" val="510094434"/>
                        </a:ext>
                      </a:extLst>
                    </a:gridCol>
                    <a:gridCol w="4072468">
                      <a:extLst>
                        <a:ext uri="{9D8B030D-6E8A-4147-A177-3AD203B41FA5}">
                          <a16:colId xmlns:a16="http://schemas.microsoft.com/office/drawing/2014/main" val="660264833"/>
                        </a:ext>
                      </a:extLst>
                    </a:gridCol>
                  </a:tblGrid>
                  <a:tr h="2854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8" t="-2128" r="-289846" b="-7276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Qubit</a:t>
                          </a:r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8939" t="-2128" r="-598" b="-7276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428424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8" t="-106667" r="-289846" b="-6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1190" t="-106667" r="-250186" b="-6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8939" t="-106667" r="-598" b="-66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469238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8" t="-206667" r="-289846" b="-5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1190" t="-206667" r="-250186" b="-5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8939" t="-206667" r="-598" b="-56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6734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8" t="-306667" r="-289846" b="-4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1190" t="-306667" r="-250186" b="-4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8939" t="-306667" r="-598" b="-46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271688"/>
                      </a:ext>
                    </a:extLst>
                  </a:tr>
                  <a:tr h="3177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8" t="-351923" r="-289846" b="-298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1190" t="-351923" r="-250186" b="-298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8939" t="-351923" r="-598" b="-298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4039892"/>
                      </a:ext>
                    </a:extLst>
                  </a:tr>
                  <a:tr h="2867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8" t="-500000" r="-289846" b="-229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1190" t="-500000" r="-250186" b="-229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8939" t="-500000" r="-598" b="-2297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4636173"/>
                      </a:ext>
                    </a:extLst>
                  </a:tr>
                  <a:tr h="3191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8" t="-532075" r="-289846" b="-10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1190" t="-532075" r="-250186" b="-10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8939" t="-532075" r="-598" b="-1037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0563795"/>
                      </a:ext>
                    </a:extLst>
                  </a:tr>
                  <a:tr h="2867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8" t="-712766" r="-289846" b="-170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1190" t="-712766" r="-250186" b="-170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8939" t="-712766" r="-598" b="-170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416123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F2652143-B46D-D110-9AA2-FBF88B8C96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2269097"/>
                  </p:ext>
                </p:extLst>
              </p:nvPr>
            </p:nvGraphicFramePr>
            <p:xfrm>
              <a:off x="643128" y="2037523"/>
              <a:ext cx="7658661" cy="144636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26436">
                      <a:extLst>
                        <a:ext uri="{9D8B030D-6E8A-4147-A177-3AD203B41FA5}">
                          <a16:colId xmlns:a16="http://schemas.microsoft.com/office/drawing/2014/main" val="2110275228"/>
                        </a:ext>
                      </a:extLst>
                    </a:gridCol>
                    <a:gridCol w="4932225">
                      <a:extLst>
                        <a:ext uri="{9D8B030D-6E8A-4147-A177-3AD203B41FA5}">
                          <a16:colId xmlns:a16="http://schemas.microsoft.com/office/drawing/2014/main" val="660264833"/>
                        </a:ext>
                      </a:extLst>
                    </a:gridCol>
                  </a:tblGrid>
                  <a:tr h="35527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dirty="0"/>
                            <a:t>Termine di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oMath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Blocchi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 b="1" i="0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lang="en-US" sz="14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b="1" i="1" kern="1200">
                                          <a:solidFill>
                                            <a:schemeClr val="lt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1" i="1" kern="1200">
                                          <a:solidFill>
                                            <a:schemeClr val="lt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 b="1" i="1" kern="1200">
                                          <a:solidFill>
                                            <a:schemeClr val="lt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1400" b="1" i="0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Δ</m:t>
                                  </m:r>
                                  <m:r>
                                    <a:rPr lang="en-US" sz="14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sup>
                              </m:sSup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4284243"/>
                      </a:ext>
                    </a:extLst>
                  </a:tr>
                  <a:tr h="4033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d>
                                  <m:dPr>
                                    <m:ctrlP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  <m:r>
                                      <a:rPr lang="en-US" sz="1400" i="0" dirty="0" smtClean="0">
                                        <a:latin typeface="Cambria Math" panose="02040503050406030204" pitchFamily="18" charset="0"/>
                                      </a:rPr>
                                      <m:t>1​+</m:t>
                                    </m:r>
                                    <m: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  <m:r>
                                      <a:rPr lang="en-US" sz="1400" i="0" dirty="0" smtClean="0">
                                        <a:latin typeface="Cambria Math" panose="02040503050406030204" pitchFamily="18" charset="0"/>
                                      </a:rPr>
                                      <m:t>2​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4692388"/>
                      </a:ext>
                    </a:extLst>
                  </a:tr>
                  <a:tr h="34387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  <m:d>
                                  <m:dPr>
                                    <m:ctrlP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2​+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2​+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𝑋𝑋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𝐽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/2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𝑌𝑌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𝐽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/2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𝐽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/2</m:t>
                                  </m:r>
                                </m:e>
                              </m:d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067340"/>
                      </a:ext>
                    </a:extLst>
                  </a:tr>
                  <a:tr h="34387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d>
                                  <m:dPr>
                                    <m:ctrlP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2​−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en-US" sz="1400" i="1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i="1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𝐻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1400" i="0" kern="120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i="0" kern="120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m:rPr>
                                      <m:nor/>
                                    </m:rPr>
                                    <a:rPr lang="en-US" sz="1400" i="0" dirty="0"/>
                                    <m:t>,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/2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,</a:t>
                          </a:r>
                          <a:r>
                            <a:rPr lang="en-US" sz="1400" kern="1200" dirty="0">
                              <a:solidFill>
                                <a:schemeClr val="dk1"/>
                              </a:solidFill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en-US" sz="1400" i="1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i="1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𝐻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1400" i="0" kern="120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i="0" kern="120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2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US" sz="1400" b="0" i="1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,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/2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312716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F2652143-B46D-D110-9AA2-FBF88B8C96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2269097"/>
                  </p:ext>
                </p:extLst>
              </p:nvPr>
            </p:nvGraphicFramePr>
            <p:xfrm>
              <a:off x="643128" y="2037523"/>
              <a:ext cx="7658661" cy="144636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26436">
                      <a:extLst>
                        <a:ext uri="{9D8B030D-6E8A-4147-A177-3AD203B41FA5}">
                          <a16:colId xmlns:a16="http://schemas.microsoft.com/office/drawing/2014/main" val="2110275228"/>
                        </a:ext>
                      </a:extLst>
                    </a:gridCol>
                    <a:gridCol w="4932225">
                      <a:extLst>
                        <a:ext uri="{9D8B030D-6E8A-4147-A177-3AD203B41FA5}">
                          <a16:colId xmlns:a16="http://schemas.microsoft.com/office/drawing/2014/main" val="660264833"/>
                        </a:ext>
                      </a:extLst>
                    </a:gridCol>
                  </a:tblGrid>
                  <a:tr h="355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24" t="-1724" r="-182327" b="-3224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5309" t="-1724" r="-617" b="-3224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4284243"/>
                      </a:ext>
                    </a:extLst>
                  </a:tr>
                  <a:tr h="403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24" t="-88060" r="-182327" b="-1791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5309" t="-88060" r="-617" b="-1791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4692388"/>
                      </a:ext>
                    </a:extLst>
                  </a:tr>
                  <a:tr h="3438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24" t="-225000" r="-182327" b="-1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5309" t="-225000" r="-617" b="-11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67340"/>
                      </a:ext>
                    </a:extLst>
                  </a:tr>
                  <a:tr h="3438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24" t="-319298" r="-182327" b="-122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5309" t="-319298" r="-617" b="-122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2716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B12D21F-1100-650A-4E85-A13AE307EBB6}"/>
              </a:ext>
            </a:extLst>
          </p:cNvPr>
          <p:cNvSpPr txBox="1"/>
          <p:nvPr/>
        </p:nvSpPr>
        <p:spPr>
          <a:xfrm>
            <a:off x="8353531" y="5756328"/>
            <a:ext cx="29921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Campo e </a:t>
            </a:r>
            <a:r>
              <a:rPr lang="en-US" sz="1400" dirty="0" err="1"/>
              <a:t>scambio</a:t>
            </a:r>
            <a:r>
              <a:rPr lang="en-US" sz="1400" dirty="0"/>
              <a:t> </a:t>
            </a:r>
            <a:r>
              <a:rPr lang="en-US" sz="1400" dirty="0" err="1"/>
              <a:t>commutano</a:t>
            </a:r>
            <a:r>
              <a:rPr lang="en-US" sz="1400" dirty="0"/>
              <a:t> in </a:t>
            </a:r>
            <a:r>
              <a:rPr lang="en-US" sz="1400" dirty="0" err="1"/>
              <a:t>entrambi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n-US" sz="1400" dirty="0" err="1"/>
              <a:t>sistemi</a:t>
            </a:r>
            <a:r>
              <a:rPr lang="en-US" sz="1400" dirty="0"/>
              <a:t> - </a:t>
            </a:r>
            <a:r>
              <a:rPr lang="en-US" sz="1400" dirty="0" err="1"/>
              <a:t>l'ordine</a:t>
            </a:r>
            <a:r>
              <a:rPr lang="en-US" sz="1400" dirty="0"/>
              <a:t> </a:t>
            </a:r>
            <a:r>
              <a:rPr lang="en-US" sz="1400" dirty="0" err="1"/>
              <a:t>fra</a:t>
            </a:r>
            <a:r>
              <a:rPr lang="en-US" sz="1400" dirty="0"/>
              <a:t> loro è </a:t>
            </a:r>
            <a:r>
              <a:rPr lang="en-US" sz="1400" dirty="0" err="1"/>
              <a:t>arbitrario</a:t>
            </a:r>
            <a:r>
              <a:rPr lang="en-US" sz="1400" dirty="0"/>
              <a:t>, non </a:t>
            </a:r>
            <a:r>
              <a:rPr lang="en-US" sz="1400" dirty="0" err="1"/>
              <a:t>influisce</a:t>
            </a:r>
            <a:r>
              <a:rPr lang="en-US" sz="1400" dirty="0"/>
              <a:t> </a:t>
            </a:r>
            <a:r>
              <a:rPr lang="en-US" sz="1400" dirty="0" err="1"/>
              <a:t>sul</a:t>
            </a:r>
            <a:r>
              <a:rPr lang="en-US" sz="1400" dirty="0"/>
              <a:t> </a:t>
            </a:r>
            <a:r>
              <a:rPr lang="en-US" sz="1400" dirty="0" err="1"/>
              <a:t>risultato</a:t>
            </a:r>
            <a:r>
              <a:rPr lang="en-US" sz="14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F2A99C-4AD7-DCF9-C564-B933A0AE1938}"/>
                  </a:ext>
                </a:extLst>
              </p:cNvPr>
              <p:cNvSpPr txBox="1"/>
              <p:nvPr/>
            </p:nvSpPr>
            <p:spPr>
              <a:xfrm>
                <a:off x="1950775" y="3575144"/>
                <a:ext cx="50404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i="0" dirty="0">
                        <a:latin typeface="Cambria Math" panose="02040503050406030204" pitchFamily="18" charset="0"/>
                      </a:rPr>
                      <m:t>1​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1200" i="0" dirty="0">
                        <a:latin typeface="Cambria Math" panose="02040503050406030204" pitchFamily="18" charset="0"/>
                      </a:rPr>
                      <m:t>2​⟶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12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𝑅𝑍𝑍</m:t>
                    </m:r>
                    <m:r>
                      <a:rPr lang="en-US" sz="1200" i="0" dirty="0"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12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200" b="0" i="0" dirty="0" smtClean="0">
                        <a:latin typeface="Cambria Math" panose="02040503050406030204" pitchFamily="18" charset="0"/>
                      </a:rPr>
                      <m:t> ,</m:t>
                    </m:r>
                  </m:oMath>
                </a14:m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1200" i="0" dirty="0">
                        <a:latin typeface="Cambria Math" panose="02040503050406030204" pitchFamily="18" charset="0"/>
                      </a:rPr>
                      <m:t>1​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i="0" dirty="0">
                        <a:latin typeface="Cambria Math" panose="02040503050406030204" pitchFamily="18" charset="0"/>
                      </a:rPr>
                      <m:t>2​⟶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12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𝑅𝑍𝑍</m:t>
                    </m:r>
                    <m:r>
                      <a:rPr lang="en-US" sz="1200" i="0" dirty="0"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ctrlPr>
                          <a:rPr lang="en-US" sz="12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12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F2A99C-4AD7-DCF9-C564-B933A0AE1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0775" y="3575144"/>
                <a:ext cx="5040496" cy="276999"/>
              </a:xfrm>
              <a:prstGeom prst="rect">
                <a:avLst/>
              </a:prstGeom>
              <a:blipFill>
                <a:blip r:embed="rId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2ECF6F1-2FEA-12FA-99A6-2A90E69D65D9}"/>
                  </a:ext>
                </a:extLst>
              </p:cNvPr>
              <p:cNvSpPr txBox="1"/>
              <p:nvPr/>
            </p:nvSpPr>
            <p:spPr>
              <a:xfrm>
                <a:off x="8353531" y="4161581"/>
                <a:ext cx="3183467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400" dirty="0"/>
                  <a:t>Qua il </a:t>
                </a:r>
                <a:r>
                  <a:rPr lang="en-US" sz="1400" dirty="0" err="1"/>
                  <a:t>dimero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adotta</a:t>
                </a:r>
                <a:r>
                  <a:rPr lang="en-US" sz="1400" dirty="0"/>
                  <a:t> la </a:t>
                </a:r>
                <a:r>
                  <a:rPr lang="en-US" sz="1400" dirty="0" err="1"/>
                  <a:t>convenzione</a:t>
                </a:r>
                <a:r>
                  <a:rPr lang="en-US" sz="1400" dirty="0"/>
                  <a:t> a </a:t>
                </a:r>
                <a:r>
                  <a:rPr lang="en-US" sz="1400" dirty="0" err="1"/>
                  <a:t>operatori</a:t>
                </a:r>
                <a:r>
                  <a:rPr lang="en-US" sz="1400" dirty="0"/>
                  <a:t> di spin (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1400" dirty="0"/>
                  <a:t>s), il </a:t>
                </a:r>
                <a:r>
                  <a:rPr lang="en-US" sz="1400" dirty="0" err="1"/>
                  <a:t>trimero</a:t>
                </a:r>
                <a:r>
                  <a:rPr lang="en-US" sz="1400" dirty="0"/>
                  <a:t> la </a:t>
                </a:r>
                <a:r>
                  <a:rPr lang="en-US" sz="1400" dirty="0" err="1"/>
                  <a:t>convenzione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diretta</a:t>
                </a:r>
                <a:r>
                  <a:rPr lang="en-US" sz="1400" dirty="0"/>
                  <a:t> in Pauli - da cui il </a:t>
                </a:r>
                <a:r>
                  <a:rPr lang="en-US" sz="1400" dirty="0" err="1"/>
                  <a:t>diverso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rapporto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numerico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fra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1400" dirty="0"/>
                  <a:t> e </a:t>
                </a:r>
                <a:r>
                  <a:rPr lang="en-US" sz="1400" dirty="0" err="1"/>
                  <a:t>gli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angoli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dei</a:t>
                </a:r>
                <a:r>
                  <a:rPr lang="en-US" sz="1400" dirty="0"/>
                  <a:t> gate </a:t>
                </a:r>
                <a:r>
                  <a:rPr lang="en-US" sz="1400" dirty="0" err="1"/>
                  <a:t>nei</a:t>
                </a:r>
                <a:r>
                  <a:rPr lang="en-US" sz="1400" dirty="0"/>
                  <a:t> due </a:t>
                </a:r>
                <a:r>
                  <a:rPr lang="en-US" sz="1400" dirty="0" err="1"/>
                  <a:t>casi</a:t>
                </a:r>
                <a:r>
                  <a:rPr lang="en-US" sz="1400" dirty="0"/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2ECF6F1-2FEA-12FA-99A6-2A90E69D6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531" y="4161581"/>
                <a:ext cx="3183467" cy="1169551"/>
              </a:xfrm>
              <a:prstGeom prst="rect">
                <a:avLst/>
              </a:prstGeom>
              <a:blipFill>
                <a:blip r:embed="rId6"/>
                <a:stretch>
                  <a:fillRect l="-574" t="-1042" r="-382"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7">
                <a:extLst>
                  <a:ext uri="{FF2B5EF4-FFF2-40B4-BE49-F238E27FC236}">
                    <a16:creationId xmlns:a16="http://schemas.microsoft.com/office/drawing/2014/main" id="{8493C4A0-44BB-1523-2768-BB57145D3B0B}"/>
                  </a:ext>
                </a:extLst>
              </p:cNvPr>
              <p:cNvSpPr txBox="1"/>
              <p:nvPr/>
            </p:nvSpPr>
            <p:spPr>
              <a:xfrm>
                <a:off x="8365405" y="2032772"/>
                <a:ext cx="3183467" cy="96515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279400" indent="-279400">
                  <a:buSzPct val="100000"/>
                  <a:buFontTx/>
                  <a:buChar char="■"/>
                </a:pP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Esponenziazione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Locale:</a:t>
                </a:r>
                <a:r>
                  <a:rPr lang="en-US" sz="1400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400" dirty="0"/>
                  <a:t>Ogni </a:t>
                </a:r>
                <a:r>
                  <a:rPr lang="en-US" sz="1400" dirty="0" err="1"/>
                  <a:t>singolo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blocco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 i="0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1400" i="0" dirty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viene </a:t>
                </a:r>
                <a:r>
                  <a:rPr lang="en-US" sz="1400" dirty="0" err="1"/>
                  <a:t>tradotto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direttamente</a:t>
                </a:r>
                <a:r>
                  <a:rPr lang="en-US" sz="1400" dirty="0"/>
                  <a:t> in </a:t>
                </a:r>
                <a:r>
                  <a:rPr lang="en-US" sz="1400" dirty="0" err="1"/>
                  <a:t>porte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quantistiche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elementari</a:t>
                </a:r>
                <a:r>
                  <a:rPr lang="en-US" sz="1400" dirty="0"/>
                  <a:t>.</a:t>
                </a:r>
              </a:p>
              <a:p>
                <a:pPr marL="279400" indent="-279400">
                  <a:buSzPct val="100000"/>
                  <a:buFontTx/>
                  <a:buChar char="■"/>
                </a:pPr>
                <a:endParaRPr lang="en-US" sz="1400" dirty="0"/>
              </a:p>
            </p:txBody>
          </p:sp>
        </mc:Choice>
        <mc:Fallback xmlns="">
          <p:sp>
            <p:nvSpPr>
              <p:cNvPr id="12" name="Text 7">
                <a:extLst>
                  <a:ext uri="{FF2B5EF4-FFF2-40B4-BE49-F238E27FC236}">
                    <a16:creationId xmlns:a16="http://schemas.microsoft.com/office/drawing/2014/main" id="{8493C4A0-44BB-1523-2768-BB57145D3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5405" y="2032772"/>
                <a:ext cx="3183467" cy="965155"/>
              </a:xfrm>
              <a:prstGeom prst="rect">
                <a:avLst/>
              </a:prstGeom>
              <a:blipFill>
                <a:blip r:embed="rId7"/>
                <a:stretch>
                  <a:fillRect l="-3059" t="-1132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7">
            <a:extLst>
              <a:ext uri="{FF2B5EF4-FFF2-40B4-BE49-F238E27FC236}">
                <a16:creationId xmlns:a16="http://schemas.microsoft.com/office/drawing/2014/main" id="{EFE8A9C7-4528-13D6-DFAA-5A481490E039}"/>
              </a:ext>
            </a:extLst>
          </p:cNvPr>
          <p:cNvSpPr txBox="1"/>
          <p:nvPr/>
        </p:nvSpPr>
        <p:spPr>
          <a:xfrm>
            <a:off x="8365405" y="2997927"/>
            <a:ext cx="3126051" cy="93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FontTx/>
              <a:buChar char="■"/>
            </a:pPr>
            <a:r>
              <a:rPr lang="en-US" sz="14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Vantaggio</a:t>
            </a: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Hardware:</a:t>
            </a: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/>
              <a:t>Trasforma</a:t>
            </a:r>
            <a:r>
              <a:rPr lang="en-US" sz="1400" dirty="0"/>
              <a:t> un </a:t>
            </a:r>
            <a:r>
              <a:rPr lang="en-US" sz="1400" dirty="0" err="1"/>
              <a:t>problema</a:t>
            </a:r>
            <a:r>
              <a:rPr lang="en-US" sz="1400" dirty="0"/>
              <a:t> </a:t>
            </a:r>
            <a:r>
              <a:rPr lang="en-US" sz="1400" dirty="0" err="1"/>
              <a:t>globale</a:t>
            </a:r>
            <a:r>
              <a:rPr lang="en-US" sz="1400" dirty="0"/>
              <a:t> continuo in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sequenza</a:t>
            </a:r>
            <a:r>
              <a:rPr lang="en-US" sz="1400" dirty="0"/>
              <a:t> </a:t>
            </a:r>
            <a:r>
              <a:rPr lang="en-US" sz="1400" dirty="0" err="1"/>
              <a:t>discreta</a:t>
            </a:r>
            <a:r>
              <a:rPr lang="en-US" sz="1400" dirty="0"/>
              <a:t> di </a:t>
            </a:r>
            <a:r>
              <a:rPr lang="en-US" sz="1400" dirty="0" err="1"/>
              <a:t>circuiti</a:t>
            </a:r>
            <a:r>
              <a:rPr lang="en-US" sz="1400" dirty="0"/>
              <a:t> a </a:t>
            </a:r>
            <a:r>
              <a:rPr lang="en-US" sz="1400" dirty="0" err="1"/>
              <a:t>blocchi</a:t>
            </a:r>
            <a:r>
              <a:rPr lang="en-US" sz="1400" dirty="0"/>
              <a:t> </a:t>
            </a:r>
            <a:r>
              <a:rPr lang="en-US" sz="1400" dirty="0" err="1"/>
              <a:t>ripetuti</a:t>
            </a:r>
            <a:r>
              <a:rPr lang="en-US" sz="1400" dirty="0"/>
              <a:t>, </a:t>
            </a:r>
            <a:r>
              <a:rPr lang="en-US" sz="1400" dirty="0" err="1"/>
              <a:t>ideale</a:t>
            </a:r>
            <a:r>
              <a:rPr lang="en-US" sz="1400" dirty="0"/>
              <a:t> per </a:t>
            </a:r>
            <a:r>
              <a:rPr lang="en-US" sz="1400" dirty="0" err="1"/>
              <a:t>l'hardware</a:t>
            </a:r>
            <a:r>
              <a:rPr lang="en-US" sz="1400" dirty="0"/>
              <a:t> </a:t>
            </a:r>
            <a:r>
              <a:rPr lang="en-US" sz="1400" dirty="0" err="1"/>
              <a:t>quantistico</a:t>
            </a:r>
            <a:r>
              <a:rPr lang="en-US" sz="1400" dirty="0"/>
              <a:t> </a:t>
            </a:r>
            <a:r>
              <a:rPr lang="en-US" sz="1400" dirty="0" err="1"/>
              <a:t>digitale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2913450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E39FB-229C-7EF5-4C33-1BD0BB9B4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ZIONE">
            <a:extLst>
              <a:ext uri="{FF2B5EF4-FFF2-40B4-BE49-F238E27FC236}">
                <a16:creationId xmlns:a16="http://schemas.microsoft.com/office/drawing/2014/main" id="{5C195AC1-32B6-AB75-6E34-FEFF89ABBBCA}"/>
              </a:ext>
            </a:extLst>
          </p:cNvPr>
          <p:cNvSpPr txBox="1"/>
          <p:nvPr/>
        </p:nvSpPr>
        <p:spPr>
          <a:xfrm>
            <a:off x="640080" y="402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VQE - Ansatz">
            <a:extLst>
              <a:ext uri="{FF2B5EF4-FFF2-40B4-BE49-F238E27FC236}">
                <a16:creationId xmlns:a16="http://schemas.microsoft.com/office/drawing/2014/main" id="{75E2C869-5E09-A842-74C4-92F1945DC086}"/>
              </a:ext>
            </a:extLst>
          </p:cNvPr>
          <p:cNvSpPr txBox="1"/>
          <p:nvPr/>
        </p:nvSpPr>
        <p:spPr>
          <a:xfrm>
            <a:off x="640079" y="713232"/>
            <a:ext cx="1086599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di  Trotter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B12DDC2-0CCD-63FC-0E6C-C3D16A496ED4}"/>
              </a:ext>
            </a:extLst>
          </p:cNvPr>
          <p:cNvSpPr/>
          <p:nvPr/>
        </p:nvSpPr>
        <p:spPr>
          <a:xfrm>
            <a:off x="625463" y="136135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itle Circuito Trimero">
            <a:extLst>
              <a:ext uri="{FF2B5EF4-FFF2-40B4-BE49-F238E27FC236}">
                <a16:creationId xmlns:a16="http://schemas.microsoft.com/office/drawing/2014/main" id="{D2C871C5-2D72-4D8E-1B59-A48E3D61CF41}"/>
              </a:ext>
            </a:extLst>
          </p:cNvPr>
          <p:cNvSpPr txBox="1"/>
          <p:nvPr/>
        </p:nvSpPr>
        <p:spPr>
          <a:xfrm>
            <a:off x="579921" y="1418777"/>
            <a:ext cx="109115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Compilazione</a:t>
            </a:r>
            <a:endParaRPr lang="en-US" i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1FCAEF-1680-8B11-B8D0-22504A675CC2}"/>
              </a:ext>
            </a:extLst>
          </p:cNvPr>
          <p:cNvSpPr txBox="1"/>
          <p:nvPr/>
        </p:nvSpPr>
        <p:spPr>
          <a:xfrm>
            <a:off x="-1" y="4161581"/>
            <a:ext cx="69783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E573DAE8-B358-4446-00D7-F097EADACC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4291697"/>
                  </p:ext>
                </p:extLst>
              </p:nvPr>
            </p:nvGraphicFramePr>
            <p:xfrm>
              <a:off x="1144849" y="2385397"/>
              <a:ext cx="9781675" cy="26776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23993">
                      <a:extLst>
                        <a:ext uri="{9D8B030D-6E8A-4147-A177-3AD203B41FA5}">
                          <a16:colId xmlns:a16="http://schemas.microsoft.com/office/drawing/2014/main" val="2983002637"/>
                        </a:ext>
                      </a:extLst>
                    </a:gridCol>
                    <a:gridCol w="3940187">
                      <a:extLst>
                        <a:ext uri="{9D8B030D-6E8A-4147-A177-3AD203B41FA5}">
                          <a16:colId xmlns:a16="http://schemas.microsoft.com/office/drawing/2014/main" val="3135419831"/>
                        </a:ext>
                      </a:extLst>
                    </a:gridCol>
                    <a:gridCol w="3617495">
                      <a:extLst>
                        <a:ext uri="{9D8B030D-6E8A-4147-A177-3AD203B41FA5}">
                          <a16:colId xmlns:a16="http://schemas.microsoft.com/office/drawing/2014/main" val="3618603096"/>
                        </a:ext>
                      </a:extLst>
                    </a:gridCol>
                  </a:tblGrid>
                  <a:tr h="18598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err="1"/>
                            <a:t>Tabelle</a:t>
                          </a:r>
                          <a:r>
                            <a:rPr lang="en-US" sz="1800" dirty="0"/>
                            <a:t> </a:t>
                          </a:r>
                          <a:r>
                            <a:rPr lang="en-US" sz="1800" dirty="0" err="1"/>
                            <a:t>simboliche</a:t>
                          </a:r>
                          <a:r>
                            <a:rPr lang="en-US" sz="1800" dirty="0"/>
                            <a:t> – slide </a:t>
                          </a:r>
                          <a:r>
                            <a:rPr lang="en-US" sz="1800" dirty="0" err="1"/>
                            <a:t>precedente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err="1"/>
                            <a:t>Circuiti</a:t>
                          </a:r>
                          <a:r>
                            <a:rPr lang="en-US" sz="1800" dirty="0"/>
                            <a:t> </a:t>
                          </a:r>
                          <a:r>
                            <a:rPr lang="en-US" sz="1800" dirty="0" err="1"/>
                            <a:t>nell'imagine</a:t>
                          </a:r>
                          <a:r>
                            <a:rPr lang="en-US" sz="1800" dirty="0"/>
                            <a:t> - slide </a:t>
                          </a:r>
                          <a:r>
                            <a:rPr lang="en-US" sz="1800" dirty="0" err="1"/>
                            <a:t>successiva</a:t>
                          </a:r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6225189"/>
                      </a:ext>
                    </a:extLst>
                  </a:tr>
                  <a:tr h="31617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/>
                            <a:t>Cosa mostrano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/>
                            <a:t>Circuito </a:t>
                          </a:r>
                          <a:r>
                            <a:rPr lang="en-US" sz="1800" b="1"/>
                            <a:t>logico</a:t>
                          </a:r>
                          <a:r>
                            <a:rPr lang="en-US" sz="1800"/>
                            <a:t>, non compilato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/>
                            <a:t>Circuito </a:t>
                          </a:r>
                          <a:r>
                            <a:rPr lang="en-US" sz="1800" b="1"/>
                            <a:t>compilato</a:t>
                          </a:r>
                          <a:r>
                            <a:rPr lang="en-US" sz="1800"/>
                            <a:t> (dopo transpile)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60805927"/>
                      </a:ext>
                    </a:extLst>
                  </a:tr>
                  <a:tr h="31617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/>
                            <a:t>Gate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𝑋𝑋</m:t>
                                  </m:r>
                                </m:sub>
                              </m:sSub>
                              <m:r>
                                <a:rPr lang="en-US" sz="18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𝑌𝑌</m:t>
                                  </m:r>
                                </m:sub>
                              </m:sSub>
                              <m:r>
                                <a:rPr lang="en-US" sz="18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𝑍𝑍</m:t>
                                  </m:r>
                                </m:sub>
                              </m:sSub>
                              <m: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800" dirty="0"/>
                            <a:t>sandwich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oMath>
                          </a14:m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dirty="0"/>
                            <a:t>,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1800" dirty="0"/>
                            <a:t>​, CNOT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76878886"/>
                      </a:ext>
                    </a:extLst>
                  </a:tr>
                  <a:tr h="44636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/>
                            <a:t>Angoli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dirty="0" err="1"/>
                            <a:t>Direttamente</a:t>
                          </a:r>
                          <a:r>
                            <a:rPr lang="en-US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oMath>
                          </a14:m>
                          <a:r>
                            <a:rPr lang="en-US" sz="180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i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oMath>
                          </a14:m>
                          <a:r>
                            <a:rPr lang="en-US" sz="180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i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oMath>
                          </a14:m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/>
                            <a:t>Usciti dalla sintesi ottima, senza significato fisico diretto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3468083"/>
                      </a:ext>
                    </a:extLst>
                  </a:tr>
                  <a:tr h="57655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dirty="0" err="1"/>
                            <a:t>Relazione</a:t>
                          </a:r>
                          <a:r>
                            <a:rPr lang="en-US" sz="1800" dirty="0"/>
                            <a:t> </a:t>
                          </a:r>
                          <a:r>
                            <a:rPr lang="en-US" sz="1800" dirty="0" err="1"/>
                            <a:t>fra</a:t>
                          </a:r>
                          <a:r>
                            <a:rPr lang="en-US" sz="1800" dirty="0"/>
                            <a:t> loro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dirty="0"/>
                            <a:t>Stesso </a:t>
                          </a:r>
                          <a:r>
                            <a:rPr lang="en-US" sz="1800" b="1" dirty="0" err="1"/>
                            <a:t>unitario</a:t>
                          </a:r>
                          <a:r>
                            <a:rPr lang="en-US" sz="1800" b="1" dirty="0"/>
                            <a:t> finale</a:t>
                          </a:r>
                          <a:r>
                            <a:rPr lang="en-US" sz="1800" dirty="0"/>
                            <a:t>, ma </a:t>
                          </a:r>
                          <a:r>
                            <a:rPr lang="en-US" sz="1800" dirty="0" err="1"/>
                            <a:t>nessuna</a:t>
                          </a:r>
                          <a:r>
                            <a:rPr lang="en-US" sz="1800" dirty="0"/>
                            <a:t> </a:t>
                          </a:r>
                          <a:r>
                            <a:rPr lang="en-US" sz="1800" dirty="0" err="1"/>
                            <a:t>corrispondenza</a:t>
                          </a:r>
                          <a:r>
                            <a:rPr lang="en-US" sz="1800" dirty="0"/>
                            <a:t> gate-per-gate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002827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E573DAE8-B358-4446-00D7-F097EADACC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4291697"/>
                  </p:ext>
                </p:extLst>
              </p:nvPr>
            </p:nvGraphicFramePr>
            <p:xfrm>
              <a:off x="1144849" y="2385397"/>
              <a:ext cx="9781675" cy="26776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23993">
                      <a:extLst>
                        <a:ext uri="{9D8B030D-6E8A-4147-A177-3AD203B41FA5}">
                          <a16:colId xmlns:a16="http://schemas.microsoft.com/office/drawing/2014/main" val="2983002637"/>
                        </a:ext>
                      </a:extLst>
                    </a:gridCol>
                    <a:gridCol w="3940187">
                      <a:extLst>
                        <a:ext uri="{9D8B030D-6E8A-4147-A177-3AD203B41FA5}">
                          <a16:colId xmlns:a16="http://schemas.microsoft.com/office/drawing/2014/main" val="3135419831"/>
                        </a:ext>
                      </a:extLst>
                    </a:gridCol>
                    <a:gridCol w="3617495">
                      <a:extLst>
                        <a:ext uri="{9D8B030D-6E8A-4147-A177-3AD203B41FA5}">
                          <a16:colId xmlns:a16="http://schemas.microsoft.com/office/drawing/2014/main" val="3618603096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err="1"/>
                            <a:t>Tabelle</a:t>
                          </a:r>
                          <a:r>
                            <a:rPr lang="en-US" sz="1800" dirty="0"/>
                            <a:t> </a:t>
                          </a:r>
                          <a:r>
                            <a:rPr lang="en-US" sz="1800" dirty="0" err="1"/>
                            <a:t>simboliche</a:t>
                          </a:r>
                          <a:r>
                            <a:rPr lang="en-US" sz="1800" dirty="0"/>
                            <a:t> – slide </a:t>
                          </a:r>
                          <a:r>
                            <a:rPr lang="en-US" sz="1800" dirty="0" err="1"/>
                            <a:t>precedente</a:t>
                          </a:r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err="1"/>
                            <a:t>Circuiti</a:t>
                          </a:r>
                          <a:r>
                            <a:rPr lang="en-US" sz="1800" dirty="0"/>
                            <a:t> </a:t>
                          </a:r>
                          <a:r>
                            <a:rPr lang="en-US" sz="1800" dirty="0" err="1"/>
                            <a:t>nell'imagine</a:t>
                          </a:r>
                          <a:r>
                            <a:rPr lang="en-US" sz="1800" dirty="0"/>
                            <a:t> - slide </a:t>
                          </a:r>
                          <a:r>
                            <a:rPr lang="en-US" sz="1800" dirty="0" err="1"/>
                            <a:t>successiva</a:t>
                          </a:r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622518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/>
                            <a:t>Cosa mostrano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/>
                            <a:t>Circuito </a:t>
                          </a:r>
                          <a:r>
                            <a:rPr lang="en-US" sz="1800" b="1"/>
                            <a:t>logico</a:t>
                          </a:r>
                          <a:r>
                            <a:rPr lang="en-US" sz="1800"/>
                            <a:t>, non compilato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/>
                            <a:t>Circuito </a:t>
                          </a:r>
                          <a:r>
                            <a:rPr lang="en-US" sz="1800" b="1"/>
                            <a:t>compilato</a:t>
                          </a:r>
                          <a:r>
                            <a:rPr lang="en-US" sz="1800"/>
                            <a:t> (dopo transpile)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60805927"/>
                      </a:ext>
                    </a:extLst>
                  </a:tr>
                  <a:tr h="39160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/>
                            <a:t>Gate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6569" t="-261538" r="-92427" b="-34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70539" t="-261538" r="-673" b="-34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687888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/>
                            <a:t>Angoli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6569" t="-223810" r="-92427" b="-11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/>
                            <a:t>Usciti dalla sintesi ottima, senza significato fisico diretto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346808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dirty="0" err="1"/>
                            <a:t>Relazione</a:t>
                          </a:r>
                          <a:r>
                            <a:rPr lang="en-US" sz="1800" dirty="0"/>
                            <a:t> </a:t>
                          </a:r>
                          <a:r>
                            <a:rPr lang="en-US" sz="1800" dirty="0" err="1"/>
                            <a:t>fra</a:t>
                          </a:r>
                          <a:r>
                            <a:rPr lang="en-US" sz="1800" dirty="0"/>
                            <a:t> loro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dirty="0"/>
                            <a:t>Stesso </a:t>
                          </a:r>
                          <a:r>
                            <a:rPr lang="en-US" sz="1800" b="1" dirty="0" err="1"/>
                            <a:t>unitario</a:t>
                          </a:r>
                          <a:r>
                            <a:rPr lang="en-US" sz="1800" b="1" dirty="0"/>
                            <a:t> finale</a:t>
                          </a:r>
                          <a:r>
                            <a:rPr lang="en-US" sz="1800" dirty="0"/>
                            <a:t>, ma </a:t>
                          </a:r>
                          <a:r>
                            <a:rPr lang="en-US" sz="1800" dirty="0" err="1"/>
                            <a:t>nessuna</a:t>
                          </a:r>
                          <a:r>
                            <a:rPr lang="en-US" sz="1800" dirty="0"/>
                            <a:t> </a:t>
                          </a:r>
                          <a:r>
                            <a:rPr lang="en-US" sz="1800" dirty="0" err="1"/>
                            <a:t>corrispondenza</a:t>
                          </a:r>
                          <a:r>
                            <a:rPr lang="en-US" sz="1800" dirty="0"/>
                            <a:t> gate-per-gate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sz="1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0028271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1B7A56A1-5C10-97AA-212A-FC85F0238CDA}"/>
              </a:ext>
            </a:extLst>
          </p:cNvPr>
          <p:cNvSpPr txBox="1"/>
          <p:nvPr/>
        </p:nvSpPr>
        <p:spPr>
          <a:xfrm>
            <a:off x="3910552" y="5583773"/>
            <a:ext cx="42502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/>
              <a:t>transpile</a:t>
            </a:r>
            <a:r>
              <a:rPr lang="en-US" sz="1600" dirty="0"/>
              <a:t>, </a:t>
            </a:r>
            <a:r>
              <a:rPr lang="en-US" sz="1600" dirty="0" err="1"/>
              <a:t>optimization_level</a:t>
            </a:r>
            <a:r>
              <a:rPr lang="en-US" sz="1600" dirty="0"/>
              <a:t>=3, </a:t>
            </a:r>
            <a:r>
              <a:rPr lang="en-US" sz="1600" dirty="0" err="1"/>
              <a:t>qc.count_ops</a:t>
            </a:r>
            <a:r>
              <a:rPr lang="en-US" sz="1600" dirty="0"/>
              <a:t>()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75305633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5C398-BBB0-8C7C-1D2B-E8FC6740E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ZIONE">
            <a:extLst>
              <a:ext uri="{FF2B5EF4-FFF2-40B4-BE49-F238E27FC236}">
                <a16:creationId xmlns:a16="http://schemas.microsoft.com/office/drawing/2014/main" id="{FD349C9C-A531-AB42-08B3-13ACADDB194E}"/>
              </a:ext>
            </a:extLst>
          </p:cNvPr>
          <p:cNvSpPr txBox="1"/>
          <p:nvPr/>
        </p:nvSpPr>
        <p:spPr>
          <a:xfrm>
            <a:off x="640080" y="402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VQE - Ansatz">
            <a:extLst>
              <a:ext uri="{FF2B5EF4-FFF2-40B4-BE49-F238E27FC236}">
                <a16:creationId xmlns:a16="http://schemas.microsoft.com/office/drawing/2014/main" id="{F0DF13D6-B99B-8586-663C-9EECB2BD9458}"/>
              </a:ext>
            </a:extLst>
          </p:cNvPr>
          <p:cNvSpPr txBox="1"/>
          <p:nvPr/>
        </p:nvSpPr>
        <p:spPr>
          <a:xfrm>
            <a:off x="640079" y="713232"/>
            <a:ext cx="1086599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di  Trotter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6810847-8374-3072-EB4D-DEC943FD59A4}"/>
              </a:ext>
            </a:extLst>
          </p:cNvPr>
          <p:cNvSpPr/>
          <p:nvPr/>
        </p:nvSpPr>
        <p:spPr>
          <a:xfrm>
            <a:off x="625463" y="136135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itle Circuito Trimero">
            <a:extLst>
              <a:ext uri="{FF2B5EF4-FFF2-40B4-BE49-F238E27FC236}">
                <a16:creationId xmlns:a16="http://schemas.microsoft.com/office/drawing/2014/main" id="{121DD808-3F21-F427-57EE-3BFC3D14031E}"/>
              </a:ext>
            </a:extLst>
          </p:cNvPr>
          <p:cNvSpPr txBox="1"/>
          <p:nvPr/>
        </p:nvSpPr>
        <p:spPr>
          <a:xfrm>
            <a:off x="579921" y="1418777"/>
            <a:ext cx="109115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Circuiti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Compilato</a:t>
            </a:r>
            <a:endParaRPr lang="en-US" i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14CA1E-E025-6622-6541-1E9A8E978214}"/>
              </a:ext>
            </a:extLst>
          </p:cNvPr>
          <p:cNvSpPr txBox="1"/>
          <p:nvPr/>
        </p:nvSpPr>
        <p:spPr>
          <a:xfrm>
            <a:off x="6590325" y="4868753"/>
            <a:ext cx="405632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01FF57-1271-C7D3-2524-696D6000B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21" y="2438559"/>
            <a:ext cx="9857252" cy="169621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8D91891-3B06-ECEC-4289-31E02EE6A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19441"/>
            <a:ext cx="12192000" cy="2300805"/>
          </a:xfrm>
          <a:prstGeom prst="rect">
            <a:avLst/>
          </a:prstGeom>
        </p:spPr>
      </p:pic>
      <p:sp>
        <p:nvSpPr>
          <p:cNvPr id="27" name="Desc HA dimero">
            <a:extLst>
              <a:ext uri="{FF2B5EF4-FFF2-40B4-BE49-F238E27FC236}">
                <a16:creationId xmlns:a16="http://schemas.microsoft.com/office/drawing/2014/main" id="{570D7F8F-C9A7-5055-89C8-FFC28011D42B}"/>
              </a:ext>
            </a:extLst>
          </p:cNvPr>
          <p:cNvSpPr txBox="1"/>
          <p:nvPr/>
        </p:nvSpPr>
        <p:spPr>
          <a:xfrm>
            <a:off x="640080" y="2371048"/>
            <a:ext cx="1373088" cy="38277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734F20-F290-67BA-1C69-724BC0579484}"/>
              </a:ext>
            </a:extLst>
          </p:cNvPr>
          <p:cNvSpPr txBox="1"/>
          <p:nvPr/>
        </p:nvSpPr>
        <p:spPr>
          <a:xfrm>
            <a:off x="22212" y="4292202"/>
            <a:ext cx="61786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6" name="Desc HA dimero">
            <a:extLst>
              <a:ext uri="{FF2B5EF4-FFF2-40B4-BE49-F238E27FC236}">
                <a16:creationId xmlns:a16="http://schemas.microsoft.com/office/drawing/2014/main" id="{5D047843-6E00-F121-F1E9-29CE52BBC988}"/>
              </a:ext>
            </a:extLst>
          </p:cNvPr>
          <p:cNvSpPr txBox="1"/>
          <p:nvPr/>
        </p:nvSpPr>
        <p:spPr>
          <a:xfrm>
            <a:off x="579921" y="4242713"/>
            <a:ext cx="825934" cy="38277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87919387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85D83-D5B9-7060-2159-E648B76C6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564F3D2-990C-1928-B873-F2584E9B372C}"/>
              </a:ext>
            </a:extLst>
          </p:cNvPr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D76F20B-BCCD-AD69-5334-3BF0855A561F}"/>
              </a:ext>
            </a:extLst>
          </p:cNvPr>
          <p:cNvSpPr txBox="1"/>
          <p:nvPr/>
        </p:nvSpPr>
        <p:spPr>
          <a:xfrm>
            <a:off x="640079" y="713232"/>
            <a:ext cx="844012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r>
              <a:rPr lang="en-US" sz="3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32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Correlatori</a:t>
            </a:r>
            <a:r>
              <a:rPr lang="en-US" sz="3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sotto Rumore</a:t>
            </a:r>
            <a:endParaRPr lang="en-US" sz="32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6CBED214-6A4D-4DE2-E5BC-96279D71CC9C}"/>
              </a:ext>
            </a:extLst>
          </p:cNvPr>
          <p:cNvSpPr/>
          <p:nvPr/>
        </p:nvSpPr>
        <p:spPr>
          <a:xfrm>
            <a:off x="652779" y="136288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Primitive a due qubit">
                <a:extLst>
                  <a:ext uri="{FF2B5EF4-FFF2-40B4-BE49-F238E27FC236}">
                    <a16:creationId xmlns:a16="http://schemas.microsoft.com/office/drawing/2014/main" id="{FA05844D-DF3D-2505-777F-4985C1FCC65B}"/>
                  </a:ext>
                </a:extLst>
              </p:cNvPr>
              <p:cNvSpPr txBox="1"/>
              <p:nvPr/>
            </p:nvSpPr>
            <p:spPr>
              <a:xfrm>
                <a:off x="652778" y="1362882"/>
                <a:ext cx="10911535" cy="5303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Funzioni di </a:t>
                </a:r>
                <a:r>
                  <a:rPr lang="en-US" b="1" i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correlazione</a:t>
                </a:r>
                <a:r>
                  <a:rPr lang="en-US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b="1" i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dinamica</a:t>
                </a:r>
                <a:r>
                  <a:rPr lang="en-US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yz</m:t>
                        </m:r>
                      </m:sup>
                    </m:sSubSup>
                    <m:d>
                      <m:dPr>
                        <m:ctrlP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1" i="1" dirty="0" smtClean="0">
                        <a:solidFill>
                          <a:srgbClr val="173A5E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begChr m:val="|"/>
                            <m:endChr m:val="|"/>
                            <m:ctrlP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sSubSup>
                              <m:sSubSupPr>
                                <m:ctrlP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</m:d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Canali di </a:t>
                </a:r>
                <a:r>
                  <a:rPr lang="en-US" b="1" i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rumore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173A5E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i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𝑟𝑒𝑎𝑑𝑜𝑢𝑡</m:t>
                        </m:r>
                      </m:sub>
                    </m:sSub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23" name="Primitive a due qubit">
                <a:extLst>
                  <a:ext uri="{FF2B5EF4-FFF2-40B4-BE49-F238E27FC236}">
                    <a16:creationId xmlns:a16="http://schemas.microsoft.com/office/drawing/2014/main" id="{FA05844D-DF3D-2505-777F-4985C1FCC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78" y="1362882"/>
                <a:ext cx="10911535" cy="530352"/>
              </a:xfrm>
              <a:prstGeom prst="rect">
                <a:avLst/>
              </a:prstGeom>
              <a:blipFill>
                <a:blip r:embed="rId3"/>
                <a:stretch>
                  <a:fillRect b="-229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5EB435-1FC9-5489-6DF3-AAF73DD7B736}"/>
                  </a:ext>
                </a:extLst>
              </p:cNvPr>
              <p:cNvSpPr txBox="1"/>
              <p:nvPr/>
            </p:nvSpPr>
            <p:spPr>
              <a:xfrm>
                <a:off x="730088" y="3801877"/>
                <a:ext cx="478428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F(</a:t>
                </a:r>
                <a:r>
                  <a:rPr lang="en-US" sz="1400" dirty="0">
                    <a:effectLst/>
                  </a:rPr>
                  <a:t>N</a:t>
                </a:r>
                <a:r>
                  <a:rPr lang="en-US" sz="1400" dirty="0"/>
                  <a:t>) (</a:t>
                </a:r>
                <a:r>
                  <a:rPr lang="en-US" sz="1400" dirty="0" err="1"/>
                  <a:t>fedeltà</a:t>
                </a:r>
                <a:r>
                  <a:rPr lang="en-US" sz="1400" dirty="0"/>
                  <a:t> </a:t>
                </a:r>
                <a:r>
                  <a:rPr lang="en-US" sz="1400" dirty="0" err="1"/>
                  <a:t>VQE+Trotter</a:t>
                </a:r>
                <a:r>
                  <a:rPr lang="en-US" sz="1400" dirty="0"/>
                  <a:t>):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compromesso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errore</a:t>
                </a:r>
                <a:r>
                  <a:rPr lang="en-US" sz="1400" dirty="0"/>
                  <a:t>/</a:t>
                </a:r>
                <a:r>
                  <a:rPr lang="en-US" sz="1400" dirty="0" err="1"/>
                  <a:t>rumore</a:t>
                </a:r>
                <a:endParaRPr lang="en-US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5EB435-1FC9-5489-6DF3-AAF73DD7B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88" y="3801877"/>
                <a:ext cx="4784286" cy="584775"/>
              </a:xfrm>
              <a:prstGeom prst="rect">
                <a:avLst/>
              </a:prstGeom>
              <a:blipFill>
                <a:blip r:embed="rId4"/>
                <a:stretch>
                  <a:fillRect l="-255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B5915FB-4DFC-5078-3BA7-CC92144D189F}"/>
                  </a:ext>
                </a:extLst>
              </p:cNvPr>
              <p:cNvSpPr txBox="1"/>
              <p:nvPr/>
            </p:nvSpPr>
            <p:spPr>
              <a:xfrm>
                <a:off x="730087" y="3105834"/>
                <a:ext cx="478428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Senza </a:t>
                </a:r>
                <a:r>
                  <a:rPr lang="en-US" sz="1400" dirty="0" err="1"/>
                  <a:t>rumore</a:t>
                </a:r>
                <a:r>
                  <a:rPr lang="en-US" sz="1400" dirty="0"/>
                  <a:t>: </a:t>
                </a:r>
                <a:r>
                  <a:rPr lang="en-US" sz="1400" dirty="0" err="1"/>
                  <a:t>più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 è sempre </a:t>
                </a:r>
                <a:r>
                  <a:rPr lang="en-US" sz="1400" dirty="0" err="1"/>
                  <a:t>meglio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l'ottimo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sarebbe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B5915FB-4DFC-5078-3BA7-CC92144D1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87" y="3105834"/>
                <a:ext cx="4784286" cy="646331"/>
              </a:xfrm>
              <a:prstGeom prst="rect">
                <a:avLst/>
              </a:prstGeom>
              <a:blipFill>
                <a:blip r:embed="rId5"/>
                <a:stretch>
                  <a:fillRect l="-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11D0DCBE-8CC9-3876-92F8-B3C8E28BF21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77628" y="4252484"/>
            <a:ext cx="3962021" cy="248526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6B6A247-3051-E033-127C-508EC8DF419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77628" y="1893235"/>
            <a:ext cx="3747734" cy="23508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0573226-3290-5814-5C99-B1ADB565CD11}"/>
                  </a:ext>
                </a:extLst>
              </p:cNvPr>
              <p:cNvSpPr txBox="1"/>
              <p:nvPr/>
            </p:nvSpPr>
            <p:spPr>
              <a:xfrm>
                <a:off x="730088" y="4436364"/>
                <a:ext cx="4784287" cy="15506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 alto (es. 60), Trotter è quasi </a:t>
                </a:r>
                <a:r>
                  <a:rPr lang="en-US" sz="1400" dirty="0" err="1"/>
                  <a:t>perfetto</a:t>
                </a:r>
                <a:r>
                  <a:rPr lang="en-US" sz="1400" dirty="0"/>
                  <a:t> ma il </a:t>
                </a:r>
                <a:r>
                  <a:rPr lang="en-US" sz="1400" dirty="0" err="1"/>
                  <a:t>segnale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rumoroso</a:t>
                </a:r>
                <a:r>
                  <a:rPr lang="en-US" sz="1400" dirty="0"/>
                  <a:t> è quasi </a:t>
                </a:r>
                <a:r>
                  <a:rPr lang="en-US" sz="1400" dirty="0" err="1"/>
                  <a:t>azzerato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troppi</a:t>
                </a:r>
                <a:r>
                  <a:rPr lang="en-US" sz="1400" dirty="0"/>
                  <a:t> gate </a:t>
                </a:r>
                <a:r>
                  <a:rPr lang="en-US" sz="1400" dirty="0" err="1"/>
                  <a:t>accumulati</a:t>
                </a:r>
                <a:r>
                  <a:rPr lang="en-US" sz="1400" dirty="0"/>
                  <a:t>); 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 basso (es. 2), il </a:t>
                </a:r>
                <a:r>
                  <a:rPr lang="en-US" sz="1400" dirty="0" err="1"/>
                  <a:t>segnale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rumoroso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resta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vicino</a:t>
                </a:r>
                <a:r>
                  <a:rPr lang="en-US" sz="1400" dirty="0"/>
                  <a:t> a </a:t>
                </a:r>
                <a:r>
                  <a:rPr lang="en-US" sz="1400" dirty="0" err="1"/>
                  <a:t>quello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ideale</a:t>
                </a:r>
                <a:r>
                  <a:rPr lang="en-US" sz="1400" dirty="0"/>
                  <a:t> ma Trotter da solo è </a:t>
                </a:r>
                <a:r>
                  <a:rPr lang="en-US" sz="1400" dirty="0" err="1"/>
                  <a:t>già</a:t>
                </a:r>
                <a:r>
                  <a:rPr lang="en-US" sz="1400" dirty="0"/>
                  <a:t> molto </a:t>
                </a:r>
                <a:r>
                  <a:rPr lang="en-US" sz="1400" dirty="0" err="1"/>
                  <a:t>impreciso</a:t>
                </a:r>
                <a:r>
                  <a:rPr lang="en-US" sz="1400" dirty="0"/>
                  <a:t>. Non </a:t>
                </a:r>
                <a:r>
                  <a:rPr lang="en-US" sz="1400" dirty="0" err="1"/>
                  <a:t>esiste</a:t>
                </a:r>
                <a:r>
                  <a:rPr lang="en-US" sz="1400" dirty="0"/>
                  <a:t> un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dirty="0" err="1"/>
                  <a:t>che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sia</a:t>
                </a:r>
                <a:r>
                  <a:rPr lang="en-US" sz="1400" dirty="0"/>
                  <a:t> "il </a:t>
                </a:r>
                <a:r>
                  <a:rPr lang="en-US" sz="1400" dirty="0" err="1"/>
                  <a:t>migliore</a:t>
                </a:r>
                <a:r>
                  <a:rPr lang="en-US" sz="1400" dirty="0"/>
                  <a:t>" per </a:t>
                </a:r>
                <a:r>
                  <a:rPr lang="en-US" sz="1400" dirty="0" err="1"/>
                  <a:t>entrambe</a:t>
                </a:r>
                <a:r>
                  <a:rPr lang="en-US" sz="1400" dirty="0"/>
                  <a:t> le </a:t>
                </a:r>
                <a:r>
                  <a:rPr lang="en-US" sz="1400" dirty="0" err="1"/>
                  <a:t>cose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contemporaneamente</a:t>
                </a:r>
                <a:r>
                  <a:rPr lang="en-US" sz="1400" dirty="0"/>
                  <a:t>.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0573226-3290-5814-5C99-B1ADB565C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88" y="4436364"/>
                <a:ext cx="4784287" cy="1550617"/>
              </a:xfrm>
              <a:prstGeom prst="rect">
                <a:avLst/>
              </a:prstGeom>
              <a:blipFill>
                <a:blip r:embed="rId8"/>
                <a:stretch>
                  <a:fillRect l="-255" b="-31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5372469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3761</TotalTime>
  <Words>2027</Words>
  <Application>Microsoft Office PowerPoint</Application>
  <PresentationFormat>Widescreen</PresentationFormat>
  <Paragraphs>257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259</cp:revision>
  <cp:lastPrinted>2026-09-22T13:42:48Z</cp:lastPrinted>
  <dcterms:created xsi:type="dcterms:W3CDTF">2026-09-14T09:54:52Z</dcterms:created>
  <dcterms:modified xsi:type="dcterms:W3CDTF">2026-09-22T17:50:51Z</dcterms:modified>
</cp:coreProperties>
</file>