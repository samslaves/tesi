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71" r:id="rId4"/>
    <p:sldId id="272" r:id="rId5"/>
    <p:sldId id="273" r:id="rId6"/>
    <p:sldId id="265" r:id="rId7"/>
    <p:sldId id="275" r:id="rId8"/>
    <p:sldId id="276" r:id="rId9"/>
    <p:sldId id="277" r:id="rId10"/>
    <p:sldId id="278" r:id="rId11"/>
    <p:sldId id="279" r:id="rId12"/>
    <p:sldId id="280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5.png"/><Relationship Id="rId15" Type="http://schemas.openxmlformats.org/officeDocument/2006/relationships/image" Target="../media/image130.png"/><Relationship Id="rId10" Type="http://schemas.openxmlformats.org/officeDocument/2006/relationships/image" Target="../media/image14.png"/><Relationship Id="rId9" Type="http://schemas.openxmlformats.org/officeDocument/2006/relationships/image" Target="../media/image70.png"/><Relationship Id="rId14" Type="http://schemas.openxmlformats.org/officeDocument/2006/relationships/image" Target="../media/image1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12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accoppiati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mappati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direttamente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b="1" dirty="0"/>
                  <a:t>2 qubit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Pauli: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lvl="0"/>
                <a:endParaRPr lang="en-US" sz="1200" dirty="0"/>
              </a:p>
              <a:p>
                <a:r>
                  <a:rPr lang="en-US" sz="1200" dirty="0" err="1"/>
                  <a:t>tre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fisici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accoppiamento</a:t>
                </a:r>
                <a:r>
                  <a:rPr lang="en-US" sz="1200" dirty="0"/>
                  <a:t>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200" dirty="0"/>
                  <a:t> (campo),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interazione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Dzyaloshinskii</a:t>
                </a:r>
                <a:r>
                  <a:rPr lang="en-US" sz="1200" dirty="0"/>
                  <a:t>–Moriya) </a:t>
                </a:r>
                <a:r>
                  <a:rPr lang="en-US" sz="1200" dirty="0" err="1"/>
                  <a:t>sufficienti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produrre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banale</a:t>
                </a:r>
                <a:r>
                  <a:rPr lang="en-US" sz="1200" dirty="0"/>
                  <a:t>.</a:t>
                </a:r>
              </a:p>
              <a:p>
                <a:pPr marL="304800" indent="-304800">
                  <a:buSzPct val="100000"/>
                  <a:buChar char="■"/>
                </a:pPr>
                <a:endParaRPr lang="en-US" sz="12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blipFill>
                <a:blip r:embed="rId3"/>
                <a:stretch>
                  <a:fillRect l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Tre spin</a:t>
                </a:r>
                <a:r>
                  <a:rPr lang="en-US" sz="12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disposti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triangolo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isoscele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anello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chiuso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</a:t>
                </a:r>
                <a:br>
                  <a:rPr lang="en-US" sz="1200" dirty="0"/>
                </a:b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endParaRPr lang="en-US" sz="1200" dirty="0"/>
              </a:p>
              <a:p>
                <a:r>
                  <a:rPr lang="en-US" sz="1200" dirty="0"/>
                  <a:t>un </a:t>
                </a:r>
                <a:r>
                  <a:rPr lang="en-US" sz="1200" dirty="0" err="1"/>
                  <a:t>legame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più</a:t>
                </a:r>
                <a:r>
                  <a:rPr lang="en-US" sz="1200" dirty="0"/>
                  <a:t> rispetto al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dirty="0"/>
                  <a:t>), </a:t>
                </a:r>
                <a:r>
                  <a:rPr lang="en-US" sz="1200" dirty="0" err="1"/>
                  <a:t>sufficiente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introdurre</a:t>
                </a:r>
                <a:r>
                  <a:rPr lang="en-US" sz="1200" dirty="0"/>
                  <a:t> un </a:t>
                </a:r>
                <a:r>
                  <a:rPr lang="en-US" sz="1200" dirty="0" err="1"/>
                  <a:t>fenomeno</a:t>
                </a:r>
                <a:r>
                  <a:rPr lang="en-US" sz="1200" dirty="0"/>
                  <a:t> del </a:t>
                </a:r>
                <a:r>
                  <a:rPr lang="en-US" sz="1200" dirty="0" err="1"/>
                  <a:t>tutto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assente</a:t>
                </a:r>
                <a:r>
                  <a:rPr lang="en-US" sz="1200" dirty="0"/>
                  <a:t> a due spin: la </a:t>
                </a:r>
                <a:r>
                  <a:rPr lang="en-US" sz="1200" b="1" dirty="0" err="1"/>
                  <a:t>frustrazione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geometrica</a:t>
                </a:r>
                <a:r>
                  <a:rPr lang="en-US" sz="1200" dirty="0"/>
                  <a:t>.</a:t>
                </a:r>
              </a:p>
              <a:p>
                <a:pPr rtl="0">
                  <a:buNone/>
                </a:pPr>
                <a:endParaRPr lang="en-US" sz="12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blipFill>
                <a:blip r:embed="rId4"/>
                <a:stretch>
                  <a:fillRect l="-111" t="-3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2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nella mappa non unitaria</a:t>
                </a:r>
              </a:p>
              <a:p>
                <a:endParaRPr lang="it-IT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blipFill>
                <a:blip r:embed="rId5"/>
                <a:stretch>
                  <a:fillRect l="-127" t="-7222" b="-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quantistica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7276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55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5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sistemi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mappano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naturalmente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sui qubit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blipFill>
                <a:blip r:embed="rId3"/>
                <a:stretch>
                  <a:fillRect l="-2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400" dirty="0"/>
                </a:b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 i="0"/>
                                <m:t>sim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blipFill>
                <a:blip r:embed="rId4"/>
                <a:stretch>
                  <a:fillRect l="-364" t="-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757B0E-C20E-962C-76D7-E7164CA457B1}"/>
              </a:ext>
            </a:extLst>
          </p:cNvPr>
          <p:cNvSpPr txBox="1"/>
          <p:nvPr/>
        </p:nvSpPr>
        <p:spPr>
          <a:xfrm>
            <a:off x="6522722" y="3989345"/>
            <a:ext cx="55922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solo 0 o 1, un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0, 1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oppure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entrambi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contemporaneamente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sovrapposizione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quantistica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natura "doppia"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finché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osservato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esatto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lettura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collassa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definendosi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definitivo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0 o 1.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86480" y="15544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Variational Quantum </a:t>
                </a:r>
                <a:r>
                  <a:rPr lang="en-US" sz="1200" dirty="0" err="1"/>
                  <a:t>Eigensolver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sfrutta</a:t>
                </a:r>
                <a:r>
                  <a:rPr lang="en-US" sz="1200" dirty="0"/>
                  <a:t> il </a:t>
                </a:r>
                <a:r>
                  <a:rPr lang="en-US" sz="1200" b="1" dirty="0"/>
                  <a:t>Principio </a:t>
                </a:r>
                <a:r>
                  <a:rPr lang="en-US" sz="1200" b="1" dirty="0" err="1"/>
                  <a:t>Variazionale</a:t>
                </a:r>
                <a:endParaRPr lang="en-US" sz="1200" dirty="0"/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dirty="0"/>
                  <a:t>il computer </a:t>
                </a:r>
                <a:r>
                  <a:rPr lang="en-US" sz="1200" dirty="0" err="1"/>
                  <a:t>quantistico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prepara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i="1" dirty="0"/>
                  <a:t>Ansatz</a:t>
                </a:r>
                <a:r>
                  <a:rPr lang="en-US" sz="1200" dirty="0"/>
                  <a:t>) e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aspettazione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dell'energia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L'ottimizzatore</a:t>
                </a:r>
                <a:r>
                  <a:rPr lang="en-US" sz="1200" dirty="0"/>
                  <a:t> classico </a:t>
                </a:r>
                <a:r>
                  <a:rPr lang="en-US" sz="1200" dirty="0" err="1"/>
                  <a:t>aggiorna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θ per </a:t>
                </a:r>
                <a:r>
                  <a:rPr lang="en-US" sz="1200" dirty="0" err="1"/>
                  <a:t>convergere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fondamentale</a:t>
                </a:r>
                <a:r>
                  <a:rPr lang="en-US" sz="1200" dirty="0"/>
                  <a:t> E₀.</a:t>
                </a:r>
                <a:br>
                  <a:rPr lang="en-US" sz="1200" dirty="0"/>
                </a:br>
                <a:endParaRPr lang="en-US" sz="1200" dirty="0"/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714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Suzuki-Trotter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dell’evoluzione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endParaRPr lang="en-US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/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endParaRPr lang="en-US" sz="1400" dirty="0"/>
              </a:p>
              <a:p>
                <a:endParaRPr lang="en-US" sz="1400" dirty="0"/>
              </a:p>
              <a:p>
                <a:pPr algn="ctr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/>
              </a:p>
              <a:p>
                <a:pPr algn="ctr"/>
                <a:endParaRPr lang="en-US" sz="1400" dirty="0"/>
              </a:p>
              <a:p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r>
                  <a:rPr lang="en-US" sz="1400" dirty="0"/>
                  <a:t> </a:t>
                </a:r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blipFill>
                <a:blip r:embed="rId4"/>
                <a:stretch>
                  <a:fillRect l="-168" t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rimitive a due qubit"/>
              <p:cNvSpPr txBox="1"/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Primitive a due qubit</a:t>
                </a:r>
                <a:endParaRPr lang="en-US" sz="2100" dirty="0"/>
              </a:p>
            </p:txBody>
          </p:sp>
        </mc:Choice>
        <mc:Fallback xmlns="">
          <p:sp>
            <p:nvSpPr>
              <p:cNvPr id="5" name="Primitive a due qubi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1554480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rimitiva RBS">
            <a:extLst>
              <a:ext uri="{FF2B5EF4-FFF2-40B4-BE49-F238E27FC236}">
                <a16:creationId xmlns:a16="http://schemas.microsoft.com/office/drawing/2014/main" id="{81D639B5-F246-0FD2-4065-0BF8083F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94" y="2415367"/>
            <a:ext cx="3503637" cy="1698081"/>
          </a:xfrm>
          <a:prstGeom prst="rect">
            <a:avLst/>
          </a:prstGeom>
        </p:spPr>
      </p:pic>
      <p:pic>
        <p:nvPicPr>
          <p:cNvPr id="34" name="Primitiva W">
            <a:extLst>
              <a:ext uri="{FF2B5EF4-FFF2-40B4-BE49-F238E27FC236}">
                <a16:creationId xmlns:a16="http://schemas.microsoft.com/office/drawing/2014/main" id="{C8791585-7F09-865E-220C-E61E87F7D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94" y="4676437"/>
            <a:ext cx="2584383" cy="17792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/>
              <p:nvPr/>
            </p:nvSpPr>
            <p:spPr>
              <a:xfrm>
                <a:off x="4237784" y="3140753"/>
                <a:ext cx="3320851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4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rotazione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reale</a:t>
                </a:r>
                <a:r>
                  <a:rPr lang="en-US" sz="14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35" name="Espressione RBS">
                <a:extLst>
                  <a:ext uri="{FF2B5EF4-FFF2-40B4-BE49-F238E27FC236}">
                    <a16:creationId xmlns:a16="http://schemas.microsoft.com/office/drawing/2014/main" id="{D1F96A2D-1405-EE2F-2A83-B9EA9EFA4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784" y="3140753"/>
                <a:ext cx="3320851" cy="566630"/>
              </a:xfrm>
              <a:prstGeom prst="rect">
                <a:avLst/>
              </a:prstGeom>
              <a:blipFill>
                <a:blip r:embed="rId6"/>
                <a:stretch>
                  <a:fillRect l="-550" b="-107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/>
              <p:nvPr/>
            </p:nvSpPr>
            <p:spPr>
              <a:xfrm>
                <a:off x="4237783" y="5546203"/>
                <a:ext cx="3320851" cy="351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400" dirty="0"/>
                  <a:t> - </a:t>
                </a:r>
                <a:r>
                  <a:rPr lang="en-US" sz="1400" dirty="0" err="1"/>
                  <a:t>rotazione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reale</a:t>
                </a:r>
                <a:endParaRPr lang="en-US" sz="1400" dirty="0"/>
              </a:p>
            </p:txBody>
          </p:sp>
        </mc:Choice>
        <mc:Fallback xmlns="">
          <p:sp>
            <p:nvSpPr>
              <p:cNvPr id="38" name="Espressione W">
                <a:extLst>
                  <a:ext uri="{FF2B5EF4-FFF2-40B4-BE49-F238E27FC236}">
                    <a16:creationId xmlns:a16="http://schemas.microsoft.com/office/drawing/2014/main" id="{B0330022-6E90-2304-EB44-A37397C14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783" y="5546203"/>
                <a:ext cx="3320851" cy="351186"/>
              </a:xfrm>
              <a:prstGeom prst="rect">
                <a:avLst/>
              </a:prstGeom>
              <a:blipFill>
                <a:blip r:embed="rId7"/>
                <a:stretch>
                  <a:fillRect b="-192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018579" y="4250633"/>
              <a:ext cx="3716127" cy="1376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8709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2382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𝑅𝐵𝑆</m:t>
                                </m:r>
                                <m:d>
                                  <m:d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ella porte">
                <a:extLst>
                  <a:ext uri="{FF2B5EF4-FFF2-40B4-BE49-F238E27FC236}">
                    <a16:creationId xmlns:a16="http://schemas.microsoft.com/office/drawing/2014/main" id="{A805E98D-C6DF-5C91-AD6F-7D016904005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2859698"/>
                  </p:ext>
                </p:extLst>
              </p:nvPr>
            </p:nvGraphicFramePr>
            <p:xfrm>
              <a:off x="8018579" y="4250633"/>
              <a:ext cx="3716127" cy="13765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38709">
                      <a:extLst>
                        <a:ext uri="{9D8B030D-6E8A-4147-A177-3AD203B41FA5}">
                          <a16:colId xmlns:a16="http://schemas.microsoft.com/office/drawing/2014/main" val="1343430199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433833955"/>
                        </a:ext>
                      </a:extLst>
                    </a:gridCol>
                    <a:gridCol w="1238709">
                      <a:extLst>
                        <a:ext uri="{9D8B030D-6E8A-4147-A177-3AD203B41FA5}">
                          <a16:colId xmlns:a16="http://schemas.microsoft.com/office/drawing/2014/main" val="2881941172"/>
                        </a:ext>
                      </a:extLst>
                    </a:gridCol>
                  </a:tblGrid>
                  <a:tr h="642382">
                    <a:tc>
                      <a:txBody>
                        <a:bodyPr/>
                        <a:lstStyle/>
                        <a:p>
                          <a:r>
                            <a:rPr lang="en-US" dirty="0" err="1"/>
                            <a:t>Blocco</a:t>
                          </a:r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2 qubit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Porte a 1 qubit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4623586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3" t="-185000" r="-202956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186921"/>
                      </a:ext>
                    </a:extLst>
                  </a:tr>
                  <a:tr h="367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3" t="-280328" r="-202956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456690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692FE5-6D29-C4C6-2B48-8C31942F5E57}"/>
                  </a:ext>
                </a:extLst>
              </p:cNvPr>
              <p:cNvSpPr txBox="1"/>
              <p:nvPr/>
            </p:nvSpPr>
            <p:spPr>
              <a:xfrm>
                <a:off x="8413855" y="3384468"/>
                <a:ext cx="3320851" cy="543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RBS pre </a:t>
                </a:r>
                <a:r>
                  <a:rPr lang="en-US" sz="1400" dirty="0" err="1"/>
                  <a:t>differenziarmi</a:t>
                </a:r>
                <a:r>
                  <a:rPr lang="en-US" sz="1400" dirty="0"/>
                  <a:t> 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l'alternativa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citata</a:t>
                </a:r>
                <a:r>
                  <a:rPr lang="en-US" sz="1400" dirty="0"/>
                  <a:t> in </a:t>
                </a:r>
                <a:r>
                  <a:rPr lang="en-US" sz="1400" dirty="0" err="1"/>
                  <a:t>letteratura</a:t>
                </a:r>
                <a:r>
                  <a:rPr lang="en-US" sz="14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5692FE5-6D29-C4C6-2B48-8C31942F5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855" y="3384468"/>
                <a:ext cx="3320851" cy="543610"/>
              </a:xfrm>
              <a:prstGeom prst="rect">
                <a:avLst/>
              </a:prstGeom>
              <a:blipFill>
                <a:blip r:embed="rId9"/>
                <a:stretch>
                  <a:fillRect l="-550" t="-1124" b="-1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/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Dimero</a:t>
                </a:r>
                <a:endParaRPr lang="en-US" dirty="0"/>
              </a:p>
            </p:txBody>
          </p:sp>
        </mc:Choice>
        <mc:Fallback xmlns=""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blipFill>
                <a:blip r:embed="rId9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400" dirty="0"/>
              <a:t>: </a:t>
            </a:r>
            <a:r>
              <a:rPr lang="en-US" sz="1400" dirty="0" err="1"/>
              <a:t>termine</a:t>
            </a:r>
            <a:r>
              <a:rPr lang="en-US" sz="1400" dirty="0"/>
              <a:t> di </a:t>
            </a:r>
            <a:r>
              <a:rPr lang="en-US" sz="1400" dirty="0" err="1"/>
              <a:t>confronto</a:t>
            </a:r>
            <a:r>
              <a:rPr lang="en-US" sz="1400" dirty="0"/>
              <a:t> (baseline </a:t>
            </a:r>
            <a:r>
              <a:rPr lang="en-US" sz="1400" dirty="0" err="1"/>
              <a:t>generica</a:t>
            </a:r>
            <a:r>
              <a:rPr lang="en-US" sz="1400" dirty="0"/>
              <a:t>, senza </a:t>
            </a:r>
            <a:r>
              <a:rPr lang="en-US" sz="1400" dirty="0" err="1"/>
              <a:t>usare</a:t>
            </a:r>
            <a:r>
              <a:rPr lang="en-US" sz="1400" dirty="0"/>
              <a:t> la </a:t>
            </a:r>
            <a:r>
              <a:rPr lang="en-US" sz="1400" dirty="0" err="1"/>
              <a:t>fisica</a:t>
            </a:r>
            <a:r>
              <a:rPr lang="en-US" sz="1400" dirty="0"/>
              <a:t> del </a:t>
            </a:r>
            <a:r>
              <a:rPr lang="en-US" sz="1400" dirty="0" err="1"/>
              <a:t>problema</a:t>
            </a:r>
            <a:r>
              <a:rPr lang="en-US" sz="1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/>
              <p:nvPr/>
            </p:nvSpPr>
            <p:spPr>
              <a:xfrm>
                <a:off x="7580376" y="5184572"/>
                <a:ext cx="384830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base</a:t>
                </a:r>
                <a:r>
                  <a:rPr lang="en-US" sz="1400" b="1" dirty="0"/>
                  <a:t>: </a:t>
                </a:r>
                <a:r>
                  <a:rPr lang="en-US" sz="1400" dirty="0"/>
                  <a:t>a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/>
                  <a:t> il </a:t>
                </a:r>
                <a:r>
                  <a:rPr lang="en-US" sz="1400" dirty="0" err="1"/>
                  <a:t>singoletto</a:t>
                </a:r>
                <a:r>
                  <a:rPr lang="en-US" sz="1400" dirty="0"/>
                  <a:t> è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esatto</a:t>
                </a:r>
                <a:r>
                  <a:rPr lang="en-US" sz="1400" dirty="0"/>
                  <a:t> -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aggiunge</a:t>
                </a:r>
                <a:r>
                  <a:rPr lang="en-US" sz="1400" dirty="0"/>
                  <a:t> solo la </a:t>
                </a:r>
                <a:r>
                  <a:rPr lang="en-US" sz="1400" dirty="0" err="1"/>
                  <a:t>flessibilità</a:t>
                </a:r>
                <a:r>
                  <a:rPr lang="en-US" sz="1400" dirty="0"/>
                  <a:t> minima per la </a:t>
                </a:r>
                <a:r>
                  <a:rPr lang="en-US" sz="1400" dirty="0" err="1"/>
                  <a:t>piccola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perturbazione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76" y="5184572"/>
                <a:ext cx="3848306" cy="954107"/>
              </a:xfrm>
              <a:prstGeom prst="rect">
                <a:avLst/>
              </a:prstGeom>
              <a:blipFill>
                <a:blip r:embed="rId13"/>
                <a:stretch>
                  <a:fillRect l="-475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/>
              <p:nvPr/>
            </p:nvSpPr>
            <p:spPr>
              <a:xfrm>
                <a:off x="4330197" y="5205079"/>
                <a:ext cx="280290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/>
                  <a:t>: </a:t>
                </a:r>
                <a:r>
                  <a:rPr lang="en-US" sz="1400" dirty="0"/>
                  <a:t>PMA base non basta </a:t>
                </a:r>
                <a:r>
                  <a:rPr lang="en-US" sz="1400" dirty="0" err="1"/>
                  <a:t>vicino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all'incrocio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limite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parità</a:t>
                </a:r>
                <a:r>
                  <a:rPr lang="en-US" sz="1400" dirty="0"/>
                  <a:t>) — le due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rompono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quel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vincolo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recuperando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97" y="5205079"/>
                <a:ext cx="2802905" cy="1169551"/>
              </a:xfrm>
              <a:prstGeom prst="rect">
                <a:avLst/>
              </a:prstGeom>
              <a:blipFill>
                <a:blip r:embed="rId14"/>
                <a:stretch>
                  <a:fillRect l="-652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329572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329572"/>
                <a:ext cx="10911535" cy="553998"/>
              </a:xfrm>
              <a:prstGeom prst="rect">
                <a:avLst/>
              </a:prstGeom>
              <a:blipFill>
                <a:blip r:embed="rId15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/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endParaRPr lang="en-US" dirty="0"/>
              </a:p>
            </p:txBody>
          </p:sp>
        </mc:Choice>
        <mc:Fallback xmlns="">
          <p:sp>
            <p:nvSpPr>
              <p:cNvPr id="7" name="Title Circuito Trimero">
                <a:extLst>
                  <a:ext uri="{FF2B5EF4-FFF2-40B4-BE49-F238E27FC236}">
                    <a16:creationId xmlns:a16="http://schemas.microsoft.com/office/drawing/2014/main" id="{6F06D79C-D78E-4C9A-C7FB-7D704A64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38" y="1611907"/>
                <a:ext cx="10911535" cy="415498"/>
              </a:xfrm>
              <a:prstGeom prst="rect">
                <a:avLst/>
              </a:prstGeom>
              <a:blipFill>
                <a:blip r:embed="rId3"/>
                <a:stretch>
                  <a:fillRect t="-8696" b="-27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7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15226"/>
            <a:ext cx="4772165" cy="196596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31685" y="6144768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9306" y="3719525"/>
            <a:ext cx="4898967" cy="3037360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416040" y="1611069"/>
            <a:ext cx="4800600" cy="197011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32411" y="1710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34756" y="2609715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31685" y="203009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32411" y="244275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32411" y="2790230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32411" y="313853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6779029" y="172079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dimero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6779029" y="203169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6779029" y="2447331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6779029" y="2794803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6779029" y="3142275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27" y="3719525"/>
            <a:ext cx="4361066" cy="256533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10043" y="5004315"/>
            <a:ext cx="4713316" cy="1572768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30082" y="5141475"/>
            <a:ext cx="4318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30082" y="5452371"/>
            <a:ext cx="43184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30082" y="5772411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	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30082" y="6119883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	(6 CNOT, 25 gate 1q)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/>
              <p:nvPr/>
            </p:nvSpPr>
            <p:spPr>
              <a:xfrm>
                <a:off x="6770062" y="1853685"/>
                <a:ext cx="4638501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400" dirty="0"/>
                  <a:t>Con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′/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=0.4 </m:t>
                    </m:r>
                  </m:oMath>
                </a14:m>
                <a:r>
                  <a:rPr lang="en-US" sz="1400" dirty="0" err="1"/>
                  <a:t>fissato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)</a:t>
                </a:r>
              </a:p>
              <a:p>
                <a:pPr lvl="0"/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 err="1"/>
                  <a:t>Opzione</a:t>
                </a:r>
                <a:r>
                  <a:rPr lang="en-US" sz="1400" b="1" dirty="0"/>
                  <a:t> B</a:t>
                </a:r>
                <a:r>
                  <a:rPr lang="en-US" sz="1400" dirty="0"/>
                  <a:t>: </a:t>
                </a:r>
                <a:r>
                  <a:rPr lang="en-US" sz="1400" dirty="0" err="1"/>
                  <a:t>apro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l’incrocio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1.379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br>
                  <a:rPr lang="en-US" sz="1400" dirty="0"/>
                </a:br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 err="1"/>
                  <a:t>Opzione</a:t>
                </a:r>
                <a:r>
                  <a:rPr lang="en-US" sz="1400" dirty="0"/>
                  <a:t> A: </a:t>
                </a:r>
                <a:r>
                  <a:rPr lang="en-US" sz="1400" dirty="0" err="1"/>
                  <a:t>lascia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l'incrocio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protetto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degenere</a:t>
                </a:r>
                <a:r>
                  <a:rPr lang="en-US" sz="1400" dirty="0"/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062" y="1853685"/>
                <a:ext cx="4638501" cy="1384995"/>
              </a:xfrm>
              <a:prstGeom prst="rect">
                <a:avLst/>
              </a:prstGeom>
              <a:blipFill>
                <a:blip r:embed="rId3"/>
                <a:stretch>
                  <a:fillRect l="-395" t="-881" b="-3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F764549-A077-63FC-B4DD-AC37CEFB6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53685"/>
            <a:ext cx="5602778" cy="346562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08" y="2148840"/>
            <a:ext cx="4652992" cy="33939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40079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337" y="2148840"/>
            <a:ext cx="4652992" cy="3393947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/>
        </p:nvGraphicFramePr>
        <p:xfrm>
          <a:off x="6175046" y="5542788"/>
          <a:ext cx="5389267" cy="1203960"/>
        </p:xfrm>
        <a:graphic>
          <a:graphicData uri="http://schemas.openxmlformats.org/drawingml/2006/table">
            <a:tbl>
              <a:tblPr/>
              <a:tblGrid>
                <a:gridCol w="587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3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4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/>
        </p:nvGraphicFramePr>
        <p:xfrm>
          <a:off x="498764" y="5542788"/>
          <a:ext cx="4605250" cy="1203960"/>
        </p:xfrm>
        <a:graphic>
          <a:graphicData uri="http://schemas.openxmlformats.org/drawingml/2006/table">
            <a:tbl>
              <a:tblPr/>
              <a:tblGrid>
                <a:gridCol w="849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6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2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/>
              <p:nvPr/>
            </p:nvSpPr>
            <p:spPr>
              <a:xfrm>
                <a:off x="4962700" y="2577353"/>
                <a:ext cx="1596637" cy="2292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err="1"/>
                  <a:t>Attivando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DM, il punto in cui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due </a:t>
                </a:r>
                <a:r>
                  <a:rPr lang="en-US" sz="1100" dirty="0" err="1"/>
                  <a:t>livelli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restano</a:t>
                </a:r>
                <a:r>
                  <a:rPr lang="en-US" sz="1100" dirty="0"/>
                  <a:t> </a:t>
                </a:r>
                <a:r>
                  <a:rPr lang="en-US" sz="1100" dirty="0" err="1"/>
                  <a:t>più</a:t>
                </a:r>
                <a:r>
                  <a:rPr lang="en-US" sz="1100" dirty="0"/>
                  <a:t> </a:t>
                </a:r>
                <a:r>
                  <a:rPr lang="en-US" sz="1100" dirty="0" err="1"/>
                  <a:t>vicini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fra</a:t>
                </a:r>
                <a:r>
                  <a:rPr lang="en-US" sz="1100" dirty="0"/>
                  <a:t> loro non coincide </a:t>
                </a:r>
                <a:r>
                  <a:rPr lang="en-US" sz="1100" dirty="0" err="1"/>
                  <a:t>esattamente</a:t>
                </a:r>
                <a:r>
                  <a:rPr lang="en-US" sz="1100" dirty="0"/>
                  <a:t> con il punto in cui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incrociavano</a:t>
                </a:r>
                <a:r>
                  <a:rPr lang="en-US" sz="1100" dirty="0"/>
                  <a:t> prima </a:t>
                </a:r>
                <a:r>
                  <a:rPr lang="en-US" sz="1100" dirty="0" err="1"/>
                  <a:t>che</a:t>
                </a:r>
                <a:r>
                  <a:rPr lang="en-US" sz="1100" dirty="0"/>
                  <a:t> il DM fosse </a:t>
                </a:r>
                <a:r>
                  <a:rPr lang="en-US" sz="1100" dirty="0" err="1"/>
                  <a:t>acceso</a:t>
                </a:r>
                <a:r>
                  <a:rPr lang="en-US" sz="1100" dirty="0"/>
                  <a:t> -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sposta</a:t>
                </a:r>
                <a:r>
                  <a:rPr lang="en-US" sz="1100" dirty="0"/>
                  <a:t> </a:t>
                </a:r>
                <a:r>
                  <a:rPr lang="en-US" sz="1100" dirty="0" err="1"/>
                  <a:t>leggermente</a:t>
                </a:r>
                <a:r>
                  <a:rPr lang="en-US" sz="1100" dirty="0"/>
                  <a:t>, in </a:t>
                </a:r>
                <a:r>
                  <a:rPr lang="en-US" sz="1100" dirty="0" err="1"/>
                  <a:t>entrambi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sistemi</a:t>
                </a:r>
                <a:r>
                  <a:rPr lang="en-US" sz="1100" dirty="0"/>
                  <a:t> (</a:t>
                </a:r>
                <a:r>
                  <a:rPr lang="en-US" sz="1100" dirty="0" err="1"/>
                  <a:t>dimero</a:t>
                </a:r>
                <a:r>
                  <a:rPr lang="en-US" sz="1100" dirty="0"/>
                  <a:t>: da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2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2.07</m:t>
                    </m:r>
                  </m:oMath>
                </a14:m>
                <a:r>
                  <a:rPr lang="en-US" sz="1100" dirty="0"/>
                  <a:t>; </a:t>
                </a:r>
                <a:r>
                  <a:rPr lang="en-US" sz="1100" dirty="0" err="1"/>
                  <a:t>trimero</a:t>
                </a:r>
                <a:r>
                  <a:rPr lang="en-US" sz="1100" dirty="0"/>
                  <a:t>: da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r>
                  <a:rPr lang="en-US" sz="1100" dirty="0"/>
                  <a:t>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2.41</m:t>
                    </m:r>
                  </m:oMath>
                </a14:m>
                <a:r>
                  <a:rPr lang="en-US" sz="1100" dirty="0"/>
                  <a:t>).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700" y="2577353"/>
                <a:ext cx="1596637" cy="2292935"/>
              </a:xfrm>
              <a:prstGeom prst="rect">
                <a:avLst/>
              </a:prstGeom>
              <a:blipFill>
                <a:blip r:embed="rId5"/>
                <a:stretch>
                  <a:fillRect t="-266" r="-1908"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itolo dimero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due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3345620-629D-B964-53EC-3DECB48A8B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58368" y="2269261"/>
            <a:ext cx="8477143" cy="2036858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B862225E-7227-3EEC-FCB1-385D2BB725DB}"/>
              </a:ext>
            </a:extLst>
          </p:cNvPr>
          <p:cNvSpPr txBox="1"/>
          <p:nvPr/>
        </p:nvSpPr>
        <p:spPr>
          <a:xfrm>
            <a:off x="640080" y="5679269"/>
            <a:ext cx="5151121" cy="93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FontTx/>
              <a:buChar char="■"/>
            </a:pPr>
            <a:r>
              <a:rPr lang="en-US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</a:t>
            </a:r>
            <a:r>
              <a:rPr lang="en-US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Hardware: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/>
              <a:t>Trasforma</a:t>
            </a:r>
            <a:r>
              <a:rPr lang="en-US" dirty="0"/>
              <a:t> un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continuo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sequenza</a:t>
            </a:r>
            <a:r>
              <a:rPr lang="en-US" dirty="0"/>
              <a:t> </a:t>
            </a:r>
            <a:r>
              <a:rPr lang="en-US" dirty="0" err="1"/>
              <a:t>discreta</a:t>
            </a:r>
            <a:r>
              <a:rPr lang="en-US" dirty="0"/>
              <a:t> di </a:t>
            </a:r>
            <a:r>
              <a:rPr lang="en-US" dirty="0" err="1"/>
              <a:t>circuiti</a:t>
            </a:r>
            <a:r>
              <a:rPr lang="en-US" dirty="0"/>
              <a:t> a </a:t>
            </a:r>
            <a:r>
              <a:rPr lang="en-US" dirty="0" err="1"/>
              <a:t>blocchi</a:t>
            </a:r>
            <a:r>
              <a:rPr lang="en-US" dirty="0"/>
              <a:t> </a:t>
            </a:r>
            <a:r>
              <a:rPr lang="en-US" dirty="0" err="1"/>
              <a:t>ripetuti</a:t>
            </a:r>
            <a:r>
              <a:rPr lang="en-US" dirty="0"/>
              <a:t>, </a:t>
            </a:r>
            <a:r>
              <a:rPr lang="en-US" dirty="0" err="1"/>
              <a:t>ideale</a:t>
            </a:r>
            <a:r>
              <a:rPr lang="en-US" dirty="0"/>
              <a:t> per </a:t>
            </a:r>
            <a:r>
              <a:rPr lang="en-US" dirty="0" err="1"/>
              <a:t>l'hardware</a:t>
            </a:r>
            <a:r>
              <a:rPr lang="en-US" dirty="0"/>
              <a:t> </a:t>
            </a:r>
            <a:r>
              <a:rPr lang="en-US" dirty="0" err="1"/>
              <a:t>quantistico</a:t>
            </a:r>
            <a:r>
              <a:rPr lang="en-US" dirty="0"/>
              <a:t> </a:t>
            </a:r>
            <a:r>
              <a:rPr lang="en-US" dirty="0" err="1"/>
              <a:t>digitale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/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FontTx/>
                  <a:buChar char="■"/>
                </a:pPr>
                <a:r>
                  <a:rPr lang="en-US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Esponenziazione</a:t>
                </a:r>
                <a:r>
                  <a:rPr lang="en-US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Locale: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/>
                  <a:t>Ogni </a:t>
                </a:r>
                <a:r>
                  <a:rPr lang="en-US" dirty="0" err="1"/>
                  <a:t>singolo</a:t>
                </a:r>
                <a:r>
                  <a:rPr lang="en-US" dirty="0"/>
                  <a:t> </a:t>
                </a:r>
                <a:r>
                  <a:rPr lang="en-US" dirty="0" err="1"/>
                  <a:t>blocco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viene </a:t>
                </a:r>
                <a:r>
                  <a:rPr lang="en-US" dirty="0" err="1"/>
                  <a:t>tradotto</a:t>
                </a:r>
                <a:r>
                  <a:rPr lang="en-US" dirty="0"/>
                  <a:t> </a:t>
                </a:r>
                <a:r>
                  <a:rPr lang="en-US" dirty="0" err="1"/>
                  <a:t>direttamente</a:t>
                </a:r>
                <a:r>
                  <a:rPr lang="en-US" dirty="0"/>
                  <a:t> in </a:t>
                </a:r>
                <a:r>
                  <a:rPr lang="en-US" dirty="0" err="1"/>
                  <a:t>porte</a:t>
                </a:r>
                <a:r>
                  <a:rPr lang="en-US" dirty="0"/>
                  <a:t> </a:t>
                </a:r>
                <a:r>
                  <a:rPr lang="en-US" dirty="0" err="1"/>
                  <a:t>quantistiche</a:t>
                </a:r>
                <a:r>
                  <a:rPr lang="en-US" dirty="0"/>
                  <a:t> </a:t>
                </a:r>
                <a:r>
                  <a:rPr lang="en-US" dirty="0" err="1"/>
                  <a:t>elementari</a:t>
                </a:r>
                <a:r>
                  <a:rPr lang="en-US" dirty="0"/>
                  <a:t>.</a:t>
                </a:r>
              </a:p>
              <a:p>
                <a:pPr marL="279400" indent="-279400">
                  <a:buSzPct val="100000"/>
                  <a:buFontTx/>
                  <a:buChar char="■"/>
                </a:pPr>
                <a:endParaRPr lang="en-US" dirty="0"/>
              </a:p>
            </p:txBody>
          </p:sp>
        </mc:Choice>
        <mc:Fallback xmlns="">
          <p:sp>
            <p:nvSpPr>
              <p:cNvPr id="25" name="Text 7">
                <a:extLst>
                  <a:ext uri="{FF2B5EF4-FFF2-40B4-BE49-F238E27FC236}">
                    <a16:creationId xmlns:a16="http://schemas.microsoft.com/office/drawing/2014/main" id="{C9B64EBA-6147-767A-358E-5C825C20F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445627"/>
                <a:ext cx="5151121" cy="1362669"/>
              </a:xfrm>
              <a:prstGeom prst="rect">
                <a:avLst/>
              </a:prstGeom>
              <a:blipFill>
                <a:blip r:embed="rId4"/>
                <a:stretch>
                  <a:fillRect l="-248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4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4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1​+</m:t>
                                    </m:r>
                                    <m:r>
                                      <a:rPr lang="en-US" sz="1400" i="1" dirty="0" smtClean="0"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2​+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𝐽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ctrlP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2​−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  <m:r>
                                      <a:rPr lang="en-US" sz="14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14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/2</m:t>
                                  </m:r>
                                </m:e>
                              </m:d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9528C95B-5B11-CC46-6B6C-8F23F73122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067856" y="4773169"/>
              <a:ext cx="5452872" cy="144636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26436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2726436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3552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23" t="-3448" r="-100893" b="-3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448" r="-1119" b="-3155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403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89552" r="-100893" b="-1731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89552" r="-1119" b="-1731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226786" r="-100893" b="-1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226786" r="-1119" b="-1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34387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3" t="-321053" r="-100893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447" t="-321053" r="-1119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/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sz="1200" dirty="0"/>
                  <a:t>;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1​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2​⟶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𝑅𝑍𝑍</m:t>
                    </m:r>
                    <m:r>
                      <a:rPr lang="en-US" sz="1200" i="0" dirty="0"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2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7FDBE2E-A3C7-AAC5-4BF9-18AB83260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2975" y="6359768"/>
                <a:ext cx="5040496" cy="276999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/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𝑅𝑋𝑋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𝑅𝑌𝑌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​​→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𝑏𝑙𝑜𝑐𝑐𝑜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𝐷𝑀</m:t>
                      </m:r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𝑅𝑍𝑍</m:t>
                      </m:r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C1968B5-0E0C-82AF-3A13-668CB350F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01" y="4147832"/>
                <a:ext cx="9358203" cy="276999"/>
              </a:xfrm>
              <a:prstGeom prst="rect">
                <a:avLst/>
              </a:prstGeom>
              <a:blipFill>
                <a:blip r:embed="rId7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olo trimero">
            <a:extLst>
              <a:ext uri="{FF2B5EF4-FFF2-40B4-BE49-F238E27FC236}">
                <a16:creationId xmlns:a16="http://schemas.microsoft.com/office/drawing/2014/main" id="{391A99A2-3C52-4FAE-0EE5-5B67D764AA14}"/>
              </a:ext>
            </a:extLst>
          </p:cNvPr>
          <p:cNvSpPr txBox="1"/>
          <p:nvPr/>
        </p:nvSpPr>
        <p:spPr>
          <a:xfrm>
            <a:off x="611936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Circuito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qubit (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FA1B48-4521-9172-6400-DCC8A5CF4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947" y="2148840"/>
            <a:ext cx="11413066" cy="22759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/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adotta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operatori</a:t>
                </a:r>
                <a:r>
                  <a:rPr lang="en-US" sz="1200" dirty="0"/>
                  <a:t> di spin (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sz="1200" dirty="0"/>
                  <a:t>s),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 la </a:t>
                </a:r>
                <a:r>
                  <a:rPr lang="en-US" sz="1200" dirty="0" err="1"/>
                  <a:t>convenzione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</a:t>
                </a:r>
                <a:r>
                  <a:rPr lang="en-US" sz="1200" dirty="0"/>
                  <a:t> in Pauli - da cui il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rapporto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numerico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200" dirty="0"/>
                  <a:t> e </a:t>
                </a:r>
                <a:r>
                  <a:rPr lang="en-US" sz="1200" dirty="0" err="1"/>
                  <a:t>gli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angoli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dei</a:t>
                </a:r>
                <a:r>
                  <a:rPr lang="en-US" sz="1200" dirty="0"/>
                  <a:t> gate </a:t>
                </a:r>
                <a:r>
                  <a:rPr lang="en-US" sz="1200" dirty="0" err="1"/>
                  <a:t>nei</a:t>
                </a:r>
                <a:r>
                  <a:rPr lang="en-US" sz="1200" dirty="0"/>
                  <a:t> due </a:t>
                </a:r>
                <a:r>
                  <a:rPr lang="en-US" sz="1200" dirty="0" err="1"/>
                  <a:t>casi</a:t>
                </a:r>
                <a:r>
                  <a:rPr lang="en-US" sz="1200" dirty="0"/>
                  <a:t>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8889EB-DC5E-75A4-13C2-28B4779EE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9546" y="5808296"/>
                <a:ext cx="3183467" cy="830997"/>
              </a:xfrm>
              <a:prstGeom prst="rect">
                <a:avLst/>
              </a:prstGeom>
              <a:blipFill>
                <a:blip r:embed="rId9"/>
                <a:stretch>
                  <a:fillRect l="-192" t="-735"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947" y="4287157"/>
              <a:ext cx="7691121" cy="231876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530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200" dirty="0"/>
                            <a:t>Termine di </a:t>
                          </a:r>
                          <a14:m>
                            <m:oMath xmlns:m="http://schemas.openxmlformats.org/officeDocument/2006/math"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oMath>
                          </a14:m>
                          <a:endParaRPr lang="en-US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 dirty="0"/>
                            <a:t>Blocchi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200" b="1" i="1" kern="1200">
                                          <a:solidFill>
                                            <a:schemeClr val="lt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1200" b="1" i="0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Δ</m:t>
                                  </m:r>
                                  <m:r>
                                    <a:rPr lang="en-US" sz="1200" b="1" i="1" kern="1200">
                                      <a:solidFill>
                                        <a:schemeClr val="lt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𝑡</m:t>
                                  </m:r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Scambio(1,2)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4310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Scambio(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)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0​,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𝑅𝑋𝑋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𝑅𝑌𝑌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1200" i="1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𝑅𝑍𝑍</m:t>
                                </m:r>
                                <m:r>
                                  <a:rPr lang="en-US" sz="1200" i="0" dirty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  <m:d>
                                  <m:dPr>
                                    <m:ctrlP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  <m:r>
                                      <a:rPr lang="en-US" sz="1200" i="0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  <m:r>
                                      <a:rPr lang="en-US" sz="1200" i="1" dirty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283233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en-US" sz="1200" b="0" i="0" smtClean="0"/>
                                  <m:t>ampo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q0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q1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​,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>
                                    <a:effectLst/>
                                  </a:rPr>
                                  <m:t>q2</m:t>
                                </m:r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​</m:t>
                                </m:r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0" kern="1200" smtClean="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𝑏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5408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12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2​,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1​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−2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28283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701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m:rPr>
                                    <m:nor/>
                                  </m:rPr>
                                  <a:rPr lang="en-US" sz="1200" i="0" smtClean="0"/>
                                  <m:t>DM 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1200" b="0" i="0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ctrlP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​,</m:t>
                                    </m:r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1200" b="0" i="0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𝑍𝑍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0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−0.8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</m:t>
                                  </m:r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200" dirty="0"/>
                            <a:t>,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i="1" kern="120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0" kern="1200">
                                          <a:solidFill>
                                            <a:schemeClr val="dk1"/>
                                          </a:solidFill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p>
                            </m:oMath>
                          </a14:m>
                          <a:endParaRPr 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D97C2F76-C34F-1B53-B74C-F9EFF70CE87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19947" y="4287157"/>
              <a:ext cx="7691121" cy="23206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6120">
                      <a:extLst>
                        <a:ext uri="{9D8B030D-6E8A-4147-A177-3AD203B41FA5}">
                          <a16:colId xmlns:a16="http://schemas.microsoft.com/office/drawing/2014/main" val="2110275228"/>
                        </a:ext>
                      </a:extLst>
                    </a:gridCol>
                    <a:gridCol w="1642533">
                      <a:extLst>
                        <a:ext uri="{9D8B030D-6E8A-4147-A177-3AD203B41FA5}">
                          <a16:colId xmlns:a16="http://schemas.microsoft.com/office/drawing/2014/main" val="510094434"/>
                        </a:ext>
                      </a:extLst>
                    </a:gridCol>
                    <a:gridCol w="4072468">
                      <a:extLst>
                        <a:ext uri="{9D8B030D-6E8A-4147-A177-3AD203B41FA5}">
                          <a16:colId xmlns:a16="http://schemas.microsoft.com/office/drawing/2014/main" val="660264833"/>
                        </a:ext>
                      </a:extLst>
                    </a:gridCol>
                  </a:tblGrid>
                  <a:tr h="2854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0"/>
                          <a:stretch>
                            <a:fillRect l="-308" t="-2128" r="-289846" b="-729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00"/>
                            <a:t>Qubit</a:t>
                          </a:r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128" r="-598" b="-729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428424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106667" r="-28984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106667" r="-250186" b="-6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106667" r="-598" b="-6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469238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206667" r="-28984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206667" r="-250186" b="-5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206667" r="-598" b="-5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06734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06667" r="-28984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06667" r="-250186" b="-46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06667" r="-598" b="-46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1271688"/>
                      </a:ext>
                    </a:extLst>
                  </a:tr>
                  <a:tr h="3195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351923" r="-28984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351923" r="-250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351923" r="-59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4039892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489583" r="-28984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489583" r="-250186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489583" r="-598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4636173"/>
                      </a:ext>
                    </a:extLst>
                  </a:tr>
                  <a:tr h="3191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544231" r="-28984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544231" r="-250186" b="-10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544231" r="-598" b="-10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0563795"/>
                      </a:ext>
                    </a:extLst>
                  </a:tr>
                  <a:tr h="2867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308" t="-712766" r="-28984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121190" t="-712766" r="-250186" b="-191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0"/>
                          <a:stretch>
                            <a:fillRect l="-88939" t="-712766" r="-598" b="-191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4161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3ADEB57-C936-649B-EE77-269D098C6AD6}"/>
              </a:ext>
            </a:extLst>
          </p:cNvPr>
          <p:cNvSpPr txBox="1"/>
          <p:nvPr/>
        </p:nvSpPr>
        <p:spPr>
          <a:xfrm>
            <a:off x="8649546" y="4426663"/>
            <a:ext cx="299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Campo e </a:t>
            </a:r>
            <a:r>
              <a:rPr lang="en-US" sz="1200" dirty="0" err="1"/>
              <a:t>scambio</a:t>
            </a:r>
            <a:r>
              <a:rPr lang="en-US" sz="1200" dirty="0"/>
              <a:t> </a:t>
            </a:r>
            <a:r>
              <a:rPr lang="en-US" sz="1200" dirty="0" err="1"/>
              <a:t>commutano</a:t>
            </a:r>
            <a:r>
              <a:rPr lang="en-US" sz="1200" dirty="0"/>
              <a:t> in </a:t>
            </a:r>
            <a:r>
              <a:rPr lang="en-US" sz="1200" dirty="0" err="1"/>
              <a:t>entrambi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sistemi</a:t>
            </a:r>
            <a:r>
              <a:rPr lang="en-US" sz="1200" dirty="0"/>
              <a:t> - </a:t>
            </a:r>
            <a:r>
              <a:rPr lang="en-US" sz="1200" dirty="0" err="1"/>
              <a:t>l'ordine</a:t>
            </a:r>
            <a:r>
              <a:rPr lang="en-US" sz="1200" dirty="0"/>
              <a:t> </a:t>
            </a:r>
            <a:r>
              <a:rPr lang="en-US" sz="1200" dirty="0" err="1"/>
              <a:t>fra</a:t>
            </a:r>
            <a:r>
              <a:rPr lang="en-US" sz="1200" dirty="0"/>
              <a:t> loro è </a:t>
            </a:r>
            <a:r>
              <a:rPr lang="en-US" sz="1200" dirty="0" err="1"/>
              <a:t>arbitrario</a:t>
            </a:r>
            <a:r>
              <a:rPr lang="en-US" sz="1200" dirty="0"/>
              <a:t>, non </a:t>
            </a:r>
            <a:r>
              <a:rPr lang="en-US" sz="1200" dirty="0" err="1"/>
              <a:t>influisce</a:t>
            </a:r>
            <a:r>
              <a:rPr lang="en-US" sz="1200" dirty="0"/>
              <a:t> </a:t>
            </a:r>
            <a:r>
              <a:rPr lang="en-US" sz="1200" dirty="0" err="1"/>
              <a:t>sul</a:t>
            </a:r>
            <a:r>
              <a:rPr lang="en-US" sz="1200" dirty="0"/>
              <a:t> </a:t>
            </a:r>
            <a:r>
              <a:rPr lang="en-US" sz="1200" dirty="0" err="1"/>
              <a:t>risultato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4" grpId="0" animBg="1"/>
      <p:bldP spid="25" grpId="0" animBg="1"/>
      <p:bldP spid="6" grpId="0"/>
      <p:bldP spid="10" grpId="0"/>
      <p:bldP spid="9" grpId="0" animBg="1"/>
      <p:bldP spid="15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1786</Words>
  <Application>Microsoft Office PowerPoint</Application>
  <PresentationFormat>Widescreen</PresentationFormat>
  <Paragraphs>220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21</cp:revision>
  <dcterms:created xsi:type="dcterms:W3CDTF">2026-09-14T09:54:52Z</dcterms:created>
  <dcterms:modified xsi:type="dcterms:W3CDTF">2026-09-17T17:09:04Z</dcterms:modified>
</cp:coreProperties>
</file>