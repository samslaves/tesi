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8392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515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Obiettivi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2804301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04800" indent="-304800">
              <a:buSzPct val="100000"/>
              <a:buChar char="■"/>
            </a:pPr>
            <a:r>
              <a:rPr lang="en-US" dirty="0" err="1"/>
              <a:t>Estendere</a:t>
            </a:r>
            <a:r>
              <a:rPr lang="en-US" dirty="0"/>
              <a:t> la </a:t>
            </a:r>
            <a:r>
              <a:rPr lang="en-US" dirty="0" err="1"/>
              <a:t>simulazione</a:t>
            </a:r>
            <a:r>
              <a:rPr lang="en-US" dirty="0"/>
              <a:t> </a:t>
            </a:r>
            <a:r>
              <a:rPr lang="en-US" dirty="0" err="1"/>
              <a:t>quantistica</a:t>
            </a:r>
            <a:r>
              <a:rPr lang="en-US" dirty="0"/>
              <a:t> dal dimero al trimero di spin</a:t>
            </a:r>
          </a:p>
        </p:txBody>
      </p:sp>
      <p:sp>
        <p:nvSpPr>
          <p:cNvPr id="5" name="Text 3"/>
          <p:cNvSpPr txBox="1"/>
          <p:nvPr/>
        </p:nvSpPr>
        <p:spPr>
          <a:xfrm>
            <a:off x="640080" y="385819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04800" indent="-304800">
              <a:buSzPct val="100000"/>
              <a:buChar char="■"/>
            </a:pPr>
            <a:r>
              <a:rPr lang="en-US" dirty="0"/>
              <a:t>I </a:t>
            </a:r>
            <a:r>
              <a:rPr lang="en-US" dirty="0" err="1"/>
              <a:t>sistemi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punti</a:t>
            </a:r>
            <a:r>
              <a:rPr lang="en-US" dirty="0"/>
              <a:t> </a:t>
            </a:r>
            <a:r>
              <a:rPr lang="en-US" dirty="0" err="1"/>
              <a:t>precedenti</a:t>
            </a:r>
            <a:r>
              <a:rPr lang="en-US" dirty="0"/>
              <a:t> in </a:t>
            </a:r>
            <a:r>
              <a:rPr lang="en-US" dirty="0" err="1"/>
              <a:t>ambiente</a:t>
            </a:r>
            <a:r>
              <a:rPr lang="en-US" dirty="0"/>
              <a:t> </a:t>
            </a:r>
            <a:r>
              <a:rPr lang="en-US" dirty="0" err="1"/>
              <a:t>protetto</a:t>
            </a:r>
            <a:r>
              <a:rPr lang="en-US" dirty="0"/>
              <a:t> (</a:t>
            </a:r>
            <a:r>
              <a:rPr lang="en-US" dirty="0" err="1"/>
              <a:t>sistema</a:t>
            </a:r>
            <a:r>
              <a:rPr lang="en-US" dirty="0"/>
              <a:t> </a:t>
            </a:r>
            <a:r>
              <a:rPr lang="en-US" dirty="0" err="1"/>
              <a:t>chiuso</a:t>
            </a:r>
            <a:r>
              <a:rPr lang="en-US" dirty="0"/>
              <a:t>): </a:t>
            </a:r>
            <a:r>
              <a:rPr lang="en-US" dirty="0" err="1"/>
              <a:t>evoluzione</a:t>
            </a:r>
            <a:r>
              <a:rPr lang="en-US" dirty="0"/>
              <a:t> </a:t>
            </a:r>
            <a:r>
              <a:rPr lang="en-US" dirty="0" err="1"/>
              <a:t>unitaria</a:t>
            </a:r>
            <a:r>
              <a:rPr lang="en-US" dirty="0"/>
              <a:t> pura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640080" y="4950879"/>
            <a:ext cx="5120640" cy="11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04800" indent="-304800">
              <a:buSzPct val="100000"/>
              <a:buChar char="■"/>
            </a:pPr>
            <a:r>
              <a:rPr lang="en-US" dirty="0" err="1"/>
              <a:t>Affrontare</a:t>
            </a:r>
            <a:r>
              <a:rPr lang="en-US" dirty="0"/>
              <a:t> i </a:t>
            </a:r>
            <a:r>
              <a:rPr lang="en-US" dirty="0" err="1"/>
              <a:t>sistemi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punti</a:t>
            </a:r>
            <a:r>
              <a:rPr lang="en-US" dirty="0"/>
              <a:t> </a:t>
            </a:r>
            <a:r>
              <a:rPr lang="en-US" dirty="0" err="1"/>
              <a:t>precedenti</a:t>
            </a:r>
            <a:r>
              <a:rPr lang="en-US" dirty="0"/>
              <a:t> </a:t>
            </a:r>
            <a:r>
              <a:rPr lang="en-US" dirty="0" err="1"/>
              <a:t>estendendo</a:t>
            </a:r>
            <a:r>
              <a:rPr lang="en-US" dirty="0"/>
              <a:t> la </a:t>
            </a:r>
            <a:r>
              <a:rPr lang="en-US" dirty="0" err="1"/>
              <a:t>simulazione</a:t>
            </a:r>
            <a:r>
              <a:rPr lang="en-US" dirty="0"/>
              <a:t> alla </a:t>
            </a:r>
            <a:r>
              <a:rPr lang="en-US" dirty="0" err="1"/>
              <a:t>fisica</a:t>
            </a:r>
            <a:r>
              <a:rPr lang="en-US" dirty="0"/>
              <a:t> di un </a:t>
            </a:r>
            <a:r>
              <a:rPr lang="en-US" dirty="0" err="1"/>
              <a:t>sistema</a:t>
            </a:r>
            <a:r>
              <a:rPr lang="en-US" dirty="0"/>
              <a:t> </a:t>
            </a:r>
            <a:r>
              <a:rPr lang="en-US" dirty="0" err="1"/>
              <a:t>aperto</a:t>
            </a:r>
            <a:r>
              <a:rPr lang="en-US" dirty="0"/>
              <a:t> </a:t>
            </a:r>
            <a:r>
              <a:rPr lang="en-US" dirty="0" err="1"/>
              <a:t>introducendo</a:t>
            </a:r>
            <a:r>
              <a:rPr lang="en-US" dirty="0"/>
              <a:t> </a:t>
            </a:r>
            <a:r>
              <a:rPr lang="en-US" dirty="0" err="1"/>
              <a:t>l’interazione</a:t>
            </a:r>
            <a:r>
              <a:rPr lang="en-US" dirty="0"/>
              <a:t> con </a:t>
            </a:r>
            <a:r>
              <a:rPr lang="en-US" dirty="0" err="1"/>
              <a:t>l’ambiente</a:t>
            </a:r>
            <a:r>
              <a:rPr lang="en-US" dirty="0"/>
              <a:t> (</a:t>
            </a:r>
            <a:r>
              <a:rPr lang="en-US" dirty="0" err="1"/>
              <a:t>rumore</a:t>
            </a:r>
            <a:r>
              <a:rPr lang="en-US" dirty="0"/>
              <a:t>)</a:t>
            </a: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08C972C1-A68F-A424-B6E8-E8E790D220C1}"/>
              </a:ext>
            </a:extLst>
          </p:cNvPr>
          <p:cNvSpPr txBox="1"/>
          <p:nvPr/>
        </p:nvSpPr>
        <p:spPr>
          <a:xfrm>
            <a:off x="670560" y="1792224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04800" indent="-304800">
              <a:buSzPct val="100000"/>
              <a:buChar char="■"/>
            </a:pPr>
            <a:r>
              <a:rPr lang="en-US" dirty="0" err="1"/>
              <a:t>Applicare</a:t>
            </a:r>
            <a:r>
              <a:rPr lang="en-US" dirty="0"/>
              <a:t> la </a:t>
            </a:r>
            <a:r>
              <a:rPr lang="en-US" dirty="0" err="1"/>
              <a:t>simulazione</a:t>
            </a:r>
            <a:r>
              <a:rPr lang="en-US" dirty="0"/>
              <a:t> </a:t>
            </a:r>
            <a:r>
              <a:rPr lang="en-US" dirty="0" err="1"/>
              <a:t>quantistica</a:t>
            </a:r>
            <a:r>
              <a:rPr lang="en-US" dirty="0"/>
              <a:t> al </a:t>
            </a:r>
            <a:r>
              <a:rPr lang="en-US" dirty="0" err="1"/>
              <a:t>dimero</a:t>
            </a:r>
            <a:r>
              <a:rPr lang="en-US" dirty="0"/>
              <a:t> di spin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ADE1FD8-EB97-E210-0592-6017625E3919}"/>
                  </a:ext>
                </a:extLst>
              </p:cNvPr>
              <p:cNvSpPr txBox="1"/>
              <p:nvPr/>
            </p:nvSpPr>
            <p:spPr>
              <a:xfrm>
                <a:off x="6095998" y="1876138"/>
                <a:ext cx="5793303" cy="21635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Due soli spin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600" dirty="0"/>
                  <a:t> </a:t>
                </a:r>
                <a:r>
                  <a:rPr lang="en-US" sz="1600" dirty="0" err="1"/>
                  <a:t>accoppiati</a:t>
                </a:r>
                <a:r>
                  <a:rPr lang="en-US" sz="1600" dirty="0"/>
                  <a:t>, </a:t>
                </a:r>
                <a:r>
                  <a:rPr lang="en-US" sz="1600" dirty="0" err="1"/>
                  <a:t>mappati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direttamente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su</a:t>
                </a:r>
                <a:r>
                  <a:rPr lang="en-US" sz="1600" dirty="0"/>
                  <a:t> </a:t>
                </a:r>
                <a:r>
                  <a:rPr lang="en-US" sz="1600" b="1" dirty="0"/>
                  <a:t>2 qubit</a:t>
                </a:r>
                <a:r>
                  <a:rPr lang="en-US" sz="1600" dirty="0"/>
                  <a:t>.</a:t>
                </a:r>
              </a:p>
              <a:p>
                <a:r>
                  <a:rPr lang="en-US" sz="1600" dirty="0" err="1"/>
                  <a:t>Hamiltoniana</a:t>
                </a:r>
                <a:r>
                  <a:rPr lang="en-US" sz="1600" dirty="0"/>
                  <a:t> in termini delle </a:t>
                </a:r>
                <a:r>
                  <a:rPr lang="en-US" sz="1600" dirty="0" err="1"/>
                  <a:t>matrici</a:t>
                </a:r>
                <a:r>
                  <a:rPr lang="en-US" sz="1600" dirty="0"/>
                  <a:t> di Pauli:</a:t>
                </a:r>
              </a:p>
              <a:p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6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m:rPr>
                          <m:nor/>
                        </m:rPr>
                        <a:rPr lang="en-US" sz="1600" i="0"/>
                        <m:t> 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16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16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𝑏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6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sz="160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6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</m:e>
                      </m:d>
                      <m:r>
                        <a:rPr lang="en-US" sz="16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6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6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sz="160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6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6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1600" b="0" dirty="0"/>
              </a:p>
              <a:p>
                <a:pPr lvl="0"/>
                <a:endParaRPr lang="en-US" sz="1600" dirty="0"/>
              </a:p>
              <a:p>
                <a:r>
                  <a:rPr lang="en-US" sz="1600" dirty="0" err="1"/>
                  <a:t>tre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parametri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fisici</a:t>
                </a:r>
                <a:r>
                  <a:rPr lang="en-US" sz="1600" dirty="0"/>
                  <a:t>: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sz="1600" dirty="0"/>
                  <a:t> (</a:t>
                </a:r>
                <a:r>
                  <a:rPr lang="en-US" sz="1600" dirty="0" err="1"/>
                  <a:t>accoppiamento</a:t>
                </a:r>
                <a:r>
                  <a:rPr lang="en-US" sz="1600" dirty="0"/>
                  <a:t>),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600" dirty="0"/>
                  <a:t> (campo),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1600" dirty="0"/>
                  <a:t> (</a:t>
                </a:r>
                <a:r>
                  <a:rPr lang="en-US" sz="1600" dirty="0" err="1"/>
                  <a:t>interazione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Dzyaloshinskii</a:t>
                </a:r>
                <a:r>
                  <a:rPr lang="en-US" sz="1600" dirty="0"/>
                  <a:t>–Moriya) </a:t>
                </a:r>
                <a:r>
                  <a:rPr lang="en-US" sz="1600" dirty="0" err="1"/>
                  <a:t>sufficienti</a:t>
                </a:r>
                <a:r>
                  <a:rPr lang="en-US" sz="1600" dirty="0"/>
                  <a:t> a </a:t>
                </a:r>
                <a:r>
                  <a:rPr lang="en-US" sz="1600" dirty="0" err="1"/>
                  <a:t>produrre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una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fisica</a:t>
                </a:r>
                <a:r>
                  <a:rPr lang="en-US" sz="1600" dirty="0"/>
                  <a:t> non </a:t>
                </a:r>
                <a:r>
                  <a:rPr lang="en-US" sz="1600" dirty="0" err="1"/>
                  <a:t>banale</a:t>
                </a:r>
                <a:r>
                  <a:rPr lang="en-US" sz="1600" dirty="0"/>
                  <a:t>.</a:t>
                </a:r>
              </a:p>
              <a:p>
                <a:pPr marL="304800" indent="-304800">
                  <a:buSzPct val="100000"/>
                  <a:buChar char="■"/>
                </a:pPr>
                <a:endParaRPr lang="en-US" sz="1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ADE1FD8-EB97-E210-0592-6017625E3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8" y="1876138"/>
                <a:ext cx="5793303" cy="2163541"/>
              </a:xfrm>
              <a:prstGeom prst="rect">
                <a:avLst/>
              </a:prstGeom>
              <a:blipFill>
                <a:blip r:embed="rId3"/>
                <a:stretch>
                  <a:fillRect l="-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1E3D762-0137-95C8-2AA3-3DB7C6CE0B1F}"/>
                  </a:ext>
                </a:extLst>
              </p:cNvPr>
              <p:cNvSpPr txBox="1"/>
              <p:nvPr/>
            </p:nvSpPr>
            <p:spPr>
              <a:xfrm>
                <a:off x="6126480" y="2909485"/>
                <a:ext cx="5732342" cy="24178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Tre spin</a:t>
                </a:r>
                <a:r>
                  <a:rPr lang="en-US" sz="1600" dirty="0">
                    <a:solidFill>
                      <a:srgbClr val="16233A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600" dirty="0"/>
                  <a:t> </a:t>
                </a:r>
                <a:r>
                  <a:rPr lang="en-US" sz="1600" dirty="0" err="1"/>
                  <a:t>disposti</a:t>
                </a:r>
                <a:r>
                  <a:rPr lang="en-US" sz="1600" dirty="0"/>
                  <a:t> a </a:t>
                </a:r>
                <a:r>
                  <a:rPr lang="en-US" sz="1600" dirty="0" err="1"/>
                  <a:t>triangolo</a:t>
                </a:r>
                <a:r>
                  <a:rPr lang="en-US" sz="1600" dirty="0"/>
                  <a:t> </a:t>
                </a:r>
                <a:r>
                  <a:rPr lang="en-US" sz="1600" dirty="0" err="1"/>
                  <a:t>isoscele</a:t>
                </a:r>
                <a:r>
                  <a:rPr lang="en-US" sz="1600" dirty="0"/>
                  <a:t> (</a:t>
                </a:r>
                <a:r>
                  <a:rPr lang="en-US" sz="1600" dirty="0" err="1"/>
                  <a:t>anello</a:t>
                </a:r>
                <a:r>
                  <a:rPr lang="en-US" sz="1600" dirty="0"/>
                  <a:t> </a:t>
                </a:r>
                <a:r>
                  <a:rPr lang="en-US" sz="1600" dirty="0" err="1"/>
                  <a:t>chiuso</a:t>
                </a:r>
                <a:r>
                  <a:rPr lang="en-US" sz="1600" dirty="0"/>
                  <a:t>). </a:t>
                </a:r>
                <a:r>
                  <a:rPr lang="en-US" sz="1600" dirty="0" err="1"/>
                  <a:t>Hamiltoniana</a:t>
                </a:r>
                <a:r>
                  <a:rPr lang="en-US" sz="1600" dirty="0"/>
                  <a:t> in termini delle </a:t>
                </a:r>
                <a:r>
                  <a:rPr lang="en-US" sz="1600" dirty="0" err="1"/>
                  <a:t>matrici</a:t>
                </a:r>
                <a:r>
                  <a:rPr lang="en-US" sz="1600" dirty="0"/>
                  <a:t> di Pauli</a:t>
                </a:r>
                <a:br>
                  <a:rPr lang="en-US" sz="1600" dirty="0"/>
                </a:br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2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m:rPr>
                          <m:nor/>
                        </m:rPr>
                        <a:rPr lang="en-US" sz="1200" i="0"/>
                        <m:t> 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2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𝑏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</m:e>
                      </m:d>
                      <m:r>
                        <a:rPr lang="en-US" sz="12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m:rPr>
                          <m:nor/>
                        </m:rPr>
                        <a:rPr lang="en-US" sz="1200" i="0"/>
                        <m:t>  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⟨"/>
                              <m:endChr m:val="⟩"/>
                              <m:sepChr m:val=",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sz="1200" i="0"/>
                            <m:t> </m:t>
                          </m:r>
                        </m:e>
                      </m:nary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1200" b="0" dirty="0"/>
              </a:p>
              <a:p>
                <a:endParaRPr lang="en-US" sz="1600" dirty="0"/>
              </a:p>
              <a:p>
                <a:r>
                  <a:rPr lang="en-US" sz="1600" dirty="0"/>
                  <a:t>un </a:t>
                </a:r>
                <a:r>
                  <a:rPr lang="en-US" sz="1600" dirty="0" err="1"/>
                  <a:t>legame</a:t>
                </a:r>
                <a:r>
                  <a:rPr lang="en-US" sz="1600" dirty="0"/>
                  <a:t> in </a:t>
                </a:r>
                <a:r>
                  <a:rPr lang="en-US" sz="1600" dirty="0" err="1"/>
                  <a:t>più</a:t>
                </a:r>
                <a:r>
                  <a:rPr lang="en-US" sz="1600" dirty="0"/>
                  <a:t> rispetto al </a:t>
                </a:r>
                <a:r>
                  <a:rPr lang="en-US" sz="1600" dirty="0" err="1"/>
                  <a:t>dimero</a:t>
                </a:r>
                <a:r>
                  <a:rPr lang="en-US" sz="1600" dirty="0"/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sz="16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600" dirty="0"/>
                  <a:t>), </a:t>
                </a:r>
                <a:r>
                  <a:rPr lang="en-US" sz="1600" dirty="0" err="1"/>
                  <a:t>sufficiente</a:t>
                </a:r>
                <a:r>
                  <a:rPr lang="en-US" sz="1600" dirty="0"/>
                  <a:t> a </a:t>
                </a:r>
                <a:r>
                  <a:rPr lang="en-US" sz="1600" dirty="0" err="1"/>
                  <a:t>introdurre</a:t>
                </a:r>
                <a:r>
                  <a:rPr lang="en-US" sz="1600" dirty="0"/>
                  <a:t> un </a:t>
                </a:r>
                <a:r>
                  <a:rPr lang="en-US" sz="1600" dirty="0" err="1"/>
                  <a:t>fenomeno</a:t>
                </a:r>
                <a:r>
                  <a:rPr lang="en-US" sz="1600" dirty="0"/>
                  <a:t> del </a:t>
                </a:r>
                <a:r>
                  <a:rPr lang="en-US" sz="1600" dirty="0" err="1"/>
                  <a:t>tutto</a:t>
                </a:r>
                <a:r>
                  <a:rPr lang="en-US" sz="1600" dirty="0"/>
                  <a:t> </a:t>
                </a:r>
                <a:r>
                  <a:rPr lang="en-US" sz="1600" dirty="0" err="1"/>
                  <a:t>assente</a:t>
                </a:r>
                <a:r>
                  <a:rPr lang="en-US" sz="1600" dirty="0"/>
                  <a:t> a due spin: la </a:t>
                </a:r>
                <a:r>
                  <a:rPr lang="en-US" sz="1600" b="1" dirty="0" err="1"/>
                  <a:t>frustrazione</a:t>
                </a:r>
                <a:r>
                  <a:rPr lang="en-US" sz="1600" b="1" dirty="0"/>
                  <a:t> </a:t>
                </a:r>
                <a:r>
                  <a:rPr lang="en-US" sz="1600" b="1" dirty="0" err="1"/>
                  <a:t>geometrica</a:t>
                </a:r>
                <a:r>
                  <a:rPr lang="en-US" sz="1600" dirty="0"/>
                  <a:t>.</a:t>
                </a:r>
              </a:p>
              <a:p>
                <a:pPr rtl="0">
                  <a:buNone/>
                </a:pPr>
                <a:endParaRPr lang="en-US" sz="1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1E3D762-0137-95C8-2AA3-3DB7C6CE0B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6480" y="2909485"/>
                <a:ext cx="5732342" cy="2417841"/>
              </a:xfrm>
              <a:prstGeom prst="rect">
                <a:avLst/>
              </a:prstGeom>
              <a:blipFill>
                <a:blip r:embed="rId4"/>
                <a:stretch>
                  <a:fillRect l="-532" r="-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04337A6-2601-067F-4045-B419AA1D4E47}"/>
                  </a:ext>
                </a:extLst>
              </p:cNvPr>
              <p:cNvSpPr txBox="1"/>
              <p:nvPr/>
            </p:nvSpPr>
            <p:spPr>
              <a:xfrm>
                <a:off x="6126480" y="4035279"/>
                <a:ext cx="6098102" cy="13314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 err="1"/>
                  <a:t>Evoluzione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dello</a:t>
                </a:r>
                <a:r>
                  <a:rPr lang="en-US" sz="1600" dirty="0"/>
                  <a:t> </a:t>
                </a:r>
                <a:r>
                  <a:rPr lang="en-US" sz="1600" dirty="0" err="1"/>
                  <a:t>stato</a:t>
                </a:r>
                <a:r>
                  <a:rPr lang="en-US" sz="1600" dirty="0"/>
                  <a:t> puro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160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600" b="0" i="0" dirty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sz="1600" b="0" i="0" dirty="0" smtClean="0">
                        <a:latin typeface="Cambria Math" panose="02040503050406030204" pitchFamily="18" charset="0"/>
                      </a:rPr>
                      <m:t>=0)⟩ </m:t>
                    </m:r>
                    <m:r>
                      <m:rPr>
                        <m:sty m:val="p"/>
                      </m:rPr>
                      <a:rPr lang="en-US" sz="1600" b="0" i="1" dirty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endParaRPr lang="en-US" sz="1600" dirty="0"/>
              </a:p>
              <a:p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⟩=</m:t>
                          </m:r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⟩=</m:t>
                      </m:r>
                      <m:sSup>
                        <m:sSup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𝑖𝐻𝑡</m:t>
                          </m:r>
                        </m:sup>
                      </m:sSup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sz="1600" dirty="0"/>
              </a:p>
              <a:p>
                <a:endParaRPr lang="en-US" sz="1600" dirty="0"/>
              </a:p>
              <a:p>
                <a:r>
                  <a:rPr lang="en-US" sz="1600" dirty="0"/>
                  <a:t>posto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1" smtClean="0">
                        <a:latin typeface="Cambria Math" panose="02040503050406030204" pitchFamily="18" charset="0"/>
                      </a:rPr>
                      <m:t>ℏ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600" dirty="0"/>
                  <a:t>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04337A6-2601-067F-4045-B419AA1D4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6480" y="4035279"/>
                <a:ext cx="6098102" cy="1331455"/>
              </a:xfrm>
              <a:prstGeom prst="rect">
                <a:avLst/>
              </a:prstGeom>
              <a:blipFill>
                <a:blip r:embed="rId5"/>
                <a:stretch>
                  <a:fillRect l="-500" t="-1376" b="-55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7C4AF3E-EA4E-9ADF-4264-78ADB52E8F5A}"/>
                  </a:ext>
                </a:extLst>
              </p:cNvPr>
              <p:cNvSpPr txBox="1"/>
              <p:nvPr/>
            </p:nvSpPr>
            <p:spPr>
              <a:xfrm>
                <a:off x="6126480" y="4918623"/>
                <a:ext cx="5793302" cy="16746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it-IT" sz="1600" dirty="0"/>
                  <a:t>Modellizzazione degli effetti dell'ambiente tramite il formalismo dei canali quantistici, descritti dagli operatori di Kraus</a:t>
                </a:r>
                <a14:m>
                  <m:oMath xmlns:m="http://schemas.openxmlformats.org/officeDocument/2006/math">
                    <m:r>
                      <a:rPr lang="en-US" sz="1600" b="0" i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it-IT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it-IT" sz="1600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1600" dirty="0"/>
                  <a:t>nella mappa non unitaria</a:t>
                </a:r>
              </a:p>
              <a:p>
                <a:endParaRPr lang="it-IT" sz="16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i="0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sz="1600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0" dirty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sSubSup>
                        <m:sSubSup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1600" i="0" dirty="0">
                              <a:latin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7C4AF3E-EA4E-9ADF-4264-78ADB52E8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6480" y="4918623"/>
                <a:ext cx="5793302" cy="1674689"/>
              </a:xfrm>
              <a:prstGeom prst="rect">
                <a:avLst/>
              </a:prstGeom>
              <a:blipFill>
                <a:blip r:embed="rId6"/>
                <a:stretch>
                  <a:fillRect l="-526" t="-1091" r="-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1">
            <a:extLst>
              <a:ext uri="{FF2B5EF4-FFF2-40B4-BE49-F238E27FC236}">
                <a16:creationId xmlns:a16="http://schemas.microsoft.com/office/drawing/2014/main" id="{B23F0B67-A170-A7C3-1349-7104EF3520C4}"/>
              </a:ext>
            </a:extLst>
          </p:cNvPr>
          <p:cNvSpPr txBox="1"/>
          <p:nvPr/>
        </p:nvSpPr>
        <p:spPr>
          <a:xfrm>
            <a:off x="6170870" y="1490472"/>
            <a:ext cx="573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</a:t>
            </a:r>
            <a:endParaRPr lang="en-US" sz="2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9" grpId="0" animBg="1"/>
      <p:bldP spid="12" grpId="0"/>
      <p:bldP spid="12" grpId="1"/>
      <p:bldP spid="14" grpId="0"/>
      <p:bldP spid="14" grpId="1"/>
      <p:bldP spid="15" grpId="0"/>
      <p:bldP spid="15" grpId="1"/>
      <p:bldP spid="16" grpId="0"/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233</Words>
  <Application>Microsoft Office PowerPoint</Application>
  <PresentationFormat>Widescreen</PresentationFormat>
  <Paragraphs>26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24</cp:revision>
  <dcterms:created xsi:type="dcterms:W3CDTF">2026-09-14T12:41:28Z</dcterms:created>
  <dcterms:modified xsi:type="dcterms:W3CDTF">2026-09-16T10:22:23Z</dcterms:modified>
</cp:coreProperties>
</file>