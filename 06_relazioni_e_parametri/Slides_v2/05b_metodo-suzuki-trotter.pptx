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5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8566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E8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INTRODUZIONE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Simulazione</a:t>
            </a:r>
            <a:r>
              <a:rPr lang="en-US" sz="3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800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Dinamica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F2F5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Circuito 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Quantistico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due qubit (</a:t>
            </a:r>
            <a:r>
              <a:rPr lang="en-US" sz="2100" b="1" dirty="0" err="1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Dimero</a:t>
            </a:r>
            <a:r>
              <a:rPr lang="en-US" sz="2100" b="1" dirty="0">
                <a:solidFill>
                  <a:srgbClr val="173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100" dirty="0"/>
          </a:p>
        </p:txBody>
      </p:sp>
      <p:pic>
        <p:nvPicPr>
          <p:cNvPr id="12" name="Image 3" descr="/home/claude/deck/assets/preview_s6_breakout.png" hidden="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23360"/>
            <a:ext cx="4572000" cy="2331720"/>
          </a:xfrm>
          <a:prstGeom prst="rect">
            <a:avLst/>
          </a:prstGeom>
        </p:spPr>
      </p:pic>
      <p:sp>
        <p:nvSpPr>
          <p:cNvPr id="13" name="Text 7" hidden="1"/>
          <p:cNvSpPr txBox="1"/>
          <p:nvPr/>
        </p:nvSpPr>
        <p:spPr>
          <a:xfrm>
            <a:off x="5486400" y="4023360"/>
            <a:ext cx="606247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rotazioni Ry indipendenti rompono la conservazione di M — a partire da |10⟩ si copre l'intero spazio a 2 qubit (F = 1)</a:t>
            </a:r>
            <a:endParaRPr lang="en-US" sz="17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3345620-629D-B964-53EC-3DECB48A8B9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758368" y="2269261"/>
            <a:ext cx="8477143" cy="2036858"/>
          </a:xfrm>
          <a:prstGeom prst="rect">
            <a:avLst/>
          </a:prstGeom>
        </p:spPr>
      </p:pic>
      <p:sp>
        <p:nvSpPr>
          <p:cNvPr id="24" name="Text 7">
            <a:extLst>
              <a:ext uri="{FF2B5EF4-FFF2-40B4-BE49-F238E27FC236}">
                <a16:creationId xmlns:a16="http://schemas.microsoft.com/office/drawing/2014/main" id="{B862225E-7227-3EEC-FCB1-385D2BB725DB}"/>
              </a:ext>
            </a:extLst>
          </p:cNvPr>
          <p:cNvSpPr txBox="1"/>
          <p:nvPr/>
        </p:nvSpPr>
        <p:spPr>
          <a:xfrm>
            <a:off x="640080" y="5679269"/>
            <a:ext cx="5151121" cy="930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79400" indent="-279400">
              <a:buSzPct val="100000"/>
              <a:buFontTx/>
              <a:buChar char="■"/>
            </a:pPr>
            <a:r>
              <a:rPr lang="en-US" b="1" dirty="0" err="1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Vantaggio</a:t>
            </a:r>
            <a:r>
              <a:rPr lang="en-US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Hardware:</a:t>
            </a:r>
            <a:r>
              <a:rPr lang="en-US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/>
              <a:t>Trasforma</a:t>
            </a:r>
            <a:r>
              <a:rPr lang="en-US" dirty="0"/>
              <a:t> un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globale</a:t>
            </a:r>
            <a:r>
              <a:rPr lang="en-US" dirty="0"/>
              <a:t> continuo 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sequenza</a:t>
            </a:r>
            <a:r>
              <a:rPr lang="en-US" dirty="0"/>
              <a:t> </a:t>
            </a:r>
            <a:r>
              <a:rPr lang="en-US" dirty="0" err="1"/>
              <a:t>discreta</a:t>
            </a:r>
            <a:r>
              <a:rPr lang="en-US" dirty="0"/>
              <a:t> di </a:t>
            </a:r>
            <a:r>
              <a:rPr lang="en-US" dirty="0" err="1"/>
              <a:t>circuiti</a:t>
            </a:r>
            <a:r>
              <a:rPr lang="en-US" dirty="0"/>
              <a:t> a </a:t>
            </a:r>
            <a:r>
              <a:rPr lang="en-US" dirty="0" err="1"/>
              <a:t>blocchi</a:t>
            </a:r>
            <a:r>
              <a:rPr lang="en-US" dirty="0"/>
              <a:t> </a:t>
            </a:r>
            <a:r>
              <a:rPr lang="en-US" dirty="0" err="1"/>
              <a:t>ripetuti</a:t>
            </a:r>
            <a:r>
              <a:rPr lang="en-US" dirty="0"/>
              <a:t>, </a:t>
            </a:r>
            <a:r>
              <a:rPr lang="en-US" dirty="0" err="1"/>
              <a:t>ideale</a:t>
            </a:r>
            <a:r>
              <a:rPr lang="en-US" dirty="0"/>
              <a:t> per </a:t>
            </a:r>
            <a:r>
              <a:rPr lang="en-US" dirty="0" err="1"/>
              <a:t>l'hardware</a:t>
            </a:r>
            <a:r>
              <a:rPr lang="en-US" dirty="0"/>
              <a:t> </a:t>
            </a:r>
            <a:r>
              <a:rPr lang="en-US" dirty="0" err="1"/>
              <a:t>quantistico</a:t>
            </a:r>
            <a:r>
              <a:rPr lang="en-US" dirty="0"/>
              <a:t> </a:t>
            </a:r>
            <a:r>
              <a:rPr lang="en-US" dirty="0" err="1"/>
              <a:t>digitale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7">
                <a:extLst>
                  <a:ext uri="{FF2B5EF4-FFF2-40B4-BE49-F238E27FC236}">
                    <a16:creationId xmlns:a16="http://schemas.microsoft.com/office/drawing/2014/main" id="{C9B64EBA-6147-767A-358E-5C825C20FBF1}"/>
                  </a:ext>
                </a:extLst>
              </p:cNvPr>
              <p:cNvSpPr txBox="1"/>
              <p:nvPr/>
            </p:nvSpPr>
            <p:spPr>
              <a:xfrm>
                <a:off x="640080" y="4445627"/>
                <a:ext cx="5151121" cy="13626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279400" indent="-279400">
                  <a:buSzPct val="100000"/>
                  <a:buFontTx/>
                  <a:buChar char="■"/>
                </a:pPr>
                <a:r>
                  <a:rPr lang="en-US" b="1" dirty="0" err="1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Esponenziazione</a:t>
                </a:r>
                <a:r>
                  <a:rPr lang="en-US" b="1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Locale:</a:t>
                </a:r>
                <a:r>
                  <a:rPr lang="en-US" dirty="0">
                    <a:solidFill>
                      <a:srgbClr val="16233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dirty="0"/>
                  <a:t>Ogni </a:t>
                </a:r>
                <a:r>
                  <a:rPr lang="en-US" dirty="0" err="1"/>
                  <a:t>singolo</a:t>
                </a:r>
                <a:r>
                  <a:rPr lang="en-US" dirty="0"/>
                  <a:t> </a:t>
                </a:r>
                <a:r>
                  <a:rPr lang="en-US" dirty="0" err="1"/>
                  <a:t>blocco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0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i="0" dirty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viene </a:t>
                </a:r>
                <a:r>
                  <a:rPr lang="en-US" dirty="0" err="1"/>
                  <a:t>tradotto</a:t>
                </a:r>
                <a:r>
                  <a:rPr lang="en-US" dirty="0"/>
                  <a:t> </a:t>
                </a:r>
                <a:r>
                  <a:rPr lang="en-US" dirty="0" err="1"/>
                  <a:t>direttamente</a:t>
                </a:r>
                <a:r>
                  <a:rPr lang="en-US" dirty="0"/>
                  <a:t> in </a:t>
                </a:r>
                <a:r>
                  <a:rPr lang="en-US" dirty="0" err="1"/>
                  <a:t>porte</a:t>
                </a:r>
                <a:r>
                  <a:rPr lang="en-US" dirty="0"/>
                  <a:t> </a:t>
                </a:r>
                <a:r>
                  <a:rPr lang="en-US" dirty="0" err="1"/>
                  <a:t>quantistiche</a:t>
                </a:r>
                <a:r>
                  <a:rPr lang="en-US" dirty="0"/>
                  <a:t> </a:t>
                </a:r>
                <a:r>
                  <a:rPr lang="en-US" dirty="0" err="1"/>
                  <a:t>elementari</a:t>
                </a:r>
                <a:r>
                  <a:rPr lang="en-US" dirty="0"/>
                  <a:t>.</a:t>
                </a:r>
              </a:p>
              <a:p>
                <a:pPr marL="279400" indent="-279400">
                  <a:buSzPct val="100000"/>
                  <a:buFontTx/>
                  <a:buChar char="■"/>
                </a:pPr>
                <a:endParaRPr lang="en-US" dirty="0"/>
              </a:p>
            </p:txBody>
          </p:sp>
        </mc:Choice>
        <mc:Fallback xmlns="">
          <p:sp>
            <p:nvSpPr>
              <p:cNvPr id="25" name="Text 7">
                <a:extLst>
                  <a:ext uri="{FF2B5EF4-FFF2-40B4-BE49-F238E27FC236}">
                    <a16:creationId xmlns:a16="http://schemas.microsoft.com/office/drawing/2014/main" id="{C9B64EBA-6147-767A-358E-5C825C20F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" y="4445627"/>
                <a:ext cx="5151121" cy="1362669"/>
              </a:xfrm>
              <a:prstGeom prst="rect">
                <a:avLst/>
              </a:prstGeom>
              <a:blipFill>
                <a:blip r:embed="rId5"/>
                <a:stretch>
                  <a:fillRect l="-2485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Picture 28" hidden="1">
            <a:extLst>
              <a:ext uri="{FF2B5EF4-FFF2-40B4-BE49-F238E27FC236}">
                <a16:creationId xmlns:a16="http://schemas.microsoft.com/office/drawing/2014/main" id="{1966943B-1F22-FD6B-9A21-011908E1CF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7183" y="2345519"/>
            <a:ext cx="5484994" cy="1465285"/>
          </a:xfrm>
          <a:prstGeom prst="rect">
            <a:avLst/>
          </a:prstGeom>
        </p:spPr>
      </p:pic>
      <p:pic>
        <p:nvPicPr>
          <p:cNvPr id="31" name="Picture 30" hidden="1">
            <a:extLst>
              <a:ext uri="{FF2B5EF4-FFF2-40B4-BE49-F238E27FC236}">
                <a16:creationId xmlns:a16="http://schemas.microsoft.com/office/drawing/2014/main" id="{4EC42088-BA5A-CE4E-9EAC-56C235061F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2" y="5463646"/>
            <a:ext cx="4741339" cy="1394354"/>
          </a:xfrm>
          <a:prstGeom prst="rect">
            <a:avLst/>
          </a:prstGeom>
        </p:spPr>
      </p:pic>
      <p:pic>
        <p:nvPicPr>
          <p:cNvPr id="33" name="Picture 32" hidden="1">
            <a:extLst>
              <a:ext uri="{FF2B5EF4-FFF2-40B4-BE49-F238E27FC236}">
                <a16:creationId xmlns:a16="http://schemas.microsoft.com/office/drawing/2014/main" id="{E7800E15-7499-93BA-0CA8-143D85CD14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2" y="4071492"/>
            <a:ext cx="5077447" cy="129605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9528C95B-5B11-CC46-6B6C-8F23F73122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49964786"/>
                  </p:ext>
                </p:extLst>
              </p:nvPr>
            </p:nvGraphicFramePr>
            <p:xfrm>
              <a:off x="5823906" y="4624233"/>
              <a:ext cx="5724966" cy="167882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62483">
                      <a:extLst>
                        <a:ext uri="{9D8B030D-6E8A-4147-A177-3AD203B41FA5}">
                          <a16:colId xmlns:a16="http://schemas.microsoft.com/office/drawing/2014/main" val="2110275228"/>
                        </a:ext>
                      </a:extLst>
                    </a:gridCol>
                    <a:gridCol w="2862483">
                      <a:extLst>
                        <a:ext uri="{9D8B030D-6E8A-4147-A177-3AD203B41FA5}">
                          <a16:colId xmlns:a16="http://schemas.microsoft.com/office/drawing/2014/main" val="660264833"/>
                        </a:ext>
                      </a:extLst>
                    </a:gridCol>
                  </a:tblGrid>
                  <a:tr h="41236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sz="1400" dirty="0"/>
                            <a:t>Termine di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oMath>
                          </a14:m>
                          <a:r>
                            <a:rPr lang="en-US" sz="1400" dirty="0">
                              <a:effectLst/>
                            </a:rPr>
                            <a:t>H</a:t>
                          </a:r>
                          <a:endParaRPr lang="en-US" sz="1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Blocchi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400" b="1" i="0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en-US" sz="14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  <m:sSub>
                                    <m:sSubPr>
                                      <m:ctrlPr>
                                        <a:rPr lang="en-US" sz="1400" b="1" i="1" kern="1200">
                                          <a:solidFill>
                                            <a:schemeClr val="lt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1" i="1" kern="1200">
                                          <a:solidFill>
                                            <a:schemeClr val="lt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𝐻</m:t>
                                      </m:r>
                                    </m:e>
                                    <m:sub>
                                      <m:r>
                                        <a:rPr lang="en-US" sz="1400" b="1" i="1" kern="1200">
                                          <a:solidFill>
                                            <a:schemeClr val="lt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sz="1400" b="1" i="0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Δ</m:t>
                                  </m:r>
                                  <m:r>
                                    <a:rPr lang="en-US" sz="1400" b="1" i="1" kern="1200">
                                      <a:solidFill>
                                        <a:schemeClr val="lt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𝑡</m:t>
                                  </m:r>
                                </m:sup>
                              </m:sSup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44284243"/>
                      </a:ext>
                    </a:extLst>
                  </a:tr>
                  <a:tr h="46816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  <m:d>
                                  <m:dPr>
                                    <m:ctrlP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2​+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2​+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bSup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𝑏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0" kern="1200">
                                          <a:solidFill>
                                            <a:schemeClr val="dk1"/>
                                          </a:solidFill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bSup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𝑏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</m:e>
                              </m:d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94692388"/>
                      </a:ext>
                    </a:extLst>
                  </a:tr>
                  <a:tr h="3991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d>
                                  <m:dPr>
                                    <m:ctrlP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latin typeface="Cambria Math" panose="02040503050406030204" pitchFamily="18" charset="0"/>
                                      </a:rPr>
                                      <m:t>1​+</m:t>
                                    </m:r>
                                    <m:r>
                                      <a:rPr lang="en-US" sz="1400" i="1" dirty="0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latin typeface="Cambria Math" panose="02040503050406030204" pitchFamily="18" charset="0"/>
                                      </a:rPr>
                                      <m:t>2​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𝑋𝑋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𝐽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𝑌𝑌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𝐽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𝐽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3067340"/>
                      </a:ext>
                    </a:extLst>
                  </a:tr>
                  <a:tr h="39914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40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d>
                                  <m:dPr>
                                    <m:ctrlP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2​−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1​</m:t>
                                    </m:r>
                                    <m:r>
                                      <a:rPr lang="en-US" sz="140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400" i="0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2​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𝐷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400" dirty="0"/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𝑍𝑍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𝐷</m:t>
                                  </m:r>
                                  <m:r>
                                    <a:rPr lang="en-US" sz="1400" i="1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𝜏</m:t>
                                  </m:r>
                                  <m:r>
                                    <a:rPr lang="en-US" sz="1400" i="0" kern="1200">
                                      <a:solidFill>
                                        <a:schemeClr val="dk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/2</m:t>
                                  </m:r>
                                </m:e>
                              </m:d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3127168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9528C95B-5B11-CC46-6B6C-8F23F73122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49964786"/>
                  </p:ext>
                </p:extLst>
              </p:nvPr>
            </p:nvGraphicFramePr>
            <p:xfrm>
              <a:off x="5823906" y="4624233"/>
              <a:ext cx="5724966" cy="167882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62483">
                      <a:extLst>
                        <a:ext uri="{9D8B030D-6E8A-4147-A177-3AD203B41FA5}">
                          <a16:colId xmlns:a16="http://schemas.microsoft.com/office/drawing/2014/main" val="2110275228"/>
                        </a:ext>
                      </a:extLst>
                    </a:gridCol>
                    <a:gridCol w="2862483">
                      <a:extLst>
                        <a:ext uri="{9D8B030D-6E8A-4147-A177-3AD203B41FA5}">
                          <a16:colId xmlns:a16="http://schemas.microsoft.com/office/drawing/2014/main" val="660264833"/>
                        </a:ext>
                      </a:extLst>
                    </a:gridCol>
                  </a:tblGrid>
                  <a:tr h="41236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9"/>
                          <a:stretch>
                            <a:fillRect l="-213" t="-1471" r="-100851" b="-31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0213" t="-1471" r="-851" b="-310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4284243"/>
                      </a:ext>
                    </a:extLst>
                  </a:tr>
                  <a:tr h="46816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13" t="-89610" r="-100851" b="-1740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0213" t="-89610" r="-851" b="-1740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4692388"/>
                      </a:ext>
                    </a:extLst>
                  </a:tr>
                  <a:tr h="3991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13" t="-224615" r="-100851" b="-10615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0213" t="-224615" r="-851" b="-1061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067340"/>
                      </a:ext>
                    </a:extLst>
                  </a:tr>
                  <a:tr h="39914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13" t="-319697" r="-100851" b="-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0213" t="-319697" r="-851" b="-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31271688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112</Words>
  <Application>Microsoft Office PowerPoint</Application>
  <PresentationFormat>Widescreen</PresentationFormat>
  <Paragraphs>15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 Math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simulation of molecular spin systems on quantum hardware</dc:title>
  <dc:subject>PptxGenJS Presentation</dc:subject>
  <dc:creator>Samuele Schiavi</dc:creator>
  <cp:lastModifiedBy>Samuele SCHIAVI</cp:lastModifiedBy>
  <cp:revision>24</cp:revision>
  <dcterms:created xsi:type="dcterms:W3CDTF">2026-09-14T14:04:34Z</dcterms:created>
  <dcterms:modified xsi:type="dcterms:W3CDTF">2026-09-16T16:26:00Z</dcterms:modified>
</cp:coreProperties>
</file>