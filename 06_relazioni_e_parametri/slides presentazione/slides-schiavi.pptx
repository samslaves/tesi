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1" r:id="rId4"/>
    <p:sldId id="288" r:id="rId5"/>
    <p:sldId id="289" r:id="rId6"/>
    <p:sldId id="276" r:id="rId7"/>
    <p:sldId id="277" r:id="rId8"/>
    <p:sldId id="278" r:id="rId9"/>
    <p:sldId id="290" r:id="rId10"/>
    <p:sldId id="292" r:id="rId11"/>
    <p:sldId id="282" r:id="rId12"/>
    <p:sldId id="286" r:id="rId13"/>
    <p:sldId id="287" r:id="rId14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861731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861731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0372A8A6-9823-8578-2EF5-595D23930FAC}"/>
              </a:ext>
            </a:extLst>
          </p:cNvPr>
          <p:cNvSpPr txBox="1"/>
          <p:nvPr/>
        </p:nvSpPr>
        <p:spPr>
          <a:xfrm>
            <a:off x="1945605" y="6493840"/>
            <a:ext cx="8300484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5B6B84"/>
                </a:solidFill>
              </a:rPr>
              <a:t>Peruzzo</a:t>
            </a:r>
            <a:r>
              <a:rPr lang="en-US" sz="1100" i="1" dirty="0">
                <a:solidFill>
                  <a:srgbClr val="5B6B84"/>
                </a:solidFill>
              </a:rPr>
              <a:t> et al., Nat. Commun. 5, 4213 (2014); Chiesa et al., Rep. Prog. Phys. 87, 034501 (2024); Chicco et al., JACS 146, 1053 (2024)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accoppiati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mappati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direttamente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b="1" dirty="0"/>
                  <a:t>2 qubit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Pauli:</a:t>
                </a:r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400" i="0"/>
                        <m:t> 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 lvl="0" algn="just"/>
                <a:endParaRPr lang="en-US" sz="1400" dirty="0"/>
              </a:p>
              <a:p>
                <a:pPr algn="just"/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fisici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accoppiamento</a:t>
                </a:r>
                <a:r>
                  <a:rPr lang="en-US" sz="1400" dirty="0"/>
                  <a:t>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/>
                  <a:t> (campo),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interazione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Dzyaloshinskii</a:t>
                </a:r>
                <a:r>
                  <a:rPr lang="en-US" sz="1400" dirty="0"/>
                  <a:t>–Moriya) </a:t>
                </a:r>
                <a:r>
                  <a:rPr lang="en-US" sz="1400" dirty="0" err="1"/>
                  <a:t>sufficienti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produrre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banale</a:t>
                </a:r>
                <a:r>
                  <a:rPr lang="en-US" sz="1400" dirty="0"/>
                  <a:t>.</a:t>
                </a:r>
              </a:p>
              <a:p>
                <a:pPr marL="304800" indent="-304800" algn="just">
                  <a:buSzPct val="100000"/>
                  <a:buChar char="■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blipFill>
                <a:blip r:embed="rId3"/>
                <a:stretch>
                  <a:fillRect l="-381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Tre spin</a:t>
                </a:r>
                <a:r>
                  <a:rPr lang="en-US" sz="14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disposti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anello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chiuso</a:t>
                </a:r>
                <a:r>
                  <a:rPr lang="en-US" sz="1400" dirty="0"/>
                  <a:t>).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un </a:t>
                </a:r>
                <a:r>
                  <a:rPr lang="en-US" sz="1400" dirty="0" err="1"/>
                  <a:t>legame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rispetto al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dirty="0"/>
                  <a:t>), </a:t>
                </a:r>
                <a:r>
                  <a:rPr lang="en-US" sz="1400" dirty="0" err="1"/>
                  <a:t>sufficiente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introdurre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fenomeno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tutto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assente</a:t>
                </a:r>
                <a:r>
                  <a:rPr lang="en-US" sz="1400" dirty="0"/>
                  <a:t> a due spin: la </a:t>
                </a:r>
                <a:r>
                  <a:rPr lang="en-US" sz="1400" b="1" dirty="0" err="1"/>
                  <a:t>frustrazione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geometrica</a:t>
                </a:r>
                <a:r>
                  <a:rPr lang="en-US" sz="1400" dirty="0"/>
                  <a:t>.</a:t>
                </a:r>
              </a:p>
              <a:p>
                <a:pPr algn="just" rtl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blipFill>
                <a:blip r:embed="rId4"/>
                <a:stretch>
                  <a:fillRect l="-333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4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nella mappa non unitaria</a:t>
                </a:r>
              </a:p>
              <a:p>
                <a:pPr algn="just"/>
                <a:endParaRPr lang="it-IT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blipFill>
                <a:blip r:embed="rId5"/>
                <a:stretch>
                  <a:fillRect l="-381" t="-826" r="-381" b="-6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407612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9870" y="333685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"un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"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 - 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blipFill>
                <a:blip r:embed="rId3"/>
                <a:stretch>
                  <a:fillRect l="-310" t="-1913" r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640080" y="6446520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4064827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C4B60-1D1B-89FB-E6B8-D615E00CF821}"/>
              </a:ext>
            </a:extLst>
          </p:cNvPr>
          <p:cNvSpPr txBox="1"/>
          <p:nvPr/>
        </p:nvSpPr>
        <p:spPr>
          <a:xfrm>
            <a:off x="809870" y="4990012"/>
            <a:ext cx="388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lo fa </a:t>
            </a:r>
            <a:r>
              <a:rPr lang="en-US" sz="1400" dirty="0" err="1"/>
              <a:t>usando</a:t>
            </a:r>
            <a:r>
              <a:rPr lang="en-US" sz="1400" dirty="0"/>
              <a:t> </a:t>
            </a:r>
            <a:r>
              <a:rPr lang="en-US" sz="1400" dirty="0" err="1"/>
              <a:t>esattamente</a:t>
            </a:r>
            <a:r>
              <a:rPr lang="en-US" sz="1400" dirty="0"/>
              <a:t> la </a:t>
            </a:r>
            <a:r>
              <a:rPr lang="en-US" sz="1400" dirty="0" err="1"/>
              <a:t>decomposizione</a:t>
            </a:r>
            <a:r>
              <a:rPr lang="en-US" sz="1400" dirty="0"/>
              <a:t> di Trotter come </a:t>
            </a:r>
            <a:r>
              <a:rPr lang="en-US" sz="1400" dirty="0" err="1"/>
              <a:t>strumento</a:t>
            </a:r>
            <a:r>
              <a:rPr lang="en-US" sz="1400" dirty="0"/>
              <a:t> della </a:t>
            </a:r>
            <a:r>
              <a:rPr lang="en-US" sz="1400" dirty="0" err="1"/>
              <a:t>dimostrazione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blipFill>
                <a:blip r:embed="rId3"/>
                <a:stretch>
                  <a:fillRect l="-474" t="-41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  <p:sp>
        <p:nvSpPr>
          <p:cNvPr id="7" name="Desc HA dimero">
            <a:extLst>
              <a:ext uri="{FF2B5EF4-FFF2-40B4-BE49-F238E27FC236}">
                <a16:creationId xmlns:a16="http://schemas.microsoft.com/office/drawing/2014/main" id="{AB5A24D4-B68B-731D-1D46-ACE02FF345E6}"/>
              </a:ext>
            </a:extLst>
          </p:cNvPr>
          <p:cNvSpPr txBox="1"/>
          <p:nvPr/>
        </p:nvSpPr>
        <p:spPr>
          <a:xfrm>
            <a:off x="9007615" y="6455089"/>
            <a:ext cx="2570953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i="1" dirty="0" err="1">
                <a:solidFill>
                  <a:srgbClr val="5B6B84"/>
                </a:solidFill>
              </a:rPr>
              <a:t>Peruzzo</a:t>
            </a:r>
            <a:r>
              <a:rPr lang="fr-FR" sz="1100" i="1" dirty="0">
                <a:solidFill>
                  <a:srgbClr val="5B6B84"/>
                </a:solidFill>
              </a:rPr>
              <a:t> et al., Nat. Commun. 5, 4213 (2014)</a:t>
            </a:r>
            <a:endParaRPr lang="en-US" sz="1100" i="1" dirty="0">
              <a:solidFill>
                <a:srgbClr val="5B6B84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80727"/>
            <a:ext cx="4824656" cy="2963259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/>
              <p:nvPr/>
            </p:nvSpPr>
            <p:spPr>
              <a:xfrm>
                <a:off x="974634" y="2204874"/>
                <a:ext cx="448056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Punto di </a:t>
                </a:r>
                <a:r>
                  <a:rPr lang="en-US" sz="15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incrocio</a:t>
                </a: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sz="1500" b="1" dirty="0"/>
              </a:p>
            </p:txBody>
          </p:sp>
        </mc:Choice>
        <mc:Fallback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34" y="2204874"/>
                <a:ext cx="4480560" cy="329184"/>
              </a:xfrm>
              <a:prstGeom prst="rect">
                <a:avLst/>
              </a:prstGeom>
              <a:blipFill>
                <a:blip r:embed="rId4"/>
                <a:stretch>
                  <a:fillRect l="-2585" t="-3704" b="-185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94844" y="3929150"/>
            <a:ext cx="4361065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/>
              <p:nvPr/>
            </p:nvSpPr>
            <p:spPr>
              <a:xfrm>
                <a:off x="9532686" y="2303016"/>
                <a:ext cx="1961070" cy="7172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dimostrare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che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il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del PMA base non è solo un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</a:t>
                </a:r>
                <a:r>
                  <a:rPr lang="en-US" sz="115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vicinanza</a:t>
                </a:r>
                <a:r>
                  <a:rPr lang="en-US" sz="115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15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150" dirty="0"/>
              </a:p>
            </p:txBody>
          </p:sp>
        </mc:Choice>
        <mc:Fallback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686" y="2303016"/>
                <a:ext cx="1961070" cy="717243"/>
              </a:xfrm>
              <a:prstGeom prst="rect">
                <a:avLst/>
              </a:prstGeom>
              <a:blipFill>
                <a:blip r:embed="rId6"/>
                <a:stretch>
                  <a:fillRect l="-4673" t="-6838" r="-1246" b="-25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7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207" y="2148842"/>
            <a:ext cx="4370990" cy="3393946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circuito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approssima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in generale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caso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peggiore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qualunque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/>
                  <a:t>−1.</a:t>
                </a:r>
              </a:p>
              <a:p>
                <a:pPr lvl="0"/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sbaglia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sullo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stato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iniziale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specifico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usiamo</a:t>
                </a:r>
                <a:r>
                  <a:rPr lang="en-US" sz="1400" dirty="0"/>
                  <a:t> (∣00⟩ o ∣000⟩)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perché</a:t>
                </a:r>
                <a:r>
                  <a:rPr lang="en-US" sz="1400" dirty="0"/>
                  <a:t> è </a:t>
                </a:r>
                <a:r>
                  <a:rPr lang="en-US" sz="1400" dirty="0" err="1"/>
                  <a:t>essenzialmente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quadrato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sull'ampiezza</a:t>
                </a:r>
                <a:r>
                  <a:rPr lang="en-US" sz="1400" dirty="0"/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blipFill>
                <a:blip r:embed="rId5"/>
                <a:stretch>
                  <a:fillRect l="-349" r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 </a:t>
                </a:r>
                <a:r>
                  <a:rPr lang="en-US" sz="1400" dirty="0" err="1"/>
                  <a:t>inizializza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sistema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fuori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equilibrio</a:t>
                </a:r>
                <a:r>
                  <a:rPr lang="en-US" sz="1400" dirty="0"/>
                  <a:t> (es. ∣00⟩ per il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∣000⟩ per il </a:t>
                </a:r>
                <a:r>
                  <a:rPr lang="en-US" sz="1400" dirty="0" err="1"/>
                  <a:t>trimero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</a:t>
                </a:r>
                <a:r>
                  <a:rPr lang="en-US" sz="1400" dirty="0"/>
                  <a:t> come evolve </a:t>
                </a:r>
                <a:r>
                  <a:rPr lang="en-US" sz="1400" dirty="0" err="1"/>
                  <a:t>nel</a:t>
                </a:r>
                <a:r>
                  <a:rPr lang="en-US" sz="1400" dirty="0"/>
                  <a:t> tempo sotto la </a:t>
                </a:r>
                <a:r>
                  <a:rPr lang="en-US" sz="1400" dirty="0" err="1"/>
                  <a:t>dinamica</a:t>
                </a:r>
                <a:r>
                  <a:rPr lang="en-US" sz="1400" dirty="0"/>
                  <a:t> di Trotter.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Per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l'Hamiltoniana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commuta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400" dirty="0"/>
                  <a:t>​ a causa del </a:t>
                </a:r>
                <a:r>
                  <a:rPr lang="en-US" sz="1400" dirty="0" err="1"/>
                  <a:t>termine</a:t>
                </a:r>
                <a:r>
                  <a:rPr lang="en-US" sz="1400" dirty="0"/>
                  <a:t> DM. </a:t>
                </a:r>
                <a:r>
                  <a:rPr lang="en-US" sz="1400" dirty="0" err="1"/>
                  <a:t>Quindi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evolve in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sovrapposizione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autostati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00" dirty="0"/>
                  <a:t> diversi.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blipFill>
                <a:blip r:embed="rId6"/>
                <a:stretch>
                  <a:fillRect l="-354" t="-1145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correlazione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dinamica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b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40080" y="568693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Simulatore</a:t>
            </a:r>
            <a:r>
              <a:rPr lang="en-US" sz="1400" dirty="0"/>
              <a:t> con </a:t>
            </a:r>
            <a:r>
              <a:rPr lang="en-US" sz="1400" dirty="0" err="1"/>
              <a:t>rumore</a:t>
            </a:r>
            <a:r>
              <a:rPr lang="en-US" sz="1400" dirty="0"/>
              <a:t>: ogni gate e ogni </a:t>
            </a:r>
            <a:r>
              <a:rPr lang="en-US" sz="1400" dirty="0" err="1"/>
              <a:t>lettura</a:t>
            </a:r>
            <a:r>
              <a:rPr lang="en-US" sz="1400" dirty="0"/>
              <a:t> introduce </a:t>
            </a:r>
            <a:r>
              <a:rPr lang="en-US" sz="1400" dirty="0" err="1"/>
              <a:t>errore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27684" y="6335756"/>
            <a:ext cx="4784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Modello</a:t>
            </a:r>
            <a:r>
              <a:rPr lang="en-US" sz="1400" dirty="0"/>
              <a:t> </a:t>
            </a:r>
            <a:r>
              <a:rPr lang="en-US" sz="1400" dirty="0" err="1"/>
              <a:t>minimale</a:t>
            </a:r>
            <a:r>
              <a:rPr lang="en-US" sz="1400" dirty="0"/>
              <a:t>: 2 </a:t>
            </a:r>
            <a:r>
              <a:rPr lang="en-US" sz="1400" dirty="0" err="1"/>
              <a:t>canali</a:t>
            </a:r>
            <a:r>
              <a:rPr lang="en-US" sz="1400" dirty="0"/>
              <a:t> - </a:t>
            </a:r>
            <a:r>
              <a:rPr lang="en-US" sz="1400" dirty="0" err="1"/>
              <a:t>depolarizzante</a:t>
            </a:r>
            <a:r>
              <a:rPr lang="en-US" sz="1400" dirty="0"/>
              <a:t> (gate) + </a:t>
            </a:r>
            <a:r>
              <a:rPr lang="en-US" sz="1400" dirty="0" err="1"/>
              <a:t>lettura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79C275-42D6-7C3E-A776-775F5D436A7C}"/>
              </a:ext>
            </a:extLst>
          </p:cNvPr>
          <p:cNvSpPr txBox="1"/>
          <p:nvPr/>
        </p:nvSpPr>
        <p:spPr>
          <a:xfrm>
            <a:off x="6709144" y="5036014"/>
            <a:ext cx="4855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Parametri</a:t>
            </a:r>
            <a:r>
              <a:rPr lang="en-US" sz="1400" dirty="0"/>
              <a:t> </a:t>
            </a:r>
            <a:r>
              <a:rPr lang="en-US" sz="1400" dirty="0" err="1"/>
              <a:t>calibrati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ibm_torino</a:t>
            </a:r>
            <a:r>
              <a:rPr lang="en-US" sz="1400" dirty="0"/>
              <a:t> (IBM Heron r1, 133 qubit):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850E4-AF86-6D3F-F8BE-73BFF7A8E481}"/>
              </a:ext>
            </a:extLst>
          </p:cNvPr>
          <p:cNvSpPr txBox="1"/>
          <p:nvPr/>
        </p:nvSpPr>
        <p:spPr>
          <a:xfrm>
            <a:off x="640080" y="509049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È un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complesso</a:t>
            </a:r>
            <a:r>
              <a:rPr lang="en-US" sz="1400" dirty="0"/>
              <a:t> -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misura</a:t>
            </a:r>
            <a:r>
              <a:rPr lang="en-US" sz="1400" dirty="0"/>
              <a:t> con </a:t>
            </a:r>
            <a:r>
              <a:rPr lang="en-US" sz="1400" dirty="0" err="1"/>
              <a:t>un'ancilla</a:t>
            </a:r>
            <a:r>
              <a:rPr lang="en-US" sz="1400" dirty="0"/>
              <a:t> in </a:t>
            </a:r>
            <a:r>
              <a:rPr lang="en-US" sz="1400" dirty="0" err="1"/>
              <a:t>sovrapposizione</a:t>
            </a:r>
            <a:endParaRPr lang="en-US" sz="1400" dirty="0"/>
          </a:p>
        </p:txBody>
      </p:sp>
      <p:pic>
        <p:nvPicPr>
          <p:cNvPr id="3" name="Picture 2" descr="Эволюция IBM: от табулирующих машин до суперкомпьютеров">
            <a:extLst>
              <a:ext uri="{FF2B5EF4-FFF2-40B4-BE49-F238E27FC236}">
                <a16:creationId xmlns:a16="http://schemas.microsoft.com/office/drawing/2014/main" id="{E258CBB9-D963-B64F-189B-9C94C9813B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366" t="18086" r="2096" b="16150"/>
          <a:stretch>
            <a:fillRect/>
          </a:stretch>
        </p:blipFill>
        <p:spPr>
          <a:xfrm>
            <a:off x="9345500" y="5343791"/>
            <a:ext cx="1817029" cy="1441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/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=2.9×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=3.8×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𝑟𝑒𝑎𝑑𝑜𝑢𝑡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=2.3×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esc HA dimero">
            <a:extLst>
              <a:ext uri="{FF2B5EF4-FFF2-40B4-BE49-F238E27FC236}">
                <a16:creationId xmlns:a16="http://schemas.microsoft.com/office/drawing/2014/main" id="{62B5EC75-CEC5-4C96-79EC-377A6B83806E}"/>
              </a:ext>
            </a:extLst>
          </p:cNvPr>
          <p:cNvSpPr txBox="1"/>
          <p:nvPr/>
        </p:nvSpPr>
        <p:spPr>
          <a:xfrm>
            <a:off x="627684" y="4583930"/>
            <a:ext cx="460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un’unica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l’ultimo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sull’ancilla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H</a:t>
            </a:r>
            <a:endParaRPr lang="en-US" sz="1200" dirty="0"/>
          </a:p>
        </p:txBody>
      </p:sp>
      <p:pic>
        <p:nvPicPr>
          <p:cNvPr id="8" name="Picture 7" descr="The diagram displays a correlation function plot, showing two different scenarios: one with noise (Trotter+rumore, N=20) and one without noise (Trotter, N=20), across a range of time units (t).&#10;&#10;AI-generated content may be incorrect.">
            <a:extLst>
              <a:ext uri="{FF2B5EF4-FFF2-40B4-BE49-F238E27FC236}">
                <a16:creationId xmlns:a16="http://schemas.microsoft.com/office/drawing/2014/main" id="{C6661771-F176-396D-0B97-59F67AE73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771" y="2078984"/>
            <a:ext cx="4756776" cy="280399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28869" y="2188662"/>
            <a:ext cx="2984509" cy="243956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381486" y="2223806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4008579" y="3185453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4008579" y="5408232"/>
            <a:ext cx="711922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45925" y="4586233"/>
            <a:ext cx="2867453" cy="214074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54713" y="2669408"/>
            <a:ext cx="2984509" cy="2930209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808225" y="5599618"/>
            <a:ext cx="2730997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fidelity 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85800" y="1691132"/>
            <a:ext cx="10865814" cy="3623215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371597" y="1999234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dirty="0"/>
              <a:t>Ho </a:t>
            </a:r>
            <a:r>
              <a:rPr lang="en-US" dirty="0" err="1"/>
              <a:t>studiato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di spin </a:t>
            </a:r>
            <a:r>
              <a:rPr lang="en-US" dirty="0" err="1"/>
              <a:t>interagenti</a:t>
            </a:r>
            <a:r>
              <a:rPr lang="en-US" dirty="0"/>
              <a:t> come test di </a:t>
            </a:r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371597" y="2889113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Stato </a:t>
            </a:r>
            <a:r>
              <a:rPr lang="en-US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determinato</a:t>
            </a:r>
            <a:r>
              <a:rPr lang="en-US" dirty="0"/>
              <a:t> con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ibrido</a:t>
            </a:r>
            <a:r>
              <a:rPr lang="en-US" dirty="0"/>
              <a:t> (VQE),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combina</a:t>
            </a:r>
            <a:r>
              <a:rPr lang="en-US" dirty="0"/>
              <a:t> hardware classico e </a:t>
            </a:r>
            <a:r>
              <a:rPr lang="en-US" dirty="0" err="1"/>
              <a:t>quantistico</a:t>
            </a:r>
            <a:r>
              <a:rPr lang="en-US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371595" y="3726511"/>
            <a:ext cx="9436397" cy="8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La performance cambia con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realistico</a:t>
            </a:r>
            <a:r>
              <a:rPr lang="en-US" dirty="0"/>
              <a:t> </a:t>
            </a:r>
            <a:r>
              <a:rPr lang="en-US" dirty="0" err="1"/>
              <a:t>dell’hardware</a:t>
            </a:r>
            <a:r>
              <a:rPr lang="en-US" dirty="0"/>
              <a:t>. </a:t>
            </a:r>
            <a:r>
              <a:rPr lang="en-US" dirty="0" err="1"/>
              <a:t>L’ottimizzazione</a:t>
            </a:r>
            <a:r>
              <a:rPr lang="en-US" dirty="0"/>
              <a:t> VQE </a:t>
            </a:r>
            <a:r>
              <a:rPr lang="en-US" dirty="0" err="1"/>
              <a:t>dipende</a:t>
            </a:r>
            <a:r>
              <a:rPr lang="en-US" dirty="0"/>
              <a:t> dal </a:t>
            </a:r>
            <a:r>
              <a:rPr lang="en-US" dirty="0" err="1"/>
              <a:t>rumore</a:t>
            </a:r>
            <a:r>
              <a:rPr lang="en-US" dirty="0"/>
              <a:t>: </a:t>
            </a:r>
            <a:r>
              <a:rPr lang="en-US" dirty="0" err="1"/>
              <a:t>sfruttare</a:t>
            </a:r>
            <a:r>
              <a:rPr lang="en-US" dirty="0"/>
              <a:t> le </a:t>
            </a:r>
            <a:r>
              <a:rPr lang="en-US" dirty="0" err="1"/>
              <a:t>simmetrie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(</a:t>
            </a:r>
            <a:r>
              <a:rPr lang="en-US" dirty="0" err="1"/>
              <a:t>invece</a:t>
            </a:r>
            <a:r>
              <a:rPr lang="en-US" dirty="0"/>
              <a:t> di un ansatz </a:t>
            </a:r>
            <a:r>
              <a:rPr lang="en-US" dirty="0" err="1"/>
              <a:t>generico</a:t>
            </a:r>
            <a:r>
              <a:rPr lang="en-US" dirty="0"/>
              <a:t>) reduce </a:t>
            </a:r>
            <a:r>
              <a:rPr lang="en-US"/>
              <a:t>i </a:t>
            </a:r>
            <a:r>
              <a:rPr lang="en-US" dirty="0"/>
              <a:t>gate 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l’errore</a:t>
            </a:r>
            <a:r>
              <a:rPr lang="en-US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1371594" y="4786574"/>
            <a:ext cx="9436397" cy="45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principi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estendono</a:t>
            </a:r>
            <a:r>
              <a:rPr lang="en-US" dirty="0"/>
              <a:t> a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8244BA8-E1F1-EEBE-F97B-4B3F70AA9757}"/>
              </a:ext>
            </a:extLst>
          </p:cNvPr>
          <p:cNvSpPr/>
          <p:nvPr/>
        </p:nvSpPr>
        <p:spPr>
          <a:xfrm>
            <a:off x="640079" y="5702879"/>
            <a:ext cx="10911535" cy="883778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65BA36-11F4-BF6A-347C-E4BCAAC40B46}"/>
              </a:ext>
            </a:extLst>
          </p:cNvPr>
          <p:cNvSpPr txBox="1"/>
          <p:nvPr/>
        </p:nvSpPr>
        <p:spPr>
          <a:xfrm>
            <a:off x="1005839" y="5608943"/>
            <a:ext cx="10180015" cy="97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2599</TotalTime>
  <Words>1576</Words>
  <Application>Microsoft Office PowerPoint</Application>
  <PresentationFormat>Widescreen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123</cp:revision>
  <cp:lastPrinted>2026-09-18T20:02:30Z</cp:lastPrinted>
  <dcterms:created xsi:type="dcterms:W3CDTF">2026-09-14T09:54:52Z</dcterms:created>
  <dcterms:modified xsi:type="dcterms:W3CDTF">2026-09-20T09:42:23Z</dcterms:modified>
</cp:coreProperties>
</file>