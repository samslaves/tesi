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56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Quantum </a:t>
            </a:r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Eigensolver</a:t>
            </a: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(VQE)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86480" y="1554480"/>
            <a:ext cx="10965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ibrido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-classico per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trovare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un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Hamiltoniano</a:t>
            </a:r>
            <a:endParaRPr lang="en-US" sz="2100" dirty="0"/>
          </a:p>
        </p:txBody>
      </p:sp>
      <p:pic>
        <p:nvPicPr>
          <p:cNvPr id="12" name="Image 3" descr="/home/claude/deck/assets/preview_s6_breakout.png" hidden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23360"/>
            <a:ext cx="4572000" cy="2331720"/>
          </a:xfrm>
          <a:prstGeom prst="rect">
            <a:avLst/>
          </a:prstGeom>
        </p:spPr>
      </p:pic>
      <p:sp>
        <p:nvSpPr>
          <p:cNvPr id="13" name="Text 7" hidden="1"/>
          <p:cNvSpPr txBox="1"/>
          <p:nvPr/>
        </p:nvSpPr>
        <p:spPr>
          <a:xfrm>
            <a:off x="5486400" y="4023360"/>
            <a:ext cx="60624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rotazioni Ry indipendenti rompono la conservazione di M — a partire da |10⟩ si copre l'intero spazio a 2 qubit (F = 1)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/>
              <p:nvPr/>
            </p:nvSpPr>
            <p:spPr>
              <a:xfrm>
                <a:off x="586480" y="2810888"/>
                <a:ext cx="8646298" cy="2054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Il Variational Quantum </a:t>
                </a:r>
                <a:r>
                  <a:rPr lang="en-US" sz="1400" dirty="0" err="1"/>
                  <a:t>Eigensolver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sfrutta</a:t>
                </a:r>
                <a:r>
                  <a:rPr lang="en-US" sz="1400" dirty="0"/>
                  <a:t> il </a:t>
                </a:r>
                <a:r>
                  <a:rPr lang="en-US" sz="1400" b="1" dirty="0"/>
                  <a:t>Principio </a:t>
                </a:r>
                <a:r>
                  <a:rPr lang="en-US" sz="1400" b="1" dirty="0" err="1"/>
                  <a:t>Variazionale</a:t>
                </a:r>
                <a:endParaRPr lang="en-US" sz="1400" dirty="0"/>
              </a:p>
              <a:p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il computer </a:t>
                </a:r>
                <a:r>
                  <a:rPr lang="en-US" sz="1400" dirty="0" err="1"/>
                  <a:t>quantistico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prepara</a:t>
                </a:r>
                <a:r>
                  <a:rPr lang="en-US" sz="1400" dirty="0"/>
                  <a:t> lo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variazionale</a:t>
                </a:r>
                <a14:m>
                  <m:oMath xmlns:m="http://schemas.openxmlformats.org/officeDocument/2006/math"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4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400" dirty="0"/>
                  <a:t> (</a:t>
                </a:r>
                <a:r>
                  <a:rPr lang="en-US" sz="1400" i="1" dirty="0"/>
                  <a:t>Ansatz</a:t>
                </a:r>
                <a:r>
                  <a:rPr lang="en-US" sz="1400" dirty="0"/>
                  <a:t>) e </a:t>
                </a:r>
                <a:r>
                  <a:rPr lang="en-US" sz="1400" dirty="0" err="1"/>
                  <a:t>misura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valore</a:t>
                </a:r>
                <a:r>
                  <a:rPr lang="en-US" sz="1400" dirty="0"/>
                  <a:t> di </a:t>
                </a:r>
                <a:r>
                  <a:rPr lang="en-US" sz="1400" dirty="0" err="1"/>
                  <a:t>aspettazione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dell'energia</a:t>
                </a:r>
                <a:r>
                  <a:rPr lang="en-US" sz="1400" dirty="0"/>
                  <a:t>.</a:t>
                </a:r>
              </a:p>
              <a:p>
                <a:r>
                  <a:rPr lang="en-US" sz="1400" dirty="0" err="1"/>
                  <a:t>L'ottimizzatore</a:t>
                </a:r>
                <a:r>
                  <a:rPr lang="en-US" sz="1400" dirty="0"/>
                  <a:t> classico </a:t>
                </a:r>
                <a:r>
                  <a:rPr lang="en-US" sz="1400" dirty="0" err="1"/>
                  <a:t>aggiorna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parametri</a:t>
                </a:r>
                <a:r>
                  <a:rPr lang="en-US" sz="1400" dirty="0"/>
                  <a:t> θ per </a:t>
                </a:r>
                <a:r>
                  <a:rPr lang="en-US" sz="1400" dirty="0" err="1"/>
                  <a:t>convergere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allo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fondamentale</a:t>
                </a:r>
                <a:r>
                  <a:rPr lang="en-US" sz="1400" dirty="0"/>
                  <a:t> E₀.</a:t>
                </a:r>
                <a:br>
                  <a:rPr lang="en-US" sz="1400" dirty="0"/>
                </a:br>
                <a:endParaRPr lang="en-US" sz="14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80" y="2810888"/>
                <a:ext cx="8646298" cy="2054858"/>
              </a:xfrm>
              <a:prstGeom prst="rect">
                <a:avLst/>
              </a:prstGeom>
              <a:blipFill>
                <a:blip r:embed="rId4"/>
                <a:stretch>
                  <a:fillRect l="-211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7">
            <a:extLst>
              <a:ext uri="{FF2B5EF4-FFF2-40B4-BE49-F238E27FC236}">
                <a16:creationId xmlns:a16="http://schemas.microsoft.com/office/drawing/2014/main" id="{8A6B5100-C7D3-AA46-8997-47D01243ED22}"/>
              </a:ext>
            </a:extLst>
          </p:cNvPr>
          <p:cNvSpPr txBox="1"/>
          <p:nvPr/>
        </p:nvSpPr>
        <p:spPr>
          <a:xfrm>
            <a:off x="586479" y="220024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chiusi</a:t>
            </a:r>
            <a:endParaRPr lang="en-US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99451C2C-A0A7-9227-7A1F-5E3A2E5ABAD9}"/>
              </a:ext>
            </a:extLst>
          </p:cNvPr>
          <p:cNvSpPr txBox="1"/>
          <p:nvPr/>
        </p:nvSpPr>
        <p:spPr>
          <a:xfrm>
            <a:off x="586479" y="45519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aperti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8CFFD0-E951-112D-8048-FA1ACFB527BD}"/>
                  </a:ext>
                </a:extLst>
              </p:cNvPr>
              <p:cNvSpPr txBox="1"/>
              <p:nvPr/>
            </p:nvSpPr>
            <p:spPr>
              <a:xfrm>
                <a:off x="586479" y="5205839"/>
                <a:ext cx="8646298" cy="1476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err="1"/>
                  <a:t>L’energia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osservata</a:t>
                </a:r>
                <a:r>
                  <a:rPr lang="en-US" sz="1400" dirty="0"/>
                  <a:t> non è </a:t>
                </a:r>
                <a:r>
                  <a:rPr lang="en-US" sz="1400" dirty="0" err="1"/>
                  <a:t>più</a:t>
                </a:r>
                <a:r>
                  <a:rPr lang="en-US" sz="1400" dirty="0"/>
                  <a:t> un </a:t>
                </a:r>
                <a:r>
                  <a:rPr lang="en-US" sz="1400" dirty="0" err="1"/>
                  <a:t>singolo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valore</a:t>
                </a:r>
                <a:r>
                  <a:rPr lang="en-US" sz="1400" dirty="0"/>
                  <a:t> di </a:t>
                </a:r>
                <a:r>
                  <a:rPr lang="en-US" sz="1400" dirty="0" err="1"/>
                  <a:t>aspettazione</a:t>
                </a:r>
                <a:endParaRPr lang="en-US" sz="1400" dirty="0"/>
              </a:p>
              <a:p>
                <a:endParaRPr lang="en-US" sz="1400" i="1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400" i="0" dirty="0" smtClean="0">
                          <a:latin typeface="Cambria Math" panose="02040503050406030204" pitchFamily="18" charset="0"/>
                        </a:rPr>
                        <m:t>Tr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  <m:r>
                        <a:rPr lang="en-US" sz="1400" i="0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400" i="0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Tr</m:t>
                          </m:r>
                        </m:e>
                      </m:nary>
                      <m:d>
                        <m:dPr>
                          <m:ctrlPr>
                            <a:rPr lang="en-US" sz="1400" i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sSub>
                            <m:sSubPr>
                              <m:ctrl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⟩⟨</m:t>
                              </m:r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  <m:sSubSup>
                            <m:sSubSupPr>
                              <m:ctrl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</m:e>
                      </m:d>
                      <m:r>
                        <a:rPr lang="en-US" sz="1400" i="0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400" i="0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bSup>
                                  <m: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sSub>
                                    <m:sSubPr>
                                      <m:ctrlP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 err="1"/>
                  <a:t>L'ottimizzatore</a:t>
                </a:r>
                <a:r>
                  <a:rPr lang="en-US" sz="1400" dirty="0"/>
                  <a:t> non </a:t>
                </a:r>
                <a:r>
                  <a:rPr lang="en-US" sz="1400" dirty="0" err="1"/>
                  <a:t>può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più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scendere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esattamente</a:t>
                </a:r>
                <a:r>
                  <a:rPr lang="en-US" sz="1400" dirty="0"/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dirty="0"/>
                  <a:t>​.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8CFFD0-E951-112D-8048-FA1ACFB52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79" y="5205839"/>
                <a:ext cx="8646298" cy="1476943"/>
              </a:xfrm>
              <a:prstGeom prst="rect">
                <a:avLst/>
              </a:prstGeom>
              <a:blipFill>
                <a:blip r:embed="rId5"/>
                <a:stretch>
                  <a:fillRect l="-211" t="-19421" b="-40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 3" descr="/home/claude/deck/assets/preview_s3_bullet1_vqe.png">
            <a:extLst>
              <a:ext uri="{FF2B5EF4-FFF2-40B4-BE49-F238E27FC236}">
                <a16:creationId xmlns:a16="http://schemas.microsoft.com/office/drawing/2014/main" id="{3CBDB3BB-6F93-CE7D-737B-54DB8B4727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2878" y="3524491"/>
            <a:ext cx="2959222" cy="205485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/>
      <p:bldP spid="22" grpId="0" animBg="1"/>
      <p:bldP spid="23" grpId="0" animBg="1"/>
      <p:bldP spid="2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133</Words>
  <Application>Microsoft Office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22</cp:revision>
  <dcterms:created xsi:type="dcterms:W3CDTF">2026-09-14T14:04:34Z</dcterms:created>
  <dcterms:modified xsi:type="dcterms:W3CDTF">2026-09-16T14:59:53Z</dcterms:modified>
</cp:coreProperties>
</file>