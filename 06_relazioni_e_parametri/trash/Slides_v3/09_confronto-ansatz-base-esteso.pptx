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78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10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2486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3028" y="713232"/>
            <a:ext cx="108992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Dimero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3029" y="2132507"/>
            <a:ext cx="4772165" cy="1654107"/>
          </a:xfrm>
          <a:prstGeom prst="roundRect">
            <a:avLst>
              <a:gd name="adj" fmla="val 3846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930068" y="6363293"/>
            <a:ext cx="4326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degradazione dipende anche da D, non solo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vicinanza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all'incrocio</a:t>
            </a:r>
            <a:endParaRPr lang="en-US" sz="1150" dirty="0"/>
          </a:p>
        </p:txBody>
      </p:sp>
      <p:pic>
        <p:nvPicPr>
          <p:cNvPr id="16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1648" y="3866713"/>
            <a:ext cx="4824656" cy="2991287"/>
          </a:xfrm>
          <a:prstGeom prst="rect">
            <a:avLst/>
          </a:prstGeom>
        </p:spPr>
      </p:pic>
      <p:sp>
        <p:nvSpPr>
          <p:cNvPr id="17" name="Shape 9">
            <a:extLst>
              <a:ext uri="{FF2B5EF4-FFF2-40B4-BE49-F238E27FC236}">
                <a16:creationId xmlns:a16="http://schemas.microsoft.com/office/drawing/2014/main" id="{488AC17E-E47C-B563-1AFB-E9465463B42C}"/>
              </a:ext>
            </a:extLst>
          </p:cNvPr>
          <p:cNvSpPr/>
          <p:nvPr/>
        </p:nvSpPr>
        <p:spPr>
          <a:xfrm>
            <a:off x="6693156" y="2132507"/>
            <a:ext cx="4800600" cy="1667487"/>
          </a:xfrm>
          <a:prstGeom prst="roundRect">
            <a:avLst>
              <a:gd name="adj" fmla="val 6061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DD0AA3B3-009A-1CDA-FC09-2F110BD262B8}"/>
              </a:ext>
            </a:extLst>
          </p:cNvPr>
          <p:cNvSpPr txBox="1"/>
          <p:nvPr/>
        </p:nvSpPr>
        <p:spPr>
          <a:xfrm>
            <a:off x="974634" y="220487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di </a:t>
            </a:r>
            <a:r>
              <a:rPr lang="en-US" sz="15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incrocio</a:t>
            </a: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b_c</a:t>
            </a:r>
            <a:endParaRPr lang="en-US" sz="150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DE642882-4920-C1DD-C760-857BEC43D5FF}"/>
              </a:ext>
            </a:extLst>
          </p:cNvPr>
          <p:cNvSpPr txBox="1"/>
          <p:nvPr/>
        </p:nvSpPr>
        <p:spPr>
          <a:xfrm>
            <a:off x="4277705" y="2930649"/>
            <a:ext cx="11774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Minimo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assoluto</a:t>
            </a:r>
            <a:endParaRPr lang="en-US" sz="1150" dirty="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9C1EF0B7-F5C7-5CAB-D386-063FB5455466}"/>
              </a:ext>
            </a:extLst>
          </p:cNvPr>
          <p:cNvSpPr txBox="1"/>
          <p:nvPr/>
        </p:nvSpPr>
        <p:spPr>
          <a:xfrm>
            <a:off x="974634" y="253405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b/J = 0.2,  D/J = 0.2</a:t>
            </a:r>
            <a:endParaRPr lang="en-US" sz="1300" dirty="0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589AEB8D-7E20-4EE9-583F-AAF655D143C6}"/>
              </a:ext>
            </a:extLst>
          </p:cNvPr>
          <p:cNvSpPr txBox="1"/>
          <p:nvPr/>
        </p:nvSpPr>
        <p:spPr>
          <a:xfrm>
            <a:off x="975360" y="283894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(6 par.):  F = 1.000000</a:t>
            </a:r>
            <a:endParaRPr lang="en-US" sz="1350" dirty="0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2CBC856D-E0D5-332F-2C6A-5028E5F70E25}"/>
              </a:ext>
            </a:extLst>
          </p:cNvPr>
          <p:cNvSpPr txBox="1"/>
          <p:nvPr/>
        </p:nvSpPr>
        <p:spPr>
          <a:xfrm>
            <a:off x="975360" y="3149416"/>
            <a:ext cx="314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base (1 par.):  F = 0.701</a:t>
            </a:r>
            <a:endParaRPr lang="en-US" sz="135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7916E202-C893-D83E-E888-CD095B062221}"/>
              </a:ext>
            </a:extLst>
          </p:cNvPr>
          <p:cNvSpPr txBox="1"/>
          <p:nvPr/>
        </p:nvSpPr>
        <p:spPr>
          <a:xfrm>
            <a:off x="975360" y="345946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esteso (3 par.):  F = 1.000000 (12 </a:t>
            </a:r>
            <a:r>
              <a:rPr lang="en-US" sz="135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cifre</a:t>
            </a: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50" dirty="0"/>
          </a:p>
        </p:txBody>
      </p:sp>
      <p:sp>
        <p:nvSpPr>
          <p:cNvPr id="29" name="Text 3"/>
          <p:cNvSpPr txBox="1"/>
          <p:nvPr/>
        </p:nvSpPr>
        <p:spPr>
          <a:xfrm>
            <a:off x="7056145" y="222316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di </a:t>
            </a:r>
            <a:r>
              <a:rPr lang="en-US" sz="15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lavoro</a:t>
            </a:r>
            <a:endParaRPr lang="en-US" sz="1500" dirty="0"/>
          </a:p>
        </p:txBody>
      </p:sp>
      <p:sp>
        <p:nvSpPr>
          <p:cNvPr id="30" name="Text 4"/>
          <p:cNvSpPr txBox="1"/>
          <p:nvPr/>
        </p:nvSpPr>
        <p:spPr>
          <a:xfrm>
            <a:off x="7056145" y="253405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b/J = 0.35,  D/J = 0.80</a:t>
            </a:r>
            <a:endParaRPr lang="en-US" sz="1300" dirty="0"/>
          </a:p>
        </p:txBody>
      </p:sp>
      <p:sp>
        <p:nvSpPr>
          <p:cNvPr id="31" name="Text 6"/>
          <p:cNvSpPr txBox="1"/>
          <p:nvPr/>
        </p:nvSpPr>
        <p:spPr>
          <a:xfrm>
            <a:off x="7040728" y="283894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(6 par.):  F = 1.000000</a:t>
            </a:r>
            <a:endParaRPr lang="en-US" sz="1350" dirty="0"/>
          </a:p>
        </p:txBody>
      </p:sp>
      <p:sp>
        <p:nvSpPr>
          <p:cNvPr id="32" name="Text 7"/>
          <p:cNvSpPr txBox="1"/>
          <p:nvPr/>
        </p:nvSpPr>
        <p:spPr>
          <a:xfrm>
            <a:off x="7056145" y="314941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base (1 par.):  F = 0.940</a:t>
            </a:r>
            <a:endParaRPr lang="en-US" sz="1350" dirty="0"/>
          </a:p>
        </p:txBody>
      </p:sp>
      <p:sp>
        <p:nvSpPr>
          <p:cNvPr id="33" name="Text 8"/>
          <p:cNvSpPr txBox="1"/>
          <p:nvPr/>
        </p:nvSpPr>
        <p:spPr>
          <a:xfrm>
            <a:off x="7034671" y="34569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esteso (3 par.):  F = 1.000000 (12 </a:t>
            </a:r>
            <a:r>
              <a:rPr lang="en-US" sz="135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cifre</a:t>
            </a: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3838D7-7D73-76E0-9DD6-9FB484B85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4844" y="3929150"/>
            <a:ext cx="4361066" cy="2565333"/>
          </a:xfrm>
          <a:prstGeom prst="rect">
            <a:avLst/>
          </a:prstGeom>
        </p:spPr>
      </p:pic>
      <p:sp>
        <p:nvSpPr>
          <p:cNvPr id="7" name="Shape 2">
            <a:extLst>
              <a:ext uri="{FF2B5EF4-FFF2-40B4-BE49-F238E27FC236}">
                <a16:creationId xmlns:a16="http://schemas.microsoft.com/office/drawing/2014/main" id="{DCA06EA8-36E8-D670-F396-71CA9D378364}"/>
              </a:ext>
            </a:extLst>
          </p:cNvPr>
          <p:cNvSpPr/>
          <p:nvPr/>
        </p:nvSpPr>
        <p:spPr>
          <a:xfrm>
            <a:off x="655295" y="1431627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itle Circuito Trimero">
            <a:extLst>
              <a:ext uri="{FF2B5EF4-FFF2-40B4-BE49-F238E27FC236}">
                <a16:creationId xmlns:a16="http://schemas.microsoft.com/office/drawing/2014/main" id="{78B8907C-D744-5EDC-938C-7982696992D8}"/>
              </a:ext>
            </a:extLst>
          </p:cNvPr>
          <p:cNvSpPr txBox="1"/>
          <p:nvPr/>
        </p:nvSpPr>
        <p:spPr>
          <a:xfrm>
            <a:off x="609753" y="1489054"/>
            <a:ext cx="1091153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Ansatz e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sensibilità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DM</a:t>
            </a:r>
            <a:endParaRPr lang="en-US" i="1" dirty="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EFB4FAC2-0E80-E610-7ECF-FBA3D1B90421}"/>
              </a:ext>
            </a:extLst>
          </p:cNvPr>
          <p:cNvSpPr txBox="1"/>
          <p:nvPr/>
        </p:nvSpPr>
        <p:spPr>
          <a:xfrm>
            <a:off x="9532686" y="2303016"/>
            <a:ext cx="1961070" cy="71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Scelto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dimostrare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PMA base non è solo un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vicinanza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b_c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135</Words>
  <Application>Microsoft Office PowerPoint</Application>
  <PresentationFormat>Widescreen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20</cp:revision>
  <dcterms:created xsi:type="dcterms:W3CDTF">2026-09-14T18:01:18Z</dcterms:created>
  <dcterms:modified xsi:type="dcterms:W3CDTF">2026-09-18T08:50:29Z</dcterms:modified>
</cp:coreProperties>
</file>