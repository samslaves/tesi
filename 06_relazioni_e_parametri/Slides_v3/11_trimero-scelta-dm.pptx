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5" d="100"/>
          <a:sy n="115" d="100"/>
        </p:scale>
        <p:origin x="108" y="52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89307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E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RISULTATI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Trimero</a:t>
            </a:r>
            <a:r>
              <a:rPr lang="en-US" sz="30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- </a:t>
            </a:r>
            <a:r>
              <a:rPr lang="en-US" sz="3000" b="1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scelta</a:t>
            </a:r>
            <a:r>
              <a:rPr lang="en-US" sz="30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del </a:t>
            </a:r>
            <a:r>
              <a:rPr lang="en-US" sz="3000" b="1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termine</a:t>
            </a:r>
            <a:r>
              <a:rPr lang="en-US" sz="30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610043" y="5004315"/>
            <a:ext cx="4713316" cy="1572768"/>
          </a:xfrm>
          <a:prstGeom prst="roundRect">
            <a:avLst>
              <a:gd name="adj" fmla="val 4255"/>
            </a:avLst>
          </a:prstGeom>
          <a:solidFill>
            <a:srgbClr val="F2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6930082" y="5141475"/>
            <a:ext cx="431846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A — punto di lavoro principale del trimero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930082" y="5452371"/>
            <a:ext cx="431846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b/J = b_c = 2.4,  D/J = 0.15,  Opzione B del termine DM accesa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6930082" y="5772411"/>
            <a:ext cx="431846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RBS-2q.6:  F = 0.9999110739	(6 CNOT, 46 gate 1q)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6930082" y="6119883"/>
            <a:ext cx="431846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W-2q.6:  F = 0.9999999999999996	(6 CNOT, 25 gate 1q)</a:t>
            </a:r>
            <a:endParaRPr lang="en-US" sz="1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28783030-0AB6-584A-1A10-A7EAB55AE0A9}"/>
                  </a:ext>
                </a:extLst>
              </p:cNvPr>
              <p:cNvSpPr txBox="1"/>
              <p:nvPr/>
            </p:nvSpPr>
            <p:spPr>
              <a:xfrm>
                <a:off x="6770062" y="1853685"/>
                <a:ext cx="4638501" cy="138499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0"/>
                <a:r>
                  <a:rPr lang="en-US" sz="1400" dirty="0"/>
                  <a:t>Con </a:t>
                </a:r>
                <a14:m>
                  <m:oMath xmlns:m="http://schemas.openxmlformats.org/officeDocument/2006/math">
                    <m:r>
                      <a:rPr lang="en-US" sz="1400" i="1" dirty="0">
                        <a:latin typeface="Cambria Math" panose="02040503050406030204" pitchFamily="18" charset="0"/>
                      </a:rPr>
                      <m:t>𝐽</m:t>
                    </m:r>
                    <m:r>
                      <a:rPr lang="en-US" sz="1400" dirty="0">
                        <a:latin typeface="Cambria Math" panose="02040503050406030204" pitchFamily="18" charset="0"/>
                      </a:rPr>
                      <m:t>′/</m:t>
                    </m:r>
                    <m:r>
                      <a:rPr lang="en-US" sz="1400" i="1" dirty="0">
                        <a:latin typeface="Cambria Math" panose="02040503050406030204" pitchFamily="18" charset="0"/>
                      </a:rPr>
                      <m:t>𝐽</m:t>
                    </m:r>
                    <m:r>
                      <a:rPr lang="en-US" sz="1400" dirty="0">
                        <a:latin typeface="Cambria Math" panose="02040503050406030204" pitchFamily="18" charset="0"/>
                      </a:rPr>
                      <m:t>=0.4 </m:t>
                    </m:r>
                  </m:oMath>
                </a14:m>
                <a:r>
                  <a:rPr lang="en-US" sz="1400" dirty="0" err="1"/>
                  <a:t>fissato</a:t>
                </a:r>
                <a:r>
                  <a:rPr lang="en-US" sz="1400" dirty="0"/>
                  <a:t> (</a:t>
                </a:r>
                <a:r>
                  <a:rPr lang="en-US" sz="1400" dirty="0" err="1"/>
                  <a:t>triangolo</a:t>
                </a:r>
                <a:r>
                  <a:rPr lang="en-US" sz="1400" dirty="0"/>
                  <a:t> </a:t>
                </a:r>
                <a:r>
                  <a:rPr lang="en-US" sz="1400" dirty="0" err="1"/>
                  <a:t>isoscele</a:t>
                </a:r>
                <a:r>
                  <a:rPr lang="en-US" sz="1400" dirty="0"/>
                  <a:t>)</a:t>
                </a:r>
              </a:p>
              <a:p>
                <a:pPr lvl="0"/>
                <a:endParaRPr lang="en-US" sz="1400" dirty="0"/>
              </a:p>
              <a:p>
                <a:pPr marL="342900" lvl="0" indent="-342900">
                  <a:buFont typeface="Arial" panose="020B0604020202020204" pitchFamily="34" charset="0"/>
                  <a:buChar char="•"/>
                </a:pPr>
                <a:r>
                  <a:rPr lang="en-US" sz="1400" b="1" dirty="0" err="1"/>
                  <a:t>Opzione</a:t>
                </a:r>
                <a:r>
                  <a:rPr lang="en-US" sz="1400" b="1" dirty="0"/>
                  <a:t> B</a:t>
                </a:r>
                <a:r>
                  <a:rPr lang="en-US" sz="1400" dirty="0"/>
                  <a:t>: </a:t>
                </a:r>
                <a:r>
                  <a:rPr lang="en-US" sz="1400" dirty="0" err="1"/>
                  <a:t>apro</a:t>
                </a:r>
                <a:r>
                  <a:rPr lang="en-US" sz="1400" dirty="0"/>
                  <a:t> </a:t>
                </a:r>
                <a:r>
                  <a:rPr lang="en-US" sz="1400" dirty="0" err="1"/>
                  <a:t>l’incrocio</a:t>
                </a:r>
                <a:r>
                  <a:rPr lang="en-US" sz="1400" dirty="0"/>
                  <a:t> </a:t>
                </a:r>
                <a14:m>
                  <m:oMath xmlns:m="http://schemas.openxmlformats.org/officeDocument/2006/math">
                    <m:r>
                      <a:rPr lang="en-US" sz="1400" dirty="0" smtClean="0">
                        <a:latin typeface="Cambria Math" panose="02040503050406030204" pitchFamily="18" charset="0"/>
                      </a:rPr>
                      <m:t>1.379</m:t>
                    </m:r>
                    <m:r>
                      <a:rPr lang="en-US" sz="1400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400" i="1" dirty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1400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400" i="1" dirty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sz="1400" i="0" dirty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sz="1400" i="1" dirty="0">
                        <a:latin typeface="Cambria Math" panose="02040503050406030204" pitchFamily="18" charset="0"/>
                      </a:rPr>
                      <m:t>𝐽</m:t>
                    </m:r>
                    <m:r>
                      <a:rPr lang="en-US" sz="1400" i="0" dirty="0">
                        <a:latin typeface="Cambria Math" panose="02040503050406030204" pitchFamily="18" charset="0"/>
                      </a:rPr>
                      <m:t>=0.15</m:t>
                    </m:r>
                    <m:r>
                      <a:rPr lang="en-US" sz="1400" i="1" dirty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sz="1400" i="0" dirty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sz="1400" i="1" dirty="0">
                        <a:latin typeface="Cambria Math" panose="02040503050406030204" pitchFamily="18" charset="0"/>
                      </a:rPr>
                      <m:t>𝐽</m:t>
                    </m:r>
                    <m:r>
                      <a:rPr lang="en-US" sz="1400" i="0" dirty="0">
                        <a:latin typeface="Cambria Math" panose="02040503050406030204" pitchFamily="18" charset="0"/>
                      </a:rPr>
                      <m:t>=0.15</m:t>
                    </m:r>
                  </m:oMath>
                </a14:m>
                <a:br>
                  <a:rPr lang="en-US" sz="1400" dirty="0"/>
                </a:br>
                <a:endParaRPr lang="en-US" sz="1400" dirty="0"/>
              </a:p>
              <a:p>
                <a:pPr marL="342900" lvl="0" indent="-342900">
                  <a:buFont typeface="Arial" panose="020B0604020202020204" pitchFamily="34" charset="0"/>
                  <a:buChar char="•"/>
                </a:pPr>
                <a:r>
                  <a:rPr lang="en-US" sz="1400" dirty="0" err="1"/>
                  <a:t>Opzione</a:t>
                </a:r>
                <a:r>
                  <a:rPr lang="en-US" sz="1400" dirty="0"/>
                  <a:t> A: </a:t>
                </a:r>
                <a:r>
                  <a:rPr lang="en-US" sz="1400" dirty="0" err="1"/>
                  <a:t>lascia</a:t>
                </a:r>
                <a:r>
                  <a:rPr lang="en-US" sz="1400" dirty="0"/>
                  <a:t> </a:t>
                </a:r>
                <a:r>
                  <a:rPr lang="en-US" sz="1400" dirty="0" err="1"/>
                  <a:t>l'incrocio</a:t>
                </a:r>
                <a:r>
                  <a:rPr lang="en-US" sz="1400" dirty="0"/>
                  <a:t> </a:t>
                </a:r>
                <a:r>
                  <a:rPr lang="en-US" sz="1400" dirty="0" err="1"/>
                  <a:t>protetto</a:t>
                </a:r>
                <a:r>
                  <a:rPr lang="en-US" sz="1400" dirty="0"/>
                  <a:t> (</a:t>
                </a:r>
                <a:r>
                  <a:rPr lang="en-US" sz="1400" dirty="0" err="1"/>
                  <a:t>degenere</a:t>
                </a:r>
                <a:r>
                  <a:rPr lang="en-US" sz="1400" dirty="0"/>
                  <a:t>.</a:t>
                </a:r>
              </a:p>
            </p:txBody>
          </p:sp>
        </mc:Choice>
        <mc:Fallback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28783030-0AB6-584A-1A10-A7EAB55AE0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70062" y="1853685"/>
                <a:ext cx="4638501" cy="1384995"/>
              </a:xfrm>
              <a:prstGeom prst="rect">
                <a:avLst/>
              </a:prstGeom>
              <a:blipFill>
                <a:blip r:embed="rId3"/>
                <a:stretch>
                  <a:fillRect l="-395" t="-881" b="-39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5" name="Picture 24">
            <a:extLst>
              <a:ext uri="{FF2B5EF4-FFF2-40B4-BE49-F238E27FC236}">
                <a16:creationId xmlns:a16="http://schemas.microsoft.com/office/drawing/2014/main" id="{5F764549-A077-63FC-B4DD-AC37CEFB65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2449339"/>
            <a:ext cx="5602778" cy="3465629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68</TotalTime>
  <Words>109</Words>
  <Application>Microsoft Office PowerPoint</Application>
  <PresentationFormat>Widescreen</PresentationFormat>
  <Paragraphs>11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Cambria Math</vt:lpstr>
      <vt:lpstr>Office Theme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Quantum simulation of molecular spin systems on quantum hardware</dc:title>
  <dc:subject>PptxGenJS Presentation</dc:subject>
  <dc:creator>Samuele Schiavi</dc:creator>
  <cp:lastModifiedBy>Samuele SCHIAVI</cp:lastModifiedBy>
  <cp:revision>19</cp:revision>
  <dcterms:created xsi:type="dcterms:W3CDTF">2026-09-14T17:34:23Z</dcterms:created>
  <dcterms:modified xsi:type="dcterms:W3CDTF">2026-09-17T16:03:37Z</dcterms:modified>
</cp:coreProperties>
</file>