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82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0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3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Rumorosa</a:t>
            </a:r>
            <a:endParaRPr lang="en-US" sz="36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Primitive a due qubit">
                <a:extLst>
                  <a:ext uri="{FF2B5EF4-FFF2-40B4-BE49-F238E27FC236}">
                    <a16:creationId xmlns:a16="http://schemas.microsoft.com/office/drawing/2014/main" id="{F1723D25-7A93-CFC7-BD25-4E48F41785D7}"/>
                  </a:ext>
                </a:extLst>
              </p:cNvPr>
              <p:cNvSpPr txBox="1"/>
              <p:nvPr/>
            </p:nvSpPr>
            <p:spPr>
              <a:xfrm>
                <a:off x="652778" y="1490472"/>
                <a:ext cx="10911535" cy="5303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2100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Correlatori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00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100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𝛼𝛽</m:t>
                        </m:r>
                      </m:sup>
                    </m:sSup>
                    <m:d>
                      <m:dPr>
                        <m:ctrlPr>
                          <a:rPr lang="en-US" sz="2100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100" b="1" i="1" dirty="0" smtClean="0">
                        <a:solidFill>
                          <a:srgbClr val="173A5E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sz="2100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100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00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100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begChr m:val="|"/>
                            <m:endChr m:val="|"/>
                            <m:ctrlPr>
                              <a:rPr lang="en-US" sz="2100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2100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sSup>
                              <m:sSupPr>
                                <m:ctrlP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d>
                        <m:sSub>
                          <m:sSubPr>
                            <m:ctrlPr>
                              <a:rPr lang="en-US" sz="2100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00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100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100" i="1" dirty="0"/>
                  <a:t> </a:t>
                </a:r>
                <a:r>
                  <a:rPr lang="en-US" sz="2100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Canali di </a:t>
                </a:r>
                <a:r>
                  <a:rPr lang="en-US" sz="2100" b="1" i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rumore</a:t>
                </a:r>
                <a14:m>
                  <m:oMath xmlns:m="http://schemas.openxmlformats.org/officeDocument/2006/math">
                    <m:r>
                      <a:rPr lang="en-US" sz="2100" b="1" i="1" dirty="0" smtClean="0">
                        <a:solidFill>
                          <a:srgbClr val="173A5E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2100" i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100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2100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𝑟𝑒𝑎𝑑𝑜𝑢𝑡</m:t>
                        </m:r>
                      </m:sub>
                    </m:sSub>
                  </m:oMath>
                </a14:m>
                <a:endParaRPr lang="en-US" sz="2100" i="1" dirty="0"/>
              </a:p>
            </p:txBody>
          </p:sp>
        </mc:Choice>
        <mc:Fallback>
          <p:sp>
            <p:nvSpPr>
              <p:cNvPr id="23" name="Primitive a due qubit">
                <a:extLst>
                  <a:ext uri="{FF2B5EF4-FFF2-40B4-BE49-F238E27FC236}">
                    <a16:creationId xmlns:a16="http://schemas.microsoft.com/office/drawing/2014/main" id="{F1723D25-7A93-CFC7-BD25-4E48F4178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78" y="1490472"/>
                <a:ext cx="10911535" cy="530352"/>
              </a:xfrm>
              <a:prstGeom prst="rect">
                <a:avLst/>
              </a:prstGeom>
              <a:blipFill>
                <a:blip r:embed="rId3"/>
                <a:stretch>
                  <a:fillRect b="-1149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4C6A78A-257D-587D-1AF8-AC1AEDA7E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85" y="2020824"/>
            <a:ext cx="4629013" cy="25337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D702AE-4FAD-D9A4-BEB8-C924470B4C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5302" y="2020825"/>
            <a:ext cx="4629011" cy="253377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246AD95-B561-7223-B5C7-D57F6C230011}"/>
              </a:ext>
            </a:extLst>
          </p:cNvPr>
          <p:cNvSpPr txBox="1"/>
          <p:nvPr/>
        </p:nvSpPr>
        <p:spPr>
          <a:xfrm>
            <a:off x="6922910" y="4684794"/>
            <a:ext cx="4629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 err="1"/>
              <a:t>Simulatore</a:t>
            </a:r>
            <a:r>
              <a:rPr lang="en-US" sz="1200" dirty="0"/>
              <a:t> con </a:t>
            </a:r>
            <a:r>
              <a:rPr lang="en-US" sz="1200" dirty="0" err="1"/>
              <a:t>rumore</a:t>
            </a:r>
            <a:r>
              <a:rPr lang="en-US" sz="1200" dirty="0"/>
              <a:t>: ogni gate e ogni </a:t>
            </a:r>
            <a:r>
              <a:rPr lang="en-US" sz="1200" dirty="0" err="1"/>
              <a:t>lettura</a:t>
            </a:r>
            <a:r>
              <a:rPr lang="en-US" sz="1200" dirty="0"/>
              <a:t> introduce </a:t>
            </a:r>
            <a:r>
              <a:rPr lang="en-US" sz="1200" dirty="0" err="1"/>
              <a:t>errore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B1517B-B1BD-BF3C-6426-E8C970564BB0}"/>
              </a:ext>
            </a:extLst>
          </p:cNvPr>
          <p:cNvSpPr txBox="1"/>
          <p:nvPr/>
        </p:nvSpPr>
        <p:spPr>
          <a:xfrm>
            <a:off x="6922910" y="4962000"/>
            <a:ext cx="4629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 err="1"/>
              <a:t>Modello</a:t>
            </a:r>
            <a:r>
              <a:rPr lang="en-US" sz="1200" dirty="0"/>
              <a:t> </a:t>
            </a:r>
            <a:r>
              <a:rPr lang="en-US" sz="1200" dirty="0" err="1"/>
              <a:t>minimale</a:t>
            </a:r>
            <a:r>
              <a:rPr lang="en-US" sz="1200" dirty="0"/>
              <a:t>: 2 </a:t>
            </a:r>
            <a:r>
              <a:rPr lang="en-US" sz="1200" dirty="0" err="1"/>
              <a:t>canali</a:t>
            </a:r>
            <a:r>
              <a:rPr lang="en-US" sz="1200" dirty="0"/>
              <a:t>- </a:t>
            </a:r>
            <a:r>
              <a:rPr lang="en-US" sz="1200" dirty="0" err="1"/>
              <a:t>depolarizzante</a:t>
            </a:r>
            <a:r>
              <a:rPr lang="en-US" sz="1200" dirty="0"/>
              <a:t> (gate) + </a:t>
            </a:r>
            <a:r>
              <a:rPr lang="en-US" sz="1200" dirty="0" err="1"/>
              <a:t>lettura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479C275-42D6-7C3E-A776-775F5D436A7C}"/>
                  </a:ext>
                </a:extLst>
              </p:cNvPr>
              <p:cNvSpPr txBox="1"/>
              <p:nvPr/>
            </p:nvSpPr>
            <p:spPr>
              <a:xfrm>
                <a:off x="6922910" y="5238999"/>
                <a:ext cx="4629012" cy="1069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200" dirty="0" err="1"/>
                  <a:t>Parametri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calibrati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ibm_torino</a:t>
                </a:r>
                <a:r>
                  <a:rPr lang="en-US" sz="1200" dirty="0"/>
                  <a:t> (IBM Heron r1, 133 qubit): </a:t>
                </a:r>
                <a:br>
                  <a:rPr lang="en-US" sz="1200" dirty="0"/>
                </a:br>
                <a:br>
                  <a:rPr lang="en-US" sz="12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/>
                        </m:ctrlPr>
                      </m:sSubPr>
                      <m:e>
                        <m:r>
                          <a:rPr lang="en-US" sz="1200" i="1"/>
                          <m:t>𝜀</m:t>
                        </m:r>
                      </m:e>
                      <m:sub>
                        <m:r>
                          <a:rPr lang="en-US" sz="1200"/>
                          <m:t>1</m:t>
                        </m:r>
                        <m:r>
                          <a:rPr lang="en-US" sz="1200" i="1"/>
                          <m:t>𝑞</m:t>
                        </m:r>
                      </m:sub>
                    </m:sSub>
                    <m:r>
                      <a:rPr lang="en-US" sz="1200"/>
                      <m:t>=2.9×</m:t>
                    </m:r>
                    <m:sSup>
                      <m:sSupPr>
                        <m:ctrlPr>
                          <a:rPr lang="en-US" sz="1200"/>
                        </m:ctrlPr>
                      </m:sSupPr>
                      <m:e>
                        <m:r>
                          <a:rPr lang="en-US" sz="1200"/>
                          <m:t>10</m:t>
                        </m:r>
                      </m:e>
                      <m:sup>
                        <m:r>
                          <a:rPr lang="en-US" sz="1200"/>
                          <m:t>−4</m:t>
                        </m:r>
                      </m:sup>
                    </m:sSup>
                  </m:oMath>
                </a14:m>
                <a:r>
                  <a:rPr lang="en-US" sz="1200" dirty="0"/>
                  <a:t>ε</a:t>
                </a:r>
                <a:r>
                  <a:rPr lang="en-US" sz="1200" dirty="0">
                    <a:effectLst/>
                  </a:rPr>
                  <a:t>1q</a:t>
                </a:r>
                <a:r>
                  <a:rPr lang="en-US" sz="1200" dirty="0"/>
                  <a:t>​=2.9×10</a:t>
                </a:r>
                <a:r>
                  <a:rPr lang="en-US" sz="1200" dirty="0">
                    <a:effectLst/>
                  </a:rPr>
                  <a:t>−4</a:t>
                </a:r>
                <a:r>
                  <a:rPr lang="en-US" sz="1200" dirty="0"/>
                  <a:t> </a:t>
                </a:r>
                <a:br>
                  <a:rPr lang="en-US" sz="12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/>
                        </m:ctrlPr>
                      </m:sSubPr>
                      <m:e>
                        <m:r>
                          <a:rPr lang="en-US" sz="1200" i="1"/>
                          <m:t>𝜀</m:t>
                        </m:r>
                      </m:e>
                      <m:sub>
                        <m:r>
                          <a:rPr lang="en-US" sz="1200"/>
                          <m:t>2</m:t>
                        </m:r>
                        <m:r>
                          <a:rPr lang="en-US" sz="1200" i="1"/>
                          <m:t>𝑞</m:t>
                        </m:r>
                      </m:sub>
                    </m:sSub>
                    <m:r>
                      <a:rPr lang="en-US" sz="1200"/>
                      <m:t>=3.8×</m:t>
                    </m:r>
                    <m:sSup>
                      <m:sSupPr>
                        <m:ctrlPr>
                          <a:rPr lang="en-US" sz="1200"/>
                        </m:ctrlPr>
                      </m:sSupPr>
                      <m:e>
                        <m:r>
                          <a:rPr lang="en-US" sz="1200"/>
                          <m:t>10</m:t>
                        </m:r>
                      </m:e>
                      <m:sup>
                        <m:r>
                          <a:rPr lang="en-US" sz="1200"/>
                          <m:t>−3</m:t>
                        </m:r>
                      </m:sup>
                    </m:sSup>
                  </m:oMath>
                </a14:m>
                <a:r>
                  <a:rPr lang="en-US" sz="1200" dirty="0"/>
                  <a:t>ε</a:t>
                </a:r>
                <a:r>
                  <a:rPr lang="en-US" sz="1200" dirty="0">
                    <a:effectLst/>
                  </a:rPr>
                  <a:t>2q</a:t>
                </a:r>
                <a:r>
                  <a:rPr lang="en-US" sz="1200" dirty="0"/>
                  <a:t>​=3.8×10</a:t>
                </a:r>
                <a:r>
                  <a:rPr lang="en-US" sz="1200" dirty="0">
                    <a:effectLst/>
                  </a:rPr>
                  <a:t>−3</a:t>
                </a:r>
                <a:br>
                  <a:rPr lang="en-US" sz="12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/>
                        </m:ctrlPr>
                      </m:sSubPr>
                      <m:e>
                        <m:r>
                          <a:rPr lang="en-US" sz="1200" i="1"/>
                          <m:t>𝑝</m:t>
                        </m:r>
                      </m:e>
                      <m:sub>
                        <m:r>
                          <a:rPr lang="en-US" sz="1200" i="1"/>
                          <m:t>𝑟𝑒𝑎𝑑𝑜𝑢𝑡</m:t>
                        </m:r>
                      </m:sub>
                    </m:sSub>
                    <m:r>
                      <a:rPr lang="en-US" sz="1200"/>
                      <m:t>=2.3×</m:t>
                    </m:r>
                    <m:sSup>
                      <m:sSupPr>
                        <m:ctrlPr>
                          <a:rPr lang="en-US" sz="1200"/>
                        </m:ctrlPr>
                      </m:sSupPr>
                      <m:e>
                        <m:r>
                          <a:rPr lang="en-US" sz="1200"/>
                          <m:t>10</m:t>
                        </m:r>
                      </m:e>
                      <m:sup>
                        <m:r>
                          <a:rPr lang="en-US" sz="1200"/>
                          <m:t>−2</m:t>
                        </m:r>
                      </m:sup>
                    </m:sSup>
                  </m:oMath>
                </a14:m>
                <a:r>
                  <a:rPr lang="en-US" sz="1200" dirty="0" err="1"/>
                  <a:t>p</a:t>
                </a:r>
                <a:r>
                  <a:rPr lang="en-US" sz="1200" dirty="0" err="1">
                    <a:effectLst/>
                  </a:rPr>
                  <a:t>readout</a:t>
                </a:r>
                <a:r>
                  <a:rPr lang="en-US" sz="1200" dirty="0"/>
                  <a:t>​=2.3×10</a:t>
                </a:r>
                <a:r>
                  <a:rPr lang="en-US" sz="1200" dirty="0">
                    <a:effectLst/>
                  </a:rPr>
                  <a:t>−2</a:t>
                </a:r>
                <a:endParaRPr lang="en-US" sz="12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479C275-42D6-7C3E-A776-775F5D436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2910" y="5238999"/>
                <a:ext cx="4629012" cy="1069395"/>
              </a:xfrm>
              <a:prstGeom prst="rect">
                <a:avLst/>
              </a:prstGeom>
              <a:blipFill>
                <a:blip r:embed="rId6"/>
                <a:stretch>
                  <a:fillRect b="-3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DFF4FBB-C864-C111-2D71-BF2C8B1B7B87}"/>
                  </a:ext>
                </a:extLst>
              </p:cNvPr>
              <p:cNvSpPr txBox="1"/>
              <p:nvPr/>
            </p:nvSpPr>
            <p:spPr>
              <a:xfrm>
                <a:off x="640080" y="4684794"/>
                <a:ext cx="4629012" cy="293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200" dirty="0"/>
                  <a:t>Si </a:t>
                </a:r>
                <a:r>
                  <a:rPr lang="en-US" sz="1200" dirty="0" err="1"/>
                  <a:t>misura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/>
                        </m:ctrlPr>
                      </m:sSubPr>
                      <m:e>
                        <m:r>
                          <a:rPr lang="en-US" sz="1200" i="1"/>
                          <m:t>𝜎</m:t>
                        </m:r>
                      </m:e>
                      <m:sub>
                        <m:r>
                          <a:rPr lang="en-US" sz="1200" i="1"/>
                          <m:t>𝛽</m:t>
                        </m:r>
                      </m:sub>
                    </m:sSub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sul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sito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/>
                      <m:t>𝑗</m:t>
                    </m:r>
                  </m:oMath>
                </a14:m>
                <a:r>
                  <a:rPr lang="en-US" sz="1200" dirty="0"/>
                  <a:t> a </a:t>
                </a:r>
                <a14:m>
                  <m:oMath xmlns:m="http://schemas.openxmlformats.org/officeDocument/2006/math">
                    <m:r>
                      <a:rPr lang="en-US" sz="1200" i="1"/>
                      <m:t>𝑡</m:t>
                    </m:r>
                    <m:r>
                      <a:rPr lang="en-US" sz="1200"/>
                      <m:t>=0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1200" dirty="0"/>
                  <a:t>risultato </a:t>
                </a:r>
                <a14:m>
                  <m:oMath xmlns:m="http://schemas.openxmlformats.org/officeDocument/2006/math">
                    <m:r>
                      <a:rPr lang="en-US" sz="1200"/>
                      <m:t>±1</m:t>
                    </m:r>
                  </m:oMath>
                </a14:m>
                <a:endParaRPr lang="en-US" sz="12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DFF4FBB-C864-C111-2D71-BF2C8B1B7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4684794"/>
                <a:ext cx="4629012" cy="293607"/>
              </a:xfrm>
              <a:prstGeom prst="rect">
                <a:avLst/>
              </a:prstGeom>
              <a:blipFill>
                <a:blip r:embed="rId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2CC0AD5-5A90-3FE0-2614-8D08DCCE7579}"/>
                  </a:ext>
                </a:extLst>
              </p:cNvPr>
              <p:cNvSpPr txBox="1"/>
              <p:nvPr/>
            </p:nvSpPr>
            <p:spPr>
              <a:xfrm>
                <a:off x="640080" y="4950647"/>
                <a:ext cx="46290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200" dirty="0"/>
                  <a:t>Sullo </a:t>
                </a:r>
                <a:r>
                  <a:rPr lang="en-US" sz="1200" dirty="0" err="1"/>
                  <a:t>stesso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stato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evoluto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nel</a:t>
                </a:r>
                <a:r>
                  <a:rPr lang="en-US" sz="1200" dirty="0"/>
                  <a:t> tempo, </a:t>
                </a:r>
                <a:r>
                  <a:rPr lang="en-US" sz="1200" dirty="0" err="1"/>
                  <a:t>si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misura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/>
                        </m:ctrlPr>
                      </m:sSubPr>
                      <m:e>
                        <m:r>
                          <a:rPr lang="en-US" sz="1200" i="1"/>
                          <m:t>𝜎</m:t>
                        </m:r>
                      </m:e>
                      <m:sub>
                        <m:r>
                          <a:rPr lang="en-US" sz="1200" i="1"/>
                          <m:t>𝛼</m:t>
                        </m:r>
                      </m:sub>
                    </m:sSub>
                  </m:oMath>
                </a14:m>
                <a:r>
                  <a:rPr lang="en-US" sz="1200" dirty="0"/>
                  <a:t>​ </a:t>
                </a:r>
                <a:r>
                  <a:rPr lang="en-US" sz="1200" dirty="0" err="1"/>
                  <a:t>sul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sito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/>
                      <m:t>𝑖</m:t>
                    </m:r>
                  </m:oMath>
                </a14:m>
                <a:r>
                  <a:rPr lang="en-US" sz="1200" dirty="0"/>
                  <a:t> a </a:t>
                </a:r>
                <a14:m>
                  <m:oMath xmlns:m="http://schemas.openxmlformats.org/officeDocument/2006/math">
                    <m:r>
                      <a:rPr lang="en-US" sz="1200" i="1"/>
                      <m:t>𝑡</m:t>
                    </m:r>
                  </m:oMath>
                </a14:m>
                <a:r>
                  <a:rPr lang="en-US" sz="1200" dirty="0"/>
                  <a:t>: altro </a:t>
                </a:r>
                <a:r>
                  <a:rPr lang="en-US" sz="1200" dirty="0" err="1"/>
                  <a:t>risultato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/>
                      <m:t>±1</m:t>
                    </m:r>
                  </m:oMath>
                </a14:m>
                <a:endParaRPr lang="en-US" sz="12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2CC0AD5-5A90-3FE0-2614-8D08DCCE7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4950647"/>
                <a:ext cx="4629012" cy="461665"/>
              </a:xfrm>
              <a:prstGeom prst="rect">
                <a:avLst/>
              </a:prstGeom>
              <a:blipFill>
                <a:blip r:embed="rId8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08887275-8A8D-106A-2DCC-4140E1A39675}"/>
              </a:ext>
            </a:extLst>
          </p:cNvPr>
          <p:cNvSpPr txBox="1"/>
          <p:nvPr/>
        </p:nvSpPr>
        <p:spPr>
          <a:xfrm>
            <a:off x="640080" y="5370253"/>
            <a:ext cx="4629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 err="1"/>
              <a:t>Conoscere</a:t>
            </a:r>
            <a:r>
              <a:rPr lang="en-US" sz="1200" dirty="0"/>
              <a:t> il primo </a:t>
            </a:r>
            <a:r>
              <a:rPr lang="en-US" sz="1200" dirty="0" err="1"/>
              <a:t>risultato</a:t>
            </a:r>
            <a:r>
              <a:rPr lang="en-US" sz="1200" dirty="0"/>
              <a:t> </a:t>
            </a:r>
            <a:r>
              <a:rPr lang="en-US" sz="1200" dirty="0" err="1"/>
              <a:t>aiuta</a:t>
            </a:r>
            <a:r>
              <a:rPr lang="en-US" sz="1200" dirty="0"/>
              <a:t> a </a:t>
            </a:r>
            <a:r>
              <a:rPr lang="en-US" sz="1200" dirty="0" err="1"/>
              <a:t>prevedere</a:t>
            </a:r>
            <a:r>
              <a:rPr lang="en-US" sz="1200" dirty="0"/>
              <a:t> il secondo? (</a:t>
            </a:r>
            <a:r>
              <a:rPr lang="en-US" sz="1200" dirty="0" err="1"/>
              <a:t>correlazione</a:t>
            </a:r>
            <a:r>
              <a:rPr lang="en-US" sz="1200" dirty="0"/>
              <a:t> </a:t>
            </a:r>
            <a:r>
              <a:rPr lang="en-US" sz="1200" dirty="0" err="1"/>
              <a:t>statistica</a:t>
            </a:r>
            <a:r>
              <a:rPr lang="en-US" sz="1200" dirty="0"/>
              <a:t> </a:t>
            </a:r>
            <a:r>
              <a:rPr lang="en-US" sz="1200" dirty="0" err="1"/>
              <a:t>fra</a:t>
            </a:r>
            <a:r>
              <a:rPr lang="en-US" sz="1200" dirty="0"/>
              <a:t> le due </a:t>
            </a:r>
            <a:r>
              <a:rPr lang="en-US" sz="1200" dirty="0" err="1"/>
              <a:t>misure</a:t>
            </a:r>
            <a:r>
              <a:rPr lang="en-US" sz="1200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FB850E4-AF86-6D3F-F8BE-73BFF7A8E481}"/>
                  </a:ext>
                </a:extLst>
              </p:cNvPr>
              <p:cNvSpPr txBox="1"/>
              <p:nvPr/>
            </p:nvSpPr>
            <p:spPr>
              <a:xfrm>
                <a:off x="665173" y="5831918"/>
                <a:ext cx="4629012" cy="847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200" dirty="0"/>
                  <a:t>È un </a:t>
                </a:r>
                <a:r>
                  <a:rPr lang="en-US" sz="1200" dirty="0" err="1"/>
                  <a:t>numero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complesso</a:t>
                </a:r>
                <a:r>
                  <a:rPr lang="en-US" sz="1200" dirty="0"/>
                  <a:t> - </a:t>
                </a:r>
                <a:r>
                  <a:rPr lang="en-US" sz="1200" dirty="0" err="1"/>
                  <a:t>si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misura</a:t>
                </a:r>
                <a:r>
                  <a:rPr lang="en-US" sz="1200" dirty="0"/>
                  <a:t> con </a:t>
                </a:r>
                <a:r>
                  <a:rPr lang="en-US" sz="1200" dirty="0" err="1"/>
                  <a:t>un'ancilla</a:t>
                </a:r>
                <a:r>
                  <a:rPr lang="en-US" sz="1200" dirty="0"/>
                  <a:t> in </a:t>
                </a:r>
                <a:r>
                  <a:rPr lang="en-US" sz="1200" dirty="0" err="1"/>
                  <a:t>sovrapposizione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che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crea</a:t>
                </a:r>
                <a:r>
                  <a:rPr lang="en-US" sz="1200" dirty="0"/>
                  <a:t> due rami </a:t>
                </a:r>
                <a:r>
                  <a:rPr lang="en-US" sz="1200" dirty="0" err="1"/>
                  <a:t>paralleli</a:t>
                </a:r>
                <a:r>
                  <a:rPr lang="en-US" sz="1200" dirty="0"/>
                  <a:t> (uno </a:t>
                </a:r>
                <a:r>
                  <a:rPr lang="en-US" sz="1200" dirty="0" err="1"/>
                  <a:t>applica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/>
                        </m:ctrlPr>
                      </m:sSubPr>
                      <m:e>
                        <m:r>
                          <a:rPr lang="en-US" sz="1200" i="1"/>
                          <m:t>𝜎</m:t>
                        </m:r>
                      </m:e>
                      <m:sub>
                        <m:r>
                          <a:rPr lang="en-US" sz="1200" i="1"/>
                          <m:t>𝛽</m:t>
                        </m:r>
                      </m:sub>
                    </m:sSub>
                  </m:oMath>
                </a14:m>
                <a:r>
                  <a:rPr lang="en-US" sz="1200" dirty="0"/>
                  <a:t>​, </a:t>
                </a:r>
                <a:r>
                  <a:rPr lang="en-US" sz="1200" dirty="0" err="1"/>
                  <a:t>l'altro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/>
                        </m:ctrlPr>
                      </m:sSubPr>
                      <m:e>
                        <m:r>
                          <a:rPr lang="en-US" sz="1200" i="1"/>
                          <m:t>𝜎</m:t>
                        </m:r>
                      </m:e>
                      <m:sub>
                        <m:r>
                          <a:rPr lang="en-US" sz="1200" i="1"/>
                          <m:t>𝛼</m:t>
                        </m:r>
                      </m:sub>
                    </m:sSub>
                  </m:oMath>
                </a14:m>
                <a:r>
                  <a:rPr lang="en-US" sz="1200" dirty="0"/>
                  <a:t>​) e li fa </a:t>
                </a:r>
                <a:r>
                  <a:rPr lang="en-US" sz="1200" b="1" dirty="0" err="1"/>
                  <a:t>interferire</a:t>
                </a:r>
                <a:r>
                  <a:rPr lang="en-US" sz="1200" dirty="0"/>
                  <a:t>; </a:t>
                </a:r>
                <a:r>
                  <a:rPr lang="en-US" sz="1200" dirty="0" err="1"/>
                  <a:t>l'esito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letto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dalla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probabilità</a:t>
                </a:r>
                <a:r>
                  <a:rPr lang="en-US" sz="1200" dirty="0"/>
                  <a:t> di </a:t>
                </a:r>
                <a:r>
                  <a:rPr lang="en-US" sz="1200" dirty="0" err="1"/>
                  <a:t>misura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dell'ancilla</a:t>
                </a:r>
                <a:r>
                  <a:rPr lang="en-US" sz="1200" dirty="0"/>
                  <a:t>, è il </a:t>
                </a:r>
                <a:r>
                  <a:rPr lang="en-US" sz="1200" dirty="0" err="1"/>
                  <a:t>correlatore</a:t>
                </a:r>
                <a:endParaRPr lang="en-US" sz="12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FB850E4-AF86-6D3F-F8BE-73BFF7A8E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73" y="5831918"/>
                <a:ext cx="4629012" cy="847604"/>
              </a:xfrm>
              <a:prstGeom prst="rect">
                <a:avLst/>
              </a:prstGeom>
              <a:blipFill>
                <a:blip r:embed="rId9"/>
                <a:stretch>
                  <a:fillRect t="-719" b="-5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190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 Math</vt:lpstr>
      <vt:lpstr>Wingdings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49</cp:revision>
  <dcterms:created xsi:type="dcterms:W3CDTF">2026-09-14T17:34:23Z</dcterms:created>
  <dcterms:modified xsi:type="dcterms:W3CDTF">2026-09-18T08:56:34Z</dcterms:modified>
</cp:coreProperties>
</file>