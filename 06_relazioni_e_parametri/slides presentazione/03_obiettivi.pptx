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72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147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8392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95463" tIns="47732" rIns="95463" bIns="477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95463" tIns="47732" rIns="95463" bIns="47732"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515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Obiettivi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097006" y="1521823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04800" indent="-304800">
              <a:buSzPct val="100000"/>
              <a:buChar char="■"/>
            </a:pPr>
            <a:r>
              <a:rPr lang="en-US" dirty="0" err="1"/>
              <a:t>Estendere</a:t>
            </a:r>
            <a:r>
              <a:rPr lang="en-US" dirty="0"/>
              <a:t> la </a:t>
            </a:r>
            <a:r>
              <a:rPr lang="en-US" dirty="0" err="1"/>
              <a:t>simulazione</a:t>
            </a:r>
            <a:r>
              <a:rPr lang="en-US" dirty="0"/>
              <a:t> ad un </a:t>
            </a:r>
            <a:r>
              <a:rPr lang="en-US" dirty="0" err="1"/>
              <a:t>triangolo</a:t>
            </a:r>
            <a:r>
              <a:rPr lang="en-US" dirty="0"/>
              <a:t> o ad </a:t>
            </a:r>
            <a:r>
              <a:rPr lang="en-US" dirty="0" err="1"/>
              <a:t>una</a:t>
            </a:r>
            <a:r>
              <a:rPr lang="en-US" dirty="0"/>
              <a:t> catena di </a:t>
            </a:r>
            <a:r>
              <a:rPr lang="en-US" dirty="0" err="1"/>
              <a:t>tre</a:t>
            </a:r>
            <a:r>
              <a:rPr lang="en-US" dirty="0"/>
              <a:t> spin </a:t>
            </a:r>
            <a:r>
              <a:rPr lang="en-US" dirty="0" err="1"/>
              <a:t>interagenti</a:t>
            </a:r>
            <a:endParaRPr lang="en-US" dirty="0"/>
          </a:p>
        </p:txBody>
      </p:sp>
      <p:sp>
        <p:nvSpPr>
          <p:cNvPr id="6" name="Text 4"/>
          <p:cNvSpPr txBox="1"/>
          <p:nvPr/>
        </p:nvSpPr>
        <p:spPr>
          <a:xfrm>
            <a:off x="606494" y="4181697"/>
            <a:ext cx="5055568" cy="11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04800" indent="-304800">
              <a:buSzPct val="100000"/>
              <a:buChar char="■"/>
            </a:pPr>
            <a:r>
              <a:rPr lang="en-US" dirty="0" err="1"/>
              <a:t>Aggiungere</a:t>
            </a:r>
            <a:r>
              <a:rPr lang="en-US" dirty="0"/>
              <a:t> il </a:t>
            </a:r>
            <a:r>
              <a:rPr lang="en-US" dirty="0" err="1"/>
              <a:t>rumore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deriva</a:t>
            </a:r>
            <a:r>
              <a:rPr lang="en-US" dirty="0"/>
              <a:t> </a:t>
            </a:r>
            <a:r>
              <a:rPr lang="en-US" dirty="0" err="1"/>
              <a:t>dalla</a:t>
            </a:r>
            <a:r>
              <a:rPr lang="en-US" dirty="0"/>
              <a:t> </a:t>
            </a:r>
            <a:r>
              <a:rPr lang="en-US" dirty="0" err="1"/>
              <a:t>interazione</a:t>
            </a:r>
            <a:r>
              <a:rPr lang="en-US" dirty="0"/>
              <a:t> non </a:t>
            </a:r>
            <a:r>
              <a:rPr lang="en-US" dirty="0" err="1"/>
              <a:t>voluta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hardware </a:t>
            </a:r>
            <a:r>
              <a:rPr lang="en-US" dirty="0" err="1"/>
              <a:t>quantistico</a:t>
            </a:r>
            <a:r>
              <a:rPr lang="en-US" dirty="0"/>
              <a:t> e </a:t>
            </a:r>
            <a:r>
              <a:rPr lang="en-US" dirty="0" err="1"/>
              <a:t>ambiente</a:t>
            </a:r>
            <a:endParaRPr lang="en-US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08C972C1-A68F-A424-B6E8-E8E790D220C1}"/>
              </a:ext>
            </a:extLst>
          </p:cNvPr>
          <p:cNvSpPr txBox="1"/>
          <p:nvPr/>
        </p:nvSpPr>
        <p:spPr>
          <a:xfrm>
            <a:off x="671566" y="1521823"/>
            <a:ext cx="49925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04800" indent="-304800">
              <a:buSzPct val="100000"/>
              <a:buChar char="■"/>
            </a:pPr>
            <a:r>
              <a:rPr lang="en-US" dirty="0" err="1"/>
              <a:t>Studiare</a:t>
            </a:r>
            <a:r>
              <a:rPr lang="en-US" dirty="0"/>
              <a:t> come </a:t>
            </a:r>
            <a:r>
              <a:rPr lang="en-US" dirty="0" err="1"/>
              <a:t>caso</a:t>
            </a:r>
            <a:r>
              <a:rPr lang="en-US" dirty="0"/>
              <a:t> </a:t>
            </a:r>
            <a:r>
              <a:rPr lang="en-US" dirty="0" err="1"/>
              <a:t>prototipo</a:t>
            </a:r>
            <a:r>
              <a:rPr lang="en-US" dirty="0"/>
              <a:t> un </a:t>
            </a:r>
            <a:r>
              <a:rPr lang="en-US" dirty="0" err="1"/>
              <a:t>dimero</a:t>
            </a:r>
            <a:r>
              <a:rPr lang="en-US" dirty="0"/>
              <a:t> di spin: </a:t>
            </a:r>
            <a:r>
              <a:rPr lang="en-US" dirty="0" err="1"/>
              <a:t>stato</a:t>
            </a:r>
            <a:r>
              <a:rPr lang="en-US" dirty="0"/>
              <a:t> </a:t>
            </a:r>
            <a:r>
              <a:rPr lang="en-US" dirty="0" err="1"/>
              <a:t>fondamentale</a:t>
            </a:r>
            <a:r>
              <a:rPr lang="en-US" dirty="0"/>
              <a:t> e </a:t>
            </a:r>
            <a:r>
              <a:rPr lang="en-US" dirty="0" err="1"/>
              <a:t>dinamica</a:t>
            </a:r>
            <a:r>
              <a:rPr lang="en-US" dirty="0"/>
              <a:t> (</a:t>
            </a:r>
            <a:r>
              <a:rPr lang="en-US" dirty="0" err="1"/>
              <a:t>noisless</a:t>
            </a:r>
            <a:r>
              <a:rPr lang="en-US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ADE1FD8-EB97-E210-0592-6017625E3919}"/>
                  </a:ext>
                </a:extLst>
              </p:cNvPr>
              <p:cNvSpPr txBox="1"/>
              <p:nvPr/>
            </p:nvSpPr>
            <p:spPr>
              <a:xfrm>
                <a:off x="857250" y="2421437"/>
                <a:ext cx="4807829" cy="21200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400" dirty="0"/>
                  <a:t>Due soli spin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400" i="1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1400" dirty="0"/>
                  <a:t> </a:t>
                </a:r>
                <a:r>
                  <a:rPr lang="en-US" sz="1400" dirty="0" err="1"/>
                  <a:t>accoppiati</a:t>
                </a:r>
                <a:r>
                  <a:rPr lang="en-US" sz="1400" dirty="0"/>
                  <a:t>, </a:t>
                </a:r>
                <a:r>
                  <a:rPr lang="en-US" sz="1400" dirty="0" err="1"/>
                  <a:t>mappati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direttamente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su</a:t>
                </a:r>
                <a:r>
                  <a:rPr lang="en-US" sz="1400" dirty="0"/>
                  <a:t> </a:t>
                </a:r>
                <a:r>
                  <a:rPr lang="en-US" sz="1400" b="1" dirty="0"/>
                  <a:t>2 qubit</a:t>
                </a:r>
                <a:r>
                  <a:rPr lang="en-US" sz="1400" dirty="0"/>
                  <a:t>.</a:t>
                </a:r>
              </a:p>
              <a:p>
                <a:pPr algn="just"/>
                <a:r>
                  <a:rPr lang="en-US" sz="1400" dirty="0" err="1"/>
                  <a:t>Hamiltoniana</a:t>
                </a:r>
                <a:r>
                  <a:rPr lang="en-US" sz="1400" dirty="0"/>
                  <a:t> in termini delle </a:t>
                </a:r>
                <a:r>
                  <a:rPr lang="en-US" sz="1400" dirty="0" err="1"/>
                  <a:t>matrici</a:t>
                </a:r>
                <a:r>
                  <a:rPr lang="en-US" sz="1400" dirty="0"/>
                  <a:t> di Pauli:</a:t>
                </a:r>
              </a:p>
              <a:p>
                <a:pPr algn="just"/>
                <a:endParaRPr lang="en-US" sz="1400" dirty="0"/>
              </a:p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US" sz="1400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1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𝐽</m:t>
                      </m:r>
                      <m:r>
                        <m:rPr>
                          <m:nor/>
                        </m:rPr>
                        <a:rPr lang="en-US" sz="1400" i="0"/>
                        <m:t> 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4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𝑏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</m:e>
                      </m:d>
                      <m:r>
                        <a:rPr lang="en-US" sz="14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1400" b="0" dirty="0"/>
              </a:p>
              <a:p>
                <a:pPr lvl="0" algn="just"/>
                <a:endParaRPr lang="en-US" sz="1400" dirty="0"/>
              </a:p>
              <a:p>
                <a:pPr algn="just"/>
                <a:r>
                  <a:rPr lang="en-US" sz="1400" dirty="0" err="1"/>
                  <a:t>tre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parametri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fisici</a:t>
                </a:r>
                <a:r>
                  <a:rPr lang="en-US" sz="1400" dirty="0"/>
                  <a:t>: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sz="1400" dirty="0"/>
                  <a:t> (</a:t>
                </a:r>
                <a:r>
                  <a:rPr lang="en-US" sz="1400" dirty="0" err="1"/>
                  <a:t>accoppiamento</a:t>
                </a:r>
                <a:r>
                  <a:rPr lang="en-US" sz="1400" dirty="0"/>
                  <a:t>),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1400" dirty="0"/>
                  <a:t> (campo),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1400" dirty="0"/>
                  <a:t> (</a:t>
                </a:r>
                <a:r>
                  <a:rPr lang="en-US" sz="1400" dirty="0" err="1"/>
                  <a:t>interazione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Dzyaloshinskii</a:t>
                </a:r>
                <a:r>
                  <a:rPr lang="en-US" sz="1400" dirty="0"/>
                  <a:t>–Moriya) </a:t>
                </a:r>
                <a:r>
                  <a:rPr lang="en-US" sz="1400" dirty="0" err="1"/>
                  <a:t>sufficienti</a:t>
                </a:r>
                <a:r>
                  <a:rPr lang="en-US" sz="1400" dirty="0"/>
                  <a:t> a </a:t>
                </a:r>
                <a:r>
                  <a:rPr lang="en-US" sz="1400" dirty="0" err="1"/>
                  <a:t>produrre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una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fisica</a:t>
                </a:r>
                <a:r>
                  <a:rPr lang="en-US" sz="1400" dirty="0"/>
                  <a:t> non </a:t>
                </a:r>
                <a:r>
                  <a:rPr lang="en-US" sz="1400" dirty="0" err="1"/>
                  <a:t>banale</a:t>
                </a:r>
                <a:r>
                  <a:rPr lang="en-US" sz="1400" dirty="0"/>
                  <a:t>.</a:t>
                </a:r>
              </a:p>
              <a:p>
                <a:pPr marL="304800" indent="-304800" algn="just">
                  <a:buSzPct val="100000"/>
                  <a:buChar char="■"/>
                </a:pPr>
                <a:endParaRPr lang="en-US" sz="1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ADE1FD8-EB97-E210-0592-6017625E39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50" y="2421437"/>
                <a:ext cx="4807829" cy="2120068"/>
              </a:xfrm>
              <a:prstGeom prst="rect">
                <a:avLst/>
              </a:prstGeom>
              <a:blipFill>
                <a:blip r:embed="rId3"/>
                <a:stretch>
                  <a:fillRect l="-381" r="-5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1E3D762-0137-95C8-2AA3-3DB7C6CE0B1F}"/>
                  </a:ext>
                </a:extLst>
              </p:cNvPr>
              <p:cNvSpPr txBox="1"/>
              <p:nvPr/>
            </p:nvSpPr>
            <p:spPr>
              <a:xfrm>
                <a:off x="6343650" y="2390503"/>
                <a:ext cx="5485698" cy="21897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400" dirty="0"/>
                  <a:t>Tre spin</a:t>
                </a:r>
                <a:r>
                  <a:rPr lang="en-US" sz="1400" dirty="0">
                    <a:solidFill>
                      <a:srgbClr val="16233A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400" i="1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1400" dirty="0"/>
                  <a:t> </a:t>
                </a:r>
                <a:r>
                  <a:rPr lang="en-US" sz="1400" dirty="0" err="1"/>
                  <a:t>disposti</a:t>
                </a:r>
                <a:r>
                  <a:rPr lang="en-US" sz="1400" dirty="0"/>
                  <a:t> a </a:t>
                </a:r>
                <a:r>
                  <a:rPr lang="en-US" sz="1400" dirty="0" err="1"/>
                  <a:t>triangolo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isoscele</a:t>
                </a:r>
                <a:r>
                  <a:rPr lang="en-US" sz="1400" dirty="0"/>
                  <a:t> (</a:t>
                </a:r>
                <a:r>
                  <a:rPr lang="en-US" sz="1400" dirty="0" err="1"/>
                  <a:t>anello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chiuso</a:t>
                </a:r>
                <a:r>
                  <a:rPr lang="en-US" sz="1400" dirty="0"/>
                  <a:t>). </a:t>
                </a:r>
                <a:r>
                  <a:rPr lang="en-US" sz="1400" dirty="0" err="1"/>
                  <a:t>Hamiltoniana</a:t>
                </a:r>
                <a:r>
                  <a:rPr lang="en-US" sz="1400" dirty="0"/>
                  <a:t> in termini delle </a:t>
                </a:r>
                <a:r>
                  <a:rPr lang="en-US" sz="1400" dirty="0" err="1"/>
                  <a:t>matrici</a:t>
                </a:r>
                <a:r>
                  <a:rPr lang="en-US" sz="1400" dirty="0"/>
                  <a:t> di Pauli</a:t>
                </a:r>
                <a:br>
                  <a:rPr lang="en-US" sz="1400" dirty="0"/>
                </a:br>
                <a:endParaRPr lang="en-US" sz="1400" dirty="0"/>
              </a:p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US" sz="1200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𝐽</m:t>
                      </m:r>
                      <m:r>
                        <m:rPr>
                          <m:nor/>
                        </m:rPr>
                        <a:rPr lang="en-US" sz="1200" i="0"/>
                        <m:t> 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20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12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𝑏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</m:e>
                      </m:d>
                      <m:r>
                        <a:rPr lang="en-US" sz="12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𝐷</m:t>
                      </m:r>
                      <m:r>
                        <m:rPr>
                          <m:nor/>
                        </m:rPr>
                        <a:rPr lang="en-US" sz="1200" i="0"/>
                        <m:t>  </m:t>
                      </m:r>
                      <m:nary>
                        <m:naryPr>
                          <m:chr m:val="∑"/>
                          <m:grow m:val="on"/>
                          <m:supHide m:val="on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begChr m:val="⟨"/>
                              <m:endChr m:val="⟩"/>
                              <m:sepChr m:val=",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sub>
                        <m:sup/>
                        <m:e>
                          <m:r>
                            <m:rPr>
                              <m:nor/>
                            </m:rPr>
                            <a:rPr lang="en-US" sz="1200" i="0"/>
                            <m:t> </m:t>
                          </m:r>
                        </m:e>
                      </m:nary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1200" b="0" dirty="0"/>
              </a:p>
              <a:p>
                <a:pPr algn="just"/>
                <a:endParaRPr lang="en-US" sz="1400" dirty="0"/>
              </a:p>
              <a:p>
                <a:pPr algn="just"/>
                <a:r>
                  <a:rPr lang="en-US" sz="1400" dirty="0"/>
                  <a:t>un </a:t>
                </a:r>
                <a:r>
                  <a:rPr lang="en-US" sz="1400" dirty="0" err="1"/>
                  <a:t>legame</a:t>
                </a:r>
                <a:r>
                  <a:rPr lang="en-US" sz="1400" dirty="0"/>
                  <a:t> in </a:t>
                </a:r>
                <a:r>
                  <a:rPr lang="en-US" sz="1400" dirty="0" err="1"/>
                  <a:t>più</a:t>
                </a:r>
                <a:r>
                  <a:rPr lang="en-US" sz="1400" dirty="0"/>
                  <a:t> rispetto al </a:t>
                </a:r>
                <a:r>
                  <a:rPr lang="en-US" sz="1400" dirty="0" err="1"/>
                  <a:t>dimero</a:t>
                </a:r>
                <a:r>
                  <a:rPr lang="en-US" sz="1400" dirty="0"/>
                  <a:t>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US" sz="140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1400" dirty="0"/>
                  <a:t>), </a:t>
                </a:r>
                <a:r>
                  <a:rPr lang="en-US" sz="1400" dirty="0" err="1"/>
                  <a:t>sufficiente</a:t>
                </a:r>
                <a:r>
                  <a:rPr lang="en-US" sz="1400" dirty="0"/>
                  <a:t> a </a:t>
                </a:r>
                <a:r>
                  <a:rPr lang="en-US" sz="1400" dirty="0" err="1"/>
                  <a:t>introdurre</a:t>
                </a:r>
                <a:r>
                  <a:rPr lang="en-US" sz="1400" dirty="0"/>
                  <a:t> un </a:t>
                </a:r>
                <a:r>
                  <a:rPr lang="en-US" sz="1400" dirty="0" err="1"/>
                  <a:t>fenomeno</a:t>
                </a:r>
                <a:r>
                  <a:rPr lang="en-US" sz="1400" dirty="0"/>
                  <a:t> del </a:t>
                </a:r>
                <a:r>
                  <a:rPr lang="en-US" sz="1400" dirty="0" err="1"/>
                  <a:t>tutto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assente</a:t>
                </a:r>
                <a:r>
                  <a:rPr lang="en-US" sz="1400" dirty="0"/>
                  <a:t> a due spin: la </a:t>
                </a:r>
                <a:r>
                  <a:rPr lang="en-US" sz="1400" b="1" dirty="0" err="1"/>
                  <a:t>frustrazione</a:t>
                </a:r>
                <a:r>
                  <a:rPr lang="en-US" sz="1400" b="1" dirty="0"/>
                  <a:t> </a:t>
                </a:r>
                <a:r>
                  <a:rPr lang="en-US" sz="1400" b="1" dirty="0" err="1"/>
                  <a:t>geometrica</a:t>
                </a:r>
                <a:r>
                  <a:rPr lang="en-US" sz="1400" dirty="0"/>
                  <a:t>.</a:t>
                </a:r>
              </a:p>
              <a:p>
                <a:pPr algn="just" rtl="0">
                  <a:buNone/>
                </a:pPr>
                <a:endParaRPr lang="en-US" sz="1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1E3D762-0137-95C8-2AA3-3DB7C6CE0B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3650" y="2390503"/>
                <a:ext cx="5485698" cy="2189702"/>
              </a:xfrm>
              <a:prstGeom prst="rect">
                <a:avLst/>
              </a:prstGeom>
              <a:blipFill>
                <a:blip r:embed="rId4"/>
                <a:stretch>
                  <a:fillRect l="-333" r="-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7C4AF3E-EA4E-9ADF-4264-78ADB52E8F5A}"/>
                  </a:ext>
                </a:extLst>
              </p:cNvPr>
              <p:cNvSpPr txBox="1"/>
              <p:nvPr/>
            </p:nvSpPr>
            <p:spPr>
              <a:xfrm>
                <a:off x="859261" y="5212708"/>
                <a:ext cx="4805818" cy="14769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it-IT" sz="1400" dirty="0"/>
                  <a:t>Modellizzazione degli effetti dell'ambiente tramite il formalismo dei canali quantistici, descritti dagli operatori di Kraus</a:t>
                </a:r>
                <a14:m>
                  <m:oMath xmlns:m="http://schemas.openxmlformats.org/officeDocument/2006/math">
                    <m:r>
                      <a:rPr lang="en-US" sz="1400" b="0" i="0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it-IT" sz="1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400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it-IT" sz="1400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4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sz="1400" dirty="0"/>
                  <a:t>nella mappa non unitaria</a:t>
                </a:r>
              </a:p>
              <a:p>
                <a:pPr algn="just"/>
                <a:endParaRPr lang="it-IT" sz="1400" dirty="0"/>
              </a:p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400" i="0" dirty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en-US" sz="1400" i="1" dirty="0"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sz="1400" i="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0" dirty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sSubSup>
                        <m:sSubSupPr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1400" i="0" dirty="0">
                              <a:latin typeface="Cambria Math" panose="02040503050406030204" pitchFamily="18" charset="0"/>
                            </a:rPr>
                            <m:t>†</m:t>
                          </m:r>
                        </m:sup>
                      </m:sSubSup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7C4AF3E-EA4E-9ADF-4264-78ADB52E8F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261" y="5212708"/>
                <a:ext cx="4805818" cy="1476943"/>
              </a:xfrm>
              <a:prstGeom prst="rect">
                <a:avLst/>
              </a:prstGeom>
              <a:blipFill>
                <a:blip r:embed="rId5"/>
                <a:stretch>
                  <a:fillRect l="-381" t="-826" r="-381" b="-690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195</Words>
  <Application>Microsoft Office PowerPoint</Application>
  <PresentationFormat>Widescreen</PresentationFormat>
  <Paragraphs>19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29</cp:revision>
  <dcterms:created xsi:type="dcterms:W3CDTF">2026-09-14T12:41:28Z</dcterms:created>
  <dcterms:modified xsi:type="dcterms:W3CDTF">2026-09-20T09:47:30Z</dcterms:modified>
</cp:coreProperties>
</file>