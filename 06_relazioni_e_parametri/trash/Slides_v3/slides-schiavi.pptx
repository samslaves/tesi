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4" r:id="rId3"/>
    <p:sldId id="271" r:id="rId4"/>
    <p:sldId id="272" r:id="rId5"/>
    <p:sldId id="273" r:id="rId6"/>
    <p:sldId id="26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5" r:id="rId15"/>
    <p:sldId id="284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9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52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2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310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9F5F2E-936A-C9B2-9AFA-42B5F9070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460" y="342900"/>
            <a:ext cx="1564919" cy="14173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3014121" y="1640591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molecolari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accoppiati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costuiscono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piattaforme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privilegiate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studio di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fenomeni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endParaRPr lang="en-US" sz="160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014121" y="3855515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computer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mappando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ciascuno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spin ½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direttamente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qubit,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percorso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aggirare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</a:t>
            </a:r>
            <a:endParaRPr lang="en-US" sz="1600" b="0" dirty="0">
              <a:solidFill>
                <a:srgbClr val="1623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buSzPct val="100000"/>
            </a:pPr>
            <a:endParaRPr lang="en-US" sz="1600" dirty="0"/>
          </a:p>
        </p:txBody>
      </p:sp>
      <p:sp>
        <p:nvSpPr>
          <p:cNvPr id="9" name="Text 4"/>
          <p:cNvSpPr txBox="1"/>
          <p:nvPr/>
        </p:nvSpPr>
        <p:spPr>
          <a:xfrm>
            <a:off x="9159087" y="3868893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Essi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permettono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effciente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dinamiche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eccitati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di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quantistici</a:t>
            </a:r>
            <a:r>
              <a:rPr lang="en-US" sz="1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interagenti</a:t>
            </a:r>
            <a:endParaRPr lang="en-US" sz="1600" b="1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753" y="1897076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7" y="1490472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loro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diventa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rapidamente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intrattabile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6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 </a:t>
            </a:r>
            <a:r>
              <a:rPr lang="en-US" sz="160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coinvolti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</a:t>
            </a: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4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</a:t>
            </a:r>
            <a:r>
              <a:rPr lang="en-US" sz="1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2</a:t>
            </a:r>
            <a:r>
              <a:rPr lang="en-US" sz="1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(con N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spin). La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diagonalizzazione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già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poche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decine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particelle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esaurisce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risorse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</a:t>
            </a:r>
            <a:r>
              <a:rPr lang="en-US" sz="14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supercomputers </a:t>
            </a:r>
            <a:r>
              <a:rPr lang="en-US" sz="1400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classici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C853E2-69BB-A737-4158-C200FBF94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640591"/>
            <a:ext cx="1991478" cy="1999476"/>
          </a:xfrm>
          <a:prstGeom prst="rect">
            <a:avLst/>
          </a:prstGeom>
        </p:spPr>
      </p:pic>
      <p:pic>
        <p:nvPicPr>
          <p:cNvPr id="17" name="Picture 16" descr="The image depicts a polar coordinate diagram with a circle, an arrow indicating direction, and a point marked at a specific position, likely illustrating complex numbers or vector direction in polar form.&#10;&#10;AI-generated content may be incorrect.">
            <a:extLst>
              <a:ext uri="{FF2B5EF4-FFF2-40B4-BE49-F238E27FC236}">
                <a16:creationId xmlns:a16="http://schemas.microsoft.com/office/drawing/2014/main" id="{827E5CC9-23E0-D692-7E01-D78C8D5ADE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866003"/>
            <a:ext cx="1990800" cy="1764791"/>
          </a:xfrm>
          <a:prstGeom prst="rect">
            <a:avLst/>
          </a:prstGeom>
        </p:spPr>
      </p:pic>
      <p:pic>
        <p:nvPicPr>
          <p:cNvPr id="19" name="Picture 18" descr="The diagram illustrates a phase diagram with axes for S (spin quantum number) and M (magnetic quantum number), depicting transitions between different quantum states and their corresponding energy levels.&#10;&#10;AI-generated content may be incorrect.">
            <a:extLst>
              <a:ext uri="{FF2B5EF4-FFF2-40B4-BE49-F238E27FC236}">
                <a16:creationId xmlns:a16="http://schemas.microsoft.com/office/drawing/2014/main" id="{6CABA6C0-B66E-87A8-99AE-2A8C18B295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079" y="3908104"/>
            <a:ext cx="1691961" cy="1090581"/>
          </a:xfrm>
          <a:prstGeom prst="rect">
            <a:avLst/>
          </a:prstGeom>
        </p:spPr>
      </p:pic>
      <p:pic>
        <p:nvPicPr>
          <p:cNvPr id="21" name="Picture 20" descr="The diagram shows a comparison of magnetization over time for different numbers of turns in a coil, illustrating the relationship between coil turns and magnetic field strength.&#10;&#10;AI-generated content may be incorrect.">
            <a:extLst>
              <a:ext uri="{FF2B5EF4-FFF2-40B4-BE49-F238E27FC236}">
                <a16:creationId xmlns:a16="http://schemas.microsoft.com/office/drawing/2014/main" id="{62D8E6C9-4CC4-8295-1935-46A86325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4768" y="4595979"/>
            <a:ext cx="1781023" cy="103481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515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7006" y="1521823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Estendere</a:t>
            </a:r>
            <a:r>
              <a:rPr lang="en-US" dirty="0"/>
              <a:t> la </a:t>
            </a:r>
            <a:r>
              <a:rPr lang="en-US" dirty="0" err="1"/>
              <a:t>simulazione</a:t>
            </a:r>
            <a:r>
              <a:rPr lang="en-US" dirty="0"/>
              <a:t> ad un </a:t>
            </a:r>
            <a:r>
              <a:rPr lang="en-US" dirty="0" err="1"/>
              <a:t>triangolo</a:t>
            </a:r>
            <a:r>
              <a:rPr lang="en-US" dirty="0"/>
              <a:t> o ad </a:t>
            </a:r>
            <a:r>
              <a:rPr lang="en-US" dirty="0" err="1"/>
              <a:t>una</a:t>
            </a:r>
            <a:r>
              <a:rPr lang="en-US" dirty="0"/>
              <a:t> catena di </a:t>
            </a:r>
            <a:r>
              <a:rPr lang="en-US" dirty="0" err="1"/>
              <a:t>tre</a:t>
            </a:r>
            <a:r>
              <a:rPr lang="en-US" dirty="0"/>
              <a:t> spin </a:t>
            </a:r>
            <a:r>
              <a:rPr lang="en-US" dirty="0" err="1"/>
              <a:t>interagenti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606494" y="4181697"/>
            <a:ext cx="5055568" cy="11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Aggiungere</a:t>
            </a:r>
            <a:r>
              <a:rPr lang="en-US" dirty="0"/>
              <a:t> il </a:t>
            </a:r>
            <a:r>
              <a:rPr lang="en-US" dirty="0" err="1"/>
              <a:t>rumore</a:t>
            </a:r>
            <a:r>
              <a:rPr lang="en-US" dirty="0"/>
              <a:t> </a:t>
            </a:r>
            <a:r>
              <a:rPr lang="en-US" dirty="0" err="1"/>
              <a:t>che</a:t>
            </a:r>
            <a:r>
              <a:rPr lang="en-US" dirty="0"/>
              <a:t> </a:t>
            </a:r>
            <a:r>
              <a:rPr lang="en-US" dirty="0" err="1"/>
              <a:t>deriva</a:t>
            </a:r>
            <a:r>
              <a:rPr lang="en-US" dirty="0"/>
              <a:t> </a:t>
            </a:r>
            <a:r>
              <a:rPr lang="en-US" dirty="0" err="1"/>
              <a:t>dalla</a:t>
            </a:r>
            <a:r>
              <a:rPr lang="en-US" dirty="0"/>
              <a:t> </a:t>
            </a:r>
            <a:r>
              <a:rPr lang="en-US" dirty="0" err="1"/>
              <a:t>interazione</a:t>
            </a:r>
            <a:r>
              <a:rPr lang="en-US" dirty="0"/>
              <a:t> non </a:t>
            </a:r>
            <a:r>
              <a:rPr lang="en-US" dirty="0" err="1"/>
              <a:t>voluta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hardware </a:t>
            </a:r>
            <a:r>
              <a:rPr lang="en-US" dirty="0" err="1"/>
              <a:t>quantistico</a:t>
            </a:r>
            <a:r>
              <a:rPr lang="en-US" dirty="0"/>
              <a:t> e </a:t>
            </a:r>
            <a:r>
              <a:rPr lang="en-US" dirty="0" err="1"/>
              <a:t>ambiente</a:t>
            </a:r>
            <a:endParaRPr lang="en-US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08C972C1-A68F-A424-B6E8-E8E790D220C1}"/>
              </a:ext>
            </a:extLst>
          </p:cNvPr>
          <p:cNvSpPr txBox="1"/>
          <p:nvPr/>
        </p:nvSpPr>
        <p:spPr>
          <a:xfrm>
            <a:off x="671566" y="1521823"/>
            <a:ext cx="4992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dirty="0" err="1"/>
              <a:t>Studiare</a:t>
            </a:r>
            <a:r>
              <a:rPr lang="en-US" dirty="0"/>
              <a:t> come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prototipo</a:t>
            </a:r>
            <a:r>
              <a:rPr lang="en-US" dirty="0"/>
              <a:t> un </a:t>
            </a:r>
            <a:r>
              <a:rPr lang="en-US" dirty="0" err="1"/>
              <a:t>dimero</a:t>
            </a:r>
            <a:r>
              <a:rPr lang="en-US" dirty="0"/>
              <a:t> di spin: </a:t>
            </a:r>
            <a:r>
              <a:rPr lang="en-US" dirty="0" err="1"/>
              <a:t>stato</a:t>
            </a:r>
            <a:r>
              <a:rPr lang="en-US" dirty="0"/>
              <a:t> </a:t>
            </a:r>
            <a:r>
              <a:rPr lang="en-US" dirty="0" err="1"/>
              <a:t>fondamentale</a:t>
            </a:r>
            <a:r>
              <a:rPr lang="en-US" dirty="0"/>
              <a:t> e </a:t>
            </a:r>
            <a:r>
              <a:rPr lang="en-US" dirty="0" err="1"/>
              <a:t>dinamica</a:t>
            </a:r>
            <a:r>
              <a:rPr lang="en-US" dirty="0"/>
              <a:t> (</a:t>
            </a:r>
            <a:r>
              <a:rPr lang="en-US" dirty="0" err="1"/>
              <a:t>noisless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/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Due soli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accoppiati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mappati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direttamente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b="1" dirty="0"/>
                  <a:t>2 qubit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Pauli:</a:t>
                </a:r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pPr lvl="0"/>
                <a:endParaRPr lang="en-US" sz="1200" dirty="0"/>
              </a:p>
              <a:p>
                <a:r>
                  <a:rPr lang="en-US" sz="1200" dirty="0" err="1"/>
                  <a:t>tre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fisici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accoppiamento</a:t>
                </a:r>
                <a:r>
                  <a:rPr lang="en-US" sz="1200" dirty="0"/>
                  <a:t>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200" dirty="0"/>
                  <a:t> (campo), 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dirty="0" err="1"/>
                  <a:t>interazione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Dzyaloshinskii</a:t>
                </a:r>
                <a:r>
                  <a:rPr lang="en-US" sz="1200" dirty="0"/>
                  <a:t>–Moriya) </a:t>
                </a:r>
                <a:r>
                  <a:rPr lang="en-US" sz="1200" dirty="0" err="1"/>
                  <a:t>sufficienti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produrre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fisica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banale</a:t>
                </a:r>
                <a:r>
                  <a:rPr lang="en-US" sz="1200" dirty="0"/>
                  <a:t>.</a:t>
                </a:r>
              </a:p>
              <a:p>
                <a:pPr marL="304800" indent="-304800">
                  <a:buSzPct val="100000"/>
                  <a:buChar char="■"/>
                </a:pPr>
                <a:endParaRPr lang="en-US" sz="1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ADE1FD8-EB97-E210-0592-6017625E39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421437"/>
                <a:ext cx="4807829" cy="1645772"/>
              </a:xfrm>
              <a:prstGeom prst="rect">
                <a:avLst/>
              </a:prstGeom>
              <a:blipFill>
                <a:blip r:embed="rId3"/>
                <a:stretch>
                  <a:fillRect l="-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/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/>
                  <a:t>Tre spin</a:t>
                </a:r>
                <a:r>
                  <a:rPr lang="en-US" sz="1200" dirty="0">
                    <a:solidFill>
                      <a:srgbClr val="16233A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disposti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triangolo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isoscele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anello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chiuso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Hamiltoniana</a:t>
                </a:r>
                <a:r>
                  <a:rPr lang="en-US" sz="1200" dirty="0"/>
                  <a:t> in termini delle </a:t>
                </a:r>
                <a:r>
                  <a:rPr lang="en-US" sz="1200" dirty="0" err="1"/>
                  <a:t>matrici</a:t>
                </a:r>
                <a:r>
                  <a:rPr lang="en-US" sz="1200" dirty="0"/>
                  <a:t> di Pauli</a:t>
                </a:r>
                <a:br>
                  <a:rPr lang="en-US" sz="1200" dirty="0"/>
                </a:br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12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nor/>
                        </m:rPr>
                        <a:rPr lang="en-US" sz="1200" i="0"/>
                        <m:t> 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𝑏</m:t>
                      </m:r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</m:e>
                      </m:d>
                      <m:r>
                        <a:rPr lang="en-US" sz="12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m:rPr>
                          <m:nor/>
                        </m:rPr>
                        <a:rPr lang="en-US" sz="1200" i="0"/>
                        <m:t>  </m:t>
                      </m:r>
                      <m:nary>
                        <m:naryPr>
                          <m:chr m:val="∑"/>
                          <m:grow m:val="on"/>
                          <m:supHide m:val="on"/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d>
                            <m:dPr>
                              <m:begChr m:val="⟨"/>
                              <m:endChr m:val="⟩"/>
                              <m:sepChr m:val=","/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d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200" i="0"/>
                            <m:t> </m:t>
                          </m:r>
                        </m:e>
                      </m:nary>
                      <m:d>
                        <m:dPr>
                          <m:ctrlPr>
                            <a:rPr lang="en-US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r>
                            <a:rPr lang="en-US" sz="120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en-US" sz="1200" b="0" dirty="0"/>
              </a:p>
              <a:p>
                <a:endParaRPr lang="en-US" sz="1200" dirty="0"/>
              </a:p>
              <a:p>
                <a:r>
                  <a:rPr lang="en-US" sz="1200" dirty="0"/>
                  <a:t>un </a:t>
                </a:r>
                <a:r>
                  <a:rPr lang="en-US" sz="1200" dirty="0" err="1"/>
                  <a:t>legame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più</a:t>
                </a:r>
                <a:r>
                  <a:rPr lang="en-US" sz="1200" dirty="0"/>
                  <a:t> rispetto al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sz="120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200" dirty="0"/>
                  <a:t>), </a:t>
                </a:r>
                <a:r>
                  <a:rPr lang="en-US" sz="1200" dirty="0" err="1"/>
                  <a:t>sufficiente</a:t>
                </a:r>
                <a:r>
                  <a:rPr lang="en-US" sz="1200" dirty="0"/>
                  <a:t> a </a:t>
                </a:r>
                <a:r>
                  <a:rPr lang="en-US" sz="1200" dirty="0" err="1"/>
                  <a:t>introdurre</a:t>
                </a:r>
                <a:r>
                  <a:rPr lang="en-US" sz="1200" dirty="0"/>
                  <a:t> un </a:t>
                </a:r>
                <a:r>
                  <a:rPr lang="en-US" sz="1200" dirty="0" err="1"/>
                  <a:t>fenomeno</a:t>
                </a:r>
                <a:r>
                  <a:rPr lang="en-US" sz="1200" dirty="0"/>
                  <a:t> del </a:t>
                </a:r>
                <a:r>
                  <a:rPr lang="en-US" sz="1200" dirty="0" err="1"/>
                  <a:t>tutto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assente</a:t>
                </a:r>
                <a:r>
                  <a:rPr lang="en-US" sz="1200" dirty="0"/>
                  <a:t> a due spin: la </a:t>
                </a:r>
                <a:r>
                  <a:rPr lang="en-US" sz="1200" b="1" dirty="0" err="1"/>
                  <a:t>frustrazione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geometrica</a:t>
                </a:r>
                <a:r>
                  <a:rPr lang="en-US" sz="1200" dirty="0"/>
                  <a:t>.</a:t>
                </a:r>
              </a:p>
              <a:p>
                <a:pPr rtl="0">
                  <a:buNone/>
                </a:pPr>
                <a:endParaRPr lang="en-US" sz="1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1E3D762-0137-95C8-2AA3-3DB7C6CE0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650" y="2390503"/>
                <a:ext cx="5485698" cy="1961627"/>
              </a:xfrm>
              <a:prstGeom prst="rect">
                <a:avLst/>
              </a:prstGeom>
              <a:blipFill>
                <a:blip r:embed="rId4"/>
                <a:stretch>
                  <a:fillRect l="-111" t="-311"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/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it-IT" sz="1200" dirty="0"/>
                  <a:t>Modellizzazione degli effetti dell'ambiente tramite il formalismo dei canali quantistici, descritti dagli operatori di Kraus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it-IT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it-IT" sz="12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it-IT" sz="1200" dirty="0"/>
                  <a:t>nella mappa non unitaria</a:t>
                </a:r>
              </a:p>
              <a:p>
                <a:endParaRPr lang="it-IT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dirty="0" smtClean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200" i="0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1200" i="1" dirty="0"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1200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sz="1200" i="0" dirty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7C4AF3E-EA4E-9ADF-4264-78ADB52E8F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5366880"/>
                <a:ext cx="4805818" cy="1094467"/>
              </a:xfrm>
              <a:prstGeom prst="rect">
                <a:avLst/>
              </a:prstGeom>
              <a:blipFill>
                <a:blip r:embed="rId5"/>
                <a:stretch>
                  <a:fillRect l="-127" t="-7222" b="-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28788" y="711105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8788" y="1488345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28788" y="1488345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spazio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Hilbert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 ha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60691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di Feynman (1982): un sistema quantistico controllabile riproduce H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 txBox="1"/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279400" indent="-279400">
                  <a:buSzPct val="100000"/>
                  <a:buChar char="■"/>
                </a:pP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I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sistemi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a spin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16233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mappano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naturalmente</a:t>
                </a:r>
                <a:r>
                  <a:rPr lang="en-US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sui qubit</a:t>
                </a:r>
                <a:endParaRPr lang="en-US" dirty="0"/>
              </a:p>
            </p:txBody>
          </p:sp>
        </mc:Choice>
        <mc:Fallback xmlns="">
          <p:sp>
            <p:nvSpPr>
              <p:cNvPr id="10" name="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722" y="2531261"/>
                <a:ext cx="5029200" cy="1048230"/>
              </a:xfrm>
              <a:prstGeom prst="rect">
                <a:avLst/>
              </a:prstGeom>
              <a:blipFill>
                <a:blip r:embed="rId3"/>
                <a:stretch>
                  <a:fillRect l="-254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/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usa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per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simularne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costruisce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dispositivo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quantistico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controllabile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cui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evoluzione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riproduce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direttamente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sistema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target:</a:t>
                </a:r>
                <a:br>
                  <a:rPr lang="en-US" sz="1400" dirty="0"/>
                </a:br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1400" i="0"/>
                            <m:t>sim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1400" i="0"/>
                                <m:t>sim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⟷</m:t>
                      </m:r>
                      <m:r>
                        <m:rPr>
                          <m:nor/>
                        </m:rPr>
                        <a:rPr lang="en-US" sz="1400" i="0"/>
                        <m:t>  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</m:oMath>
                  </m:oMathPara>
                </a14:m>
                <a:endParaRPr lang="en-US" sz="1400" b="0" dirty="0"/>
              </a:p>
              <a:p>
                <a:endParaRPr lang="en-US" sz="1400" dirty="0"/>
              </a:p>
              <a:p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 la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Hamiltoniana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è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locale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—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ovvero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ogni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particella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interagisce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solo con un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ristretto di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altre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particelle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vicine o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specifiche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solitamente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coppie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— il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costo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 termini di tempo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calcolo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porte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logiche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non è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più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esponenziale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ma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polinomiale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nel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14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numero</a:t>
                </a:r>
                <a:r>
                  <a:rPr lang="en-US" sz="1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 qubit</a:t>
                </a:r>
                <a:r>
                  <a:rPr lang="en-US" sz="1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2C4C30-539D-7809-69F6-71DB02378B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00" y="3989345"/>
                <a:ext cx="5029201" cy="2720745"/>
              </a:xfrm>
              <a:prstGeom prst="rect">
                <a:avLst/>
              </a:prstGeom>
              <a:blipFill>
                <a:blip r:embed="rId4"/>
                <a:stretch>
                  <a:fillRect l="-364" t="-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1757B0E-C20E-962C-76D7-E7164CA457B1}"/>
              </a:ext>
            </a:extLst>
          </p:cNvPr>
          <p:cNvSpPr txBox="1"/>
          <p:nvPr/>
        </p:nvSpPr>
        <p:spPr>
          <a:xfrm>
            <a:off x="6522722" y="3989345"/>
            <a:ext cx="559224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Mentre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un 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normale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solo 0 o 1, un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può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essere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0, 1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oppure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entrambi</a:t>
            </a:r>
            <a:r>
              <a:rPr lang="en-U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contemporaneamente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grazie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sovrapposizione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quantistica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 qubit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mantiene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natura "doppia"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finché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viene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osservato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misurato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nel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momento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esatto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della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lettura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il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collassa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definendosi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modo </a:t>
            </a:r>
            <a:r>
              <a:rPr lang="en-US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definitivo</a:t>
            </a:r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come 0 o 1.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7032" y="14578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13432" y="14578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/>
                  <a:t>Il Variational Quantum </a:t>
                </a:r>
                <a:r>
                  <a:rPr lang="en-US" sz="1200" dirty="0" err="1"/>
                  <a:t>Eigensolver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sfrutta</a:t>
                </a:r>
                <a:r>
                  <a:rPr lang="en-US" sz="1200" dirty="0"/>
                  <a:t> il </a:t>
                </a:r>
                <a:r>
                  <a:rPr lang="en-US" sz="1200" b="1" dirty="0"/>
                  <a:t>Principio </a:t>
                </a:r>
                <a:r>
                  <a:rPr lang="en-US" sz="1200" b="1" dirty="0" err="1"/>
                  <a:t>Variazionale</a:t>
                </a:r>
                <a:endParaRPr lang="en-US" sz="1200" dirty="0"/>
              </a:p>
              <a:p>
                <a:endParaRPr lang="en-US" sz="12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2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2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2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  <a:p>
                <a:endParaRPr lang="en-US" sz="1200" dirty="0"/>
              </a:p>
              <a:p>
                <a:r>
                  <a:rPr lang="en-US" sz="1200" dirty="0"/>
                  <a:t>il computer </a:t>
                </a:r>
                <a:r>
                  <a:rPr lang="en-US" sz="1200" dirty="0" err="1"/>
                  <a:t>quantistico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prepara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200" dirty="0"/>
                  <a:t> (</a:t>
                </a:r>
                <a:r>
                  <a:rPr lang="en-US" sz="1200" i="1" dirty="0"/>
                  <a:t>Ansatz</a:t>
                </a:r>
                <a:r>
                  <a:rPr lang="en-US" sz="1200" dirty="0"/>
                  <a:t>) e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aspettazione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dell'energia</a:t>
                </a:r>
                <a:r>
                  <a:rPr lang="en-US" sz="1200" dirty="0"/>
                  <a:t>.</a:t>
                </a:r>
              </a:p>
              <a:p>
                <a:r>
                  <a:rPr lang="en-US" sz="1200" dirty="0" err="1"/>
                  <a:t>L'ottimizzatore</a:t>
                </a:r>
                <a:r>
                  <a:rPr lang="en-US" sz="1200" dirty="0"/>
                  <a:t> classico </a:t>
                </a:r>
                <a:r>
                  <a:rPr lang="en-US" sz="1200" dirty="0" err="1"/>
                  <a:t>aggiorna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parametri</a:t>
                </a:r>
                <a:r>
                  <a:rPr lang="en-US" sz="1200" dirty="0"/>
                  <a:t> θ per </a:t>
                </a:r>
                <a:r>
                  <a:rPr lang="en-US" sz="1200" dirty="0" err="1"/>
                  <a:t>convergere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allo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fondamentale</a:t>
                </a:r>
                <a:r>
                  <a:rPr lang="en-US" sz="1200" dirty="0"/>
                  <a:t> E₀.</a:t>
                </a:r>
                <a:br>
                  <a:rPr lang="en-US" sz="1200" dirty="0"/>
                </a:br>
                <a:endParaRPr lang="en-US" sz="1200" dirty="0"/>
              </a:p>
              <a:p>
                <a:endParaRPr lang="en-US" sz="1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3325238"/>
                <a:ext cx="3966470" cy="232845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71459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20F1B5-B27E-939F-033A-307E3B04F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019" y="2423425"/>
            <a:ext cx="6868853" cy="3935432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79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Suzuki-Trotter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dell’evoluzione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endParaRPr lang="en-US" sz="2100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/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Per </a:t>
                </a:r>
                <a:r>
                  <a:rPr lang="en-US" sz="1400" dirty="0" err="1"/>
                  <a:t>una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Hamiltoniana</a:t>
                </a:r>
                <a:r>
                  <a:rPr lang="en-US" sz="1400" dirty="0"/>
                  <a:t> somma di </a:t>
                </a:r>
                <a:r>
                  <a:rPr lang="en-US" sz="1400" dirty="0" err="1"/>
                  <a:t>operatori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locali</a:t>
                </a:r>
                <a:endParaRPr lang="en-US" sz="1400" dirty="0"/>
              </a:p>
              <a:p>
                <a:endParaRPr lang="en-US" sz="1400" dirty="0"/>
              </a:p>
              <a:p>
                <a:pPr algn="ctr"/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n-US" sz="14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400" dirty="0"/>
              </a:p>
              <a:p>
                <a:pPr algn="ctr"/>
                <a:endParaRPr lang="en-US" sz="1400" dirty="0"/>
              </a:p>
              <a:p>
                <a:r>
                  <a:rPr lang="en-US" sz="1400" dirty="0"/>
                  <a:t>in generale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singoli</a:t>
                </a:r>
                <a:r>
                  <a:rPr lang="en-US" sz="1400" dirty="0"/>
                  <a:t> termini </a:t>
                </a:r>
                <a:r>
                  <a:rPr lang="en-US" sz="1400" b="1" dirty="0"/>
                  <a:t>non </a:t>
                </a:r>
                <a:r>
                  <a:rPr lang="en-US" sz="1400" b="1" dirty="0" err="1"/>
                  <a:t>commutano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400" i="0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sz="14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≠0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l'esponenziale</a:t>
                </a:r>
                <a:r>
                  <a:rPr lang="en-US" sz="1400" dirty="0"/>
                  <a:t> della somma </a:t>
                </a:r>
                <a:r>
                  <a:rPr lang="en-US" sz="1400" b="1" dirty="0"/>
                  <a:t>non è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prodotto</a:t>
                </a:r>
                <a:r>
                  <a:rPr lang="en-US" sz="1400" dirty="0"/>
                  <a:t> degli </a:t>
                </a:r>
                <a:r>
                  <a:rPr lang="en-US" sz="1400" dirty="0" err="1"/>
                  <a:t>esponenziali</a:t>
                </a:r>
                <a:r>
                  <a:rPr lang="en-US" sz="1400" dirty="0"/>
                  <a:t> </a:t>
                </a:r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≠</m:t>
                      </m:r>
                      <m:nary>
                        <m:naryPr>
                          <m:chr m:val="∏"/>
                          <m:limLoc m:val="undOvr"/>
                          <m:supHide m:val="on"/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</a:t>
                </a:r>
                <a:r>
                  <a:rPr lang="en-US" sz="1400" dirty="0" err="1"/>
                  <a:t>mappare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questa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evoluzione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su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porte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quantistiche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logiche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divide il tempo </a:t>
                </a:r>
                <a:r>
                  <a:rPr lang="en-US" sz="1400" dirty="0" err="1"/>
                  <a:t>totale</a:t>
                </a:r>
                <a:r>
                  <a:rPr lang="en-US" sz="1400" dirty="0"/>
                  <a:t> t in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</a:t>
                </a:r>
                <a:r>
                  <a:rPr lang="en-US" sz="1400" dirty="0" err="1"/>
                  <a:t>piccoli</a:t>
                </a:r>
                <a:r>
                  <a:rPr lang="en-US" sz="1400" dirty="0"/>
                  <a:t> intervalli </a:t>
                </a:r>
                <a:r>
                  <a:rPr lang="en-US" sz="1400" dirty="0" err="1"/>
                  <a:t>temporali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. Sotto </a:t>
                </a:r>
                <a:r>
                  <a:rPr lang="en-US" sz="1400" dirty="0" err="1"/>
                  <a:t>l'ipotesi</a:t>
                </a:r>
                <a:r>
                  <a:rPr lang="en-US" sz="1400" dirty="0"/>
                  <a:t> di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𝛥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→0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𝑜𝑣𝑣𝑒𝑟</m:t>
                        </m:r>
                        <m:r>
                          <m:rPr>
                            <m:sty m:val="p"/>
                          </m:rP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o</m:t>
                        </m:r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</m:oMath>
                </a14:m>
                <a:r>
                  <a:rPr lang="en-US" sz="1400" dirty="0"/>
                  <a:t>, </a:t>
                </a:r>
                <a:r>
                  <a:rPr lang="en-US" sz="1400" dirty="0" err="1"/>
                  <a:t>si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applica</a:t>
                </a:r>
                <a:r>
                  <a:rPr lang="en-US" sz="1400" dirty="0"/>
                  <a:t> la </a:t>
                </a:r>
                <a:r>
                  <a:rPr lang="en-US" sz="1400" b="1" dirty="0"/>
                  <a:t>formula Totter</a:t>
                </a:r>
                <a:endParaRPr lang="en-US" sz="1400" dirty="0"/>
              </a:p>
              <a:p>
                <a:pPr/>
                <a:br>
                  <a:rPr lang="en-US" sz="1400" dirty="0"/>
                </a:b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 i="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𝑖𝐻𝑡</m:t>
                          </m:r>
                        </m:sup>
                      </m:sSup>
                      <m:r>
                        <a:rPr lang="en-US" sz="1400" i="0" dirty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sz="1400" i="0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∏"/>
                                      <m:limLoc m:val="undOvr"/>
                                      <m:supHide m:val="on"/>
                                      <m:ctrlP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1400" i="1" dirty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r>
                                            <a:rPr lang="en-US" sz="1400" i="0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r>
                                            <a:rPr 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𝐻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  <m:f>
                                            <m:fPr>
                                              <m:ctrlP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sz="1400" i="1">
                                                  <a:latin typeface="Cambria Math" panose="02040503050406030204" pitchFamily="18" charset="0"/>
                                                </a:rPr>
                                                <m:t>𝑁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Per un </a:t>
                </a:r>
                <a:r>
                  <a:rPr lang="en-US" sz="1400" dirty="0" err="1"/>
                  <a:t>numero</a:t>
                </a:r>
                <a:r>
                  <a:rPr lang="en-US" sz="1400" dirty="0"/>
                  <a:t> di step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/>
                  <a:t> finito, </a:t>
                </a:r>
                <a:r>
                  <a:rPr lang="en-US" sz="1400" dirty="0" err="1"/>
                  <a:t>l'approssimazione</a:t>
                </a:r>
                <a:r>
                  <a:rPr lang="en-US" sz="1400" dirty="0"/>
                  <a:t> al primo </a:t>
                </a:r>
                <a:r>
                  <a:rPr lang="en-US" sz="1400" dirty="0" err="1"/>
                  <a:t>ordine</a:t>
                </a:r>
                <a:r>
                  <a:rPr lang="en-US" sz="1400" dirty="0"/>
                  <a:t> introduce un 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controllabile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errore</a:t>
                </a:r>
                <a:r>
                  <a:rPr lang="en-US" sz="1400" dirty="0"/>
                  <a:t> di Trotter) legato ai </a:t>
                </a:r>
                <a:r>
                  <a:rPr lang="en-US" sz="1400" dirty="0" err="1"/>
                  <a:t>commutatori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14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𝑖𝐻</m:t>
                          </m:r>
                          <m:r>
                            <m:rPr>
                              <m:sty m:val="p"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sz="1400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sz="14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p>
                      <m:r>
                        <a:rPr lang="en-US" sz="1400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400" b="0" i="1" dirty="0" smtClean="0">
                          <a:latin typeface="Cambria Math" panose="02040503050406030204" pitchFamily="18" charset="0"/>
                        </a:rPr>
                        <m:t>O</m:t>
                      </m:r>
                      <m:d>
                        <m:d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sz="1400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</m:e>
                      </m:d>
                      <m:r>
                        <a:rPr lang="en-US" sz="1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5B84FBB-B33B-65D0-4B60-4C7A3C4FD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37" y="2148840"/>
                <a:ext cx="10908792" cy="5142755"/>
              </a:xfrm>
              <a:prstGeom prst="rect">
                <a:avLst/>
              </a:prstGeom>
              <a:blipFill>
                <a:blip r:embed="rId4"/>
                <a:stretch>
                  <a:fillRect l="-168" t="-2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911535" cy="777240"/>
              </a:xfrm>
              <a:prstGeom prst="rect">
                <a:avLst/>
              </a:prstGeom>
              <a:blipFill>
                <a:blip r:embed="rId3"/>
                <a:stretch>
                  <a:fillRect l="-223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40080" y="1488483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itle Circuito Dimero">
            <a:extLst>
              <a:ext uri="{FF2B5EF4-FFF2-40B4-BE49-F238E27FC236}">
                <a16:creationId xmlns:a16="http://schemas.microsoft.com/office/drawing/2014/main" id="{BE6BF56F-A15E-A307-5156-A586A89A37E6}"/>
              </a:ext>
            </a:extLst>
          </p:cNvPr>
          <p:cNvSpPr txBox="1"/>
          <p:nvPr/>
        </p:nvSpPr>
        <p:spPr>
          <a:xfrm>
            <a:off x="566927" y="1549058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i="1" dirty="0"/>
          </a:p>
        </p:txBody>
      </p:sp>
      <p:pic>
        <p:nvPicPr>
          <p:cNvPr id="45" name="Circuito HA" descr="/home/claude/deck/assets/thesis_figs/circ_ha_hi-1.png">
            <a:extLst>
              <a:ext uri="{FF2B5EF4-FFF2-40B4-BE49-F238E27FC236}">
                <a16:creationId xmlns:a16="http://schemas.microsoft.com/office/drawing/2014/main" id="{1EE5CC7D-46B7-29D4-4BB4-0B636AD00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130814"/>
            <a:ext cx="3320851" cy="1325880"/>
          </a:xfrm>
          <a:prstGeom prst="rect">
            <a:avLst/>
          </a:prstGeom>
        </p:spPr>
      </p:pic>
      <p:pic>
        <p:nvPicPr>
          <p:cNvPr id="47" name="Circuito PMA base" descr="/home/claude/deck/assets/thesis_figs/circ_pma_base-1.png">
            <a:extLst>
              <a:ext uri="{FF2B5EF4-FFF2-40B4-BE49-F238E27FC236}">
                <a16:creationId xmlns:a16="http://schemas.microsoft.com/office/drawing/2014/main" id="{3E2C2FE4-0132-06CB-74A2-3D08E99AC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347" y="3205105"/>
            <a:ext cx="4278335" cy="1325880"/>
          </a:xfrm>
          <a:prstGeom prst="rect">
            <a:avLst/>
          </a:prstGeom>
        </p:spPr>
      </p:pic>
      <p:pic>
        <p:nvPicPr>
          <p:cNvPr id="49" name="Circuito PMA esteso" descr="/home/claude/deck/assets/thesis_figs/circ_pma_esteso_hi-1.png">
            <a:extLst>
              <a:ext uri="{FF2B5EF4-FFF2-40B4-BE49-F238E27FC236}">
                <a16:creationId xmlns:a16="http://schemas.microsoft.com/office/drawing/2014/main" id="{AA570C23-D55D-0B01-C6FF-459811ABB1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9392" y="3169587"/>
            <a:ext cx="2321794" cy="1325880"/>
          </a:xfrm>
          <a:prstGeom prst="rect">
            <a:avLst/>
          </a:prstGeom>
        </p:spPr>
      </p:pic>
      <p:sp>
        <p:nvSpPr>
          <p:cNvPr id="51" name="Desc HA dimero">
            <a:extLst>
              <a:ext uri="{FF2B5EF4-FFF2-40B4-BE49-F238E27FC236}">
                <a16:creationId xmlns:a16="http://schemas.microsoft.com/office/drawing/2014/main" id="{19DF8F39-8D23-F2FB-317C-4BFF77513A58}"/>
              </a:ext>
            </a:extLst>
          </p:cNvPr>
          <p:cNvSpPr txBox="1"/>
          <p:nvPr/>
        </p:nvSpPr>
        <p:spPr>
          <a:xfrm>
            <a:off x="640080" y="4511558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sp>
        <p:nvSpPr>
          <p:cNvPr id="55" name="Desc PMA Esteso dimero">
            <a:extLst>
              <a:ext uri="{FF2B5EF4-FFF2-40B4-BE49-F238E27FC236}">
                <a16:creationId xmlns:a16="http://schemas.microsoft.com/office/drawing/2014/main" id="{69D0F071-C2D3-1EB2-B6CF-6A9D81968424}"/>
              </a:ext>
            </a:extLst>
          </p:cNvPr>
          <p:cNvSpPr txBox="1"/>
          <p:nvPr/>
        </p:nvSpPr>
        <p:spPr>
          <a:xfrm>
            <a:off x="4502891" y="4541941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sp>
        <p:nvSpPr>
          <p:cNvPr id="57" name="Desc PMA base dimero">
            <a:extLst>
              <a:ext uri="{FF2B5EF4-FFF2-40B4-BE49-F238E27FC236}">
                <a16:creationId xmlns:a16="http://schemas.microsoft.com/office/drawing/2014/main" id="{3379060A-576D-FF4D-C03B-A96DE92705BB}"/>
              </a:ext>
            </a:extLst>
          </p:cNvPr>
          <p:cNvSpPr txBox="1"/>
          <p:nvPr/>
        </p:nvSpPr>
        <p:spPr>
          <a:xfrm>
            <a:off x="7150347" y="4530985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</a:t>
            </a:r>
            <a:endParaRPr lang="en-US" sz="1200" dirty="0"/>
          </a:p>
        </p:txBody>
      </p:sp>
      <p:sp>
        <p:nvSpPr>
          <p:cNvPr id="58" name="Nota HA dimero">
            <a:extLst>
              <a:ext uri="{FF2B5EF4-FFF2-40B4-BE49-F238E27FC236}">
                <a16:creationId xmlns:a16="http://schemas.microsoft.com/office/drawing/2014/main" id="{C4DA91CF-8ACC-CBFC-7DBB-B57CF5694554}"/>
              </a:ext>
            </a:extLst>
          </p:cNvPr>
          <p:cNvSpPr txBox="1"/>
          <p:nvPr/>
        </p:nvSpPr>
        <p:spPr>
          <a:xfrm>
            <a:off x="1014984" y="5184572"/>
            <a:ext cx="29459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</a:t>
            </a:r>
            <a:r>
              <a:rPr lang="en-US" sz="1200" dirty="0"/>
              <a:t>: </a:t>
            </a:r>
            <a:r>
              <a:rPr lang="en-US" sz="1200" dirty="0" err="1"/>
              <a:t>termine</a:t>
            </a:r>
            <a:r>
              <a:rPr lang="en-US" sz="1200" dirty="0"/>
              <a:t> di </a:t>
            </a:r>
            <a:r>
              <a:rPr lang="en-US" sz="1200" dirty="0" err="1"/>
              <a:t>confronto</a:t>
            </a:r>
            <a:r>
              <a:rPr lang="en-US" sz="1200" dirty="0"/>
              <a:t> (baseline </a:t>
            </a:r>
            <a:r>
              <a:rPr lang="en-US" sz="1200" dirty="0" err="1"/>
              <a:t>generica</a:t>
            </a:r>
            <a:r>
              <a:rPr lang="en-US" sz="1200" dirty="0"/>
              <a:t>, senza </a:t>
            </a:r>
            <a:r>
              <a:rPr lang="en-US" sz="1200" dirty="0" err="1"/>
              <a:t>usare</a:t>
            </a:r>
            <a:r>
              <a:rPr lang="en-US" sz="1200" dirty="0"/>
              <a:t> la </a:t>
            </a:r>
            <a:r>
              <a:rPr lang="en-US" sz="1200" dirty="0" err="1"/>
              <a:t>fisica</a:t>
            </a:r>
            <a:r>
              <a:rPr lang="en-US" sz="1200" dirty="0"/>
              <a:t> del </a:t>
            </a:r>
            <a:r>
              <a:rPr lang="en-US" sz="1200" dirty="0" err="1"/>
              <a:t>problema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/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Tre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>
          <p:sp>
            <p:nvSpPr>
              <p:cNvPr id="61" name="Testo preparazione dimero">
                <a:extLst>
                  <a:ext uri="{FF2B5EF4-FFF2-40B4-BE49-F238E27FC236}">
                    <a16:creationId xmlns:a16="http://schemas.microsoft.com/office/drawing/2014/main" id="{484C8D53-7FD2-B924-14BD-0593E4C50E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2243297"/>
                <a:ext cx="10911535" cy="553998"/>
              </a:xfrm>
              <a:prstGeom prst="rect">
                <a:avLst/>
              </a:prstGeom>
              <a:blipFill>
                <a:blip r:embed="rId7"/>
                <a:stretch>
                  <a:fillRect t="-2198" b="-109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rimitiva RBS">
            <a:extLst>
              <a:ext uri="{FF2B5EF4-FFF2-40B4-BE49-F238E27FC236}">
                <a16:creationId xmlns:a16="http://schemas.microsoft.com/office/drawing/2014/main" id="{873D5CD8-F838-21B0-87B1-2B4C6961C7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8920" y="4960878"/>
            <a:ext cx="2321794" cy="112528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/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𝑅𝐵𝑆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𝜑</m:t>
                        </m:r>
                        <m:d>
                          <m:d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12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bSup>
                          </m:e>
                        </m:d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r>
                  <a:rPr lang="en-US" sz="1200" dirty="0"/>
                  <a:t> - Reconfigurable Beam Splitter</a:t>
                </a:r>
              </a:p>
            </p:txBody>
          </p:sp>
        </mc:Choice>
        <mc:Fallback>
          <p:sp>
            <p:nvSpPr>
              <p:cNvPr id="8" name="Espressione RBS">
                <a:extLst>
                  <a:ext uri="{FF2B5EF4-FFF2-40B4-BE49-F238E27FC236}">
                    <a16:creationId xmlns:a16="http://schemas.microsoft.com/office/drawing/2014/main" id="{BFEA6134-4C48-E54A-4F06-D5A4E00D0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1455" y="6121682"/>
                <a:ext cx="2931268" cy="498983"/>
              </a:xfrm>
              <a:prstGeom prst="rect">
                <a:avLst/>
              </a:prstGeom>
              <a:blipFill>
                <a:blip r:embed="rId9"/>
                <a:stretch>
                  <a:fillRect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rimitiva W">
            <a:extLst>
              <a:ext uri="{FF2B5EF4-FFF2-40B4-BE49-F238E27FC236}">
                <a16:creationId xmlns:a16="http://schemas.microsoft.com/office/drawing/2014/main" id="{B65FF388-D5E2-6034-32EE-E3F69E9BD06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6393" y="4993529"/>
            <a:ext cx="1627923" cy="11207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/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𝑊</m:t>
                    </m:r>
                    <m:d>
                      <m:d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200" i="0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1200" i="0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𝜃</m:t>
                        </m:r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bSup>
                        <m:sSubSup>
                          <m:sSub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1200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bSup>
                      </m:sup>
                    </m:s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rotazione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reale</a:t>
                </a:r>
                <a:endParaRPr lang="en-US" sz="1200" dirty="0"/>
              </a:p>
            </p:txBody>
          </p:sp>
        </mc:Choice>
        <mc:Fallback>
          <p:sp>
            <p:nvSpPr>
              <p:cNvPr id="12" name="Espressione W">
                <a:extLst>
                  <a:ext uri="{FF2B5EF4-FFF2-40B4-BE49-F238E27FC236}">
                    <a16:creationId xmlns:a16="http://schemas.microsoft.com/office/drawing/2014/main" id="{7BD904AA-68DA-BB45-2757-10D370F7DF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2373" y="6126071"/>
                <a:ext cx="2540714" cy="314317"/>
              </a:xfrm>
              <a:prstGeom prst="rect">
                <a:avLst/>
              </a:prstGeom>
              <a:blipFill>
                <a:blip r:embed="rId11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3028" y="713232"/>
            <a:ext cx="108992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3029" y="2132507"/>
            <a:ext cx="4772165" cy="1654107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930068" y="6363293"/>
            <a:ext cx="4326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dipende anche da D, non solo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all'incrocio</a:t>
            </a:r>
            <a:endParaRPr lang="en-US" sz="1150" dirty="0"/>
          </a:p>
        </p:txBody>
      </p:sp>
      <p:pic>
        <p:nvPicPr>
          <p:cNvPr id="1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1648" y="3866713"/>
            <a:ext cx="4824656" cy="2991287"/>
          </a:xfrm>
          <a:prstGeom prst="rect">
            <a:avLst/>
          </a:prstGeom>
        </p:spPr>
      </p:pic>
      <p:sp>
        <p:nvSpPr>
          <p:cNvPr id="17" name="Shape 9">
            <a:extLst>
              <a:ext uri="{FF2B5EF4-FFF2-40B4-BE49-F238E27FC236}">
                <a16:creationId xmlns:a16="http://schemas.microsoft.com/office/drawing/2014/main" id="{488AC17E-E47C-B563-1AFB-E9465463B42C}"/>
              </a:ext>
            </a:extLst>
          </p:cNvPr>
          <p:cNvSpPr/>
          <p:nvPr/>
        </p:nvSpPr>
        <p:spPr>
          <a:xfrm>
            <a:off x="6693156" y="2132507"/>
            <a:ext cx="4800600" cy="1667487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D0AA3B3-009A-1CDA-FC09-2F110BD262B8}"/>
              </a:ext>
            </a:extLst>
          </p:cNvPr>
          <p:cNvSpPr txBox="1"/>
          <p:nvPr/>
        </p:nvSpPr>
        <p:spPr>
          <a:xfrm>
            <a:off x="974634" y="220487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incrocio</a:t>
            </a: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5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DE642882-4920-C1DD-C760-857BEC43D5FF}"/>
              </a:ext>
            </a:extLst>
          </p:cNvPr>
          <p:cNvSpPr txBox="1"/>
          <p:nvPr/>
        </p:nvSpPr>
        <p:spPr>
          <a:xfrm>
            <a:off x="4277705" y="2930649"/>
            <a:ext cx="11774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assoluto</a:t>
            </a:r>
            <a:endParaRPr lang="en-US" sz="1150" dirty="0"/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9C1EF0B7-F5C7-5CAB-D386-063FB5455466}"/>
              </a:ext>
            </a:extLst>
          </p:cNvPr>
          <p:cNvSpPr txBox="1"/>
          <p:nvPr/>
        </p:nvSpPr>
        <p:spPr>
          <a:xfrm>
            <a:off x="974634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0.2,  D/J = 0.2</a:t>
            </a:r>
            <a:endParaRPr lang="en-US" sz="1300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589AEB8D-7E20-4EE9-583F-AAF655D143C6}"/>
              </a:ext>
            </a:extLst>
          </p:cNvPr>
          <p:cNvSpPr txBox="1"/>
          <p:nvPr/>
        </p:nvSpPr>
        <p:spPr>
          <a:xfrm>
            <a:off x="975360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2CBC856D-E0D5-332F-2C6A-5028E5F70E25}"/>
              </a:ext>
            </a:extLst>
          </p:cNvPr>
          <p:cNvSpPr txBox="1"/>
          <p:nvPr/>
        </p:nvSpPr>
        <p:spPr>
          <a:xfrm>
            <a:off x="975360" y="3149416"/>
            <a:ext cx="3147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0.701</a:t>
            </a:r>
            <a:endParaRPr lang="en-US" sz="13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7916E202-C893-D83E-E888-CD095B062221}"/>
              </a:ext>
            </a:extLst>
          </p:cNvPr>
          <p:cNvSpPr txBox="1"/>
          <p:nvPr/>
        </p:nvSpPr>
        <p:spPr>
          <a:xfrm>
            <a:off x="975360" y="34594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sp>
        <p:nvSpPr>
          <p:cNvPr id="29" name="Text 3"/>
          <p:cNvSpPr txBox="1"/>
          <p:nvPr/>
        </p:nvSpPr>
        <p:spPr>
          <a:xfrm>
            <a:off x="7056145" y="222316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</a:t>
            </a:r>
            <a:r>
              <a:rPr lang="en-US" sz="15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lavoro</a:t>
            </a:r>
            <a:endParaRPr lang="en-US" sz="1500" dirty="0"/>
          </a:p>
        </p:txBody>
      </p:sp>
      <p:sp>
        <p:nvSpPr>
          <p:cNvPr id="30" name="Text 4"/>
          <p:cNvSpPr txBox="1"/>
          <p:nvPr/>
        </p:nvSpPr>
        <p:spPr>
          <a:xfrm>
            <a:off x="7056145" y="253405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31" name="Text 6"/>
          <p:cNvSpPr txBox="1"/>
          <p:nvPr/>
        </p:nvSpPr>
        <p:spPr>
          <a:xfrm>
            <a:off x="7040728" y="283894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32" name="Text 7"/>
          <p:cNvSpPr txBox="1"/>
          <p:nvPr/>
        </p:nvSpPr>
        <p:spPr>
          <a:xfrm>
            <a:off x="7056145" y="3149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</a:t>
            </a:r>
            <a:endParaRPr lang="en-US" sz="1350" dirty="0"/>
          </a:p>
        </p:txBody>
      </p:sp>
      <p:sp>
        <p:nvSpPr>
          <p:cNvPr id="33" name="Text 8"/>
          <p:cNvSpPr txBox="1"/>
          <p:nvPr/>
        </p:nvSpPr>
        <p:spPr>
          <a:xfrm>
            <a:off x="7034671" y="34569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</a:t>
            </a:r>
            <a:r>
              <a:rPr lang="en-US" sz="1350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cifre</a:t>
            </a: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3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838D7-7D73-76E0-9DD6-9FB484B859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4844" y="3929150"/>
            <a:ext cx="4361066" cy="2565333"/>
          </a:xfrm>
          <a:prstGeom prst="rect">
            <a:avLst/>
          </a:prstGeom>
        </p:spPr>
      </p:pic>
      <p:sp>
        <p:nvSpPr>
          <p:cNvPr id="7" name="Shape 2">
            <a:extLst>
              <a:ext uri="{FF2B5EF4-FFF2-40B4-BE49-F238E27FC236}">
                <a16:creationId xmlns:a16="http://schemas.microsoft.com/office/drawing/2014/main" id="{DCA06EA8-36E8-D670-F396-71CA9D378364}"/>
              </a:ext>
            </a:extLst>
          </p:cNvPr>
          <p:cNvSpPr/>
          <p:nvPr/>
        </p:nvSpPr>
        <p:spPr>
          <a:xfrm>
            <a:off x="655295" y="1431627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itle Circuito Trimero">
            <a:extLst>
              <a:ext uri="{FF2B5EF4-FFF2-40B4-BE49-F238E27FC236}">
                <a16:creationId xmlns:a16="http://schemas.microsoft.com/office/drawing/2014/main" id="{78B8907C-D744-5EDC-938C-7982696992D8}"/>
              </a:ext>
            </a:extLst>
          </p:cNvPr>
          <p:cNvSpPr txBox="1"/>
          <p:nvPr/>
        </p:nvSpPr>
        <p:spPr>
          <a:xfrm>
            <a:off x="609753" y="1489054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Confronto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Ansatz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EFB4FAC2-0E80-E610-7ECF-FBA3D1B90421}"/>
              </a:ext>
            </a:extLst>
          </p:cNvPr>
          <p:cNvSpPr txBox="1"/>
          <p:nvPr/>
        </p:nvSpPr>
        <p:spPr>
          <a:xfrm>
            <a:off x="9532686" y="2303016"/>
            <a:ext cx="1961070" cy="717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dimostrare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PMA base non è solo un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vicinanza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b_c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610043" y="4061861"/>
            <a:ext cx="4713316" cy="2627697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928658" y="4196168"/>
            <a:ext cx="43184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928658" y="4507064"/>
            <a:ext cx="43184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928658" y="4827104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	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28658" y="5174576"/>
            <a:ext cx="431846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	(6 CNOT, 25 gate 1q)</a:t>
            </a:r>
            <a:endParaRPr lang="en-US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/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US" sz="1400" dirty="0"/>
                  <a:t>Con </a:t>
                </a:r>
                <a14:m>
                  <m:oMath xmlns:m="http://schemas.openxmlformats.org/officeDocument/2006/math"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′/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dirty="0">
                        <a:latin typeface="Cambria Math" panose="02040503050406030204" pitchFamily="18" charset="0"/>
                      </a:rPr>
                      <m:t>=0.4 </m:t>
                    </m:r>
                  </m:oMath>
                </a14:m>
                <a:r>
                  <a:rPr lang="en-US" sz="1400" dirty="0" err="1"/>
                  <a:t>fissato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isoscele</a:t>
                </a:r>
                <a:r>
                  <a:rPr lang="en-US" sz="1400" dirty="0"/>
                  <a:t>)</a:t>
                </a:r>
              </a:p>
              <a:p>
                <a:pPr lvl="0"/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b="1" dirty="0" err="1"/>
                  <a:t>Opzione</a:t>
                </a:r>
                <a:r>
                  <a:rPr lang="en-US" sz="1400" b="1" dirty="0"/>
                  <a:t> B</a:t>
                </a:r>
                <a:r>
                  <a:rPr lang="en-US" sz="1400" dirty="0"/>
                  <a:t>: </a:t>
                </a:r>
                <a:r>
                  <a:rPr lang="en-US" sz="1400" dirty="0" err="1"/>
                  <a:t>apro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l’incrocio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1.379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400" i="0" dirty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br>
                  <a:rPr lang="en-US" sz="1400" dirty="0"/>
                </a:br>
                <a:endParaRPr lang="en-US" sz="14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1400" dirty="0" err="1"/>
                  <a:t>Opzione</a:t>
                </a:r>
                <a:r>
                  <a:rPr lang="en-US" sz="1400" dirty="0"/>
                  <a:t> A: </a:t>
                </a:r>
                <a:r>
                  <a:rPr lang="en-US" sz="1400" dirty="0" err="1"/>
                  <a:t>lascia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l'incrocio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protetto</a:t>
                </a:r>
                <a:r>
                  <a:rPr lang="en-US" sz="1400" dirty="0"/>
                  <a:t> (</a:t>
                </a:r>
                <a:r>
                  <a:rPr lang="en-US" sz="1400" dirty="0" err="1"/>
                  <a:t>degenere</a:t>
                </a:r>
                <a:r>
                  <a:rPr lang="en-US" sz="1400" dirty="0"/>
                  <a:t>).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8783030-0AB6-584A-1A10-A7EAB55A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619" y="2546182"/>
                <a:ext cx="4638501" cy="1384995"/>
              </a:xfrm>
              <a:prstGeom prst="rect">
                <a:avLst/>
              </a:prstGeom>
              <a:blipFill>
                <a:blip r:embed="rId3"/>
                <a:stretch>
                  <a:fillRect l="-394" t="-881" b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Picture 24">
            <a:extLst>
              <a:ext uri="{FF2B5EF4-FFF2-40B4-BE49-F238E27FC236}">
                <a16:creationId xmlns:a16="http://schemas.microsoft.com/office/drawing/2014/main" id="{5F764549-A077-63FC-B4DD-AC37CEFB6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0" y="2471374"/>
            <a:ext cx="5602778" cy="3465629"/>
          </a:xfrm>
          <a:prstGeom prst="rect">
            <a:avLst/>
          </a:prstGeom>
        </p:spPr>
      </p:pic>
      <p:sp>
        <p:nvSpPr>
          <p:cNvPr id="10" name="Shape 2">
            <a:extLst>
              <a:ext uri="{FF2B5EF4-FFF2-40B4-BE49-F238E27FC236}">
                <a16:creationId xmlns:a16="http://schemas.microsoft.com/office/drawing/2014/main" id="{405D4814-7FB0-F6F3-BD08-8B1E1408FC32}"/>
              </a:ext>
            </a:extLst>
          </p:cNvPr>
          <p:cNvSpPr/>
          <p:nvPr/>
        </p:nvSpPr>
        <p:spPr>
          <a:xfrm>
            <a:off x="652702" y="1487975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itle Circuito Trimero">
            <a:extLst>
              <a:ext uri="{FF2B5EF4-FFF2-40B4-BE49-F238E27FC236}">
                <a16:creationId xmlns:a16="http://schemas.microsoft.com/office/drawing/2014/main" id="{AB384EB5-91B4-CBDD-4734-971D8915613D}"/>
              </a:ext>
            </a:extLst>
          </p:cNvPr>
          <p:cNvSpPr txBox="1"/>
          <p:nvPr/>
        </p:nvSpPr>
        <p:spPr>
          <a:xfrm>
            <a:off x="607160" y="1545402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DM</a:t>
            </a:r>
            <a:endParaRPr lang="en-US" i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7F23BEF-CFFA-93BC-76F7-DA73099C4F75}"/>
              </a:ext>
            </a:extLst>
          </p:cNvPr>
          <p:cNvSpPr txBox="1"/>
          <p:nvPr/>
        </p:nvSpPr>
        <p:spPr>
          <a:xfrm>
            <a:off x="6928658" y="5865422"/>
            <a:ext cx="4121144" cy="4396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Scelto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esattamente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sull’incrocio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È il punto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delcato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 il VQE,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quindi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test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severo</a:t>
            </a: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Statica</a:t>
            </a:r>
            <a:endParaRPr lang="en-US" sz="36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A09C46F-1D81-6637-ED9D-5535D92130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2411" y="2148840"/>
            <a:ext cx="4507586" cy="3393948"/>
          </a:xfrm>
          <a:prstGeom prst="rect">
            <a:avLst/>
          </a:prstGeom>
        </p:spPr>
      </p:pic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Livelli di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approssimazione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e gap</a:t>
            </a:r>
            <a:endParaRPr lang="en-US" sz="2100" i="1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CB885715-53D8-A5AD-AE37-C85FD523B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00337" y="2148840"/>
            <a:ext cx="4370992" cy="3393947"/>
          </a:xfrm>
          <a:prstGeom prst="rect">
            <a:avLst/>
          </a:prstGeom>
        </p:spPr>
      </p:pic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7C30B9A2-D73B-A487-8EDD-4C2653116E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662680"/>
              </p:ext>
            </p:extLst>
          </p:nvPr>
        </p:nvGraphicFramePr>
        <p:xfrm>
          <a:off x="6126481" y="5542788"/>
          <a:ext cx="5437829" cy="1203960"/>
        </p:xfrm>
        <a:graphic>
          <a:graphicData uri="http://schemas.openxmlformats.org/drawingml/2006/table">
            <a:tbl>
              <a:tblPr/>
              <a:tblGrid>
                <a:gridCol w="5924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2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48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66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 (b=0)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(J=1,J'=0.4)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+3/2, +1/2, −1/2, −3/2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− 4J'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1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+1/2, −1/2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2" name="Table 0">
            <a:extLst>
              <a:ext uri="{FF2B5EF4-FFF2-40B4-BE49-F238E27FC236}">
                <a16:creationId xmlns:a16="http://schemas.microsoft.com/office/drawing/2014/main" id="{3A297860-CA20-BB7D-CC53-DBD5D8A49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294698"/>
              </p:ext>
            </p:extLst>
          </p:nvPr>
        </p:nvGraphicFramePr>
        <p:xfrm>
          <a:off x="498764" y="5542788"/>
          <a:ext cx="4381243" cy="1203960"/>
        </p:xfrm>
        <a:graphic>
          <a:graphicData uri="http://schemas.openxmlformats.org/drawingml/2006/table">
            <a:tbl>
              <a:tblPr/>
              <a:tblGrid>
                <a:gridCol w="8077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1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67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83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Blocco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Valore (J=1)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 (M)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A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11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Tripletto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 + 2bM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 da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 0, −1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7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Singoletto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−3.0 (costante)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623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/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 err="1"/>
                  <a:t>Attivando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DM, il punto in cui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due </a:t>
                </a:r>
                <a:r>
                  <a:rPr lang="en-US" sz="1100" dirty="0" err="1"/>
                  <a:t>livelli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restano</a:t>
                </a:r>
                <a:r>
                  <a:rPr lang="en-US" sz="1100" dirty="0"/>
                  <a:t> </a:t>
                </a:r>
                <a:r>
                  <a:rPr lang="en-US" sz="1100" dirty="0" err="1"/>
                  <a:t>più</a:t>
                </a:r>
                <a:r>
                  <a:rPr lang="en-US" sz="1100" dirty="0"/>
                  <a:t> </a:t>
                </a:r>
                <a:r>
                  <a:rPr lang="en-US" sz="1100" dirty="0" err="1"/>
                  <a:t>vicini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fra</a:t>
                </a:r>
                <a:r>
                  <a:rPr lang="en-US" sz="1100" dirty="0"/>
                  <a:t> loro non coincide </a:t>
                </a:r>
                <a:r>
                  <a:rPr lang="en-US" sz="1100" dirty="0" err="1"/>
                  <a:t>esattamente</a:t>
                </a:r>
                <a:r>
                  <a:rPr lang="en-US" sz="1100" dirty="0"/>
                  <a:t> con il punto in cui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incrociavano</a:t>
                </a:r>
                <a:r>
                  <a:rPr lang="en-US" sz="1100" dirty="0"/>
                  <a:t> prima </a:t>
                </a:r>
                <a:r>
                  <a:rPr lang="en-US" sz="1100" dirty="0" err="1"/>
                  <a:t>che</a:t>
                </a:r>
                <a:r>
                  <a:rPr lang="en-US" sz="1100" dirty="0"/>
                  <a:t> il </a:t>
                </a:r>
                <a:r>
                  <a:rPr lang="en-US" sz="1100" dirty="0" err="1"/>
                  <a:t>termine</a:t>
                </a:r>
                <a:r>
                  <a:rPr lang="en-US" sz="1100" dirty="0"/>
                  <a:t> DM fosse </a:t>
                </a:r>
                <a:r>
                  <a:rPr lang="en-US" sz="1100" dirty="0" err="1"/>
                  <a:t>acceso</a:t>
                </a:r>
                <a:r>
                  <a:rPr lang="en-US" sz="1100" dirty="0"/>
                  <a:t> - </a:t>
                </a:r>
                <a:r>
                  <a:rPr lang="en-US" sz="1100" dirty="0" err="1"/>
                  <a:t>si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sposta</a:t>
                </a:r>
                <a:r>
                  <a:rPr lang="en-US" sz="1100" dirty="0"/>
                  <a:t> </a:t>
                </a:r>
                <a:r>
                  <a:rPr lang="en-US" sz="1100" dirty="0" err="1"/>
                  <a:t>leggermente</a:t>
                </a:r>
                <a:r>
                  <a:rPr lang="en-US" sz="1100" dirty="0"/>
                  <a:t>, in </a:t>
                </a:r>
                <a:r>
                  <a:rPr lang="en-US" sz="1100" dirty="0" err="1"/>
                  <a:t>entrambi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i</a:t>
                </a:r>
                <a:r>
                  <a:rPr lang="en-US" sz="1100" dirty="0"/>
                  <a:t> </a:t>
                </a:r>
                <a:r>
                  <a:rPr lang="en-US" sz="1100" dirty="0" err="1"/>
                  <a:t>sistemi</a:t>
                </a:r>
                <a:r>
                  <a:rPr lang="en-US" sz="1100" dirty="0"/>
                  <a:t> (</a:t>
                </a:r>
                <a:r>
                  <a:rPr lang="en-US" sz="1100" dirty="0" err="1"/>
                  <a:t>dimero</a:t>
                </a:r>
                <a:r>
                  <a:rPr lang="en-US" sz="1100" dirty="0"/>
                  <a:t>: da </a:t>
                </a:r>
                <a14:m>
                  <m:oMath xmlns:m="http://schemas.openxmlformats.org/officeDocument/2006/math"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100" dirty="0"/>
                  <a:t>2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2.07</m:t>
                    </m:r>
                  </m:oMath>
                </a14:m>
                <a:r>
                  <a:rPr lang="en-US" sz="1100" dirty="0"/>
                  <a:t>; </a:t>
                </a:r>
                <a:r>
                  <a:rPr lang="en-US" sz="1100" dirty="0" err="1"/>
                  <a:t>trimero</a:t>
                </a:r>
                <a:r>
                  <a:rPr lang="en-US" sz="1100" dirty="0"/>
                  <a:t>: da</a:t>
                </a:r>
                <a14:m>
                  <m:oMath xmlns:m="http://schemas.openxmlformats.org/officeDocument/2006/math">
                    <m:r>
                      <a:rPr lang="en-US" sz="11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100" i="1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10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r>
                  <a:rPr lang="en-US" sz="1100" dirty="0"/>
                  <a:t> a </a:t>
                </a:r>
                <a14:m>
                  <m:oMath xmlns:m="http://schemas.openxmlformats.org/officeDocument/2006/math">
                    <m:r>
                      <a:rPr lang="en-US" sz="1100">
                        <a:latin typeface="Cambria Math" panose="02040503050406030204" pitchFamily="18" charset="0"/>
                      </a:rPr>
                      <m:t>2.41</m:t>
                    </m:r>
                  </m:oMath>
                </a14:m>
                <a:r>
                  <a:rPr lang="en-US" sz="1100" dirty="0"/>
                  <a:t>).</a:t>
                </a: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8CF0F13-CB84-B142-9213-F65E40667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700" y="2577353"/>
                <a:ext cx="1596637" cy="2462213"/>
              </a:xfrm>
              <a:prstGeom prst="rect">
                <a:avLst/>
              </a:prstGeom>
              <a:blipFill>
                <a:blip r:embed="rId5"/>
                <a:stretch>
                  <a:fillRect t="-248" r="-1908" b="-7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Trotter: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dimero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35F32-38C9-142C-E9B9-9BBB6AC3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534" y="2139695"/>
            <a:ext cx="5382271" cy="23451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DA67D3-E7A5-C13E-0658-3EDB1A3715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093" y="2139695"/>
            <a:ext cx="5443220" cy="234477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/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∥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𝑐𝑖𝑟𝑐𝑢𝑖𝑡𝑜</m:t>
                        </m:r>
                      </m:sub>
                    </m:sSub>
                    <m:r>
                      <a:rPr lang="en-US" sz="1200"/>
                      <m:t>−</m:t>
                    </m:r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𝑈</m:t>
                        </m:r>
                      </m:e>
                      <m:sub>
                        <m:r>
                          <a:rPr lang="en-US" sz="1200" i="1"/>
                          <m:t>𝑒𝑠𝑎𝑡𝑡𝑜</m:t>
                        </m:r>
                      </m:sub>
                    </m:sSub>
                    <m:r>
                      <a:rPr lang="en-US" sz="1200"/>
                      <m:t>∥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circuito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approssima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i="1"/>
                        </m:ctrlPr>
                      </m:sSupPr>
                      <m:e>
                        <m:r>
                          <a:rPr lang="en-US" sz="1200" i="1"/>
                          <m:t>𝑒</m:t>
                        </m:r>
                      </m:e>
                      <m:sup>
                        <m:r>
                          <a:rPr lang="en-US" sz="1200"/>
                          <m:t>−</m:t>
                        </m:r>
                        <m:r>
                          <a:rPr lang="en-US" sz="1200" i="1"/>
                          <m:t>𝑖𝐻𝑡</m:t>
                        </m:r>
                      </m:sup>
                    </m:sSup>
                  </m:oMath>
                </a14:m>
                <a:r>
                  <a:rPr lang="en-US" sz="1200" dirty="0"/>
                  <a:t> </a:t>
                </a:r>
                <a:r>
                  <a:rPr lang="en-US" sz="1200" b="1" dirty="0"/>
                  <a:t>in generale</a:t>
                </a:r>
                <a:r>
                  <a:rPr lang="en-US" sz="1200" dirty="0"/>
                  <a:t> (</a:t>
                </a:r>
                <a:r>
                  <a:rPr lang="en-US" sz="1200" dirty="0" err="1"/>
                  <a:t>caso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peggiore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qualunque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−1</m:t>
                    </m:r>
                  </m:oMath>
                </a14:m>
                <a:r>
                  <a:rPr lang="en-US" sz="1200" dirty="0"/>
                  <a:t>−1.</a:t>
                </a:r>
              </a:p>
              <a:p>
                <a:pPr lvl="0"/>
                <a:endParaRPr lang="en-US" sz="1200" dirty="0"/>
              </a:p>
              <a:p>
                <a:pPr lvl="0"/>
                <a14:m>
                  <m:oMath xmlns:m="http://schemas.openxmlformats.org/officeDocument/2006/math">
                    <m:r>
                      <a:rPr lang="en-US" sz="1200"/>
                      <m:t>1−</m:t>
                    </m:r>
                    <m:r>
                      <a:rPr lang="en-US" sz="1200"/>
                      <m:t>ℱ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quanto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sbaglia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sullo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stato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iniziale</a:t>
                </a:r>
                <a:r>
                  <a:rPr lang="en-US" sz="1200" b="1" dirty="0"/>
                  <a:t> </a:t>
                </a:r>
                <a:r>
                  <a:rPr lang="en-US" sz="1200" b="1" dirty="0" err="1"/>
                  <a:t>specifico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usiamo</a:t>
                </a:r>
                <a:r>
                  <a:rPr lang="en-US" sz="1200" dirty="0"/>
                  <a:t> (∣00⟩ o ∣000⟩) — </a:t>
                </a:r>
                <a:r>
                  <a:rPr lang="en-US" sz="1200" dirty="0" err="1"/>
                  <a:t>pendenza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−2</m:t>
                    </m:r>
                  </m:oMath>
                </a14:m>
                <a:r>
                  <a:rPr lang="en-US" sz="1200" dirty="0"/>
                  <a:t>, </a:t>
                </a:r>
                <a:r>
                  <a:rPr lang="en-US" sz="1200" dirty="0" err="1"/>
                  <a:t>perché</a:t>
                </a:r>
                <a:r>
                  <a:rPr lang="en-US" sz="1200" dirty="0"/>
                  <a:t> è </a:t>
                </a:r>
                <a:r>
                  <a:rPr lang="en-US" sz="1200" dirty="0" err="1"/>
                  <a:t>essenzialmente</a:t>
                </a:r>
                <a:r>
                  <a:rPr lang="en-US" sz="1200" dirty="0"/>
                  <a:t> il </a:t>
                </a:r>
                <a:r>
                  <a:rPr lang="en-US" sz="1200" dirty="0" err="1"/>
                  <a:t>quadrato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dell'errore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sull'ampiezza</a:t>
                </a:r>
                <a:r>
                  <a:rPr lang="en-US" sz="1200" dirty="0"/>
                  <a:t>.</a:t>
                </a:r>
              </a:p>
              <a:p>
                <a:endParaRPr lang="en-US" sz="1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40B33C-239B-8E60-76CB-5263CC5B1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979" y="4802343"/>
                <a:ext cx="5241333" cy="1388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/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b="1" dirty="0"/>
                  <a:t>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=0</m:t>
                    </m:r>
                  </m:oMath>
                </a14:m>
                <a:r>
                  <a:rPr lang="en-US" sz="1200" dirty="0"/>
                  <a:t>: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iniziale</a:t>
                </a:r>
                <a:r>
                  <a:rPr lang="en-US" sz="1200" dirty="0"/>
                  <a:t> (∣00⟩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∣000⟩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 è un </a:t>
                </a:r>
                <a:r>
                  <a:rPr lang="en-US" sz="1200" dirty="0" err="1"/>
                  <a:t>autostato</a:t>
                </a:r>
                <a:r>
                  <a:rPr lang="en-US" sz="1200" dirty="0"/>
                  <a:t> di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 - </a:t>
                </a:r>
                <a:r>
                  <a:rPr lang="en-US" sz="1200" dirty="0" err="1"/>
                  <a:t>infatti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grafici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partono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esattamente</a:t>
                </a:r>
                <a:r>
                  <a:rPr lang="en-US" sz="1200" dirty="0"/>
                  <a:t> da un </a:t>
                </a:r>
                <a:r>
                  <a:rPr lang="en-US" sz="1200" dirty="0" err="1"/>
                  <a:t>valore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intero</a:t>
                </a:r>
                <a:r>
                  <a:rPr lang="en-US" sz="1200" dirty="0"/>
                  <a:t> (1.0 per il </a:t>
                </a:r>
                <a:r>
                  <a:rPr lang="en-US" sz="1200" dirty="0" err="1"/>
                  <a:t>dimero</a:t>
                </a:r>
                <a:r>
                  <a:rPr lang="en-US" sz="1200" dirty="0"/>
                  <a:t>, 3.0 per il </a:t>
                </a:r>
                <a:r>
                  <a:rPr lang="en-US" sz="1200" dirty="0" err="1"/>
                  <a:t>trimero</a:t>
                </a:r>
                <a:r>
                  <a:rPr lang="en-US" sz="1200" dirty="0"/>
                  <a:t>).</a:t>
                </a:r>
              </a:p>
              <a:p>
                <a:endParaRPr lang="en-US" sz="1200" dirty="0"/>
              </a:p>
              <a:p>
                <a:r>
                  <a:rPr lang="en-US" sz="1200" b="1" dirty="0"/>
                  <a:t>Per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&gt;0</m:t>
                    </m:r>
                  </m:oMath>
                </a14:m>
                <a:r>
                  <a:rPr lang="en-US" sz="1200" dirty="0"/>
                  <a:t>: </a:t>
                </a:r>
                <a:r>
                  <a:rPr lang="en-US" sz="1200" dirty="0" err="1"/>
                  <a:t>l'Hamiltoniana</a:t>
                </a:r>
                <a:r>
                  <a:rPr lang="en-US" sz="1200" dirty="0"/>
                  <a:t> non </a:t>
                </a:r>
                <a:r>
                  <a:rPr lang="en-US" sz="1200" dirty="0" err="1"/>
                  <a:t>commuta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/>
                        </m:ctrlPr>
                      </m:sSubSupPr>
                      <m:e>
                        <m:r>
                          <a:rPr lang="en-US" sz="1200" i="1"/>
                          <m:t>𝑆</m:t>
                        </m:r>
                      </m:e>
                      <m:sub>
                        <m:r>
                          <a:rPr lang="en-US" sz="1200" i="1"/>
                          <m:t>𝑧</m:t>
                        </m:r>
                      </m:sub>
                      <m:sup>
                        <m:r>
                          <a:rPr lang="en-US" sz="1200" i="1"/>
                          <m:t>𝑡𝑜𝑡</m:t>
                        </m:r>
                      </m:sup>
                    </m:sSubSup>
                  </m:oMath>
                </a14:m>
                <a:r>
                  <a:rPr lang="en-US" sz="1200" dirty="0"/>
                  <a:t>​ (è proprio il </a:t>
                </a:r>
                <a:r>
                  <a:rPr lang="en-US" sz="1200" dirty="0" err="1"/>
                  <a:t>termine</a:t>
                </a:r>
                <a:r>
                  <a:rPr lang="en-US" sz="1200" dirty="0"/>
                  <a:t> DM a </a:t>
                </a:r>
                <a:r>
                  <a:rPr lang="en-US" sz="1200" dirty="0" err="1"/>
                  <a:t>romperla</a:t>
                </a:r>
                <a:r>
                  <a:rPr lang="en-US" sz="1200" dirty="0"/>
                  <a:t>: </a:t>
                </a:r>
                <a14:m>
                  <m:oMath xmlns:m="http://schemas.openxmlformats.org/officeDocument/2006/math">
                    <m:r>
                      <a:rPr lang="en-US" sz="1200" i="1"/>
                      <m:t>𝐷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collega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diverso</a:t>
                </a:r>
                <a:r>
                  <a:rPr lang="en-US" sz="1200" dirty="0"/>
                  <a:t>). </a:t>
                </a:r>
                <a:r>
                  <a:rPr lang="en-US" sz="1200" dirty="0" err="1"/>
                  <a:t>Quindi</a:t>
                </a:r>
                <a:r>
                  <a:rPr lang="en-US" sz="1200" dirty="0"/>
                  <a:t> lo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 evolve in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</a:t>
                </a:r>
                <a:r>
                  <a:rPr lang="en-US" sz="1200" b="1" dirty="0" err="1"/>
                  <a:t>sovrapposizione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autostati</a:t>
                </a:r>
                <a:r>
                  <a:rPr lang="en-US" sz="1200" dirty="0"/>
                  <a:t> con </a:t>
                </a:r>
                <a14:m>
                  <m:oMath xmlns:m="http://schemas.openxmlformats.org/officeDocument/2006/math">
                    <m:r>
                      <a:rPr lang="en-US" sz="1200" i="1"/>
                      <m:t>𝑀</m:t>
                    </m:r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diversi</a:t>
                </a:r>
                <a:r>
                  <a:rPr lang="en-US" sz="1200" dirty="0"/>
                  <a:t>, e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i="1"/>
                        </m:ctrlPr>
                      </m:dPr>
                      <m:e>
                        <m:sSubSup>
                          <m:sSubSupPr>
                            <m:ctrlPr>
                              <a:rPr lang="en-US" sz="1200" i="1"/>
                            </m:ctrlPr>
                          </m:sSubSupPr>
                          <m:e>
                            <m:r>
                              <a:rPr lang="en-US" sz="1200" i="1"/>
                              <m:t>𝑆</m:t>
                            </m:r>
                          </m:e>
                          <m:sub>
                            <m:r>
                              <a:rPr lang="en-US" sz="1200" i="1"/>
                              <m:t>𝑧</m:t>
                            </m:r>
                          </m:sub>
                          <m:sup>
                            <m:r>
                              <a:rPr lang="en-US" sz="1200" i="1"/>
                              <m:t>𝑡𝑜𝑡</m:t>
                            </m:r>
                          </m:sup>
                        </m:sSubSup>
                      </m:e>
                    </m:d>
                    <m:d>
                      <m:dPr>
                        <m:ctrlPr>
                          <a:rPr lang="en-US" sz="1200" i="1"/>
                        </m:ctrlPr>
                      </m:dPr>
                      <m:e>
                        <m:r>
                          <a:rPr lang="en-US" sz="1200" i="1"/>
                          <m:t>𝑡</m:t>
                        </m:r>
                      </m:e>
                    </m:d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diventa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una</a:t>
                </a:r>
                <a:r>
                  <a:rPr lang="en-US" sz="1200" dirty="0"/>
                  <a:t> media </a:t>
                </a:r>
                <a:r>
                  <a:rPr lang="en-US" sz="1200" dirty="0" err="1"/>
                  <a:t>pesata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quei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valori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interi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cambia con </a:t>
                </a:r>
                <a:r>
                  <a:rPr lang="en-US" sz="1200" dirty="0" err="1"/>
                  <a:t>continuità</a:t>
                </a:r>
                <a:r>
                  <a:rPr lang="en-US" sz="1200" dirty="0"/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50458C2-6980-59D4-2538-994A71279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9" y="4802342"/>
                <a:ext cx="5164362" cy="1569660"/>
              </a:xfrm>
              <a:prstGeom prst="rect">
                <a:avLst/>
              </a:prstGeom>
              <a:blipFill>
                <a:blip r:embed="rId6"/>
                <a:stretch>
                  <a:fillRect t="-389" r="-118" b="-23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/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Correlatori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𝛼𝛽</m:t>
                        </m:r>
                      </m:sup>
                    </m:sSup>
                    <m:d>
                      <m:dPr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sSup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100" b="1" i="1" dirty="0" smtClean="0">
                                    <a:solidFill>
                                      <a:srgbClr val="173A5E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d>
                        <m:sSub>
                          <m:sSubPr>
                            <m:ctrlP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𝜓</m:t>
                            </m:r>
                          </m:e>
                          <m:sub>
                            <m:r>
                              <a:rPr lang="en-US" sz="2100" b="1" i="1" dirty="0" smtClean="0">
                                <a:solidFill>
                                  <a:srgbClr val="173A5E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100" i="1" dirty="0"/>
                  <a:t> </a:t>
                </a:r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 Canali di </a:t>
                </a:r>
                <a:r>
                  <a:rPr lang="en-US" sz="2100" b="1" i="1" dirty="0" err="1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rumore</a:t>
                </a:r>
                <a14:m>
                  <m:oMath xmlns:m="http://schemas.openxmlformats.org/officeDocument/2006/math">
                    <m:r>
                      <a:rPr lang="en-US" sz="2100" b="1" i="1" dirty="0" smtClean="0">
                        <a:solidFill>
                          <a:srgbClr val="173A5E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2100" b="1" i="1" dirty="0" smtClean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100" b="1" i="1" dirty="0">
                    <a:solidFill>
                      <a:srgbClr val="173A5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173A5E"/>
                            </a:solidFill>
                            <a:latin typeface="Cambria Math" panose="02040503050406030204" pitchFamily="18" charset="0"/>
                          </a:rPr>
                          <m:t>𝑟𝑒𝑎𝑑𝑜𝑢𝑡</m:t>
                        </m:r>
                      </m:sub>
                    </m:sSub>
                  </m:oMath>
                </a14:m>
                <a:endParaRPr lang="en-US" sz="2100" i="1" dirty="0"/>
              </a:p>
            </p:txBody>
          </p:sp>
        </mc:Choice>
        <mc:Fallback>
          <p:sp>
            <p:nvSpPr>
              <p:cNvPr id="23" name="Primitive a due qubit">
                <a:extLst>
                  <a:ext uri="{FF2B5EF4-FFF2-40B4-BE49-F238E27FC236}">
                    <a16:creationId xmlns:a16="http://schemas.microsoft.com/office/drawing/2014/main" id="{F1723D25-7A93-CFC7-BD25-4E48F4178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78" y="1490472"/>
                <a:ext cx="10911535" cy="530352"/>
              </a:xfrm>
              <a:prstGeom prst="rect">
                <a:avLst/>
              </a:prstGeom>
              <a:blipFill>
                <a:blip r:embed="rId3"/>
                <a:stretch>
                  <a:fillRect b="-1149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4C6A78A-257D-587D-1AF8-AC1AEDA7EB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685" y="2020824"/>
            <a:ext cx="4629013" cy="25337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D702AE-4FAD-D9A4-BEB8-C924470B4C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5302" y="2020825"/>
            <a:ext cx="4629011" cy="253377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246AD95-B561-7223-B5C7-D57F6C230011}"/>
              </a:ext>
            </a:extLst>
          </p:cNvPr>
          <p:cNvSpPr txBox="1"/>
          <p:nvPr/>
        </p:nvSpPr>
        <p:spPr>
          <a:xfrm>
            <a:off x="6922910" y="4684794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Simulatore</a:t>
            </a:r>
            <a:r>
              <a:rPr lang="en-US" sz="1200" dirty="0"/>
              <a:t> con </a:t>
            </a:r>
            <a:r>
              <a:rPr lang="en-US" sz="1200" dirty="0" err="1"/>
              <a:t>rumore</a:t>
            </a:r>
            <a:r>
              <a:rPr lang="en-US" sz="1200" dirty="0"/>
              <a:t>: ogni gate e ogni </a:t>
            </a:r>
            <a:r>
              <a:rPr lang="en-US" sz="1200" dirty="0" err="1"/>
              <a:t>lettura</a:t>
            </a:r>
            <a:r>
              <a:rPr lang="en-US" sz="1200" dirty="0"/>
              <a:t> introduce </a:t>
            </a:r>
            <a:r>
              <a:rPr lang="en-US" sz="1200" dirty="0" err="1"/>
              <a:t>errore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B1517B-B1BD-BF3C-6426-E8C970564BB0}"/>
              </a:ext>
            </a:extLst>
          </p:cNvPr>
          <p:cNvSpPr txBox="1"/>
          <p:nvPr/>
        </p:nvSpPr>
        <p:spPr>
          <a:xfrm>
            <a:off x="6922910" y="4962000"/>
            <a:ext cx="46290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Modello</a:t>
            </a:r>
            <a:r>
              <a:rPr lang="en-US" sz="1200" dirty="0"/>
              <a:t> </a:t>
            </a:r>
            <a:r>
              <a:rPr lang="en-US" sz="1200" dirty="0" err="1"/>
              <a:t>minimale</a:t>
            </a:r>
            <a:r>
              <a:rPr lang="en-US" sz="1200" dirty="0"/>
              <a:t>: 2 </a:t>
            </a:r>
            <a:r>
              <a:rPr lang="en-US" sz="1200" dirty="0" err="1"/>
              <a:t>canali</a:t>
            </a:r>
            <a:r>
              <a:rPr lang="en-US" sz="1200" dirty="0"/>
              <a:t>- </a:t>
            </a:r>
            <a:r>
              <a:rPr lang="en-US" sz="1200" dirty="0" err="1"/>
              <a:t>depolarizzante</a:t>
            </a:r>
            <a:r>
              <a:rPr lang="en-US" sz="1200" dirty="0"/>
              <a:t> (gate) + </a:t>
            </a:r>
            <a:r>
              <a:rPr lang="en-US" sz="1200" dirty="0" err="1"/>
              <a:t>lettura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/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 err="1"/>
                  <a:t>Parametri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calibrati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su</a:t>
                </a:r>
                <a:r>
                  <a:rPr lang="en-US" sz="1200" dirty="0"/>
                  <a:t> </a:t>
                </a:r>
                <a:r>
                  <a:rPr lang="en-US" sz="1200" dirty="0" err="1"/>
                  <a:t>ibm_torino</a:t>
                </a:r>
                <a:r>
                  <a:rPr lang="en-US" sz="1200" dirty="0"/>
                  <a:t> (IBM Heron r1, 133 qubit): </a:t>
                </a:r>
                <a:br>
                  <a:rPr lang="en-US" sz="1200" dirty="0"/>
                </a:b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𝜀</m:t>
                        </m:r>
                      </m:e>
                      <m:sub>
                        <m:r>
                          <a:rPr lang="en-US" sz="1200"/>
                          <m:t>1</m:t>
                        </m:r>
                        <m:r>
                          <a:rPr lang="en-US" sz="1200" i="1"/>
                          <m:t>𝑞</m:t>
                        </m:r>
                      </m:sub>
                    </m:sSub>
                    <m:r>
                      <a:rPr lang="en-US" sz="1200"/>
                      <m:t>=2.9×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−4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1q</a:t>
                </a:r>
                <a:r>
                  <a:rPr lang="en-US" sz="1200" dirty="0"/>
                  <a:t>​=2.9×10</a:t>
                </a:r>
                <a:r>
                  <a:rPr lang="en-US" sz="1200" dirty="0">
                    <a:effectLst/>
                  </a:rPr>
                  <a:t>−4</a:t>
                </a:r>
                <a:r>
                  <a:rPr lang="en-US" sz="1200" dirty="0"/>
                  <a:t> 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𝜀</m:t>
                        </m:r>
                      </m:e>
                      <m:sub>
                        <m:r>
                          <a:rPr lang="en-US" sz="1200"/>
                          <m:t>2</m:t>
                        </m:r>
                        <m:r>
                          <a:rPr lang="en-US" sz="1200" i="1"/>
                          <m:t>𝑞</m:t>
                        </m:r>
                      </m:sub>
                    </m:sSub>
                    <m:r>
                      <a:rPr lang="en-US" sz="1200"/>
                      <m:t>=3.8×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−3</m:t>
                        </m:r>
                      </m:sup>
                    </m:sSup>
                  </m:oMath>
                </a14:m>
                <a:r>
                  <a:rPr lang="en-US" sz="1200" dirty="0"/>
                  <a:t>ε</a:t>
                </a:r>
                <a:r>
                  <a:rPr lang="en-US" sz="1200" dirty="0">
                    <a:effectLst/>
                  </a:rPr>
                  <a:t>2q</a:t>
                </a:r>
                <a:r>
                  <a:rPr lang="en-US" sz="1200" dirty="0"/>
                  <a:t>​=3.8×10</a:t>
                </a:r>
                <a:r>
                  <a:rPr lang="en-US" sz="1200" dirty="0">
                    <a:effectLst/>
                  </a:rPr>
                  <a:t>−3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𝑝</m:t>
                        </m:r>
                      </m:e>
                      <m:sub>
                        <m:r>
                          <a:rPr lang="en-US" sz="1200" i="1"/>
                          <m:t>𝑟𝑒𝑎𝑑𝑜𝑢𝑡</m:t>
                        </m:r>
                      </m:sub>
                    </m:sSub>
                    <m:r>
                      <a:rPr lang="en-US" sz="1200"/>
                      <m:t>=2.3×</m:t>
                    </m:r>
                    <m:sSup>
                      <m:sSupPr>
                        <m:ctrlPr>
                          <a:rPr lang="en-US" sz="1200"/>
                        </m:ctrlPr>
                      </m:sSupPr>
                      <m:e>
                        <m:r>
                          <a:rPr lang="en-US" sz="1200"/>
                          <m:t>10</m:t>
                        </m:r>
                      </m:e>
                      <m:sup>
                        <m:r>
                          <a:rPr lang="en-US" sz="1200"/>
                          <m:t>−2</m:t>
                        </m:r>
                      </m:sup>
                    </m:sSup>
                  </m:oMath>
                </a14:m>
                <a:r>
                  <a:rPr lang="en-US" sz="1200" dirty="0" err="1"/>
                  <a:t>p</a:t>
                </a:r>
                <a:r>
                  <a:rPr lang="en-US" sz="1200" dirty="0" err="1">
                    <a:effectLst/>
                  </a:rPr>
                  <a:t>readout</a:t>
                </a:r>
                <a:r>
                  <a:rPr lang="en-US" sz="1200" dirty="0"/>
                  <a:t>​=2.3×10</a:t>
                </a:r>
                <a:r>
                  <a:rPr lang="en-US" sz="1200" dirty="0">
                    <a:effectLst/>
                  </a:rPr>
                  <a:t>−2</a:t>
                </a:r>
                <a:endParaRPr lang="en-US" sz="12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79C275-42D6-7C3E-A776-775F5D436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2910" y="5238999"/>
                <a:ext cx="4629012" cy="1069395"/>
              </a:xfrm>
              <a:prstGeom prst="rect">
                <a:avLst/>
              </a:prstGeom>
              <a:blipFill>
                <a:blip r:embed="rId6"/>
                <a:stretch>
                  <a:fillRect b="-34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/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/>
                      <m:t>𝑗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  <m:r>
                      <a:rPr lang="en-US" sz="1200"/>
                      <m:t>=0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1200" dirty="0"/>
                  <a:t>risultato </a:t>
                </a:r>
                <a14:m>
                  <m:oMath xmlns:m="http://schemas.openxmlformats.org/officeDocument/2006/math">
                    <m:r>
                      <a:rPr lang="en-US" sz="1200"/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FF4FBB-C864-C111-2D71-BF2C8B1B7B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684794"/>
                <a:ext cx="4629012" cy="293607"/>
              </a:xfrm>
              <a:prstGeom prst="rect">
                <a:avLst/>
              </a:prstGeom>
              <a:blipFill>
                <a:blip r:embed="rId7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/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Sullo </a:t>
                </a:r>
                <a:r>
                  <a:rPr lang="en-US" sz="1200" dirty="0" err="1"/>
                  <a:t>stesso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stato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evoluto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nel</a:t>
                </a:r>
                <a:r>
                  <a:rPr lang="en-US" sz="1200" dirty="0"/>
                  <a:t> tempo,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 </a:t>
                </a:r>
                <a:r>
                  <a:rPr lang="en-US" sz="1200" dirty="0" err="1"/>
                  <a:t>sul</a:t>
                </a:r>
                <a:r>
                  <a:rPr lang="en-US" sz="1200" dirty="0"/>
                  <a:t> </a:t>
                </a:r>
                <a:r>
                  <a:rPr lang="en-US" sz="1200" dirty="0" err="1"/>
                  <a:t>sito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 i="1"/>
                      <m:t>𝑖</m:t>
                    </m:r>
                  </m:oMath>
                </a14:m>
                <a:r>
                  <a:rPr lang="en-US" sz="1200" dirty="0"/>
                  <a:t> a </a:t>
                </a:r>
                <a14:m>
                  <m:oMath xmlns:m="http://schemas.openxmlformats.org/officeDocument/2006/math">
                    <m:r>
                      <a:rPr lang="en-US" sz="1200" i="1"/>
                      <m:t>𝑡</m:t>
                    </m:r>
                  </m:oMath>
                </a14:m>
                <a:r>
                  <a:rPr lang="en-US" sz="1200" dirty="0"/>
                  <a:t>: altro </a:t>
                </a:r>
                <a:r>
                  <a:rPr lang="en-US" sz="1200" dirty="0" err="1"/>
                  <a:t>risultato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r>
                      <a:rPr lang="en-US" sz="1200"/>
                      <m:t>±1</m:t>
                    </m:r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2CC0AD5-5A90-3FE0-2614-8D08DCCE75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" y="4950647"/>
                <a:ext cx="4629012" cy="461665"/>
              </a:xfrm>
              <a:prstGeom prst="rect">
                <a:avLst/>
              </a:prstGeom>
              <a:blipFill>
                <a:blip r:embed="rId8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08887275-8A8D-106A-2DCC-4140E1A39675}"/>
              </a:ext>
            </a:extLst>
          </p:cNvPr>
          <p:cNvSpPr txBox="1"/>
          <p:nvPr/>
        </p:nvSpPr>
        <p:spPr>
          <a:xfrm>
            <a:off x="640080" y="5370253"/>
            <a:ext cx="4629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200" dirty="0" err="1"/>
              <a:t>Conoscere</a:t>
            </a:r>
            <a:r>
              <a:rPr lang="en-US" sz="1200" dirty="0"/>
              <a:t> il primo </a:t>
            </a:r>
            <a:r>
              <a:rPr lang="en-US" sz="1200" dirty="0" err="1"/>
              <a:t>risultato</a:t>
            </a:r>
            <a:r>
              <a:rPr lang="en-US" sz="1200" dirty="0"/>
              <a:t> </a:t>
            </a:r>
            <a:r>
              <a:rPr lang="en-US" sz="1200" dirty="0" err="1"/>
              <a:t>aiuta</a:t>
            </a:r>
            <a:r>
              <a:rPr lang="en-US" sz="1200" dirty="0"/>
              <a:t> a </a:t>
            </a:r>
            <a:r>
              <a:rPr lang="en-US" sz="1200" dirty="0" err="1"/>
              <a:t>prevedere</a:t>
            </a:r>
            <a:r>
              <a:rPr lang="en-US" sz="1200" dirty="0"/>
              <a:t> il secondo? (</a:t>
            </a:r>
            <a:r>
              <a:rPr lang="en-US" sz="1200" dirty="0" err="1"/>
              <a:t>correlazione</a:t>
            </a:r>
            <a:r>
              <a:rPr lang="en-US" sz="1200" dirty="0"/>
              <a:t> </a:t>
            </a:r>
            <a:r>
              <a:rPr lang="en-US" sz="1200" dirty="0" err="1"/>
              <a:t>statistica</a:t>
            </a:r>
            <a:r>
              <a:rPr lang="en-US" sz="1200" dirty="0"/>
              <a:t> </a:t>
            </a:r>
            <a:r>
              <a:rPr lang="en-US" sz="1200" dirty="0" err="1"/>
              <a:t>fra</a:t>
            </a:r>
            <a:r>
              <a:rPr lang="en-US" sz="1200" dirty="0"/>
              <a:t> le due </a:t>
            </a:r>
            <a:r>
              <a:rPr lang="en-US" sz="1200" dirty="0" err="1"/>
              <a:t>misure</a:t>
            </a:r>
            <a:r>
              <a:rPr lang="en-US" sz="1200" dirty="0"/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/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1200" dirty="0"/>
                  <a:t>È un </a:t>
                </a:r>
                <a:r>
                  <a:rPr lang="en-US" sz="1200" dirty="0" err="1"/>
                  <a:t>numero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complesso</a:t>
                </a:r>
                <a:r>
                  <a:rPr lang="en-US" sz="1200" dirty="0"/>
                  <a:t> - </a:t>
                </a:r>
                <a:r>
                  <a:rPr lang="en-US" sz="1200" dirty="0" err="1"/>
                  <a:t>si</a:t>
                </a:r>
                <a:r>
                  <a:rPr lang="en-US" sz="1200" dirty="0"/>
                  <a:t>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con </a:t>
                </a:r>
                <a:r>
                  <a:rPr lang="en-US" sz="1200" dirty="0" err="1"/>
                  <a:t>un'ancilla</a:t>
                </a:r>
                <a:r>
                  <a:rPr lang="en-US" sz="1200" dirty="0"/>
                  <a:t> in </a:t>
                </a:r>
                <a:r>
                  <a:rPr lang="en-US" sz="1200" dirty="0" err="1"/>
                  <a:t>sovrapposizione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che</a:t>
                </a:r>
                <a:r>
                  <a:rPr lang="en-US" sz="1200" dirty="0"/>
                  <a:t> </a:t>
                </a:r>
                <a:r>
                  <a:rPr lang="en-US" sz="1200" dirty="0" err="1"/>
                  <a:t>crea</a:t>
                </a:r>
                <a:r>
                  <a:rPr lang="en-US" sz="1200" dirty="0"/>
                  <a:t> due rami </a:t>
                </a:r>
                <a:r>
                  <a:rPr lang="en-US" sz="1200" dirty="0" err="1"/>
                  <a:t>paralleli</a:t>
                </a:r>
                <a:r>
                  <a:rPr lang="en-US" sz="1200" dirty="0"/>
                  <a:t> (uno </a:t>
                </a:r>
                <a:r>
                  <a:rPr lang="en-US" sz="1200" dirty="0" err="1"/>
                  <a:t>applica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𝛽</m:t>
                        </m:r>
                      </m:sub>
                    </m:sSub>
                  </m:oMath>
                </a14:m>
                <a:r>
                  <a:rPr lang="en-US" sz="1200" dirty="0"/>
                  <a:t>​, </a:t>
                </a:r>
                <a:r>
                  <a:rPr lang="en-US" sz="1200" dirty="0" err="1"/>
                  <a:t>l'altro</a:t>
                </a:r>
                <a:r>
                  <a:rPr lang="en-US" sz="12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/>
                        </m:ctrlPr>
                      </m:sSubPr>
                      <m:e>
                        <m:r>
                          <a:rPr lang="en-US" sz="1200" i="1"/>
                          <m:t>𝜎</m:t>
                        </m:r>
                      </m:e>
                      <m:sub>
                        <m:r>
                          <a:rPr lang="en-US" sz="1200" i="1"/>
                          <m:t>𝛼</m:t>
                        </m:r>
                      </m:sub>
                    </m:sSub>
                  </m:oMath>
                </a14:m>
                <a:r>
                  <a:rPr lang="en-US" sz="1200" dirty="0"/>
                  <a:t>​) e li fa </a:t>
                </a:r>
                <a:r>
                  <a:rPr lang="en-US" sz="1200" b="1" dirty="0" err="1"/>
                  <a:t>interferire</a:t>
                </a:r>
                <a:r>
                  <a:rPr lang="en-US" sz="1200" dirty="0"/>
                  <a:t>; </a:t>
                </a:r>
                <a:r>
                  <a:rPr lang="en-US" sz="1200" dirty="0" err="1"/>
                  <a:t>l'esito</a:t>
                </a:r>
                <a:r>
                  <a:rPr lang="en-US" sz="1200" dirty="0"/>
                  <a:t>, </a:t>
                </a:r>
                <a:r>
                  <a:rPr lang="en-US" sz="1200" dirty="0" err="1"/>
                  <a:t>letto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dalla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probabilità</a:t>
                </a:r>
                <a:r>
                  <a:rPr lang="en-US" sz="1200" dirty="0"/>
                  <a:t> di </a:t>
                </a:r>
                <a:r>
                  <a:rPr lang="en-US" sz="1200" dirty="0" err="1"/>
                  <a:t>misura</a:t>
                </a:r>
                <a:r>
                  <a:rPr lang="en-US" sz="1200" dirty="0"/>
                  <a:t> </a:t>
                </a:r>
                <a:r>
                  <a:rPr lang="en-US" sz="1200" dirty="0" err="1"/>
                  <a:t>dell'ancilla</a:t>
                </a:r>
                <a:r>
                  <a:rPr lang="en-US" sz="1200" dirty="0"/>
                  <a:t>, è il </a:t>
                </a:r>
                <a:r>
                  <a:rPr lang="en-US" sz="1200" dirty="0" err="1"/>
                  <a:t>correlatore</a:t>
                </a:r>
                <a:endParaRPr lang="en-US" sz="1200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FB850E4-AF86-6D3F-F8BE-73BFF7A8E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173" y="5831918"/>
                <a:ext cx="4629012" cy="847604"/>
              </a:xfrm>
              <a:prstGeom prst="rect">
                <a:avLst/>
              </a:prstGeom>
              <a:blipFill>
                <a:blip r:embed="rId9"/>
                <a:stretch>
                  <a:fillRect t="-719" b="-5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12" name="VQE - Ansatz">
            <a:extLst>
              <a:ext uri="{FF2B5EF4-FFF2-40B4-BE49-F238E27FC236}">
                <a16:creationId xmlns:a16="http://schemas.microsoft.com/office/drawing/2014/main" id="{5F79BB14-D1EB-7791-7349-0B3851189112}"/>
              </a:ext>
            </a:extLst>
          </p:cNvPr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Dinamica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36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</a:t>
            </a:r>
            <a:r>
              <a:rPr lang="en-US" sz="36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sotto Rumore</a:t>
            </a:r>
            <a:endParaRPr lang="en-US" sz="3600" dirty="0"/>
          </a:p>
        </p:txBody>
      </p:sp>
      <p:sp>
        <p:nvSpPr>
          <p:cNvPr id="20" name="Shape 2">
            <a:extLst>
              <a:ext uri="{FF2B5EF4-FFF2-40B4-BE49-F238E27FC236}">
                <a16:creationId xmlns:a16="http://schemas.microsoft.com/office/drawing/2014/main" id="{F4718F5B-C55B-64DF-D81B-F8C8C54FCCF3}"/>
              </a:ext>
            </a:extLst>
          </p:cNvPr>
          <p:cNvSpPr/>
          <p:nvPr/>
        </p:nvSpPr>
        <p:spPr>
          <a:xfrm>
            <a:off x="652779" y="14904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Primitive a due qubit">
            <a:extLst>
              <a:ext uri="{FF2B5EF4-FFF2-40B4-BE49-F238E27FC236}">
                <a16:creationId xmlns:a16="http://schemas.microsoft.com/office/drawing/2014/main" id="{F1723D25-7A93-CFC7-BD25-4E48F41785D7}"/>
              </a:ext>
            </a:extLst>
          </p:cNvPr>
          <p:cNvSpPr txBox="1"/>
          <p:nvPr/>
        </p:nvSpPr>
        <p:spPr>
          <a:xfrm>
            <a:off x="652778" y="1490472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Preparazione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VQE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Trotter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Misura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rumorosa</a:t>
            </a:r>
            <a:endParaRPr lang="en-US" sz="2100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C354B9-9594-A124-F417-10AAB2CF1E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2778" y="2144443"/>
            <a:ext cx="3100750" cy="1979778"/>
          </a:xfrm>
          <a:prstGeom prst="rect">
            <a:avLst/>
          </a:prstGeom>
        </p:spPr>
      </p:pic>
      <p:sp>
        <p:nvSpPr>
          <p:cNvPr id="6" name="Desc HA dimero">
            <a:extLst>
              <a:ext uri="{FF2B5EF4-FFF2-40B4-BE49-F238E27FC236}">
                <a16:creationId xmlns:a16="http://schemas.microsoft.com/office/drawing/2014/main" id="{5C99638C-F80B-AFD2-7BC6-2433BAA695B5}"/>
              </a:ext>
            </a:extLst>
          </p:cNvPr>
          <p:cNvSpPr txBox="1"/>
          <p:nvPr/>
        </p:nvSpPr>
        <p:spPr>
          <a:xfrm>
            <a:off x="1826442" y="2205037"/>
            <a:ext cx="1870364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Trotter - solo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rumore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gate (1q+2q) -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readout: è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fedeltà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</a:t>
            </a:r>
            <a:r>
              <a:rPr lang="en-US" sz="9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via ancilla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7D8C4-DD2F-D38E-EC11-6008FDCD1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444968" y="2181211"/>
            <a:ext cx="2932250" cy="19833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/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Gate +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simmetrico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01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800" i="1" dirty="0">
                            <a:solidFill>
                              <a:srgbClr val="5B6B84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US" sz="800" i="1" dirty="0">
                        <a:solidFill>
                          <a:srgbClr val="5B6B84"/>
                        </a:solidFill>
                        <a:latin typeface="Cambria Math" panose="02040503050406030204" pitchFamily="18" charset="0"/>
                      </a:rPr>
                      <m:t>=2.3%</m:t>
                    </m:r>
                  </m:oMath>
                </a14:m>
                <a:r>
                  <a:rPr lang="en-US" sz="800" dirty="0"/>
                  <a:t> - 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qui il readout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entra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per la prima volta, con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misura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via ancilla -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conteggi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genuinamente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i="1" dirty="0" err="1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campionati</a:t>
                </a:r>
                <a:r>
                  <a:rPr lang="en-US" sz="800" i="1" dirty="0">
                    <a:solidFill>
                      <a:srgbClr val="5B6B84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800" dirty="0"/>
                  <a:t>(</a:t>
                </a:r>
                <a14:m>
                  <m:oMath xmlns:m="http://schemas.openxmlformats.org/officeDocument/2006/math">
                    <m:r>
                      <a:rPr lang="en-US" sz="800">
                        <a:latin typeface="Cambria Math" panose="02040503050406030204" pitchFamily="18" charset="0"/>
                      </a:rPr>
                      <m:t>2×</m:t>
                    </m:r>
                    <m:sSup>
                      <m:sSupPr>
                        <m:ctrlPr>
                          <a:rPr lang="en-US" sz="80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80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80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800" dirty="0"/>
                  <a:t>)</a:t>
                </a:r>
              </a:p>
            </p:txBody>
          </p:sp>
        </mc:Choice>
        <mc:Fallback xmlns="">
          <p:sp>
            <p:nvSpPr>
              <p:cNvPr id="13" name="Desc HA dimero">
                <a:extLst>
                  <a:ext uri="{FF2B5EF4-FFF2-40B4-BE49-F238E27FC236}">
                    <a16:creationId xmlns:a16="http://schemas.microsoft.com/office/drawing/2014/main" id="{67903720-E12A-6F3C-0A65-B9880A913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341" y="2205036"/>
                <a:ext cx="2286001" cy="437249"/>
              </a:xfrm>
              <a:prstGeom prst="rect">
                <a:avLst/>
              </a:prstGeom>
              <a:blipFill>
                <a:blip r:embed="rId5"/>
                <a:stretch>
                  <a:fillRect l="-2933" r="-3467" b="-84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79951677-3528-0F2C-FE48-401E7847538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326599" y="2181211"/>
            <a:ext cx="3237714" cy="2189926"/>
          </a:xfrm>
          <a:prstGeom prst="rect">
            <a:avLst/>
          </a:prstGeom>
        </p:spPr>
      </p:pic>
      <p:sp>
        <p:nvSpPr>
          <p:cNvPr id="19" name="Desc HA dimero">
            <a:extLst>
              <a:ext uri="{FF2B5EF4-FFF2-40B4-BE49-F238E27FC236}">
                <a16:creationId xmlns:a16="http://schemas.microsoft.com/office/drawing/2014/main" id="{FD20E74D-FE77-24F4-B938-B978D09F3DD5}"/>
              </a:ext>
            </a:extLst>
          </p:cNvPr>
          <p:cNvSpPr txBox="1"/>
          <p:nvPr/>
        </p:nvSpPr>
        <p:spPr>
          <a:xfrm>
            <a:off x="9559637" y="2108327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N* -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conteggi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genuinamente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campionati</a:t>
            </a:r>
            <a:endParaRPr lang="en-US" sz="8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7B0FB15-F805-6F7F-4AB6-04416F6B22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52779" y="4634554"/>
            <a:ext cx="3027141" cy="219913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BAA34C0-CDB7-D8AA-D702-539DB964FEC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444969" y="4802191"/>
            <a:ext cx="2932249" cy="198331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6160E4B-8D84-B894-9DF5-44900F95FCB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326599" y="4595581"/>
            <a:ext cx="3237713" cy="2189926"/>
          </a:xfrm>
          <a:prstGeom prst="rect">
            <a:avLst/>
          </a:prstGeom>
        </p:spPr>
      </p:pic>
      <p:sp>
        <p:nvSpPr>
          <p:cNvPr id="38" name="Desc HA dimero">
            <a:extLst>
              <a:ext uri="{FF2B5EF4-FFF2-40B4-BE49-F238E27FC236}">
                <a16:creationId xmlns:a16="http://schemas.microsoft.com/office/drawing/2014/main" id="{77E8B842-7FAC-36B4-4654-5469773E7987}"/>
              </a:ext>
            </a:extLst>
          </p:cNvPr>
          <p:cNvSpPr txBox="1"/>
          <p:nvPr/>
        </p:nvSpPr>
        <p:spPr>
          <a:xfrm>
            <a:off x="9559637" y="4545535"/>
            <a:ext cx="2004677" cy="6093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L’estensione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qubit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rompe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nulla</a:t>
            </a:r>
            <a:endParaRPr lang="en-US" sz="800" dirty="0"/>
          </a:p>
        </p:txBody>
      </p:sp>
      <p:sp>
        <p:nvSpPr>
          <p:cNvPr id="40" name="Desc HA dimero">
            <a:extLst>
              <a:ext uri="{FF2B5EF4-FFF2-40B4-BE49-F238E27FC236}">
                <a16:creationId xmlns:a16="http://schemas.microsoft.com/office/drawing/2014/main" id="{74D20FAF-5907-903E-FE6B-04F387A7F98A}"/>
              </a:ext>
            </a:extLst>
          </p:cNvPr>
          <p:cNvSpPr txBox="1"/>
          <p:nvPr/>
        </p:nvSpPr>
        <p:spPr>
          <a:xfrm>
            <a:off x="9559637" y="2678557"/>
            <a:ext cx="2004677" cy="15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solo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riscalamento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non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</a:t>
            </a:r>
          </a:p>
        </p:txBody>
      </p:sp>
      <p:sp>
        <p:nvSpPr>
          <p:cNvPr id="41" name="Desc HA dimero">
            <a:extLst>
              <a:ext uri="{FF2B5EF4-FFF2-40B4-BE49-F238E27FC236}">
                <a16:creationId xmlns:a16="http://schemas.microsoft.com/office/drawing/2014/main" id="{0BB4B631-355A-C02C-F4B4-8E87AE37EC9D}"/>
              </a:ext>
            </a:extLst>
          </p:cNvPr>
          <p:cNvSpPr txBox="1"/>
          <p:nvPr/>
        </p:nvSpPr>
        <p:spPr>
          <a:xfrm>
            <a:off x="9559633" y="2869230"/>
            <a:ext cx="2004677" cy="437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Asimmetrico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riscalamanto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traslazione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potrebbe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spostare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N* ma non lo fa (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50x il rapport </a:t>
            </a:r>
            <a:r>
              <a:rPr lang="en-US" sz="800" dirty="0"/>
              <a:t>p10​/p01</a:t>
            </a:r>
            <a:r>
              <a:rPr lang="en-US" sz="8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/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/>
                  <a:t>Il </a:t>
                </a:r>
                <a:r>
                  <a:rPr lang="en-US" sz="900" dirty="0" err="1"/>
                  <a:t>compromesso</a:t>
                </a:r>
                <a:r>
                  <a:rPr lang="en-US" sz="900" dirty="0"/>
                  <a:t> </a:t>
                </a:r>
                <a:r>
                  <a:rPr lang="en-US" sz="900" dirty="0" err="1"/>
                  <a:t>fra</a:t>
                </a:r>
                <a:r>
                  <a:rPr lang="en-US" sz="900" dirty="0"/>
                  <a:t> </a:t>
                </a:r>
                <a:r>
                  <a:rPr lang="en-US" sz="900" dirty="0" err="1"/>
                  <a:t>errore</a:t>
                </a:r>
                <a:r>
                  <a:rPr lang="en-US" sz="900" dirty="0"/>
                  <a:t> di Trotter e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 di gate - </a:t>
                </a:r>
                <a:r>
                  <a:rPr lang="en-US" sz="900" dirty="0" err="1"/>
                  <a:t>creato</a:t>
                </a:r>
                <a:r>
                  <a:rPr lang="en-US" sz="900" dirty="0"/>
                  <a:t> dal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: senza </a:t>
                </a:r>
                <a:r>
                  <a:rPr lang="en-US" sz="900" dirty="0" err="1"/>
                  <a:t>rumore</a:t>
                </a:r>
                <a:r>
                  <a:rPr lang="en-US" sz="900" dirty="0"/>
                  <a:t>, </a:t>
                </a:r>
                <a:r>
                  <a:rPr lang="en-US" sz="900" dirty="0" err="1"/>
                  <a:t>l'ottimo</a:t>
                </a:r>
                <a:r>
                  <a:rPr lang="en-US" sz="900" dirty="0"/>
                  <a:t> </a:t>
                </a:r>
                <a:r>
                  <a:rPr lang="en-US" sz="900" dirty="0" err="1"/>
                  <a:t>sarebbe</a:t>
                </a:r>
                <a:r>
                  <a:rPr lang="en-US" sz="900" dirty="0"/>
                  <a:t> </a:t>
                </a:r>
                <a14:m>
                  <m:oMath xmlns:m="http://schemas.openxmlformats.org/officeDocument/2006/math">
                    <m:r>
                      <a:rPr lang="en-US" sz="900" i="1"/>
                      <m:t>𝑁</m:t>
                    </m:r>
                    <m:r>
                      <a:rPr lang="en-US" sz="900"/>
                      <m:t>→∞</m:t>
                    </m:r>
                  </m:oMath>
                </a14:m>
                <a:endParaRPr lang="en-US" sz="900" dirty="0"/>
              </a:p>
            </p:txBody>
          </p:sp>
        </mc:Choice>
        <mc:Fallback>
          <p:sp>
            <p:nvSpPr>
              <p:cNvPr id="5" name="Desc HA dimero">
                <a:extLst>
                  <a:ext uri="{FF2B5EF4-FFF2-40B4-BE49-F238E27FC236}">
                    <a16:creationId xmlns:a16="http://schemas.microsoft.com/office/drawing/2014/main" id="{37AAD309-B767-5F05-34C3-D3D8E73049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142" y="4232977"/>
                <a:ext cx="3165456" cy="292821"/>
              </a:xfrm>
              <a:prstGeom prst="rect">
                <a:avLst/>
              </a:prstGeom>
              <a:blipFill>
                <a:blip r:embed="rId10"/>
                <a:stretch>
                  <a:fillRect l="-2312" t="-8333" b="-2291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Desc HA dimero">
            <a:extLst>
              <a:ext uri="{FF2B5EF4-FFF2-40B4-BE49-F238E27FC236}">
                <a16:creationId xmlns:a16="http://schemas.microsoft.com/office/drawing/2014/main" id="{ED62ED61-319B-8C7B-1573-BB9B9AD69924}"/>
              </a:ext>
            </a:extLst>
          </p:cNvPr>
          <p:cNvSpPr txBox="1"/>
          <p:nvPr/>
        </p:nvSpPr>
        <p:spPr>
          <a:xfrm>
            <a:off x="4754880" y="4242560"/>
            <a:ext cx="3485374" cy="292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/>
              <a:t>Il </a:t>
            </a:r>
            <a:r>
              <a:rPr lang="en-US" sz="900" dirty="0" err="1"/>
              <a:t>picco</a:t>
            </a:r>
            <a:r>
              <a:rPr lang="en-US" sz="900" dirty="0"/>
              <a:t> è </a:t>
            </a:r>
            <a:r>
              <a:rPr lang="en-US" sz="900" dirty="0" err="1"/>
              <a:t>già</a:t>
            </a:r>
            <a:r>
              <a:rPr lang="en-US" sz="900" dirty="0"/>
              <a:t> </a:t>
            </a:r>
            <a:r>
              <a:rPr lang="en-US" sz="900" dirty="0" err="1"/>
              <a:t>presente</a:t>
            </a:r>
            <a:r>
              <a:rPr lang="en-US" sz="900" dirty="0"/>
              <a:t> a </a:t>
            </a:r>
            <a:r>
              <a:rPr lang="en-US" sz="900" dirty="0" err="1"/>
              <a:t>rumore</a:t>
            </a:r>
            <a:r>
              <a:rPr lang="en-US" sz="900" dirty="0"/>
              <a:t> </a:t>
            </a:r>
            <a:r>
              <a:rPr lang="en-US" sz="900" dirty="0" err="1"/>
              <a:t>spento</a:t>
            </a:r>
            <a:r>
              <a:rPr lang="en-US" sz="900" dirty="0"/>
              <a:t> (</a:t>
            </a:r>
            <a:r>
              <a:rPr lang="en-US" sz="900" dirty="0" err="1"/>
              <a:t>interferenza</a:t>
            </a:r>
            <a:r>
              <a:rPr lang="en-US" sz="900" dirty="0"/>
              <a:t> di </a:t>
            </a:r>
            <a:r>
              <a:rPr lang="en-US" sz="900" dirty="0" err="1"/>
              <a:t>fase</a:t>
            </a:r>
            <a:r>
              <a:rPr lang="en-US" sz="900" dirty="0"/>
              <a:t> </a:t>
            </a:r>
            <a:r>
              <a:rPr lang="en-US" sz="900" dirty="0" err="1"/>
              <a:t>fra</a:t>
            </a:r>
            <a:r>
              <a:rPr lang="en-US" sz="900" dirty="0"/>
              <a:t> </a:t>
            </a:r>
            <a:r>
              <a:rPr lang="en-US" sz="900" dirty="0" err="1"/>
              <a:t>frequenze</a:t>
            </a:r>
            <a:r>
              <a:rPr lang="en-US" sz="900" dirty="0"/>
              <a:t> </a:t>
            </a:r>
            <a:r>
              <a:rPr lang="en-US" sz="900" dirty="0" err="1"/>
              <a:t>leggermente</a:t>
            </a:r>
            <a:r>
              <a:rPr lang="en-US" sz="900" dirty="0"/>
              <a:t> </a:t>
            </a:r>
            <a:r>
              <a:rPr lang="en-US" sz="900" dirty="0" err="1"/>
              <a:t>sbagliate</a:t>
            </a:r>
            <a:r>
              <a:rPr lang="en-US" sz="900" dirty="0"/>
              <a:t>) — il </a:t>
            </a:r>
            <a:r>
              <a:rPr lang="en-US" sz="900" dirty="0" err="1"/>
              <a:t>rumore</a:t>
            </a:r>
            <a:r>
              <a:rPr lang="en-US" sz="900" dirty="0"/>
              <a:t> lo </a:t>
            </a:r>
            <a:r>
              <a:rPr lang="en-US" sz="900" dirty="0" err="1"/>
              <a:t>accentua</a:t>
            </a:r>
            <a:r>
              <a:rPr lang="en-US" sz="900" dirty="0"/>
              <a:t>, non lo </a:t>
            </a:r>
            <a:r>
              <a:rPr lang="en-US" sz="900" dirty="0" err="1"/>
              <a:t>crea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11535" cy="594360"/>
          </a:xfrm>
          <a:prstGeom prst="roundRect">
            <a:avLst>
              <a:gd name="adj" fmla="val 12308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7276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metodo — simmetrie → ansatz, VQE+Trotter → correlatori, rumore calibrato su hardware reale — esteso dal dimero al trimero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5272888" cy="2331720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254203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cambia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999232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L'ordine di preferenza degli ansatz si inverte: W-2q.6 domina RBS-2q (nel dimero era il contrario)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75304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dinamica richiede un livello in più di approssimazione (qubit condivisi fra legami), convergenza sensibilmente più lenta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151376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Sotto rumore, la maggiore profondità dell'ansatz canonico dà una degradazione di fedeltà doppia a parità di calibrazione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8728" y="2377440"/>
            <a:ext cx="5272888" cy="2331720"/>
          </a:xfrm>
          <a:prstGeom prst="roundRect">
            <a:avLst>
              <a:gd name="adj" fmla="val 3922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53048" y="2542032"/>
            <a:ext cx="472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 resta vero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999232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criterio N* = argmax_N |C(N)| funziona in entrambi (qui non sovrastima il valore fisico, a differenza del dimero)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553048" y="3575304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Riuso dei parametri ideali sotto rumore: robusto in entrambi (scostamento misurabile solo nel trimero, senza conseguenze su N*)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4151376"/>
            <a:ext cx="472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modello di rumore, stessa metodologia di verifica (esatto → solo Trotter → Trotter+rumore) applicata a entrambi i sistemi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956048"/>
            <a:ext cx="10911535" cy="1371600"/>
          </a:xfrm>
          <a:prstGeom prst="roundRect">
            <a:avLst>
              <a:gd name="adj" fmla="val 6667"/>
            </a:avLst>
          </a:prstGeom>
          <a:solidFill>
            <a:srgbClr val="173A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005840" y="4956048"/>
            <a:ext cx="101800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 conclusioni metodologiche stabilite su un sistema a due spin non si trasferiscono automaticamente a un sistema anche di poco superiore — ciascun confronto richiede una verifica specifica per il sistema e il punto di lavoro considerati.”</a:t>
            </a:r>
            <a:endParaRPr lang="en-US" sz="15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1419</TotalTime>
  <Words>2129</Words>
  <Application>Microsoft Office PowerPoint</Application>
  <PresentationFormat>Widescreen</PresentationFormat>
  <Paragraphs>212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 Math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68</cp:revision>
  <cp:lastPrinted>2026-09-18T08:42:32Z</cp:lastPrinted>
  <dcterms:created xsi:type="dcterms:W3CDTF">2026-09-14T09:54:52Z</dcterms:created>
  <dcterms:modified xsi:type="dcterms:W3CDTF">2026-09-18T09:20:02Z</dcterms:modified>
</cp:coreProperties>
</file>