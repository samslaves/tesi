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623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28788" y="711105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28788" y="1488345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28788" y="1488345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Hilbert al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N ha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28787" y="2864478"/>
            <a:ext cx="5029200" cy="47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 (1982) ha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congetturato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2C4C30-539D-7809-69F6-71DB02378B85}"/>
              </a:ext>
            </a:extLst>
          </p:cNvPr>
          <p:cNvSpPr txBox="1"/>
          <p:nvPr/>
        </p:nvSpPr>
        <p:spPr>
          <a:xfrm>
            <a:off x="804224" y="3258836"/>
            <a:ext cx="39006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"un computer </a:t>
            </a:r>
            <a:r>
              <a:rPr lang="en-US" sz="1400" dirty="0" err="1"/>
              <a:t>quantistico</a:t>
            </a:r>
            <a:r>
              <a:rPr lang="en-US" sz="1400" dirty="0"/>
              <a:t> </a:t>
            </a:r>
            <a:r>
              <a:rPr lang="en-US" sz="1400" dirty="0" err="1"/>
              <a:t>dovrebbe</a:t>
            </a:r>
            <a:r>
              <a:rPr lang="en-US" sz="1400" dirty="0"/>
              <a:t> </a:t>
            </a:r>
            <a:r>
              <a:rPr lang="en-US" sz="1400" dirty="0" err="1"/>
              <a:t>poter</a:t>
            </a:r>
            <a:r>
              <a:rPr lang="en-US" sz="1400" dirty="0"/>
              <a:t> </a:t>
            </a:r>
            <a:r>
              <a:rPr lang="en-US" sz="1400" dirty="0" err="1"/>
              <a:t>simulare</a:t>
            </a:r>
            <a:r>
              <a:rPr lang="en-US" sz="1400" dirty="0"/>
              <a:t> </a:t>
            </a:r>
            <a:r>
              <a:rPr lang="en-US" sz="1400" dirty="0" err="1"/>
              <a:t>qualsiasi</a:t>
            </a:r>
            <a:r>
              <a:rPr lang="en-US" sz="1400" dirty="0"/>
              <a:t> </a:t>
            </a:r>
            <a:r>
              <a:rPr lang="en-US" sz="1400" dirty="0" err="1"/>
              <a:t>sistema</a:t>
            </a:r>
            <a:r>
              <a:rPr lang="en-US" sz="1400" dirty="0"/>
              <a:t> </a:t>
            </a:r>
            <a:r>
              <a:rPr lang="en-US" sz="1400" dirty="0" err="1"/>
              <a:t>quantistico</a:t>
            </a:r>
            <a:r>
              <a:rPr lang="en-US" sz="1400" dirty="0"/>
              <a:t> locale in modo </a:t>
            </a:r>
            <a:r>
              <a:rPr lang="en-US" sz="1400" dirty="0" err="1"/>
              <a:t>efficiente</a:t>
            </a:r>
            <a:r>
              <a:rPr lang="en-US" sz="1400" dirty="0"/>
              <a:t>"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757B0E-C20E-962C-76D7-E7164CA457B1}"/>
                  </a:ext>
                </a:extLst>
              </p:cNvPr>
              <p:cNvSpPr txBox="1"/>
              <p:nvPr/>
            </p:nvSpPr>
            <p:spPr>
              <a:xfrm>
                <a:off x="5560828" y="2318744"/>
                <a:ext cx="5890437" cy="4777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400" b="1" dirty="0" err="1"/>
                  <a:t>Decomposizione</a:t>
                </a:r>
                <a:r>
                  <a:rPr lang="en-US" sz="1400" b="1" dirty="0"/>
                  <a:t> di Suzuki-Trotter:</a:t>
                </a:r>
                <a:r>
                  <a:rPr lang="en-US" sz="1400" dirty="0"/>
                  <a:t> per </a:t>
                </a:r>
                <a:r>
                  <a:rPr lang="en-US" sz="1400" dirty="0" err="1"/>
                  <a:t>una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Hamiltoniana</a:t>
                </a:r>
                <a:r>
                  <a:rPr lang="en-US" sz="1400" dirty="0"/>
                  <a:t> somma di </a:t>
                </a:r>
                <a:r>
                  <a:rPr lang="en-US" sz="1400" dirty="0" err="1"/>
                  <a:t>operatori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locali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in generale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singoli</a:t>
                </a:r>
                <a:r>
                  <a:rPr lang="en-US" sz="1400" dirty="0"/>
                  <a:t> termini </a:t>
                </a:r>
                <a:r>
                  <a:rPr lang="en-US" sz="1400" b="1" dirty="0"/>
                  <a:t>non </a:t>
                </a:r>
                <a:r>
                  <a:rPr lang="en-US" sz="1400" b="1" dirty="0" err="1"/>
                  <a:t>commutano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≠0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l'esponenziale</a:t>
                </a:r>
                <a:r>
                  <a:rPr lang="en-US" sz="1400" dirty="0"/>
                  <a:t> della somma </a:t>
                </a:r>
                <a:r>
                  <a:rPr lang="en-US" sz="1400" b="1" dirty="0"/>
                  <a:t>non è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prodotto</a:t>
                </a:r>
                <a:r>
                  <a:rPr lang="en-US" sz="1400" dirty="0"/>
                  <a:t> degli </a:t>
                </a:r>
                <a:r>
                  <a:rPr lang="en-US" sz="1400" dirty="0" err="1"/>
                  <a:t>esponenziali</a:t>
                </a:r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	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supHide m:val="on"/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1400" dirty="0">
                        <a:latin typeface="Cambria Math" panose="02040503050406030204" pitchFamily="18" charset="0"/>
                      </a:rPr>
                      <m:t>≠</m:t>
                    </m:r>
                    <m:nary>
                      <m:naryPr>
                        <m:chr m:val="∏"/>
                        <m:limLoc m:val="undOvr"/>
                        <m:sup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1400" dirty="0"/>
                  <a:t> </a:t>
                </a:r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Per </a:t>
                </a:r>
                <a:r>
                  <a:rPr lang="en-US" sz="1400" dirty="0" err="1"/>
                  <a:t>mappare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questa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evoluzione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porte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quantistiche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logiche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divide il tempo </a:t>
                </a:r>
                <a:r>
                  <a:rPr lang="en-US" sz="1400" dirty="0" err="1"/>
                  <a:t>totale</a:t>
                </a:r>
                <a:r>
                  <a:rPr lang="en-US" sz="1400" dirty="0"/>
                  <a:t> t in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piccoli</a:t>
                </a:r>
                <a:r>
                  <a:rPr lang="en-US" sz="1400" dirty="0"/>
                  <a:t> intervalli </a:t>
                </a:r>
                <a:r>
                  <a:rPr lang="en-US" sz="1400" dirty="0" err="1"/>
                  <a:t>temporali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. Sotto </a:t>
                </a:r>
                <a:r>
                  <a:rPr lang="en-US" sz="1400" dirty="0" err="1"/>
                  <a:t>l'ipotesi</a:t>
                </a:r>
                <a:r>
                  <a:rPr lang="en-US" sz="1400" dirty="0"/>
                  <a:t> di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→0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𝑜𝑣𝑣𝑒𝑟</m:t>
                        </m:r>
                        <m:r>
                          <m:rPr>
                            <m:sty m:val="p"/>
                          </m:rPr>
                          <a:rPr lang="en-US" sz="1400" i="1" dirty="0"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→∞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applica</a:t>
                </a:r>
                <a:r>
                  <a:rPr lang="en-US" sz="1400" dirty="0"/>
                  <a:t> la </a:t>
                </a:r>
                <a:r>
                  <a:rPr lang="en-US" sz="1400" b="1" dirty="0"/>
                  <a:t>formula Totter</a:t>
                </a:r>
                <a:endParaRPr lang="en-US" sz="1400" dirty="0"/>
              </a:p>
              <a:p>
                <a:pPr algn="just"/>
                <a:br>
                  <a:rPr lang="en-US" sz="1400" dirty="0"/>
                </a:b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𝑖𝐻𝑡</m:t>
                          </m:r>
                        </m:sup>
                      </m:sSup>
                      <m:r>
                        <a:rPr lang="en-US" sz="1400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400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400" dirty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1400" dirty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∏"/>
                                      <m:limLoc m:val="undOvr"/>
                                      <m:supHide m:val="on"/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sz="1400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𝐻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f>
                                            <m:f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den>
                                          </m:f>
                                        </m:sup>
                                      </m:sSup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Per un </a:t>
                </a:r>
                <a:r>
                  <a:rPr lang="en-US" sz="1400" dirty="0" err="1"/>
                  <a:t>numero</a:t>
                </a:r>
                <a:r>
                  <a:rPr lang="en-US" sz="1400" dirty="0"/>
                  <a:t> di step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finito, </a:t>
                </a:r>
                <a:r>
                  <a:rPr lang="en-US" sz="1400" dirty="0" err="1"/>
                  <a:t>l'approssimazione</a:t>
                </a:r>
                <a:r>
                  <a:rPr lang="en-US" sz="1400" dirty="0"/>
                  <a:t> al primo </a:t>
                </a:r>
                <a:r>
                  <a:rPr lang="en-US" sz="1400" dirty="0" err="1"/>
                  <a:t>ordine</a:t>
                </a:r>
                <a:r>
                  <a:rPr lang="en-US" sz="1400" dirty="0"/>
                  <a:t> introduce un </a:t>
                </a:r>
                <a:r>
                  <a:rPr lang="en-US" sz="1400" dirty="0" err="1"/>
                  <a:t>errore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controllabile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errore</a:t>
                </a:r>
                <a:r>
                  <a:rPr lang="en-US" sz="1400" dirty="0"/>
                  <a:t> di Trotter) legato ai </a:t>
                </a:r>
                <a:r>
                  <a:rPr lang="en-US" sz="1400" dirty="0" err="1"/>
                  <a:t>commutatori</a:t>
                </a:r>
                <a:endParaRPr lang="en-US" sz="1400"/>
              </a:p>
              <a:p>
                <a:pPr algn="just"/>
                <a:endParaRPr lang="en-US" sz="1400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𝑖𝐻</m:t>
                          </m:r>
                          <m:r>
                            <m:rPr>
                              <m:sty m:val="p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400">
                          <a:latin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sz="140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400" i="1" dirty="0"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:endParaRPr lang="en-US" sz="1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757B0E-C20E-962C-76D7-E7164CA45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0828" y="2318744"/>
                <a:ext cx="5890437" cy="4777270"/>
              </a:xfrm>
              <a:prstGeom prst="rect">
                <a:avLst/>
              </a:prstGeom>
              <a:blipFill>
                <a:blip r:embed="rId3"/>
                <a:stretch>
                  <a:fillRect l="-311" t="-1913" r="-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esc HA dimero">
            <a:extLst>
              <a:ext uri="{FF2B5EF4-FFF2-40B4-BE49-F238E27FC236}">
                <a16:creationId xmlns:a16="http://schemas.microsoft.com/office/drawing/2014/main" id="{488356C8-D2B5-A1E3-C22D-0A0B7E6FA194}"/>
              </a:ext>
            </a:extLst>
          </p:cNvPr>
          <p:cNvSpPr txBox="1"/>
          <p:nvPr/>
        </p:nvSpPr>
        <p:spPr>
          <a:xfrm>
            <a:off x="640080" y="6446520"/>
            <a:ext cx="3257589" cy="33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5B6B84"/>
                </a:solidFill>
              </a:rPr>
              <a:t>Lloyd, Science 273, 1073 (1996)</a:t>
            </a: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04B988AC-3E27-D498-3480-97C1AE0072CF}"/>
              </a:ext>
            </a:extLst>
          </p:cNvPr>
          <p:cNvSpPr txBox="1"/>
          <p:nvPr/>
        </p:nvSpPr>
        <p:spPr>
          <a:xfrm>
            <a:off x="640080" y="4519177"/>
            <a:ext cx="5029200" cy="47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 (1996)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dimostra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questa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congettura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6C4B60-1D1B-89FB-E6B8-D615E00CF821}"/>
              </a:ext>
            </a:extLst>
          </p:cNvPr>
          <p:cNvSpPr txBox="1"/>
          <p:nvPr/>
        </p:nvSpPr>
        <p:spPr>
          <a:xfrm>
            <a:off x="815517" y="4913535"/>
            <a:ext cx="38893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lo fa </a:t>
            </a:r>
            <a:r>
              <a:rPr lang="en-US" sz="1400" dirty="0" err="1"/>
              <a:t>usando</a:t>
            </a:r>
            <a:r>
              <a:rPr lang="en-US" sz="1400" dirty="0"/>
              <a:t> </a:t>
            </a:r>
            <a:r>
              <a:rPr lang="en-US" sz="1400" dirty="0" err="1"/>
              <a:t>esattamente</a:t>
            </a:r>
            <a:r>
              <a:rPr lang="en-US" sz="1400" dirty="0"/>
              <a:t> la </a:t>
            </a:r>
            <a:r>
              <a:rPr lang="en-US" sz="1400" dirty="0" err="1"/>
              <a:t>decomposizione</a:t>
            </a:r>
            <a:r>
              <a:rPr lang="en-US" sz="1400" dirty="0"/>
              <a:t> di Trotter come </a:t>
            </a:r>
            <a:r>
              <a:rPr lang="en-US" sz="1400" dirty="0" err="1"/>
              <a:t>strumento</a:t>
            </a:r>
            <a:r>
              <a:rPr lang="en-US" sz="1400" dirty="0"/>
              <a:t> della </a:t>
            </a:r>
            <a:r>
              <a:rPr lang="en-US" sz="1400" dirty="0" err="1"/>
              <a:t>dimostrazione</a:t>
            </a:r>
            <a:r>
              <a:rPr lang="en-US" sz="1400" dirty="0"/>
              <a:t> 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189</Words>
  <Application>Microsoft Office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27</cp:revision>
  <dcterms:created xsi:type="dcterms:W3CDTF">2026-09-15T09:56:14Z</dcterms:created>
  <dcterms:modified xsi:type="dcterms:W3CDTF">2026-09-18T19:14:21Z</dcterms:modified>
</cp:coreProperties>
</file>