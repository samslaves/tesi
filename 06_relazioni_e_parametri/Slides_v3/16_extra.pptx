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olo dimero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due qubit (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345620-629D-B964-53EC-3DECB48A8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8368" y="2269261"/>
            <a:ext cx="8477143" cy="2036858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B862225E-7227-3EEC-FCB1-385D2BB725DB}"/>
              </a:ext>
            </a:extLst>
          </p:cNvPr>
          <p:cNvSpPr txBox="1"/>
          <p:nvPr/>
        </p:nvSpPr>
        <p:spPr>
          <a:xfrm>
            <a:off x="640080" y="5679269"/>
            <a:ext cx="5151121" cy="9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FontTx/>
              <a:buChar char="■"/>
            </a:pPr>
            <a:r>
              <a:rPr lang="en-US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Hardware: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/>
              <a:t>Trasforma</a:t>
            </a:r>
            <a:r>
              <a:rPr lang="en-US" dirty="0"/>
              <a:t> un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continuo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sequenza</a:t>
            </a:r>
            <a:r>
              <a:rPr lang="en-US" dirty="0"/>
              <a:t> </a:t>
            </a:r>
            <a:r>
              <a:rPr lang="en-US" dirty="0" err="1"/>
              <a:t>discreta</a:t>
            </a:r>
            <a:r>
              <a:rPr lang="en-US" dirty="0"/>
              <a:t> di </a:t>
            </a:r>
            <a:r>
              <a:rPr lang="en-US" dirty="0" err="1"/>
              <a:t>circuiti</a:t>
            </a:r>
            <a:r>
              <a:rPr lang="en-US" dirty="0"/>
              <a:t> a </a:t>
            </a:r>
            <a:r>
              <a:rPr lang="en-US" dirty="0" err="1"/>
              <a:t>blocchi</a:t>
            </a:r>
            <a:r>
              <a:rPr lang="en-US" dirty="0"/>
              <a:t> </a:t>
            </a:r>
            <a:r>
              <a:rPr lang="en-US" dirty="0" err="1"/>
              <a:t>ripetuti</a:t>
            </a:r>
            <a:r>
              <a:rPr lang="en-US" dirty="0"/>
              <a:t>, </a:t>
            </a:r>
            <a:r>
              <a:rPr lang="en-US" dirty="0" err="1"/>
              <a:t>ideale</a:t>
            </a:r>
            <a:r>
              <a:rPr lang="en-US" dirty="0"/>
              <a:t> per </a:t>
            </a:r>
            <a:r>
              <a:rPr lang="en-US" dirty="0" err="1"/>
              <a:t>l'hardware</a:t>
            </a:r>
            <a:r>
              <a:rPr lang="en-US" dirty="0"/>
              <a:t> </a:t>
            </a:r>
            <a:r>
              <a:rPr lang="en-US" dirty="0" err="1"/>
              <a:t>quantistico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C9B64EBA-6147-767A-358E-5C825C20FBF1}"/>
                  </a:ext>
                </a:extLst>
              </p:cNvPr>
              <p:cNvSpPr txBox="1"/>
              <p:nvPr/>
            </p:nvSpPr>
            <p:spPr>
              <a:xfrm>
                <a:off x="640080" y="4445627"/>
                <a:ext cx="5151121" cy="13626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FontTx/>
                  <a:buChar char="■"/>
                </a:pPr>
                <a:r>
                  <a:rPr lang="en-US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Esponenziazione</a:t>
                </a:r>
                <a:r>
                  <a:rPr lang="en-US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Locale: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/>
                  <a:t>Ogni </a:t>
                </a:r>
                <a:r>
                  <a:rPr lang="en-US" dirty="0" err="1"/>
                  <a:t>singolo</a:t>
                </a:r>
                <a:r>
                  <a:rPr lang="en-US" dirty="0"/>
                  <a:t> </a:t>
                </a:r>
                <a:r>
                  <a:rPr lang="en-US" dirty="0" err="1"/>
                  <a:t>blocco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viene </a:t>
                </a:r>
                <a:r>
                  <a:rPr lang="en-US" dirty="0" err="1"/>
                  <a:t>tradotto</a:t>
                </a:r>
                <a:r>
                  <a:rPr lang="en-US" dirty="0"/>
                  <a:t> </a:t>
                </a:r>
                <a:r>
                  <a:rPr lang="en-US" dirty="0" err="1"/>
                  <a:t>direttamente</a:t>
                </a:r>
                <a:r>
                  <a:rPr lang="en-US" dirty="0"/>
                  <a:t> in </a:t>
                </a:r>
                <a:r>
                  <a:rPr lang="en-US" dirty="0" err="1"/>
                  <a:t>porte</a:t>
                </a:r>
                <a:r>
                  <a:rPr lang="en-US" dirty="0"/>
                  <a:t> </a:t>
                </a:r>
                <a:r>
                  <a:rPr lang="en-US" dirty="0" err="1"/>
                  <a:t>quantistiche</a:t>
                </a:r>
                <a:r>
                  <a:rPr lang="en-US" dirty="0"/>
                  <a:t> </a:t>
                </a:r>
                <a:r>
                  <a:rPr lang="en-US" dirty="0" err="1"/>
                  <a:t>elementari</a:t>
                </a:r>
                <a:r>
                  <a:rPr lang="en-US" dirty="0"/>
                  <a:t>.</a:t>
                </a:r>
              </a:p>
              <a:p>
                <a:pPr marL="279400" indent="-279400">
                  <a:buSzPct val="100000"/>
                  <a:buFontTx/>
                  <a:buChar char="■"/>
                </a:pPr>
                <a:endParaRPr lang="en-US" dirty="0"/>
              </a:p>
            </p:txBody>
          </p:sp>
        </mc:Choice>
        <mc:Fallback xmlns="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C9B64EBA-6147-767A-358E-5C825C20F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445627"/>
                <a:ext cx="5151121" cy="1362669"/>
              </a:xfrm>
              <a:prstGeom prst="rect">
                <a:avLst/>
              </a:prstGeom>
              <a:blipFill>
                <a:blip r:embed="rId4"/>
                <a:stretch>
                  <a:fillRect l="-24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28C95B-5B11-CC46-6B6C-8F23F73122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67856" y="4773169"/>
              <a:ext cx="5452872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2726436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1​+</m:t>
                                    </m:r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2​−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28C95B-5B11-CC46-6B6C-8F23F73122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67856" y="4773169"/>
              <a:ext cx="5452872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2726436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3" t="-3448" r="-100893" b="-3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3448" r="-1119" b="-3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89552" r="-100893" b="-1731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89552" r="-1119" b="-1731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226786" r="-100893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226786" r="-1119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321053" r="-100893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321053" r="-1119" b="-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FDBE2E-A3C7-AAC5-4BF9-18AB83260F2F}"/>
                  </a:ext>
                </a:extLst>
              </p:cNvPr>
              <p:cNvSpPr txBox="1"/>
              <p:nvPr/>
            </p:nvSpPr>
            <p:spPr>
              <a:xfrm>
                <a:off x="6482975" y="6359768"/>
                <a:ext cx="50404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200" dirty="0"/>
                  <a:t>;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FDBE2E-A3C7-AAC5-4BF9-18AB83260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975" y="6359768"/>
                <a:ext cx="5040496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968B5-0E0C-82AF-3A13-668CB350F3BF}"/>
                  </a:ext>
                </a:extLst>
              </p:cNvPr>
              <p:cNvSpPr txBox="1"/>
              <p:nvPr/>
            </p:nvSpPr>
            <p:spPr>
              <a:xfrm>
                <a:off x="1388601" y="4147832"/>
                <a:ext cx="93582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𝑅𝑍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𝑅𝑋𝑋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𝑅𝑌𝑌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𝑏𝑙𝑜𝑐𝑐𝑜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​​→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𝑏𝑙𝑜𝑐𝑐𝑜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968B5-0E0C-82AF-3A13-668CB350F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01" y="4147832"/>
                <a:ext cx="9358203" cy="27699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olo trimero">
            <a:extLst>
              <a:ext uri="{FF2B5EF4-FFF2-40B4-BE49-F238E27FC236}">
                <a16:creationId xmlns:a16="http://schemas.microsoft.com/office/drawing/2014/main" id="{391A99A2-3C52-4FAE-0EE5-5B67D764AA14}"/>
              </a:ext>
            </a:extLst>
          </p:cNvPr>
          <p:cNvSpPr txBox="1"/>
          <p:nvPr/>
        </p:nvSpPr>
        <p:spPr>
          <a:xfrm>
            <a:off x="611936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qubit (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FA1B48-4521-9172-6400-DCC8A5CF48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947" y="2148840"/>
            <a:ext cx="11413066" cy="2275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8889EB-DC5E-75A4-13C2-28B4779EE3A4}"/>
                  </a:ext>
                </a:extLst>
              </p:cNvPr>
              <p:cNvSpPr txBox="1"/>
              <p:nvPr/>
            </p:nvSpPr>
            <p:spPr>
              <a:xfrm>
                <a:off x="8649546" y="5808296"/>
                <a:ext cx="31834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adotta</a:t>
                </a:r>
                <a:r>
                  <a:rPr lang="en-US" sz="1200" dirty="0"/>
                  <a:t> la </a:t>
                </a:r>
                <a:r>
                  <a:rPr lang="en-US" sz="1200" dirty="0" err="1"/>
                  <a:t>convenzione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operatori</a:t>
                </a:r>
                <a:r>
                  <a:rPr lang="en-US" sz="1200" dirty="0"/>
                  <a:t> di spin (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200" dirty="0"/>
                  <a:t>s),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 la </a:t>
                </a:r>
                <a:r>
                  <a:rPr lang="en-US" sz="1200" dirty="0" err="1"/>
                  <a:t>convenzione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</a:t>
                </a:r>
                <a:r>
                  <a:rPr lang="en-US" sz="1200" dirty="0"/>
                  <a:t> in Pauli - da cui il </a:t>
                </a:r>
                <a:r>
                  <a:rPr lang="en-US" sz="1200" dirty="0" err="1"/>
                  <a:t>diverso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rapporto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numerico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200" dirty="0"/>
                  <a:t> e </a:t>
                </a:r>
                <a:r>
                  <a:rPr lang="en-US" sz="1200" dirty="0" err="1"/>
                  <a:t>gli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angoli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dei</a:t>
                </a:r>
                <a:r>
                  <a:rPr lang="en-US" sz="1200" dirty="0"/>
                  <a:t> gate </a:t>
                </a:r>
                <a:r>
                  <a:rPr lang="en-US" sz="1200" dirty="0" err="1"/>
                  <a:t>nei</a:t>
                </a:r>
                <a:r>
                  <a:rPr lang="en-US" sz="1200" dirty="0"/>
                  <a:t> due </a:t>
                </a:r>
                <a:r>
                  <a:rPr lang="en-US" sz="1200" dirty="0" err="1"/>
                  <a:t>casi</a:t>
                </a:r>
                <a:r>
                  <a:rPr lang="en-US" sz="1200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8889EB-DC5E-75A4-13C2-28B4779E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546" y="5808296"/>
                <a:ext cx="3183467" cy="830997"/>
              </a:xfrm>
              <a:prstGeom prst="rect">
                <a:avLst/>
              </a:prstGeom>
              <a:blipFill>
                <a:blip r:embed="rId9"/>
                <a:stretch>
                  <a:fillRect l="-192" t="-735"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97C2F76-C34F-1B53-B74C-F9EFF70CE8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947" y="4287157"/>
              <a:ext cx="7691121" cy="231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530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Scambio(1,2)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2832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ampo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q0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5408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2828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701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97C2F76-C34F-1B53-B74C-F9EFF70CE8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947" y="4287157"/>
              <a:ext cx="7691121" cy="2320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854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308" t="-2128" r="-289846" b="-729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2128" r="-598" b="-729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106667" r="-289846" b="-6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106667" r="-250186" b="-6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106667" r="-598" b="-6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206667" r="-289846" b="-5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206667" r="-250186" b="-5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206667" r="-598" b="-5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306667" r="-289846" b="-4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306667" r="-250186" b="-4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306667" r="-598" b="-4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3195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351923" r="-28984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351923" r="-250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351923" r="-59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489583" r="-289846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489583" r="-250186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489583" r="-598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319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544231" r="-28984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544231" r="-25018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544231" r="-598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712766" r="-289846" b="-19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712766" r="-250186" b="-19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712766" r="-598" b="-19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3ADEB57-C936-649B-EE77-269D098C6AD6}"/>
              </a:ext>
            </a:extLst>
          </p:cNvPr>
          <p:cNvSpPr txBox="1"/>
          <p:nvPr/>
        </p:nvSpPr>
        <p:spPr>
          <a:xfrm>
            <a:off x="8649546" y="4426663"/>
            <a:ext cx="2992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Campo e </a:t>
            </a:r>
            <a:r>
              <a:rPr lang="en-US" sz="1200" dirty="0" err="1"/>
              <a:t>scambio</a:t>
            </a:r>
            <a:r>
              <a:rPr lang="en-US" sz="1200" dirty="0"/>
              <a:t> </a:t>
            </a:r>
            <a:r>
              <a:rPr lang="en-US" sz="1200" dirty="0" err="1"/>
              <a:t>commutano</a:t>
            </a:r>
            <a:r>
              <a:rPr lang="en-US" sz="1200" dirty="0"/>
              <a:t> in </a:t>
            </a:r>
            <a:r>
              <a:rPr lang="en-US" sz="1200" dirty="0" err="1"/>
              <a:t>entrambi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sistemi</a:t>
            </a:r>
            <a:r>
              <a:rPr lang="en-US" sz="1200" dirty="0"/>
              <a:t> - </a:t>
            </a:r>
            <a:r>
              <a:rPr lang="en-US" sz="1200" dirty="0" err="1"/>
              <a:t>l'ordine</a:t>
            </a:r>
            <a:r>
              <a:rPr lang="en-US" sz="1200" dirty="0"/>
              <a:t> </a:t>
            </a:r>
            <a:r>
              <a:rPr lang="en-US" sz="1200" dirty="0" err="1"/>
              <a:t>fra</a:t>
            </a:r>
            <a:r>
              <a:rPr lang="en-US" sz="1200" dirty="0"/>
              <a:t> loro è </a:t>
            </a:r>
            <a:r>
              <a:rPr lang="en-US" sz="1200" dirty="0" err="1"/>
              <a:t>arbitrario</a:t>
            </a:r>
            <a:r>
              <a:rPr lang="en-US" sz="1200" dirty="0"/>
              <a:t>, non </a:t>
            </a:r>
            <a:r>
              <a:rPr lang="en-US" sz="1200" dirty="0" err="1"/>
              <a:t>influisce</a:t>
            </a:r>
            <a:r>
              <a:rPr lang="en-US" sz="1200" dirty="0"/>
              <a:t> </a:t>
            </a:r>
            <a:r>
              <a:rPr lang="en-US" sz="1200" dirty="0" err="1"/>
              <a:t>sul</a:t>
            </a:r>
            <a:r>
              <a:rPr lang="en-US" sz="1200" dirty="0"/>
              <a:t> </a:t>
            </a:r>
            <a:r>
              <a:rPr lang="en-US" sz="1200" dirty="0" err="1"/>
              <a:t>risultato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  <p:bldP spid="25" grpId="0" animBg="1"/>
      <p:bldP spid="6" grpId="0"/>
      <p:bldP spid="10" grpId="0"/>
      <p:bldP spid="9" grpId="0" animBg="1"/>
      <p:bldP spid="15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341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</cp:revision>
  <dcterms:created xsi:type="dcterms:W3CDTF">2026-09-18T08:41:29Z</dcterms:created>
  <dcterms:modified xsi:type="dcterms:W3CDTF">2026-09-18T09:03:01Z</dcterms:modified>
</cp:coreProperties>
</file>