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1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Trotter: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convergenza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21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635F32-38C9-142C-E9B9-9BBB6AC3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34" y="2139695"/>
            <a:ext cx="5382271" cy="23451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DA67D3-E7A5-C13E-0658-3EDB1A371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093" y="2139695"/>
            <a:ext cx="5443220" cy="23447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40B33C-239B-8E60-76CB-5263CC5B132F}"/>
                  </a:ext>
                </a:extLst>
              </p:cNvPr>
              <p:cNvSpPr txBox="1"/>
              <p:nvPr/>
            </p:nvSpPr>
            <p:spPr>
              <a:xfrm>
                <a:off x="6322979" y="4802343"/>
                <a:ext cx="5241333" cy="1388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20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1200"/>
                      <m:t>∥</m:t>
                    </m:r>
                    <m:sSub>
                      <m:sSubPr>
                        <m:ctrlPr>
                          <a:rPr lang="en-US" sz="1200" i="1"/>
                        </m:ctrlPr>
                      </m:sSubPr>
                      <m:e>
                        <m:r>
                          <a:rPr lang="en-US" sz="1200" i="1"/>
                          <m:t>𝑈</m:t>
                        </m:r>
                      </m:e>
                      <m:sub>
                        <m:r>
                          <a:rPr lang="en-US" sz="1200" i="1"/>
                          <m:t>𝑐𝑖𝑟𝑐𝑢𝑖𝑡𝑜</m:t>
                        </m:r>
                      </m:sub>
                    </m:sSub>
                    <m:r>
                      <a:rPr lang="en-US" sz="1200"/>
                      <m:t>−</m:t>
                    </m:r>
                    <m:sSub>
                      <m:sSubPr>
                        <m:ctrlPr>
                          <a:rPr lang="en-US" sz="1200" i="1"/>
                        </m:ctrlPr>
                      </m:sSubPr>
                      <m:e>
                        <m:r>
                          <a:rPr lang="en-US" sz="1200" i="1"/>
                          <m:t>𝑈</m:t>
                        </m:r>
                      </m:e>
                      <m:sub>
                        <m:r>
                          <a:rPr lang="en-US" sz="1200" i="1"/>
                          <m:t>𝑒𝑠𝑎𝑡𝑡𝑜</m:t>
                        </m:r>
                      </m:sub>
                    </m:sSub>
                    <m:r>
                      <a:rPr lang="en-US" sz="1200"/>
                      <m:t>∥</m:t>
                    </m:r>
                  </m:oMath>
                </a14:m>
                <a:r>
                  <a:rPr lang="en-US" sz="1200" dirty="0"/>
                  <a:t>: </a:t>
                </a:r>
                <a:r>
                  <a:rPr lang="en-US" sz="1200" dirty="0" err="1"/>
                  <a:t>quanto</a:t>
                </a:r>
                <a:r>
                  <a:rPr lang="en-US" sz="1200" dirty="0"/>
                  <a:t> il </a:t>
                </a:r>
                <a:r>
                  <a:rPr lang="en-US" sz="1200" dirty="0" err="1"/>
                  <a:t>circuito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approssima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/>
                        </m:ctrlPr>
                      </m:sSupPr>
                      <m:e>
                        <m:r>
                          <a:rPr lang="en-US" sz="1200" i="1"/>
                          <m:t>𝑒</m:t>
                        </m:r>
                      </m:e>
                      <m:sup>
                        <m:r>
                          <a:rPr lang="en-US" sz="1200"/>
                          <m:t>−</m:t>
                        </m:r>
                        <m:r>
                          <a:rPr lang="en-US" sz="1200" i="1"/>
                          <m:t>𝑖𝐻𝑡</m:t>
                        </m:r>
                      </m:sup>
                    </m:sSup>
                  </m:oMath>
                </a14:m>
                <a:r>
                  <a:rPr lang="en-US" sz="1200" dirty="0"/>
                  <a:t> </a:t>
                </a:r>
                <a:r>
                  <a:rPr lang="en-US" sz="1200" b="1" dirty="0"/>
                  <a:t>in generale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caso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peggiore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qualunque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) — </a:t>
                </a:r>
                <a:r>
                  <a:rPr lang="en-US" sz="1200" dirty="0" err="1"/>
                  <a:t>pendenza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/>
                      <m:t>−1</m:t>
                    </m:r>
                  </m:oMath>
                </a14:m>
                <a:r>
                  <a:rPr lang="en-US" sz="1200" dirty="0"/>
                  <a:t>−1.</a:t>
                </a:r>
              </a:p>
              <a:p>
                <a:pPr lvl="0"/>
                <a:endParaRPr lang="en-US" sz="120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1200"/>
                      <m:t>1−</m:t>
                    </m:r>
                    <m:r>
                      <a:rPr lang="en-US" sz="1200"/>
                      <m:t>ℱ</m:t>
                    </m:r>
                  </m:oMath>
                </a14:m>
                <a:r>
                  <a:rPr lang="en-US" sz="1200" dirty="0"/>
                  <a:t>: </a:t>
                </a:r>
                <a:r>
                  <a:rPr lang="en-US" sz="1200" dirty="0" err="1"/>
                  <a:t>quanto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sbaglia</a:t>
                </a:r>
                <a:r>
                  <a:rPr lang="en-US" sz="1200" dirty="0"/>
                  <a:t> </a:t>
                </a:r>
                <a:r>
                  <a:rPr lang="en-US" sz="1200" b="1" dirty="0" err="1"/>
                  <a:t>sullo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stato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iniziale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specifico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che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usiamo</a:t>
                </a:r>
                <a:r>
                  <a:rPr lang="en-US" sz="1200" dirty="0"/>
                  <a:t> (∣00⟩ o ∣000⟩) — </a:t>
                </a:r>
                <a:r>
                  <a:rPr lang="en-US" sz="1200" dirty="0" err="1"/>
                  <a:t>pendenza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/>
                      <m:t>−2</m:t>
                    </m:r>
                  </m:oMath>
                </a14:m>
                <a:r>
                  <a:rPr lang="en-US" sz="1200" dirty="0"/>
                  <a:t>, </a:t>
                </a:r>
                <a:r>
                  <a:rPr lang="en-US" sz="1200" dirty="0" err="1"/>
                  <a:t>perché</a:t>
                </a:r>
                <a:r>
                  <a:rPr lang="en-US" sz="1200" dirty="0"/>
                  <a:t> è </a:t>
                </a:r>
                <a:r>
                  <a:rPr lang="en-US" sz="1200" dirty="0" err="1"/>
                  <a:t>essenzialmente</a:t>
                </a:r>
                <a:r>
                  <a:rPr lang="en-US" sz="1200" dirty="0"/>
                  <a:t> il </a:t>
                </a:r>
                <a:r>
                  <a:rPr lang="en-US" sz="1200" dirty="0" err="1"/>
                  <a:t>quadrato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dell'errore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sull'ampiezza</a:t>
                </a:r>
                <a:r>
                  <a:rPr lang="en-US" sz="1200" dirty="0"/>
                  <a:t>.</a:t>
                </a:r>
              </a:p>
              <a:p>
                <a:endParaRPr lang="en-US" sz="1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40B33C-239B-8E60-76CB-5263CC5B1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979" y="4802343"/>
                <a:ext cx="5241333" cy="1388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0458C2-6980-59D4-2538-994A71279422}"/>
                  </a:ext>
                </a:extLst>
              </p:cNvPr>
              <p:cNvSpPr txBox="1"/>
              <p:nvPr/>
            </p:nvSpPr>
            <p:spPr>
              <a:xfrm>
                <a:off x="652779" y="4802342"/>
                <a:ext cx="516436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/>
                  <a:t>A </a:t>
                </a:r>
                <a14:m>
                  <m:oMath xmlns:m="http://schemas.openxmlformats.org/officeDocument/2006/math">
                    <m:r>
                      <a:rPr lang="en-US" sz="1200" i="1"/>
                      <m:t>𝑡</m:t>
                    </m:r>
                    <m:r>
                      <a:rPr lang="en-US" sz="1200"/>
                      <m:t>=0</m:t>
                    </m:r>
                  </m:oMath>
                </a14:m>
                <a:r>
                  <a:rPr lang="en-US" sz="1200" dirty="0"/>
                  <a:t>: lo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iniziale</a:t>
                </a:r>
                <a:r>
                  <a:rPr lang="en-US" sz="1200" dirty="0"/>
                  <a:t> (∣00⟩ per il </a:t>
                </a:r>
                <a:r>
                  <a:rPr lang="en-US" sz="1200" dirty="0" err="1"/>
                  <a:t>dimero</a:t>
                </a:r>
                <a:r>
                  <a:rPr lang="en-US" sz="1200" dirty="0"/>
                  <a:t>, ∣000⟩ per il </a:t>
                </a:r>
                <a:r>
                  <a:rPr lang="en-US" sz="1200" dirty="0" err="1"/>
                  <a:t>trimero</a:t>
                </a:r>
                <a:r>
                  <a:rPr lang="en-US" sz="1200" dirty="0"/>
                  <a:t>) è un </a:t>
                </a:r>
                <a:r>
                  <a:rPr lang="en-US" sz="1200" dirty="0" err="1"/>
                  <a:t>autostato</a:t>
                </a:r>
                <a:r>
                  <a:rPr lang="en-US" sz="1200" dirty="0"/>
                  <a:t> di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/>
                        </m:ctrlPr>
                      </m:sSubSupPr>
                      <m:e>
                        <m:r>
                          <a:rPr lang="en-US" sz="1200" i="1"/>
                          <m:t>𝑆</m:t>
                        </m:r>
                      </m:e>
                      <m:sub>
                        <m:r>
                          <a:rPr lang="en-US" sz="1200" i="1"/>
                          <m:t>𝑧</m:t>
                        </m:r>
                      </m:sub>
                      <m:sup>
                        <m:r>
                          <a:rPr lang="en-US" sz="1200" i="1"/>
                          <m:t>𝑡𝑜𝑡</m:t>
                        </m:r>
                      </m:sup>
                    </m:sSubSup>
                  </m:oMath>
                </a14:m>
                <a:r>
                  <a:rPr lang="en-US" sz="1200" dirty="0"/>
                  <a:t> - </a:t>
                </a:r>
                <a:r>
                  <a:rPr lang="en-US" sz="1200" dirty="0" err="1"/>
                  <a:t>infatti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grafici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partono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esattamente</a:t>
                </a:r>
                <a:r>
                  <a:rPr lang="en-US" sz="1200" dirty="0"/>
                  <a:t> da un </a:t>
                </a:r>
                <a:r>
                  <a:rPr lang="en-US" sz="1200" dirty="0" err="1"/>
                  <a:t>valore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intero</a:t>
                </a:r>
                <a:r>
                  <a:rPr lang="en-US" sz="1200" dirty="0"/>
                  <a:t> (1.0 per il </a:t>
                </a:r>
                <a:r>
                  <a:rPr lang="en-US" sz="1200" dirty="0" err="1"/>
                  <a:t>dimero</a:t>
                </a:r>
                <a:r>
                  <a:rPr lang="en-US" sz="1200" dirty="0"/>
                  <a:t>, 3.0 per il </a:t>
                </a:r>
                <a:r>
                  <a:rPr lang="en-US" sz="1200" dirty="0" err="1"/>
                  <a:t>trimero</a:t>
                </a:r>
                <a:r>
                  <a:rPr lang="en-US" sz="1200" dirty="0"/>
                  <a:t>).</a:t>
                </a:r>
              </a:p>
              <a:p>
                <a:endParaRPr lang="en-US" sz="1200" dirty="0"/>
              </a:p>
              <a:p>
                <a:r>
                  <a:rPr lang="en-US" sz="1200" b="1" dirty="0"/>
                  <a:t>Per </a:t>
                </a:r>
                <a14:m>
                  <m:oMath xmlns:m="http://schemas.openxmlformats.org/officeDocument/2006/math">
                    <m:r>
                      <a:rPr lang="en-US" sz="1200" i="1"/>
                      <m:t>𝑡</m:t>
                    </m:r>
                    <m:r>
                      <a:rPr lang="en-US" sz="1200"/>
                      <m:t>&gt;0</m:t>
                    </m:r>
                  </m:oMath>
                </a14:m>
                <a:r>
                  <a:rPr lang="en-US" sz="1200" dirty="0"/>
                  <a:t>: </a:t>
                </a:r>
                <a:r>
                  <a:rPr lang="en-US" sz="1200" dirty="0" err="1"/>
                  <a:t>l'Hamiltoniana</a:t>
                </a:r>
                <a:r>
                  <a:rPr lang="en-US" sz="1200" dirty="0"/>
                  <a:t> non </a:t>
                </a:r>
                <a:r>
                  <a:rPr lang="en-US" sz="1200" dirty="0" err="1"/>
                  <a:t>commuta</a:t>
                </a:r>
                <a:r>
                  <a:rPr lang="en-US" sz="1200" dirty="0"/>
                  <a:t> con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/>
                        </m:ctrlPr>
                      </m:sSubSupPr>
                      <m:e>
                        <m:r>
                          <a:rPr lang="en-US" sz="1200" i="1"/>
                          <m:t>𝑆</m:t>
                        </m:r>
                      </m:e>
                      <m:sub>
                        <m:r>
                          <a:rPr lang="en-US" sz="1200" i="1"/>
                          <m:t>𝑧</m:t>
                        </m:r>
                      </m:sub>
                      <m:sup>
                        <m:r>
                          <a:rPr lang="en-US" sz="1200" i="1"/>
                          <m:t>𝑡𝑜𝑡</m:t>
                        </m:r>
                      </m:sup>
                    </m:sSubSup>
                  </m:oMath>
                </a14:m>
                <a:r>
                  <a:rPr lang="en-US" sz="1200" dirty="0"/>
                  <a:t>​ (è proprio il </a:t>
                </a:r>
                <a:r>
                  <a:rPr lang="en-US" sz="1200" dirty="0" err="1"/>
                  <a:t>termine</a:t>
                </a:r>
                <a:r>
                  <a:rPr lang="en-US" sz="1200" dirty="0"/>
                  <a:t> DM a </a:t>
                </a:r>
                <a:r>
                  <a:rPr lang="en-US" sz="1200" dirty="0" err="1"/>
                  <a:t>romperla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i="1"/>
                      <m:t>𝐷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collega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stati</a:t>
                </a:r>
                <a:r>
                  <a:rPr lang="en-US" sz="1200" dirty="0"/>
                  <a:t> con </a:t>
                </a:r>
                <a14:m>
                  <m:oMath xmlns:m="http://schemas.openxmlformats.org/officeDocument/2006/math">
                    <m:r>
                      <a:rPr lang="en-US" sz="1200" i="1"/>
                      <m:t>𝑀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diverso</a:t>
                </a:r>
                <a:r>
                  <a:rPr lang="en-US" sz="1200" dirty="0"/>
                  <a:t>). </a:t>
                </a:r>
                <a:r>
                  <a:rPr lang="en-US" sz="1200" dirty="0" err="1"/>
                  <a:t>Quindi</a:t>
                </a:r>
                <a:r>
                  <a:rPr lang="en-US" sz="1200" dirty="0"/>
                  <a:t> lo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 evolve in </a:t>
                </a:r>
                <a:r>
                  <a:rPr lang="en-US" sz="1200" dirty="0" err="1"/>
                  <a:t>una</a:t>
                </a:r>
                <a:r>
                  <a:rPr lang="en-US" sz="1200" dirty="0"/>
                  <a:t> </a:t>
                </a:r>
                <a:r>
                  <a:rPr lang="en-US" sz="1200" b="1" dirty="0" err="1"/>
                  <a:t>sovrapposizione</a:t>
                </a:r>
                <a:r>
                  <a:rPr lang="en-US" sz="1200" dirty="0"/>
                  <a:t> di </a:t>
                </a:r>
                <a:r>
                  <a:rPr lang="en-US" sz="1200" dirty="0" err="1"/>
                  <a:t>autostati</a:t>
                </a:r>
                <a:r>
                  <a:rPr lang="en-US" sz="1200" dirty="0"/>
                  <a:t> con </a:t>
                </a:r>
                <a14:m>
                  <m:oMath xmlns:m="http://schemas.openxmlformats.org/officeDocument/2006/math">
                    <m:r>
                      <a:rPr lang="en-US" sz="1200" i="1"/>
                      <m:t>𝑀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diversi</a:t>
                </a:r>
                <a:r>
                  <a:rPr lang="en-US" sz="1200" dirty="0"/>
                  <a:t>, e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200" i="1"/>
                        </m:ctrlPr>
                      </m:dPr>
                      <m:e>
                        <m:sSubSup>
                          <m:sSubSupPr>
                            <m:ctrlPr>
                              <a:rPr lang="en-US" sz="1200" i="1"/>
                            </m:ctrlPr>
                          </m:sSubSupPr>
                          <m:e>
                            <m:r>
                              <a:rPr lang="en-US" sz="1200" i="1"/>
                              <m:t>𝑆</m:t>
                            </m:r>
                          </m:e>
                          <m:sub>
                            <m:r>
                              <a:rPr lang="en-US" sz="1200" i="1"/>
                              <m:t>𝑧</m:t>
                            </m:r>
                          </m:sub>
                          <m:sup>
                            <m:r>
                              <a:rPr lang="en-US" sz="1200" i="1"/>
                              <m:t>𝑡𝑜𝑡</m:t>
                            </m:r>
                          </m:sup>
                        </m:sSubSup>
                      </m:e>
                    </m:d>
                    <m:d>
                      <m:dPr>
                        <m:ctrlPr>
                          <a:rPr lang="en-US" sz="1200" i="1"/>
                        </m:ctrlPr>
                      </m:dPr>
                      <m:e>
                        <m:r>
                          <a:rPr lang="en-US" sz="1200" i="1"/>
                          <m:t>𝑡</m:t>
                        </m:r>
                      </m:e>
                    </m:d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diventa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una</a:t>
                </a:r>
                <a:r>
                  <a:rPr lang="en-US" sz="1200" dirty="0"/>
                  <a:t> media </a:t>
                </a:r>
                <a:r>
                  <a:rPr lang="en-US" sz="1200" dirty="0" err="1"/>
                  <a:t>pesata</a:t>
                </a:r>
                <a:r>
                  <a:rPr lang="en-US" sz="1200" dirty="0"/>
                  <a:t> di </a:t>
                </a:r>
                <a:r>
                  <a:rPr lang="en-US" sz="1200" dirty="0" err="1"/>
                  <a:t>quei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valori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interi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che</a:t>
                </a:r>
                <a:r>
                  <a:rPr lang="en-US" sz="1200" dirty="0"/>
                  <a:t> cambia con </a:t>
                </a:r>
                <a:r>
                  <a:rPr lang="en-US" sz="1200" dirty="0" err="1"/>
                  <a:t>continuità</a:t>
                </a:r>
                <a:r>
                  <a:rPr lang="en-US" sz="1200" dirty="0"/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0458C2-6980-59D4-2538-994A71279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9" y="4802342"/>
                <a:ext cx="5164362" cy="1569660"/>
              </a:xfrm>
              <a:prstGeom prst="rect">
                <a:avLst/>
              </a:prstGeom>
              <a:blipFill>
                <a:blip r:embed="rId6"/>
                <a:stretch>
                  <a:fillRect t="-389" r="-118" b="-2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179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31</cp:revision>
  <dcterms:created xsi:type="dcterms:W3CDTF">2026-09-14T17:34:23Z</dcterms:created>
  <dcterms:modified xsi:type="dcterms:W3CDTF">2026-09-17T20:50:17Z</dcterms:modified>
</cp:coreProperties>
</file>