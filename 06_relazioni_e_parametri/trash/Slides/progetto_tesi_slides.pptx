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60" r:id="rId4"/>
    <p:sldId id="261" r:id="rId5"/>
    <p:sldId id="262" r:id="rId6"/>
    <p:sldId id="265" r:id="rId7"/>
    <p:sldId id="268" r:id="rId8"/>
    <p:sldId id="267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54" y="3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9961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89720" y="-45720"/>
            <a:ext cx="2834640" cy="2834640"/>
          </a:xfrm>
          <a:prstGeom prst="ellipse">
            <a:avLst/>
          </a:prstGeom>
          <a:ln w="12700">
            <a:solidFill>
              <a:srgbClr val="2E8C9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555480" y="320040"/>
            <a:ext cx="2103120" cy="2103120"/>
          </a:xfrm>
          <a:prstGeom prst="ellipse">
            <a:avLst/>
          </a:prstGeom>
          <a:ln w="12700">
            <a:solidFill>
              <a:srgbClr val="2E8C93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921240" y="685800"/>
            <a:ext cx="1371600" cy="1371600"/>
          </a:xfrm>
          <a:prstGeom prst="ellipse">
            <a:avLst/>
          </a:prstGeom>
          <a:ln w="12700">
            <a:solidFill>
              <a:srgbClr val="2E8C93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61320" y="1325880"/>
            <a:ext cx="91440" cy="91440"/>
          </a:xfrm>
          <a:prstGeom prst="ellipse">
            <a:avLst/>
          </a:prstGeom>
          <a:solidFill>
            <a:srgbClr val="4FD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4F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 DI LAUREA TRIENNALE IN FISICA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simulation of molecular spin systems on quantum hardware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8920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Samuele Schiavi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Relatore: Prof. Alessandro Chiesa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126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Parma  —  Corso di Laurea in Fisica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</a:t>
            </a:r>
            <a:endParaRPr lang="en-US" sz="3800" dirty="0"/>
          </a:p>
        </p:txBody>
      </p:sp>
      <p:pic>
        <p:nvPicPr>
          <p:cNvPr id="4" name="Image 0" descr="/home/claude/deck/assets/preview_bullet1_moleco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418"/>
            <a:ext cx="2606040" cy="171382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474720" y="1691640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Molecole magnetiche: spin localizzati accoppiati</a:t>
            </a:r>
            <a:endParaRPr lang="en-US" sz="1500" dirty="0"/>
          </a:p>
        </p:txBody>
      </p:sp>
      <p:pic>
        <p:nvPicPr>
          <p:cNvPr id="6" name="Image 1" descr="/home/claude/deck/assets/preview_bullet2_qub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8" y="1783418"/>
            <a:ext cx="2606040" cy="171382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159088" y="1691640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di prova per l'informazione quantistica</a:t>
            </a:r>
            <a:endParaRPr lang="en-US" sz="1500" dirty="0"/>
          </a:p>
        </p:txBody>
      </p:sp>
      <p:pic>
        <p:nvPicPr>
          <p:cNvPr id="8" name="Image 2" descr="/home/claude/deck/assets/preview_bullet3_statiche_dinamich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000838"/>
            <a:ext cx="2606040" cy="1713823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3474720" y="3909060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Proprietà statiche e dinamiche da riprodurre</a:t>
            </a:r>
            <a:endParaRPr lang="en-US" sz="1500" dirty="0"/>
          </a:p>
        </p:txBody>
      </p:sp>
      <p:pic>
        <p:nvPicPr>
          <p:cNvPr id="10" name="Image 3" descr="/home/claude/deck/assets/hilbert_grow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448" y="4000838"/>
            <a:ext cx="2606040" cy="1713823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9159088" y="3909060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 classica: costo esponenziale</a:t>
            </a:r>
            <a:endParaRPr lang="en-US" sz="1500" dirty="0"/>
          </a:p>
        </p:txBody>
      </p:sp>
      <p:sp>
        <p:nvSpPr>
          <p:cNvPr id="12" name="Shape 6"/>
          <p:cNvSpPr/>
          <p:nvPr/>
        </p:nvSpPr>
        <p:spPr>
          <a:xfrm>
            <a:off x="640080" y="5989320"/>
            <a:ext cx="10911535" cy="658368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7"/>
          <p:cNvSpPr txBox="1"/>
          <p:nvPr/>
        </p:nvSpPr>
        <p:spPr>
          <a:xfrm>
            <a:off x="640080" y="59893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dim(</a:t>
            </a:r>
            <a:r>
              <a:rPr lang="en-US" sz="24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ℋ</a:t>
            </a:r>
            <a:r>
              <a:rPr lang="en-US" sz="2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= 2</a:t>
            </a:r>
            <a:r>
              <a:rPr lang="en-US" sz="2400" b="1" baseline="300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3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N = numero di spin (qubit)</a:t>
            </a:r>
            <a:endParaRPr lang="en-US" sz="2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dell'arte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sz="17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VQE: energia minimizzata su un circuito parametrico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5234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sz="17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Crippa et al. (2021): primo esempio su dimero di spin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53872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sz="17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Ansatz hardware-efficient: generico, non sfrutta le simmetrie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32511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sz="17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Aperto: costruire l'ansatz sulla fisica del sistema</a:t>
            </a:r>
            <a:endParaRPr lang="en-US" sz="1700" dirty="0"/>
          </a:p>
        </p:txBody>
      </p:sp>
      <p:pic>
        <p:nvPicPr>
          <p:cNvPr id="8" name="Image 0" descr="/home/claude/deck/assets/preview_s3_bullet4_aper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00200"/>
            <a:ext cx="5486400" cy="3609137"/>
          </a:xfrm>
          <a:prstGeom prst="rect">
            <a:avLst/>
          </a:prstGeom>
        </p:spPr>
      </p:pic>
      <p:pic>
        <p:nvPicPr>
          <p:cNvPr id="9" name="Image 1" descr="/home/claude/deck/assets/preview_s3_bullet3_ansat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600200"/>
            <a:ext cx="5486400" cy="3609137"/>
          </a:xfrm>
          <a:prstGeom prst="rect">
            <a:avLst/>
          </a:prstGeom>
        </p:spPr>
      </p:pic>
      <p:pic>
        <p:nvPicPr>
          <p:cNvPr id="10" name="Image 2" descr="/home/claude/deck/assets/preview_s3_bullet2_cripp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600200"/>
            <a:ext cx="5486400" cy="3609137"/>
          </a:xfrm>
          <a:prstGeom prst="rect">
            <a:avLst/>
          </a:prstGeom>
        </p:spPr>
      </p:pic>
      <p:pic>
        <p:nvPicPr>
          <p:cNvPr id="11" name="Image 3" descr="/home/claude/deck/assets/preview_s3_bullet1_vq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1600200"/>
            <a:ext cx="5486400" cy="3609137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640080" y="5989320"/>
            <a:ext cx="10911535" cy="658368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7"/>
          <p:cNvSpPr txBox="1"/>
          <p:nvPr/>
        </p:nvSpPr>
        <p:spPr>
          <a:xfrm>
            <a:off x="640080" y="59893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θ* = argminθ ⟨ψ(θ)|H|ψ(θ)⟩</a:t>
            </a:r>
            <a:endParaRPr lang="en-US" sz="2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Obiettivi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sz="20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Estendere il metodo VQE dal dimero al trimero di spin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4290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sz="20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chiuso: stato fondamentale, dinamica, correlatori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5720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sz="20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aperto: rumore realistico calibrato su hardware IBM</a:t>
            </a:r>
            <a:endParaRPr lang="en-US" sz="2000" dirty="0"/>
          </a:p>
        </p:txBody>
      </p:sp>
      <p:pic>
        <p:nvPicPr>
          <p:cNvPr id="7" name="Image 0" descr="/home/claude/deck/assets/preview_s4_obiettiv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828800"/>
            <a:ext cx="5394960" cy="354970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fisico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J(X₁X₂+Y₁Y₂+Z₁Z₂) + b(Z₁+Z₂) + D(X₁Z₂−Z₁X₂)</a:t>
            </a:r>
            <a:endParaRPr lang="en-US" sz="2300" dirty="0"/>
          </a:p>
        </p:txBody>
      </p:sp>
      <p:pic>
        <p:nvPicPr>
          <p:cNvPr id="6" name="Image 0" descr="/home/claude/deck/assets/preview_s5_model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788920"/>
            <a:ext cx="4572000" cy="29105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0" y="288036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sz="18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spin 1/2 ↔ un qubit (mappatura diretta)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372160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sz="18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J: scambio isotropo (Heisenberg)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4562856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sz="18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termine di Dzyaloshinskii–Moriya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5404104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sz="18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campo Zeeman lungo z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 VQE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|⟨ψ</a:t>
            </a:r>
            <a:r>
              <a:rPr lang="en-US" sz="2100" b="1" baseline="-400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VQE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|ψ</a:t>
            </a:r>
            <a:r>
              <a:rPr lang="en-US" sz="2100" b="1" baseline="-400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⟩|</a:t>
            </a:r>
            <a:r>
              <a:rPr lang="en-US" sz="2100" b="1" baseline="300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00" dirty="0"/>
          </a:p>
        </p:txBody>
      </p:sp>
      <p:pic>
        <p:nvPicPr>
          <p:cNvPr id="6" name="Image 0" descr="/home/claude/deck/assets/thesis_figs/circ_ha_hi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40280"/>
            <a:ext cx="3320851" cy="1325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621024"/>
            <a:ext cx="3320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— 6 parametri</a:t>
            </a:r>
            <a:endParaRPr lang="en-US" sz="1200" dirty="0"/>
          </a:p>
        </p:txBody>
      </p:sp>
      <p:pic>
        <p:nvPicPr>
          <p:cNvPr id="8" name="Image 1" descr="/home/claude/deck/assets/thesis_figs/circ_pma_base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9531" y="2240280"/>
            <a:ext cx="4278335" cy="1325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189531" y="3621024"/>
            <a:ext cx="4278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— 1 parametro (2 rami, b/J ≶ 2) —  </a:t>
            </a:r>
          </a:p>
          <a:p>
            <a:pPr algn="ctr"/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singoletto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basso) — W = CNOT-Ry-CNOT</a:t>
            </a:r>
            <a:endParaRPr lang="en-US" sz="1200" dirty="0"/>
          </a:p>
        </p:txBody>
      </p:sp>
      <p:pic>
        <p:nvPicPr>
          <p:cNvPr id="10" name="Image 2" descr="/home/claude/deck/assets/thesis_figs/circ_pma_esteso_hi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6465" y="2240280"/>
            <a:ext cx="2321794" cy="13258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696465" y="3621024"/>
            <a:ext cx="2321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— 3 parametri</a:t>
            </a:r>
            <a:endParaRPr lang="en-US" sz="1200" dirty="0"/>
          </a:p>
        </p:txBody>
      </p:sp>
      <p:pic>
        <p:nvPicPr>
          <p:cNvPr id="12" name="Image 3" descr="/home/claude/deck/assets/preview_s6_breako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515240"/>
            <a:ext cx="4572000" cy="23317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486400" y="4515240"/>
            <a:ext cx="606247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rotazioni Ry indipendenti rompono la conservazione di M — a partire da |10⟩ si copre l'intero spazio a 2 qubit (F = 1)</a:t>
            </a:r>
            <a:endParaRPr lang="en-US" sz="1700" dirty="0"/>
          </a:p>
        </p:txBody>
      </p:sp>
      <p:pic>
        <p:nvPicPr>
          <p:cNvPr id="14" name="Image 4" descr="/home/claude/deck/assets/preview_s6_confin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515240"/>
            <a:ext cx="4572000" cy="233172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5486400" y="4515240"/>
            <a:ext cx="606247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Qualunque numero di blocchi K: fedeltà invariata (F = 0.4912 per K = 1, 2, 3, 4) — limite strutturale, non di capacità espressiva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5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ansatz generico non basta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2377440"/>
          </a:xfrm>
          <a:prstGeom prst="roundRect">
            <a:avLst>
              <a:gd name="adj" fmla="val 3846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60120" y="18745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punto di lavoro principale del dimero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1854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b/J = 0.35,  D/J = 0.80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4871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DM ha un'unica forma possibile nel dimero (un solo legame) — a differenza del trimero, dove servono più opzioni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0175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(6 par.):  F = 1.000000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6499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(1 par.):  F = 0.9402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71246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(3 par.):  F = 1.000000 (12 cifre) — 2 CNOT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297680"/>
            <a:ext cx="5120640" cy="1508760"/>
          </a:xfrm>
          <a:prstGeom prst="roundRect">
            <a:avLst>
              <a:gd name="adj" fmla="val 6061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60120" y="444398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Sensibilità a D/J — b/J = 0.35 fisso, PMA base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486460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D/J: 0.0 → F=1.0000    0.4 → F=0.9612    1.0 → F=0.8463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524865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conferma: la degradazione dipende anche da D, non solo dalla vicinanza all'incrocio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98932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degradazione non sparisce lontano dall'incrocio — dipende, indipendentemente, anche dall'intensità del termine DM</a:t>
            </a:r>
            <a:endParaRPr lang="en-US" sz="1500" dirty="0"/>
          </a:p>
        </p:txBody>
      </p:sp>
      <p:pic>
        <p:nvPicPr>
          <p:cNvPr id="16" name="Image 0" descr="/home/claude/deck/assets/thesis_figs/fig04_vqe_riparazion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117" y="1965960"/>
            <a:ext cx="5508517" cy="33832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criterio </a:t>
            </a:r>
            <a:r>
              <a:rPr lang="en-US" sz="30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3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estende</a:t>
            </a:r>
            <a:r>
              <a:rPr lang="en-US" sz="3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30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r>
              <a:rPr lang="en-US" sz="3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 cambia </a:t>
            </a:r>
            <a:r>
              <a:rPr lang="en-US" sz="30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l’ansatz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2148840"/>
          </a:xfrm>
          <a:prstGeom prst="roundRect">
            <a:avLst>
              <a:gd name="adj" fmla="val 4255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60120" y="18745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 — punto di lavoro principale del trimero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1854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b/J = b_c = 2.4,  D/J = 0.15,  Opzione B del termine DM accesa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487168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Opzione B: rompe la simmetria residua (l'Opzione A la conserva) — apre il gap all'incrocio invece di lasciarlo esatto ma spostato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05409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RBS-2q.6:  F = 0.9999110739  (6 CNOT, 46 gate 1q)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40156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W-2q.6:  F = 0.9999999999999996  (6 CNOT, 25 gate 1q)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5120640" cy="2057400"/>
          </a:xfrm>
          <a:prstGeom prst="roundRect">
            <a:avLst>
              <a:gd name="adj" fmla="val 4444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960120" y="42336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di verifica — 13 punti, b/J ∈ [0.3, 4.5]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65429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1.00000000 ovunque  (ansatz W-2q.6)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503834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stato iniziale X|000⟩ in tutti i punti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542239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controllo aggiuntivo a conferma di Scenario A (sweep di verifica, non lo sweep principale) — nessuna logica a rami, a differenza del dimero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2636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capovolgimento: nel dimero RBS è il più economico; nel trimero è W — 25 gate 1-qubit contro 46, a parità di 6 CNOT</a:t>
            </a:r>
            <a:endParaRPr lang="en-US" sz="1500" dirty="0"/>
          </a:p>
        </p:txBody>
      </p:sp>
      <p:pic>
        <p:nvPicPr>
          <p:cNvPr id="16" name="Image 0" descr="/home/claude/deck/assets/thesis_figs/circ_w2q_anello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282" y="1246065"/>
            <a:ext cx="4096869" cy="2644234"/>
          </a:xfrm>
          <a:prstGeom prst="rect">
            <a:avLst/>
          </a:prstGeom>
        </p:spPr>
      </p:pic>
      <p:pic>
        <p:nvPicPr>
          <p:cNvPr id="17" name="Image 1" descr="/home/claude/deck/assets/thesis_figs/circ_rbs2q_anello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1283" y="3661363"/>
            <a:ext cx="4096868" cy="264423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678</Words>
  <Application>Microsoft Office PowerPoint</Application>
  <PresentationFormat>Widescreen</PresentationFormat>
  <Paragraphs>72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18</cp:revision>
  <dcterms:created xsi:type="dcterms:W3CDTF">2026-09-14T11:01:17Z</dcterms:created>
  <dcterms:modified xsi:type="dcterms:W3CDTF">2026-09-14T18:58:24Z</dcterms:modified>
</cp:coreProperties>
</file>