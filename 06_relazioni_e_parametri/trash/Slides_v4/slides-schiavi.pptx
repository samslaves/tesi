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4" r:id="rId3"/>
    <p:sldId id="271" r:id="rId4"/>
    <p:sldId id="272" r:id="rId5"/>
    <p:sldId id="273" r:id="rId6"/>
    <p:sldId id="26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6" r:id="rId15"/>
    <p:sldId id="287" r:id="rId16"/>
  </p:sldIdLst>
  <p:sldSz cx="12192000" cy="68580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B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35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861731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861731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0372A8A6-9823-8578-2EF5-595D23930FAC}"/>
              </a:ext>
            </a:extLst>
          </p:cNvPr>
          <p:cNvSpPr txBox="1"/>
          <p:nvPr/>
        </p:nvSpPr>
        <p:spPr>
          <a:xfrm>
            <a:off x="1945605" y="6493840"/>
            <a:ext cx="8300484" cy="33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err="1">
                <a:solidFill>
                  <a:srgbClr val="5B6B84"/>
                </a:solidFill>
              </a:rPr>
              <a:t>Peruzzo</a:t>
            </a:r>
            <a:r>
              <a:rPr lang="en-US" sz="1100" i="1" dirty="0">
                <a:solidFill>
                  <a:srgbClr val="5B6B84"/>
                </a:solidFill>
              </a:rPr>
              <a:t> et al., Nat. Commun. 5, 4213 (2014); Chiesa et al., Rep. Prog. Phys. 87, 034501 (2024); Chicco et al., JACS 146, 1053 (2024)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accoppiati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mappati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direttamente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b="1" dirty="0"/>
                  <a:t>2 qubit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Pauli: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lvl="0"/>
                <a:endParaRPr lang="en-US" sz="1200" dirty="0"/>
              </a:p>
              <a:p>
                <a:r>
                  <a:rPr lang="en-US" sz="1200" dirty="0" err="1"/>
                  <a:t>tre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fisici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accoppiamento</a:t>
                </a:r>
                <a:r>
                  <a:rPr lang="en-US" sz="1200" dirty="0"/>
                  <a:t>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200" dirty="0"/>
                  <a:t> (campo),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interazione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Dzyaloshinskii</a:t>
                </a:r>
                <a:r>
                  <a:rPr lang="en-US" sz="1200" dirty="0"/>
                  <a:t>–Moriya) </a:t>
                </a:r>
                <a:r>
                  <a:rPr lang="en-US" sz="1200" dirty="0" err="1"/>
                  <a:t>sufficienti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produrre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banale</a:t>
                </a:r>
                <a:r>
                  <a:rPr lang="en-US" sz="1200" dirty="0"/>
                  <a:t>.</a:t>
                </a:r>
              </a:p>
              <a:p>
                <a:pPr marL="304800" indent="-304800">
                  <a:buSzPct val="100000"/>
                  <a:buChar char="■"/>
                </a:pPr>
                <a:endParaRPr lang="en-US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blipFill>
                <a:blip r:embed="rId3"/>
                <a:stretch>
                  <a:fillRect l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Tre spin</a:t>
                </a:r>
                <a:r>
                  <a:rPr lang="en-US" sz="12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disposti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triangolo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isoscele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anello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chiuso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</a:t>
                </a:r>
                <a:br>
                  <a:rPr lang="en-US" sz="1200" dirty="0"/>
                </a:b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endParaRPr lang="en-US" sz="1200" dirty="0"/>
              </a:p>
              <a:p>
                <a:r>
                  <a:rPr lang="en-US" sz="1200" dirty="0"/>
                  <a:t>un </a:t>
                </a:r>
                <a:r>
                  <a:rPr lang="en-US" sz="1200" dirty="0" err="1"/>
                  <a:t>legame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più</a:t>
                </a:r>
                <a:r>
                  <a:rPr lang="en-US" sz="1200" dirty="0"/>
                  <a:t> rispetto al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dirty="0"/>
                  <a:t>), </a:t>
                </a:r>
                <a:r>
                  <a:rPr lang="en-US" sz="1200" dirty="0" err="1"/>
                  <a:t>sufficiente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introdurre</a:t>
                </a:r>
                <a:r>
                  <a:rPr lang="en-US" sz="1200" dirty="0"/>
                  <a:t> un </a:t>
                </a:r>
                <a:r>
                  <a:rPr lang="en-US" sz="1200" dirty="0" err="1"/>
                  <a:t>fenomeno</a:t>
                </a:r>
                <a:r>
                  <a:rPr lang="en-US" sz="1200" dirty="0"/>
                  <a:t> del </a:t>
                </a:r>
                <a:r>
                  <a:rPr lang="en-US" sz="1200" dirty="0" err="1"/>
                  <a:t>tutto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assente</a:t>
                </a:r>
                <a:r>
                  <a:rPr lang="en-US" sz="1200" dirty="0"/>
                  <a:t> a due spin: la </a:t>
                </a:r>
                <a:r>
                  <a:rPr lang="en-US" sz="1200" b="1" dirty="0" err="1"/>
                  <a:t>frustrazione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geometrica</a:t>
                </a:r>
                <a:r>
                  <a:rPr lang="en-US" sz="1200" dirty="0"/>
                  <a:t>.</a:t>
                </a:r>
              </a:p>
              <a:p>
                <a:pPr rtl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blipFill>
                <a:blip r:embed="rId4"/>
                <a:stretch>
                  <a:fillRect l="-111" t="-3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2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nella mappa non unitaria</a:t>
                </a:r>
              </a:p>
              <a:p>
                <a:endParaRPr lang="it-IT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blipFill>
                <a:blip r:embed="rId5"/>
                <a:stretch>
                  <a:fillRect l="-127" t="-7222" b="-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controllabile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riproduce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sistemi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mappano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naturalmente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sui qubit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blipFill>
                <a:blip r:embed="rId3"/>
                <a:stretch>
                  <a:fillRect l="-2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400" dirty="0"/>
                </a:b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 i="0"/>
                                <m:t>sim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blipFill>
                <a:blip r:embed="rId4"/>
                <a:stretch>
                  <a:fillRect l="-364" t="-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757B0E-C20E-962C-76D7-E7164CA457B1}"/>
              </a:ext>
            </a:extLst>
          </p:cNvPr>
          <p:cNvSpPr txBox="1"/>
          <p:nvPr/>
        </p:nvSpPr>
        <p:spPr>
          <a:xfrm>
            <a:off x="6522722" y="3989345"/>
            <a:ext cx="55922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solo 0 o 1, un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0, 1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oppure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entrambi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contemporaneamente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sovrapposizione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quantistica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natura "doppia"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finché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osservato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esatto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lettura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collassa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definendosi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definitivo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0 o 1.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7032" y="14578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3432" y="14578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Variational Quantum </a:t>
                </a:r>
                <a:r>
                  <a:rPr lang="en-US" sz="1200" dirty="0" err="1"/>
                  <a:t>Eigensolver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sfrutta</a:t>
                </a:r>
                <a:r>
                  <a:rPr lang="en-US" sz="1200" dirty="0"/>
                  <a:t> il </a:t>
                </a:r>
                <a:r>
                  <a:rPr lang="en-US" sz="1200" b="1" dirty="0"/>
                  <a:t>Principio </a:t>
                </a:r>
                <a:r>
                  <a:rPr lang="en-US" sz="1200" b="1" dirty="0" err="1"/>
                  <a:t>Variazionale</a:t>
                </a:r>
                <a:endParaRPr lang="en-US" sz="1200" dirty="0"/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dirty="0"/>
                  <a:t>il computer </a:t>
                </a:r>
                <a:r>
                  <a:rPr lang="en-US" sz="1200" dirty="0" err="1"/>
                  <a:t>quantistico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prepara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i="1" dirty="0"/>
                  <a:t>Ansatz</a:t>
                </a:r>
                <a:r>
                  <a:rPr lang="en-US" sz="1200" dirty="0"/>
                  <a:t>) e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aspettazione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dell'energia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L'ottimizzatore</a:t>
                </a:r>
                <a:r>
                  <a:rPr lang="en-US" sz="1200" dirty="0"/>
                  <a:t> classico </a:t>
                </a:r>
                <a:r>
                  <a:rPr lang="en-US" sz="1200" dirty="0" err="1"/>
                  <a:t>aggiorna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θ per </a:t>
                </a:r>
                <a:r>
                  <a:rPr lang="en-US" sz="1200" dirty="0" err="1"/>
                  <a:t>convergere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fondamentale</a:t>
                </a:r>
                <a:r>
                  <a:rPr lang="en-US" sz="1200" dirty="0"/>
                  <a:t> E₀.</a:t>
                </a:r>
                <a:br>
                  <a:rPr lang="en-US" sz="1200" dirty="0"/>
                </a:br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714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79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Suzuki-Trotter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dell’evoluzione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/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endParaRPr lang="en-US" sz="1400" dirty="0"/>
              </a:p>
              <a:p>
                <a:endParaRPr lang="en-US" sz="1400" dirty="0"/>
              </a:p>
              <a:p>
                <a:pPr algn="ctr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/>
              </a:p>
              <a:p>
                <a:pPr algn="ctr"/>
                <a:endParaRPr lang="en-US" sz="1400" dirty="0"/>
              </a:p>
              <a:p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r>
                  <a:rPr lang="en-US" sz="1400" dirty="0"/>
                  <a:t> </a:t>
                </a:r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blipFill>
                <a:blip r:embed="rId4"/>
                <a:stretch>
                  <a:fillRect l="-168" t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48848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549058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200" dirty="0"/>
              <a:t>: </a:t>
            </a:r>
            <a:r>
              <a:rPr lang="en-US" sz="1200" dirty="0" err="1"/>
              <a:t>termine</a:t>
            </a:r>
            <a:r>
              <a:rPr lang="en-US" sz="1200" dirty="0"/>
              <a:t> di </a:t>
            </a:r>
            <a:r>
              <a:rPr lang="en-US" sz="1200" dirty="0" err="1"/>
              <a:t>confronto</a:t>
            </a:r>
            <a:r>
              <a:rPr lang="en-US" sz="1200" dirty="0"/>
              <a:t> (baseline </a:t>
            </a:r>
            <a:r>
              <a:rPr lang="en-US" sz="1200" dirty="0" err="1"/>
              <a:t>generica</a:t>
            </a:r>
            <a:r>
              <a:rPr lang="en-US" sz="1200" dirty="0"/>
              <a:t>, senza </a:t>
            </a:r>
            <a:r>
              <a:rPr lang="en-US" sz="1200" dirty="0" err="1"/>
              <a:t>usare</a:t>
            </a:r>
            <a:r>
              <a:rPr lang="en-US" sz="1200" dirty="0"/>
              <a:t> la </a:t>
            </a:r>
            <a:r>
              <a:rPr lang="en-US" sz="1200" dirty="0" err="1"/>
              <a:t>fisica</a:t>
            </a:r>
            <a:r>
              <a:rPr lang="en-US" sz="1200" dirty="0"/>
              <a:t> del </a:t>
            </a:r>
            <a:r>
              <a:rPr lang="en-US" sz="1200" dirty="0" err="1"/>
              <a:t>problema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920" y="4960878"/>
            <a:ext cx="2321794" cy="1125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r>
                  <a:rPr lang="en-US" sz="12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blipFill>
                <a:blip r:embed="rId9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6393" y="4993529"/>
            <a:ext cx="1627923" cy="1120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blipFill>
                <a:blip r:embed="rId11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blipFill>
                <a:blip r:embed="rId3"/>
                <a:stretch>
                  <a:fillRect l="-224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25463" y="14995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6F06D79C-D78E-4C9A-C7FB-7D704A6485B9}"/>
              </a:ext>
            </a:extLst>
          </p:cNvPr>
          <p:cNvSpPr txBox="1"/>
          <p:nvPr/>
        </p:nvSpPr>
        <p:spPr>
          <a:xfrm>
            <a:off x="579921" y="155699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3028" y="713232"/>
            <a:ext cx="108992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3029" y="2132507"/>
            <a:ext cx="4772165" cy="1654107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30068" y="6363293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648" y="3866713"/>
            <a:ext cx="4824656" cy="2991287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693156" y="2132507"/>
            <a:ext cx="4800600" cy="166748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74634" y="220487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77705" y="2930649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74634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75360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75360" y="3149416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75360" y="34594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7056145" y="222316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7056145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7040728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7056145" y="3149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7034671" y="34569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844" y="3929150"/>
            <a:ext cx="4361066" cy="2565333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CA06EA8-36E8-D670-F396-71CA9D378364}"/>
              </a:ext>
            </a:extLst>
          </p:cNvPr>
          <p:cNvSpPr/>
          <p:nvPr/>
        </p:nvSpPr>
        <p:spPr>
          <a:xfrm>
            <a:off x="655295" y="1431627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tle Circuito Trimero">
            <a:extLst>
              <a:ext uri="{FF2B5EF4-FFF2-40B4-BE49-F238E27FC236}">
                <a16:creationId xmlns:a16="http://schemas.microsoft.com/office/drawing/2014/main" id="{78B8907C-D744-5EDC-938C-7982696992D8}"/>
              </a:ext>
            </a:extLst>
          </p:cNvPr>
          <p:cNvSpPr txBox="1"/>
          <p:nvPr/>
        </p:nvSpPr>
        <p:spPr>
          <a:xfrm>
            <a:off x="609753" y="1489054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FB4FAC2-0E80-E610-7ECF-FBA3D1B90421}"/>
              </a:ext>
            </a:extLst>
          </p:cNvPr>
          <p:cNvSpPr txBox="1"/>
          <p:nvPr/>
        </p:nvSpPr>
        <p:spPr>
          <a:xfrm>
            <a:off x="9532686" y="2303016"/>
            <a:ext cx="1961070" cy="71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dimostrare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PMA base non è solo un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10043" y="4061861"/>
            <a:ext cx="4713316" cy="2627697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28658" y="4196168"/>
            <a:ext cx="4318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28658" y="4507064"/>
            <a:ext cx="43184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28658" y="4827104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	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28658" y="5174576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	(6 CNOT, 25 gate 1q)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/>
              <p:nvPr/>
            </p:nvSpPr>
            <p:spPr>
              <a:xfrm>
                <a:off x="6608619" y="2546182"/>
                <a:ext cx="4638501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400" dirty="0"/>
                  <a:t>Con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′/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=0.4 </m:t>
                    </m:r>
                  </m:oMath>
                </a14:m>
                <a:r>
                  <a:rPr lang="en-US" sz="1400" dirty="0" err="1"/>
                  <a:t>fissato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)</a:t>
                </a:r>
              </a:p>
              <a:p>
                <a:pPr lvl="0"/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 err="1"/>
                  <a:t>Opzione</a:t>
                </a:r>
                <a:r>
                  <a:rPr lang="en-US" sz="1400" b="1" dirty="0"/>
                  <a:t> B</a:t>
                </a:r>
                <a:r>
                  <a:rPr lang="en-US" sz="1400" dirty="0"/>
                  <a:t>: </a:t>
                </a:r>
                <a:r>
                  <a:rPr lang="en-US" sz="1400" dirty="0" err="1"/>
                  <a:t>apro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l’incrocio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1.379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br>
                  <a:rPr lang="en-US" sz="1400" dirty="0"/>
                </a:br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 err="1"/>
                  <a:t>Opzione</a:t>
                </a:r>
                <a:r>
                  <a:rPr lang="en-US" sz="1400" dirty="0"/>
                  <a:t> A: </a:t>
                </a:r>
                <a:r>
                  <a:rPr lang="en-US" sz="1400" dirty="0" err="1"/>
                  <a:t>lascia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l'incrocio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protetto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degenere</a:t>
                </a:r>
                <a:r>
                  <a:rPr lang="en-US" sz="1400" dirty="0"/>
                  <a:t>).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19" y="2546182"/>
                <a:ext cx="4638501" cy="1384995"/>
              </a:xfrm>
              <a:prstGeom prst="rect">
                <a:avLst/>
              </a:prstGeom>
              <a:blipFill>
                <a:blip r:embed="rId3"/>
                <a:stretch>
                  <a:fillRect l="-394" t="-881" b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F764549-A077-63FC-B4DD-AC37CEFB6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0" y="2471374"/>
            <a:ext cx="5602778" cy="3465629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405D4814-7FB0-F6F3-BD08-8B1E1408FC32}"/>
              </a:ext>
            </a:extLst>
          </p:cNvPr>
          <p:cNvSpPr/>
          <p:nvPr/>
        </p:nvSpPr>
        <p:spPr>
          <a:xfrm>
            <a:off x="652702" y="1487975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itle Circuito Trimero">
            <a:extLst>
              <a:ext uri="{FF2B5EF4-FFF2-40B4-BE49-F238E27FC236}">
                <a16:creationId xmlns:a16="http://schemas.microsoft.com/office/drawing/2014/main" id="{AB384EB5-91B4-CBDD-4734-971D8915613D}"/>
              </a:ext>
            </a:extLst>
          </p:cNvPr>
          <p:cNvSpPr txBox="1"/>
          <p:nvPr/>
        </p:nvSpPr>
        <p:spPr>
          <a:xfrm>
            <a:off x="607160" y="1545402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F23BEF-CFFA-93BC-76F7-DA73099C4F75}"/>
              </a:ext>
            </a:extLst>
          </p:cNvPr>
          <p:cNvSpPr txBox="1"/>
          <p:nvPr/>
        </p:nvSpPr>
        <p:spPr>
          <a:xfrm>
            <a:off x="6928658" y="5865422"/>
            <a:ext cx="4121144" cy="43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esattamente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sull’incrocio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È il punto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delcato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il VQE,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quindi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test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411" y="2148840"/>
            <a:ext cx="4507586" cy="33939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00337" y="2148840"/>
            <a:ext cx="4370992" cy="3393947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662680"/>
              </p:ext>
            </p:extLst>
          </p:nvPr>
        </p:nvGraphicFramePr>
        <p:xfrm>
          <a:off x="6126481" y="5542788"/>
          <a:ext cx="5437829" cy="1203960"/>
        </p:xfrm>
        <a:graphic>
          <a:graphicData uri="http://schemas.openxmlformats.org/drawingml/2006/table">
            <a:tbl>
              <a:tblPr/>
              <a:tblGrid>
                <a:gridCol w="5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94698"/>
              </p:ext>
            </p:extLst>
          </p:nvPr>
        </p:nvGraphicFramePr>
        <p:xfrm>
          <a:off x="498764" y="5542788"/>
          <a:ext cx="4381243" cy="1203960"/>
        </p:xfrm>
        <a:graphic>
          <a:graphicData uri="http://schemas.openxmlformats.org/drawingml/2006/table">
            <a:tbl>
              <a:tblPr/>
              <a:tblGrid>
                <a:gridCol w="8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/>
              <p:nvPr/>
            </p:nvSpPr>
            <p:spPr>
              <a:xfrm>
                <a:off x="4962700" y="2577353"/>
                <a:ext cx="1596637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err="1"/>
                  <a:t>Attivando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DM, il punto in cui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due </a:t>
                </a:r>
                <a:r>
                  <a:rPr lang="en-US" sz="1100" dirty="0" err="1"/>
                  <a:t>livelli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restano</a:t>
                </a:r>
                <a:r>
                  <a:rPr lang="en-US" sz="1100" dirty="0"/>
                  <a:t> </a:t>
                </a:r>
                <a:r>
                  <a:rPr lang="en-US" sz="1100" dirty="0" err="1"/>
                  <a:t>più</a:t>
                </a:r>
                <a:r>
                  <a:rPr lang="en-US" sz="1100" dirty="0"/>
                  <a:t> </a:t>
                </a:r>
                <a:r>
                  <a:rPr lang="en-US" sz="1100" dirty="0" err="1"/>
                  <a:t>vicini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fra</a:t>
                </a:r>
                <a:r>
                  <a:rPr lang="en-US" sz="1100" dirty="0"/>
                  <a:t> loro non coincide </a:t>
                </a:r>
                <a:r>
                  <a:rPr lang="en-US" sz="1100" dirty="0" err="1"/>
                  <a:t>esattamente</a:t>
                </a:r>
                <a:r>
                  <a:rPr lang="en-US" sz="1100" dirty="0"/>
                  <a:t> con il punto in cui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incrociavano</a:t>
                </a:r>
                <a:r>
                  <a:rPr lang="en-US" sz="1100" dirty="0"/>
                  <a:t> prima </a:t>
                </a:r>
                <a:r>
                  <a:rPr lang="en-US" sz="1100" dirty="0" err="1"/>
                  <a:t>che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 fosse </a:t>
                </a:r>
                <a:r>
                  <a:rPr lang="en-US" sz="1100" dirty="0" err="1"/>
                  <a:t>acceso</a:t>
                </a:r>
                <a:r>
                  <a:rPr lang="en-US" sz="1100" dirty="0"/>
                  <a:t> -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sposta</a:t>
                </a:r>
                <a:r>
                  <a:rPr lang="en-US" sz="1100" dirty="0"/>
                  <a:t> </a:t>
                </a:r>
                <a:r>
                  <a:rPr lang="en-US" sz="1100" dirty="0" err="1"/>
                  <a:t>leggermente</a:t>
                </a:r>
                <a:r>
                  <a:rPr lang="en-US" sz="1100" dirty="0"/>
                  <a:t>, in </a:t>
                </a:r>
                <a:r>
                  <a:rPr lang="en-US" sz="1100" dirty="0" err="1"/>
                  <a:t>entrambi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sistemi</a:t>
                </a:r>
                <a:r>
                  <a:rPr lang="en-US" sz="1100" dirty="0"/>
                  <a:t> (</a:t>
                </a:r>
                <a:r>
                  <a:rPr lang="en-US" sz="1100" dirty="0" err="1"/>
                  <a:t>dimero</a:t>
                </a:r>
                <a:r>
                  <a:rPr lang="en-US" sz="1100" dirty="0"/>
                  <a:t>: da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2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2.07</m:t>
                    </m:r>
                  </m:oMath>
                </a14:m>
                <a:r>
                  <a:rPr lang="en-US" sz="1100" dirty="0"/>
                  <a:t>; </a:t>
                </a:r>
                <a:r>
                  <a:rPr lang="en-US" sz="1100" dirty="0" err="1"/>
                  <a:t>trimero</a:t>
                </a:r>
                <a:r>
                  <a:rPr lang="en-US" sz="1100" dirty="0"/>
                  <a:t>: da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r>
                  <a:rPr lang="en-US" sz="1100" dirty="0"/>
                  <a:t>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2.41</m:t>
                    </m:r>
                  </m:oMath>
                </a14:m>
                <a:r>
                  <a:rPr lang="en-US" sz="1100" dirty="0"/>
                  <a:t>).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700" y="2577353"/>
                <a:ext cx="1596637" cy="2462213"/>
              </a:xfrm>
              <a:prstGeom prst="rect">
                <a:avLst/>
              </a:prstGeom>
              <a:blipFill>
                <a:blip r:embed="rId5"/>
                <a:stretch>
                  <a:fillRect t="-248" r="-1908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𝑐𝑖𝑟𝑐𝑢𝑖𝑡𝑜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𝑒𝑠𝑎𝑡𝑡𝑜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∥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circuito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approssima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in generale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caso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peggiore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qualunque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200" dirty="0"/>
                  <a:t>−1.</a:t>
                </a:r>
              </a:p>
              <a:p>
                <a:pPr lvl="0"/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sbaglia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sullo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stato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iniziale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specifico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usiamo</a:t>
                </a:r>
                <a:r>
                  <a:rPr lang="en-US" sz="1200" dirty="0"/>
                  <a:t> (∣00⟩ o ∣000⟩)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sz="1200" dirty="0"/>
                  <a:t>, </a:t>
                </a:r>
                <a:r>
                  <a:rPr lang="en-US" sz="1200" dirty="0" err="1"/>
                  <a:t>perché</a:t>
                </a:r>
                <a:r>
                  <a:rPr lang="en-US" sz="1200" dirty="0"/>
                  <a:t> è </a:t>
                </a:r>
                <a:r>
                  <a:rPr lang="en-US" sz="1200" dirty="0" err="1"/>
                  <a:t>essenzialmente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quadrato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dell'errore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sull'ampiezza</a:t>
                </a:r>
                <a:r>
                  <a:rPr lang="en-US" sz="1200" dirty="0"/>
                  <a:t>.</a:t>
                </a:r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200" dirty="0"/>
                  <a:t>: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iniziale</a:t>
                </a:r>
                <a:r>
                  <a:rPr lang="en-US" sz="1200" dirty="0"/>
                  <a:t> (∣00⟩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∣000⟩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 è un </a:t>
                </a:r>
                <a:r>
                  <a:rPr lang="en-US" sz="1200" dirty="0" err="1"/>
                  <a:t>autostato</a:t>
                </a:r>
                <a:r>
                  <a:rPr lang="en-US" sz="1200" dirty="0"/>
                  <a:t> di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infatti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grafici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partono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esattamente</a:t>
                </a:r>
                <a:r>
                  <a:rPr lang="en-US" sz="1200" dirty="0"/>
                  <a:t> da un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intero</a:t>
                </a:r>
                <a:r>
                  <a:rPr lang="en-US" sz="1200" dirty="0"/>
                  <a:t> (1.0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3.0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).</a:t>
                </a:r>
              </a:p>
              <a:p>
                <a:endParaRPr lang="en-US" sz="1200" dirty="0"/>
              </a:p>
              <a:p>
                <a:r>
                  <a:rPr lang="en-US" sz="1200" b="1" dirty="0"/>
                  <a:t>Per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l'Hamiltoniana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commuta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​ (è proprio il </a:t>
                </a:r>
                <a:r>
                  <a:rPr lang="en-US" sz="1200" dirty="0" err="1"/>
                  <a:t>termine</a:t>
                </a:r>
                <a:r>
                  <a:rPr lang="en-US" sz="1200" dirty="0"/>
                  <a:t> DM a </a:t>
                </a:r>
                <a:r>
                  <a:rPr lang="en-US" sz="1200" dirty="0" err="1"/>
                  <a:t>romperla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collega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Quindi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evolve in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sovrapposizione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autostati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diversi</a:t>
                </a:r>
                <a:r>
                  <a:rPr lang="en-US" sz="1200" dirty="0"/>
                  <a:t>, 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diventa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media </a:t>
                </a:r>
                <a:r>
                  <a:rPr lang="en-US" sz="1200" dirty="0" err="1"/>
                  <a:t>pesata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quei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valori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cambia con </a:t>
                </a:r>
                <a:r>
                  <a:rPr lang="en-US" sz="1200" dirty="0" err="1"/>
                  <a:t>continuità</a:t>
                </a:r>
                <a:r>
                  <a:rPr lang="en-US" sz="12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blipFill>
                <a:blip r:embed="rId6"/>
                <a:stretch>
                  <a:fillRect t="-389" r="-118" b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Correlatori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p>
                    <m:d>
                      <m:dPr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sSup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i="1" dirty="0"/>
                  <a:t> </a:t>
                </a:r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Canali di </a:t>
                </a:r>
                <a:r>
                  <a:rPr lang="en-US" sz="2100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10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sz="2100" i="1" dirty="0"/>
              </a:p>
            </p:txBody>
          </p:sp>
        </mc:Choice>
        <mc:Fallback xmlns="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" y="2020824"/>
            <a:ext cx="4629013" cy="2533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D702AE-4FAD-D9A4-BEB8-C924470B4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302" y="2020825"/>
            <a:ext cx="4629011" cy="25337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6922910" y="4684794"/>
            <a:ext cx="462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Simulatore</a:t>
            </a:r>
            <a:r>
              <a:rPr lang="en-US" sz="1200" dirty="0"/>
              <a:t> con </a:t>
            </a:r>
            <a:r>
              <a:rPr lang="en-US" sz="1200" dirty="0" err="1"/>
              <a:t>rumore</a:t>
            </a:r>
            <a:r>
              <a:rPr lang="en-US" sz="1200" dirty="0"/>
              <a:t>: ogni gate e ogni </a:t>
            </a:r>
            <a:r>
              <a:rPr lang="en-US" sz="1200" dirty="0" err="1"/>
              <a:t>lettura</a:t>
            </a:r>
            <a:r>
              <a:rPr lang="en-US" sz="1200" dirty="0"/>
              <a:t> introduce </a:t>
            </a:r>
            <a:r>
              <a:rPr lang="en-US" sz="1200" dirty="0" err="1"/>
              <a:t>errore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6922910" y="4962000"/>
            <a:ext cx="462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Modello</a:t>
            </a:r>
            <a:r>
              <a:rPr lang="en-US" sz="1200" dirty="0"/>
              <a:t> </a:t>
            </a:r>
            <a:r>
              <a:rPr lang="en-US" sz="1200" dirty="0" err="1"/>
              <a:t>minimale</a:t>
            </a:r>
            <a:r>
              <a:rPr lang="en-US" sz="1200" dirty="0"/>
              <a:t>: 2 </a:t>
            </a:r>
            <a:r>
              <a:rPr lang="en-US" sz="1200" dirty="0" err="1"/>
              <a:t>canali</a:t>
            </a:r>
            <a:r>
              <a:rPr lang="en-US" sz="1200" dirty="0"/>
              <a:t>- </a:t>
            </a:r>
            <a:r>
              <a:rPr lang="en-US" sz="1200" dirty="0" err="1"/>
              <a:t>depolarizzante</a:t>
            </a:r>
            <a:r>
              <a:rPr lang="en-US" sz="1200" dirty="0"/>
              <a:t> (gate) + </a:t>
            </a:r>
            <a:r>
              <a:rPr lang="en-US" sz="1200" dirty="0" err="1"/>
              <a:t>lettura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9C275-42D6-7C3E-A776-775F5D436A7C}"/>
                  </a:ext>
                </a:extLst>
              </p:cNvPr>
              <p:cNvSpPr txBox="1"/>
              <p:nvPr/>
            </p:nvSpPr>
            <p:spPr>
              <a:xfrm>
                <a:off x="6922910" y="5238999"/>
                <a:ext cx="4629012" cy="1069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calibrati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ibm_torino</a:t>
                </a:r>
                <a:r>
                  <a:rPr lang="en-US" sz="1200" dirty="0"/>
                  <a:t> (IBM Heron r1, 133 qubit): </a:t>
                </a:r>
                <a:br>
                  <a:rPr lang="en-US" sz="1200" dirty="0"/>
                </a:b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2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=2.9×</m:t>
                    </m:r>
                    <m:sSup>
                      <m:sSupPr>
                        <m:ctrlPr>
                          <a:rPr lang="en-US"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sz="1200" dirty="0"/>
                  <a:t>ε</a:t>
                </a:r>
                <a:r>
                  <a:rPr lang="en-US" sz="1200" dirty="0">
                    <a:effectLst/>
                  </a:rPr>
                  <a:t>1q</a:t>
                </a:r>
                <a:r>
                  <a:rPr lang="en-US" sz="1200" dirty="0"/>
                  <a:t>​=2.9×10</a:t>
                </a:r>
                <a:r>
                  <a:rPr lang="en-US" sz="1200" dirty="0">
                    <a:effectLst/>
                  </a:rPr>
                  <a:t>−4</a:t>
                </a:r>
                <a:r>
                  <a:rPr lang="en-US" sz="1200" dirty="0"/>
                  <a:t> 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2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=3.8×</m:t>
                    </m:r>
                    <m:sSup>
                      <m:sSupPr>
                        <m:ctrlPr>
                          <a:rPr lang="en-US"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1200" dirty="0"/>
                  <a:t>ε</a:t>
                </a:r>
                <a:r>
                  <a:rPr lang="en-US" sz="1200" dirty="0">
                    <a:effectLst/>
                  </a:rPr>
                  <a:t>2q</a:t>
                </a:r>
                <a:r>
                  <a:rPr lang="en-US" sz="1200" dirty="0"/>
                  <a:t>​=3.8×10</a:t>
                </a:r>
                <a:r>
                  <a:rPr lang="en-US" sz="1200" dirty="0">
                    <a:effectLst/>
                  </a:rPr>
                  <a:t>−3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  <m:r>
                      <a:rPr lang="en-US" sz="1200">
                        <a:latin typeface="Cambria Math" panose="02040503050406030204" pitchFamily="18" charset="0"/>
                      </a:rPr>
                      <m:t>=2.3×</m:t>
                    </m:r>
                    <m:sSup>
                      <m:sSupPr>
                        <m:ctrlPr>
                          <a:rPr lang="en-US" sz="12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1200" dirty="0" err="1"/>
                  <a:t>p</a:t>
                </a:r>
                <a:r>
                  <a:rPr lang="en-US" sz="1200" dirty="0" err="1">
                    <a:effectLst/>
                  </a:rPr>
                  <a:t>readout</a:t>
                </a:r>
                <a:r>
                  <a:rPr lang="en-US" sz="1200" dirty="0"/>
                  <a:t>​=2.3×10</a:t>
                </a:r>
                <a:r>
                  <a:rPr lang="en-US" sz="1200" dirty="0">
                    <a:effectLst/>
                  </a:rPr>
                  <a:t>−2</a:t>
                </a:r>
                <a:endParaRPr lang="en-US" sz="1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9C275-42D6-7C3E-A776-775F5D43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910" y="5238999"/>
                <a:ext cx="4629012" cy="1069395"/>
              </a:xfrm>
              <a:prstGeom prst="rect">
                <a:avLst/>
              </a:prstGeom>
              <a:blipFill>
                <a:blip r:embed="rId6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FF4FBB-C864-C111-2D71-BF2C8B1B7B87}"/>
                  </a:ext>
                </a:extLst>
              </p:cNvPr>
              <p:cNvSpPr txBox="1"/>
              <p:nvPr/>
            </p:nvSpPr>
            <p:spPr>
              <a:xfrm>
                <a:off x="640080" y="4684794"/>
                <a:ext cx="4629012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Si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sul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sito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200" dirty="0"/>
                  <a:t> 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200" dirty="0"/>
                  <a:t>risultato 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FF4FBB-C864-C111-2D71-BF2C8B1B7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684794"/>
                <a:ext cx="4629012" cy="293607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CC0AD5-5A90-3FE0-2614-8D08DCCE7579}"/>
                  </a:ext>
                </a:extLst>
              </p:cNvPr>
              <p:cNvSpPr txBox="1"/>
              <p:nvPr/>
            </p:nvSpPr>
            <p:spPr>
              <a:xfrm>
                <a:off x="640080" y="4950647"/>
                <a:ext cx="46290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Sullo </a:t>
                </a:r>
                <a:r>
                  <a:rPr lang="en-US" sz="1200" dirty="0" err="1"/>
                  <a:t>stesso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evoluto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nel</a:t>
                </a:r>
                <a:r>
                  <a:rPr lang="en-US" sz="1200" dirty="0"/>
                  <a:t> tempo, </a:t>
                </a:r>
                <a:r>
                  <a:rPr lang="en-US" sz="1200" dirty="0" err="1"/>
                  <a:t>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200" dirty="0"/>
                  <a:t>​ </a:t>
                </a:r>
                <a:r>
                  <a:rPr lang="en-US" sz="1200" dirty="0" err="1"/>
                  <a:t>sul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sito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1200" dirty="0"/>
                  <a:t> 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: altro </a:t>
                </a:r>
                <a:r>
                  <a:rPr lang="en-US" sz="1200" dirty="0" err="1"/>
                  <a:t>risultato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>
                        <a:latin typeface="Cambria Math" panose="02040503050406030204" pitchFamily="18" charset="0"/>
                      </a:rPr>
                      <m:t>±1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CC0AD5-5A90-3FE0-2614-8D08DCCE7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950647"/>
                <a:ext cx="4629012" cy="461665"/>
              </a:xfrm>
              <a:prstGeom prst="rect">
                <a:avLst/>
              </a:prstGeom>
              <a:blipFill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08887275-8A8D-106A-2DCC-4140E1A39675}"/>
              </a:ext>
            </a:extLst>
          </p:cNvPr>
          <p:cNvSpPr txBox="1"/>
          <p:nvPr/>
        </p:nvSpPr>
        <p:spPr>
          <a:xfrm>
            <a:off x="640080" y="5370253"/>
            <a:ext cx="462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Conoscere</a:t>
            </a:r>
            <a:r>
              <a:rPr lang="en-US" sz="1200" dirty="0"/>
              <a:t> il primo </a:t>
            </a:r>
            <a:r>
              <a:rPr lang="en-US" sz="1200" dirty="0" err="1"/>
              <a:t>risultato</a:t>
            </a:r>
            <a:r>
              <a:rPr lang="en-US" sz="1200" dirty="0"/>
              <a:t> </a:t>
            </a:r>
            <a:r>
              <a:rPr lang="en-US" sz="1200" dirty="0" err="1"/>
              <a:t>aiuta</a:t>
            </a:r>
            <a:r>
              <a:rPr lang="en-US" sz="1200" dirty="0"/>
              <a:t> a </a:t>
            </a:r>
            <a:r>
              <a:rPr lang="en-US" sz="1200" dirty="0" err="1"/>
              <a:t>prevedere</a:t>
            </a:r>
            <a:r>
              <a:rPr lang="en-US" sz="1200" dirty="0"/>
              <a:t> il secondo? (</a:t>
            </a:r>
            <a:r>
              <a:rPr lang="en-US" sz="1200" dirty="0" err="1"/>
              <a:t>correlazione</a:t>
            </a:r>
            <a:r>
              <a:rPr lang="en-US" sz="1200" dirty="0"/>
              <a:t> </a:t>
            </a:r>
            <a:r>
              <a:rPr lang="en-US" sz="1200" dirty="0" err="1"/>
              <a:t>statistica</a:t>
            </a:r>
            <a:r>
              <a:rPr lang="en-US" sz="1200" dirty="0"/>
              <a:t> </a:t>
            </a:r>
            <a:r>
              <a:rPr lang="en-US" sz="1200" dirty="0" err="1"/>
              <a:t>fra</a:t>
            </a:r>
            <a:r>
              <a:rPr lang="en-US" sz="1200" dirty="0"/>
              <a:t> le due </a:t>
            </a:r>
            <a:r>
              <a:rPr lang="en-US" sz="1200" dirty="0" err="1"/>
              <a:t>misure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/>
              <p:nvPr/>
            </p:nvSpPr>
            <p:spPr>
              <a:xfrm>
                <a:off x="665173" y="5831918"/>
                <a:ext cx="4629012" cy="84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È un </a:t>
                </a:r>
                <a:r>
                  <a:rPr lang="en-US" sz="1200" dirty="0" err="1"/>
                  <a:t>numero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complesso</a:t>
                </a:r>
                <a:r>
                  <a:rPr lang="en-US" sz="1200" dirty="0"/>
                  <a:t> - </a:t>
                </a:r>
                <a:r>
                  <a:rPr lang="en-US" sz="1200" dirty="0" err="1"/>
                  <a:t>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con </a:t>
                </a:r>
                <a:r>
                  <a:rPr lang="en-US" sz="1200" dirty="0" err="1"/>
                  <a:t>un'ancilla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sovrapposizione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crea</a:t>
                </a:r>
                <a:r>
                  <a:rPr lang="en-US" sz="1200" dirty="0"/>
                  <a:t> due rami </a:t>
                </a:r>
                <a:r>
                  <a:rPr lang="en-US" sz="1200" dirty="0" err="1"/>
                  <a:t>paralleli</a:t>
                </a:r>
                <a:r>
                  <a:rPr lang="en-US" sz="1200" dirty="0"/>
                  <a:t> (uno </a:t>
                </a:r>
                <a:r>
                  <a:rPr lang="en-US" sz="1200" dirty="0" err="1"/>
                  <a:t>applica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dirty="0"/>
                  <a:t>​, </a:t>
                </a:r>
                <a:r>
                  <a:rPr lang="en-US" sz="1200" dirty="0" err="1"/>
                  <a:t>l'altro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200" dirty="0"/>
                  <a:t>​) e li fa </a:t>
                </a:r>
                <a:r>
                  <a:rPr lang="en-US" sz="1200" b="1" dirty="0" err="1"/>
                  <a:t>interferire</a:t>
                </a:r>
                <a:r>
                  <a:rPr lang="en-US" sz="1200" dirty="0"/>
                  <a:t>; </a:t>
                </a:r>
                <a:r>
                  <a:rPr lang="en-US" sz="1200" dirty="0" err="1"/>
                  <a:t>l'esito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letto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dalla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probabilità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dell'ancilla</a:t>
                </a:r>
                <a:r>
                  <a:rPr lang="en-US" sz="1200" dirty="0"/>
                  <a:t>, è il </a:t>
                </a:r>
                <a:r>
                  <a:rPr lang="en-US" sz="1200" dirty="0" err="1"/>
                  <a:t>correlatore</a:t>
                </a:r>
                <a:endParaRPr lang="en-US" sz="1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73" y="5831918"/>
                <a:ext cx="4629012" cy="847604"/>
              </a:xfrm>
              <a:prstGeom prst="rect">
                <a:avLst/>
              </a:prstGeom>
              <a:blipFill>
                <a:blip r:embed="rId9"/>
                <a:stretch>
                  <a:fillRect t="-719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267711"/>
            <a:ext cx="3585569" cy="228932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" y="4557039"/>
            <a:ext cx="3027141" cy="21991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D453B-68D4-FF21-2449-0EF66E63F0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10175" y="2103105"/>
            <a:ext cx="3494364" cy="2856320"/>
          </a:xfrm>
          <a:prstGeom prst="rect">
            <a:avLst/>
          </a:prstGeom>
        </p:spPr>
      </p:pic>
      <p:sp>
        <p:nvSpPr>
          <p:cNvPr id="25" name="Desc HA dimero">
            <a:extLst>
              <a:ext uri="{FF2B5EF4-FFF2-40B4-BE49-F238E27FC236}">
                <a16:creationId xmlns:a16="http://schemas.microsoft.com/office/drawing/2014/main" id="{CC103478-1A2D-592F-5BDD-F418F8581675}"/>
              </a:ext>
            </a:extLst>
          </p:cNvPr>
          <p:cNvSpPr txBox="1"/>
          <p:nvPr/>
        </p:nvSpPr>
        <p:spPr>
          <a:xfrm>
            <a:off x="6062792" y="2138249"/>
            <a:ext cx="1974697" cy="90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senza 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poi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Trotter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endParaRPr lang="en-US" sz="1200" dirty="0"/>
          </a:p>
        </p:txBody>
      </p:sp>
      <p:sp>
        <p:nvSpPr>
          <p:cNvPr id="43" name="Desc HA dimero">
            <a:extLst>
              <a:ext uri="{FF2B5EF4-FFF2-40B4-BE49-F238E27FC236}">
                <a16:creationId xmlns:a16="http://schemas.microsoft.com/office/drawing/2014/main" id="{15DD6FB7-9B2D-3B59-A430-6431E4611D36}"/>
              </a:ext>
            </a:extLst>
          </p:cNvPr>
          <p:cNvSpPr txBox="1"/>
          <p:nvPr/>
        </p:nvSpPr>
        <p:spPr>
          <a:xfrm>
            <a:off x="2906094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45" name="Desc HA dimero">
            <a:extLst>
              <a:ext uri="{FF2B5EF4-FFF2-40B4-BE49-F238E27FC236}">
                <a16:creationId xmlns:a16="http://schemas.microsoft.com/office/drawing/2014/main" id="{D103FC39-DA99-5F93-68A4-A6E8688D90C2}"/>
              </a:ext>
            </a:extLst>
          </p:cNvPr>
          <p:cNvSpPr txBox="1"/>
          <p:nvPr/>
        </p:nvSpPr>
        <p:spPr>
          <a:xfrm>
            <a:off x="2849985" y="5877742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sp>
        <p:nvSpPr>
          <p:cNvPr id="47" name="Desc HA dimero">
            <a:extLst>
              <a:ext uri="{FF2B5EF4-FFF2-40B4-BE49-F238E27FC236}">
                <a16:creationId xmlns:a16="http://schemas.microsoft.com/office/drawing/2014/main" id="{88FC02DC-F79A-C344-488E-3EC716C654DF}"/>
              </a:ext>
            </a:extLst>
          </p:cNvPr>
          <p:cNvSpPr txBox="1"/>
          <p:nvPr/>
        </p:nvSpPr>
        <p:spPr>
          <a:xfrm>
            <a:off x="1862564" y="2138945"/>
            <a:ext cx="1974842" cy="764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di Trotter - solo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ancilla…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/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… Il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compromesso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fra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Trotter e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di gate –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creato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dal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senza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l’ottimo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sarebbe</a:t>
                </a:r>
                <a:r>
                  <a:rPr lang="en-US" sz="12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20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Desc HA dimero">
                <a:extLst>
                  <a:ext uri="{FF2B5EF4-FFF2-40B4-BE49-F238E27FC236}">
                    <a16:creationId xmlns:a16="http://schemas.microsoft.com/office/drawing/2014/main" id="{9956ACE5-EDDB-562E-73B3-7C0C3C3F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441" y="4835163"/>
                <a:ext cx="2097305" cy="764455"/>
              </a:xfrm>
              <a:prstGeom prst="rect">
                <a:avLst/>
              </a:prstGeom>
              <a:blipFill>
                <a:blip r:embed="rId6"/>
                <a:stretch>
                  <a:fillRect l="-4651" t="-3968" r="-872" b="-952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5" name="Picture 64" descr="The graph shows a curve with a peak around 0.8, decreasing towards 0.5, and it includes two lines representing different noise-aware Trotter approximations.&#10;&#10;AI-generated content may be incorrect.">
            <a:extLst>
              <a:ext uri="{FF2B5EF4-FFF2-40B4-BE49-F238E27FC236}">
                <a16:creationId xmlns:a16="http://schemas.microsoft.com/office/drawing/2014/main" id="{80B94AAF-EFDF-2ECE-71F3-DA86EC756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539" y="2241131"/>
            <a:ext cx="3355726" cy="2742996"/>
          </a:xfrm>
          <a:prstGeom prst="rect">
            <a:avLst/>
          </a:prstGeom>
        </p:spPr>
      </p:pic>
      <p:sp>
        <p:nvSpPr>
          <p:cNvPr id="67" name="Desc HA dimero">
            <a:extLst>
              <a:ext uri="{FF2B5EF4-FFF2-40B4-BE49-F238E27FC236}">
                <a16:creationId xmlns:a16="http://schemas.microsoft.com/office/drawing/2014/main" id="{B9AC20AC-87B5-1D72-FE11-35096AB63B4B}"/>
              </a:ext>
            </a:extLst>
          </p:cNvPr>
          <p:cNvSpPr txBox="1"/>
          <p:nvPr/>
        </p:nvSpPr>
        <p:spPr>
          <a:xfrm>
            <a:off x="6762009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1200" dirty="0"/>
          </a:p>
        </p:txBody>
      </p:sp>
      <p:sp>
        <p:nvSpPr>
          <p:cNvPr id="69" name="Desc HA dimero">
            <a:extLst>
              <a:ext uri="{FF2B5EF4-FFF2-40B4-BE49-F238E27FC236}">
                <a16:creationId xmlns:a16="http://schemas.microsoft.com/office/drawing/2014/main" id="{B4771C60-A5D5-3B40-40C5-D2343B55BAEB}"/>
              </a:ext>
            </a:extLst>
          </p:cNvPr>
          <p:cNvSpPr txBox="1"/>
          <p:nvPr/>
        </p:nvSpPr>
        <p:spPr>
          <a:xfrm>
            <a:off x="10256373" y="3461497"/>
            <a:ext cx="1396055" cy="382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200" dirty="0"/>
          </a:p>
        </p:txBody>
      </p:sp>
      <p:pic>
        <p:nvPicPr>
          <p:cNvPr id="75" name="Picture 74" descr="The diagram illustrates the percentage comparison between dimers and trimers, with dimers having a higher CNOT (controlled NOT gate) rate of 2.98% compared to trimers at 1.4994%.&#10;&#10;AI-generated content may be incorrect.">
            <a:extLst>
              <a:ext uri="{FF2B5EF4-FFF2-40B4-BE49-F238E27FC236}">
                <a16:creationId xmlns:a16="http://schemas.microsoft.com/office/drawing/2014/main" id="{BBAFE481-EBFF-7158-1003-E9BBF1CBD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5036669"/>
            <a:ext cx="3673126" cy="1763101"/>
          </a:xfrm>
          <a:prstGeom prst="rect">
            <a:avLst/>
          </a:prstGeom>
        </p:spPr>
      </p:pic>
      <p:sp>
        <p:nvSpPr>
          <p:cNvPr id="77" name="Desc HA dimero">
            <a:extLst>
              <a:ext uri="{FF2B5EF4-FFF2-40B4-BE49-F238E27FC236}">
                <a16:creationId xmlns:a16="http://schemas.microsoft.com/office/drawing/2014/main" id="{75D2E58B-2D6C-09C7-3AC8-FD069B387AF8}"/>
              </a:ext>
            </a:extLst>
          </p:cNvPr>
          <p:cNvSpPr txBox="1"/>
          <p:nvPr/>
        </p:nvSpPr>
        <p:spPr>
          <a:xfrm>
            <a:off x="8660507" y="5497918"/>
            <a:ext cx="2097305" cy="94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VQE,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la Maggiore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 CNOT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2)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dà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degradazione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ffidelity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quasi doppia</a:t>
            </a:r>
            <a:endParaRPr lang="en-US" sz="12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entrambe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il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ottenuto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VQE e Trotter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insieme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calibrato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hardqare</a:t>
            </a:r>
            <a:r>
              <a:rPr lang="en-US" sz="16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079187"/>
            <a:ext cx="5272888" cy="2885677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2437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 dal </a:t>
            </a:r>
            <a:r>
              <a:rPr lang="en-US" sz="16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917619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di preferenza degli ansatz si inverte: W-2q.6 domina RBS-2q (nel dimero era il contrario)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93691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dinamica richiede un livello in più di approssimazione (qubit condivisi fra legami), convergenza sensibilmente più lenta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69763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rumore, la maggiore profondità dell'ansatz canonico dà una degradazione di fedeltà doppia a parità di calibrazione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3079188"/>
            <a:ext cx="5272888" cy="2885677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24378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70098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FontTx/>
              <a:buChar char="■"/>
            </a:pPr>
            <a:r>
              <a:rPr lang="en-US" sz="1250" dirty="0"/>
              <a:t>Ho </a:t>
            </a:r>
            <a:r>
              <a:rPr lang="en-US" sz="1250" dirty="0" err="1"/>
              <a:t>studiato</a:t>
            </a:r>
            <a:r>
              <a:rPr lang="en-US" sz="1250" dirty="0"/>
              <a:t> </a:t>
            </a:r>
            <a:r>
              <a:rPr lang="en-US" sz="1250" dirty="0" err="1"/>
              <a:t>sistemi</a:t>
            </a:r>
            <a:r>
              <a:rPr lang="en-US" sz="1250" dirty="0"/>
              <a:t> </a:t>
            </a:r>
            <a:r>
              <a:rPr lang="en-US" sz="1250" dirty="0" err="1"/>
              <a:t>modello</a:t>
            </a:r>
            <a:r>
              <a:rPr lang="en-US" sz="1250" dirty="0"/>
              <a:t> di spin </a:t>
            </a:r>
            <a:r>
              <a:rPr lang="en-US" sz="1250" dirty="0" err="1"/>
              <a:t>interagenti</a:t>
            </a:r>
            <a:r>
              <a:rPr lang="en-US" sz="1250" dirty="0"/>
              <a:t> come test di </a:t>
            </a:r>
            <a:r>
              <a:rPr lang="en-US" sz="1250" dirty="0" err="1"/>
              <a:t>algoritmi</a:t>
            </a:r>
            <a:r>
              <a:rPr lang="en-US" sz="1250" dirty="0"/>
              <a:t> di </a:t>
            </a:r>
            <a:r>
              <a:rPr lang="en-US" sz="1250" dirty="0" err="1"/>
              <a:t>simulazione</a:t>
            </a:r>
            <a:r>
              <a:rPr lang="en-US" sz="1250" dirty="0"/>
              <a:t> </a:t>
            </a:r>
            <a:r>
              <a:rPr lang="en-US" sz="1250" dirty="0" err="1"/>
              <a:t>quantistica</a:t>
            </a:r>
            <a:r>
              <a:rPr lang="en-US" sz="1250" dirty="0"/>
              <a:t> </a:t>
            </a:r>
            <a:r>
              <a:rPr lang="en-US" sz="1250" dirty="0" err="1"/>
              <a:t>su</a:t>
            </a:r>
            <a:r>
              <a:rPr lang="en-US" sz="1250" dirty="0"/>
              <a:t> hardware.</a:t>
            </a:r>
          </a:p>
          <a:p>
            <a:pPr marL="203200" indent="-203200">
              <a:buSzPct val="100000"/>
              <a:buChar char="■"/>
            </a:pP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4219371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/>
              <a:t>Stato </a:t>
            </a:r>
            <a:r>
              <a:rPr lang="en-US" sz="1250" dirty="0" err="1"/>
              <a:t>fondamentale</a:t>
            </a:r>
            <a:r>
              <a:rPr lang="en-US" sz="1250" dirty="0"/>
              <a:t> </a:t>
            </a:r>
            <a:r>
              <a:rPr lang="en-US" sz="1250" dirty="0" err="1"/>
              <a:t>determinato</a:t>
            </a:r>
            <a:r>
              <a:rPr lang="en-US" sz="1250" dirty="0"/>
              <a:t> con </a:t>
            </a:r>
            <a:r>
              <a:rPr lang="en-US" sz="1250" dirty="0" err="1"/>
              <a:t>algoritmo</a:t>
            </a:r>
            <a:r>
              <a:rPr lang="en-US" sz="1250" dirty="0"/>
              <a:t> </a:t>
            </a:r>
            <a:r>
              <a:rPr lang="en-US" sz="1250" dirty="0" err="1"/>
              <a:t>ibrido</a:t>
            </a:r>
            <a:r>
              <a:rPr lang="en-US" sz="1250" dirty="0"/>
              <a:t> (VQE), </a:t>
            </a:r>
            <a:r>
              <a:rPr lang="en-US" sz="1250" dirty="0" err="1"/>
              <a:t>che</a:t>
            </a:r>
            <a:r>
              <a:rPr lang="en-US" sz="1250" dirty="0"/>
              <a:t> </a:t>
            </a:r>
            <a:r>
              <a:rPr lang="en-US" sz="1250" dirty="0" err="1"/>
              <a:t>combina</a:t>
            </a:r>
            <a:r>
              <a:rPr lang="en-US" sz="1250" dirty="0"/>
              <a:t> hardware classico e </a:t>
            </a:r>
            <a:r>
              <a:rPr lang="en-US" sz="1250" dirty="0" err="1"/>
              <a:t>quantistico</a:t>
            </a:r>
            <a:r>
              <a:rPr lang="en-US" sz="1250" dirty="0"/>
              <a:t>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6553048" y="4757483"/>
            <a:ext cx="4724248" cy="60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/>
              <a:t>La performance cambia con </a:t>
            </a:r>
            <a:r>
              <a:rPr lang="en-US" sz="1250" dirty="0" err="1"/>
              <a:t>rumore</a:t>
            </a:r>
            <a:r>
              <a:rPr lang="en-US" sz="1250" dirty="0"/>
              <a:t> </a:t>
            </a:r>
            <a:r>
              <a:rPr lang="en-US" sz="1250" dirty="0" err="1"/>
              <a:t>realistico</a:t>
            </a:r>
            <a:r>
              <a:rPr lang="en-US" sz="1250" dirty="0"/>
              <a:t> </a:t>
            </a:r>
            <a:r>
              <a:rPr lang="en-US" sz="1250" dirty="0" err="1"/>
              <a:t>dell’hardware</a:t>
            </a:r>
            <a:r>
              <a:rPr lang="en-US" sz="1250" dirty="0"/>
              <a:t>. </a:t>
            </a:r>
            <a:r>
              <a:rPr lang="en-US" sz="1250" dirty="0" err="1"/>
              <a:t>L’ottimizzazione</a:t>
            </a:r>
            <a:r>
              <a:rPr lang="en-US" sz="1250" dirty="0"/>
              <a:t> VQE </a:t>
            </a:r>
            <a:r>
              <a:rPr lang="en-US" sz="1250" dirty="0" err="1"/>
              <a:t>dipende</a:t>
            </a:r>
            <a:r>
              <a:rPr lang="en-US" sz="1250" dirty="0"/>
              <a:t> dal </a:t>
            </a:r>
            <a:r>
              <a:rPr lang="en-US" sz="1250" dirty="0" err="1"/>
              <a:t>rumore</a:t>
            </a:r>
            <a:r>
              <a:rPr lang="en-US" sz="1250" dirty="0"/>
              <a:t>: </a:t>
            </a:r>
            <a:r>
              <a:rPr lang="en-US" sz="1250" dirty="0" err="1"/>
              <a:t>sfruttare</a:t>
            </a:r>
            <a:r>
              <a:rPr lang="en-US" sz="1250" dirty="0"/>
              <a:t> le </a:t>
            </a:r>
            <a:r>
              <a:rPr lang="en-US" sz="1250" dirty="0" err="1"/>
              <a:t>simmetrie</a:t>
            </a:r>
            <a:r>
              <a:rPr lang="en-US" sz="1250" dirty="0"/>
              <a:t> del </a:t>
            </a:r>
            <a:r>
              <a:rPr lang="en-US" sz="1250" dirty="0" err="1"/>
              <a:t>sistema</a:t>
            </a:r>
            <a:r>
              <a:rPr lang="en-US" sz="1250" dirty="0"/>
              <a:t> (</a:t>
            </a:r>
            <a:r>
              <a:rPr lang="en-US" sz="1250" dirty="0" err="1"/>
              <a:t>invece</a:t>
            </a:r>
            <a:r>
              <a:rPr lang="en-US" sz="1250" dirty="0"/>
              <a:t> di un ansatz </a:t>
            </a:r>
            <a:r>
              <a:rPr lang="en-US" sz="1250" dirty="0" err="1"/>
              <a:t>generico</a:t>
            </a:r>
            <a:r>
              <a:rPr lang="en-US" sz="1250" dirty="0"/>
              <a:t>) reduce I gate e </a:t>
            </a:r>
            <a:r>
              <a:rPr lang="en-US" sz="1250" dirty="0" err="1"/>
              <a:t>quindi</a:t>
            </a:r>
            <a:r>
              <a:rPr lang="en-US" sz="1250" dirty="0"/>
              <a:t> </a:t>
            </a:r>
            <a:r>
              <a:rPr lang="en-US" sz="1250" dirty="0" err="1"/>
              <a:t>l’errore</a:t>
            </a:r>
            <a:r>
              <a:rPr lang="en-US" sz="1250" dirty="0"/>
              <a:t>.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F17DFE82-D9B5-4D7B-7A30-8F854853FC99}"/>
              </a:ext>
            </a:extLst>
          </p:cNvPr>
          <p:cNvSpPr txBox="1"/>
          <p:nvPr/>
        </p:nvSpPr>
        <p:spPr>
          <a:xfrm>
            <a:off x="6553048" y="5401764"/>
            <a:ext cx="472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 err="1"/>
              <a:t>Gli</a:t>
            </a:r>
            <a:r>
              <a:rPr lang="en-US" sz="1250" dirty="0"/>
              <a:t> </a:t>
            </a:r>
            <a:r>
              <a:rPr lang="en-US" sz="1250" dirty="0" err="1"/>
              <a:t>stessi</a:t>
            </a:r>
            <a:r>
              <a:rPr lang="en-US" sz="1250" dirty="0"/>
              <a:t> </a:t>
            </a:r>
            <a:r>
              <a:rPr lang="en-US" sz="1250" dirty="0" err="1"/>
              <a:t>principi</a:t>
            </a:r>
            <a:r>
              <a:rPr lang="en-US" sz="1250" dirty="0"/>
              <a:t> </a:t>
            </a:r>
            <a:r>
              <a:rPr lang="en-US" sz="1250" dirty="0" err="1"/>
              <a:t>si</a:t>
            </a:r>
            <a:r>
              <a:rPr lang="en-US" sz="1250" dirty="0"/>
              <a:t> </a:t>
            </a:r>
            <a:r>
              <a:rPr lang="en-US" sz="1250" dirty="0" err="1"/>
              <a:t>estendono</a:t>
            </a:r>
            <a:r>
              <a:rPr lang="en-US" sz="1250" dirty="0"/>
              <a:t> a </a:t>
            </a:r>
            <a:r>
              <a:rPr lang="en-US" sz="1250" dirty="0" err="1"/>
              <a:t>sistemi</a:t>
            </a:r>
            <a:r>
              <a:rPr lang="en-US" sz="1250" dirty="0"/>
              <a:t> </a:t>
            </a:r>
            <a:r>
              <a:rPr lang="en-US" sz="1250" dirty="0" err="1"/>
              <a:t>più</a:t>
            </a:r>
            <a:r>
              <a:rPr lang="en-US" sz="1250" dirty="0"/>
              <a:t> </a:t>
            </a:r>
            <a:r>
              <a:rPr lang="en-US" sz="1250" dirty="0" err="1"/>
              <a:t>grandi</a:t>
            </a:r>
            <a:r>
              <a:rPr lang="en-US" sz="1250" dirty="0"/>
              <a:t>. 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2080</Words>
  <Application>Microsoft Office PowerPoint</Application>
  <PresentationFormat>Widescreen</PresentationFormat>
  <Paragraphs>213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73</cp:revision>
  <cp:lastPrinted>2026-09-18T13:39:48Z</cp:lastPrinted>
  <dcterms:created xsi:type="dcterms:W3CDTF">2026-09-14T09:54:52Z</dcterms:created>
  <dcterms:modified xsi:type="dcterms:W3CDTF">2026-09-18T19:09:30Z</dcterms:modified>
</cp:coreProperties>
</file>