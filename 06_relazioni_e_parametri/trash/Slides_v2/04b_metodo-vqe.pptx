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1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rimitive a due qubit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</a:t>
                </a:r>
                <a:endParaRPr lang="en-US" sz="2100" dirty="0"/>
              </a:p>
            </p:txBody>
          </p:sp>
        </mc:Choice>
        <mc:Fallback>
          <p:sp>
            <p:nvSpPr>
              <p:cNvPr id="5" name="Primitive a due qubi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rimitiva RBS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62674"/>
            <a:ext cx="2883529" cy="1397538"/>
          </a:xfrm>
          <a:prstGeom prst="rect">
            <a:avLst/>
          </a:prstGeom>
        </p:spPr>
      </p:pic>
      <p:pic>
        <p:nvPicPr>
          <p:cNvPr id="34" name="Primitiva W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29061"/>
            <a:ext cx="2029968" cy="1397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3699795" y="2775781"/>
                <a:ext cx="3320851" cy="1643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è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di Givens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coerente</a:t>
                </a:r>
                <a:r>
                  <a:rPr lang="en-US" sz="1400" dirty="0"/>
                  <a:t> con il </a:t>
                </a:r>
                <a:r>
                  <a:rPr lang="en-US" sz="1400" dirty="0" err="1"/>
                  <a:t>fatto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vero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, per </a:t>
                </a:r>
                <a:r>
                  <a:rPr lang="en-US" sz="1400" dirty="0" err="1"/>
                  <a:t>un'Hamiltoniana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come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, non ha </a:t>
                </a:r>
                <a:r>
                  <a:rPr lang="en-US" sz="1400" dirty="0" err="1"/>
                  <a:t>mai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bisogno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ampiezze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complesse</a:t>
                </a:r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Reconfigurable Beam Splitter (RBS)</a:t>
                </a:r>
              </a:p>
            </p:txBody>
          </p:sp>
        </mc:Choice>
        <mc:Fallback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95" y="2775781"/>
                <a:ext cx="3320851" cy="1643848"/>
              </a:xfrm>
              <a:prstGeom prst="rect">
                <a:avLst/>
              </a:prstGeom>
              <a:blipFill>
                <a:blip r:embed="rId6"/>
                <a:stretch>
                  <a:fillRect l="-550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3699795" y="5250924"/>
                <a:ext cx="332085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95" y="5250924"/>
                <a:ext cx="3320851" cy="351186"/>
              </a:xfrm>
              <a:prstGeom prst="rect">
                <a:avLst/>
              </a:prstGeom>
              <a:blipFill>
                <a:blip r:embed="rId7"/>
                <a:stretch>
                  <a:fillRect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5548182"/>
                  </p:ext>
                </p:extLst>
              </p:nvPr>
            </p:nvGraphicFramePr>
            <p:xfrm>
              <a:off x="8129575" y="2470019"/>
              <a:ext cx="342204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258186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5548182"/>
                  </p:ext>
                </p:extLst>
              </p:nvPr>
            </p:nvGraphicFramePr>
            <p:xfrm>
              <a:off x="8129575" y="2470019"/>
              <a:ext cx="342204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35" t="-180328" r="-20320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35" t="-285000" r="-20320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Dimero</a:t>
                </a:r>
                <a:endParaRPr lang="en-US" dirty="0"/>
              </a:p>
            </p:txBody>
          </p:sp>
        </mc:Choice>
        <mc:Fallback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blipFill>
                <a:blip r:embed="rId9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264408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347" y="3338699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3303181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645152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675535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664579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600" dirty="0"/>
              <a:t>: </a:t>
            </a:r>
            <a:r>
              <a:rPr lang="en-US" sz="1600" dirty="0" err="1"/>
              <a:t>termine</a:t>
            </a:r>
            <a:r>
              <a:rPr lang="en-US" sz="1600" dirty="0"/>
              <a:t> di </a:t>
            </a:r>
            <a:r>
              <a:rPr lang="en-US" sz="1600" dirty="0" err="1"/>
              <a:t>confronto</a:t>
            </a:r>
            <a:r>
              <a:rPr lang="en-US" sz="1600" dirty="0"/>
              <a:t> (baseline </a:t>
            </a:r>
            <a:r>
              <a:rPr lang="en-US" sz="1600" dirty="0" err="1"/>
              <a:t>generica</a:t>
            </a:r>
            <a:r>
              <a:rPr lang="en-US" sz="1600" dirty="0"/>
              <a:t>, senza </a:t>
            </a:r>
            <a:r>
              <a:rPr lang="en-US" sz="1600" dirty="0" err="1"/>
              <a:t>usare</a:t>
            </a:r>
            <a:r>
              <a:rPr lang="en-US" sz="1600" dirty="0"/>
              <a:t> la </a:t>
            </a:r>
            <a:r>
              <a:rPr lang="en-US" sz="1600" dirty="0" err="1"/>
              <a:t>fisica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base</a:t>
                </a:r>
                <a:r>
                  <a:rPr lang="en-US" sz="1600" b="1" dirty="0"/>
                  <a:t>: </a:t>
                </a:r>
                <a:r>
                  <a:rPr lang="en-US" sz="1600" dirty="0"/>
                  <a:t>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il </a:t>
                </a:r>
                <a:r>
                  <a:rPr lang="en-US" sz="1600" dirty="0" err="1"/>
                  <a:t>singoletto</a:t>
                </a:r>
                <a:r>
                  <a:rPr lang="en-US" sz="1600" dirty="0"/>
                  <a:t> è lo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fondamentale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esatto</a:t>
                </a:r>
                <a:r>
                  <a:rPr lang="en-US" sz="1600" dirty="0"/>
                  <a:t> -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aggiunge</a:t>
                </a:r>
                <a:r>
                  <a:rPr lang="en-US" sz="1600" dirty="0"/>
                  <a:t> solo la </a:t>
                </a:r>
                <a:r>
                  <a:rPr lang="en-US" sz="1600" dirty="0" err="1"/>
                  <a:t>flessibilità</a:t>
                </a:r>
                <a:r>
                  <a:rPr lang="en-US" sz="1600" dirty="0"/>
                  <a:t> minima per la </a:t>
                </a:r>
                <a:r>
                  <a:rPr lang="en-US" sz="1600" dirty="0" err="1"/>
                  <a:t>piccola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perturbazione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blipFill>
                <a:blip r:embed="rId13"/>
                <a:stretch>
                  <a:fillRect l="-951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330197" y="5205079"/>
                <a:ext cx="280290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/>
                  <a:t>: </a:t>
                </a:r>
                <a:r>
                  <a:rPr lang="en-US" sz="1600" dirty="0"/>
                  <a:t>PMA base non basta </a:t>
                </a:r>
                <a:r>
                  <a:rPr lang="en-US" sz="1600" dirty="0" err="1"/>
                  <a:t>vicino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all'incrocio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limite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parità</a:t>
                </a:r>
                <a:r>
                  <a:rPr lang="en-US" sz="1600" dirty="0"/>
                  <a:t>) — le due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rompono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quel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vincolo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recuperando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97" y="5205079"/>
                <a:ext cx="2802905" cy="1323439"/>
              </a:xfrm>
              <a:prstGeom prst="rect">
                <a:avLst/>
              </a:prstGeom>
              <a:blipFill>
                <a:blip r:embed="rId14"/>
                <a:stretch>
                  <a:fillRect l="-1087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blipFill>
                <a:blip r:embed="rId15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/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endParaRPr lang="en-US" dirty="0"/>
              </a:p>
            </p:txBody>
          </p:sp>
        </mc:Choice>
        <mc:Fallback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blipFill>
                <a:blip r:embed="rId16"/>
                <a:stretch>
                  <a:fillRect t="-8696" b="-27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40080" y="2518013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18013"/>
                <a:ext cx="10911535" cy="553998"/>
              </a:xfrm>
              <a:prstGeom prst="rect">
                <a:avLst/>
              </a:prstGeom>
              <a:blipFill>
                <a:blip r:embed="rId17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5173" y="3171405"/>
            <a:ext cx="5571825" cy="2100478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4538" y="3213350"/>
            <a:ext cx="5349299" cy="20165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/>
                  <a:t>RBS +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sui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legami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triangolo</a:t>
                </a:r>
                <a:r>
                  <a:rPr lang="en-US" sz="1600" dirty="0"/>
                  <a:t> -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idea del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estesa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spin: </a:t>
                </a:r>
                <a14:m>
                  <m:oMath xmlns:m="http://schemas.openxmlformats.org/officeDocument/2006/math">
                    <m:r>
                      <a:rPr lang="en-US" sz="1600"/>
                      <m:t>ℱ</m:t>
                    </m:r>
                    <m:r>
                      <a:rPr lang="en-US" sz="1600"/>
                      <m:t>=0.9999110739</m:t>
                    </m:r>
                  </m:oMath>
                </a14:m>
                <a:r>
                  <a:rPr lang="en-US" sz="1600" dirty="0"/>
                  <a:t>, non </a:t>
                </a:r>
                <a:r>
                  <a:rPr lang="en-US" sz="1600" dirty="0" err="1"/>
                  <a:t>arriva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mai</a:t>
                </a:r>
                <a:r>
                  <a:rPr lang="en-US" sz="1600" dirty="0"/>
                  <a:t> a </a:t>
                </a:r>
                <a14:m>
                  <m:oMath xmlns:m="http://schemas.openxmlformats.org/officeDocument/2006/math">
                    <m:r>
                      <a:rPr lang="en-US" sz="1600"/>
                      <m:t>1</m:t>
                    </m:r>
                  </m:oMath>
                </a14:m>
                <a:r>
                  <a:rPr lang="en-US" sz="1600" dirty="0"/>
                  <a:t> - un </a:t>
                </a:r>
                <a:r>
                  <a:rPr lang="en-US" sz="1600" dirty="0" err="1"/>
                  <a:t>tetto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strutturale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residuo</a:t>
                </a:r>
                <a:endParaRPr lang="en-US" sz="1600" dirty="0"/>
              </a:p>
            </p:txBody>
          </p:sp>
        </mc:Choice>
        <mc:Fallback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1077218"/>
              </a:xfrm>
              <a:prstGeom prst="rect">
                <a:avLst/>
              </a:prstGeom>
              <a:blipFill>
                <a:blip r:embed="rId20"/>
                <a:stretch>
                  <a:fillRect l="-632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609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struttura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blocco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𝑊</m:t>
                    </m:r>
                  </m:oMath>
                </a14:m>
                <a:r>
                  <a:rPr lang="en-US" sz="1600" dirty="0"/>
                  <a:t> al </a:t>
                </a:r>
                <a:r>
                  <a:rPr lang="en-US" sz="1600" dirty="0" err="1"/>
                  <a:t>posto</a:t>
                </a:r>
                <a:r>
                  <a:rPr lang="en-US" sz="1600" dirty="0"/>
                  <a:t> di RBS: </a:t>
                </a:r>
                <a14:m>
                  <m:oMath xmlns:m="http://schemas.openxmlformats.org/officeDocument/2006/math">
                    <m:r>
                      <a:rPr lang="en-US"/>
                      <m:t>ℱ</m:t>
                    </m:r>
                    <m:r>
                      <a:rPr lang="en-US"/>
                      <m:t>=1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-</m:t>
                    </m:r>
                  </m:oMath>
                </a14:m>
                <a:r>
                  <a:rPr lang="en-US" sz="1600" dirty="0"/>
                  <a:t> qui il </a:t>
                </a:r>
                <a:r>
                  <a:rPr lang="en-US" sz="1600" dirty="0" err="1"/>
                  <a:t>tetto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sparisce</a:t>
                </a:r>
                <a:endParaRPr lang="en-US" sz="1600" dirty="0"/>
              </a:p>
            </p:txBody>
          </p:sp>
        </mc:Choice>
        <mc:Fallback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609206"/>
              </a:xfrm>
              <a:prstGeom prst="rect">
                <a:avLst/>
              </a:prstGeom>
              <a:blipFill>
                <a:blip r:embed="rId21"/>
                <a:stretch>
                  <a:fillRect l="-632" t="-3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esc PMA Esteso dimero">
            <a:extLst>
              <a:ext uri="{FF2B5EF4-FFF2-40B4-BE49-F238E27FC236}">
                <a16:creationId xmlns:a16="http://schemas.microsoft.com/office/drawing/2014/main" id="{A0089200-92E3-FEC5-542E-C28FECB2007F}"/>
              </a:ext>
            </a:extLst>
          </p:cNvPr>
          <p:cNvSpPr txBox="1"/>
          <p:nvPr/>
        </p:nvSpPr>
        <p:spPr>
          <a:xfrm>
            <a:off x="1561288" y="5271883"/>
            <a:ext cx="29256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 qubit, 22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 qubit (28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Desc PMA Esteso dimero">
            <a:extLst>
              <a:ext uri="{FF2B5EF4-FFF2-40B4-BE49-F238E27FC236}">
                <a16:creationId xmlns:a16="http://schemas.microsoft.com/office/drawing/2014/main" id="{57D1F451-97FD-A6D3-7928-F2A4FEBFAE04}"/>
              </a:ext>
            </a:extLst>
          </p:cNvPr>
          <p:cNvSpPr txBox="1"/>
          <p:nvPr/>
        </p:nvSpPr>
        <p:spPr>
          <a:xfrm>
            <a:off x="6601186" y="5271883"/>
            <a:ext cx="4106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 qubit, 7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 qubit (13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– il piu’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economico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/>
      <p:bldP spid="38" grpId="0"/>
      <p:bldP spid="43" grpId="0"/>
      <p:bldP spid="43" grpId="1"/>
      <p:bldP spid="51" grpId="0" animBg="1"/>
      <p:bldP spid="51" grpId="1" animBg="1"/>
      <p:bldP spid="55" grpId="0" animBg="1"/>
      <p:bldP spid="55" grpId="1" animBg="1"/>
      <p:bldP spid="57" grpId="0" animBg="1"/>
      <p:bldP spid="57" grpId="1" animBg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7" grpId="0"/>
      <p:bldP spid="8" grpId="0"/>
      <p:bldP spid="15" grpId="0"/>
      <p:bldP spid="17" grpId="0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370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56</cp:revision>
  <dcterms:created xsi:type="dcterms:W3CDTF">2026-09-14T14:04:34Z</dcterms:created>
  <dcterms:modified xsi:type="dcterms:W3CDTF">2026-09-17T08:37:43Z</dcterms:modified>
</cp:coreProperties>
</file>