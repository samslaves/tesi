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74" r:id="rId3"/>
    <p:sldId id="271" r:id="rId4"/>
    <p:sldId id="288" r:id="rId5"/>
    <p:sldId id="289" r:id="rId6"/>
    <p:sldId id="276" r:id="rId7"/>
    <p:sldId id="277" r:id="rId8"/>
    <p:sldId id="278" r:id="rId9"/>
    <p:sldId id="290" r:id="rId10"/>
    <p:sldId id="292" r:id="rId11"/>
    <p:sldId id="282" r:id="rId12"/>
    <p:sldId id="286" r:id="rId13"/>
    <p:sldId id="287" r:id="rId14"/>
  </p:sldIdLst>
  <p:sldSz cx="12192000" cy="6858000"/>
  <p:notesSz cx="7315200" cy="9601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6B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147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152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95463" tIns="47732" rIns="95463" bIns="477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95463" tIns="47732" rIns="95463" bIns="47732"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95463" tIns="47732" rIns="95463" bIns="477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95463" tIns="47732" rIns="95463" bIns="47732"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95463" tIns="47732" rIns="95463" bIns="477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95463" tIns="47732" rIns="95463" bIns="47732"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95463" tIns="47732" rIns="95463" bIns="477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95463" tIns="47732" rIns="95463" bIns="47732"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95463" tIns="47732" rIns="95463" bIns="477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95463" tIns="47732" rIns="95463" bIns="47732"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95463" tIns="47732" rIns="95463" bIns="477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95463" tIns="47732" rIns="95463" bIns="47732"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95463" tIns="47732" rIns="95463" bIns="477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95463" tIns="47732" rIns="95463" bIns="47732"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95463" tIns="47732" rIns="95463" bIns="477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95463" tIns="47732" rIns="95463" bIns="47732"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95463" tIns="47732" rIns="95463" bIns="477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95463" tIns="47732" rIns="95463" bIns="47732"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0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21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 txBox="1"/>
          <p:nvPr/>
        </p:nvSpPr>
        <p:spPr>
          <a:xfrm>
            <a:off x="822960" y="18745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4F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TESI DI LAUREA TRIENNALE IN FISICA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31720"/>
            <a:ext cx="9966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simulation of molecular spin systems on quantum hardware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8920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Samuele Schiavi</a:t>
            </a:r>
            <a:endParaRPr lang="en-US" sz="2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Relatore: Prof. Alessandro Chiesa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61264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 degli Studi di Parma  —  Corso di Laurea in Fisica</a:t>
            </a:r>
            <a:endParaRPr lang="en-US" sz="13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9F5F2E-936A-C9B2-9AFA-42B5F90701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460" y="342900"/>
            <a:ext cx="1564919" cy="14173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Contesto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3014121" y="1640591"/>
            <a:ext cx="2392528" cy="1897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■"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sistemi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molecolari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basati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spin ½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accoppiati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costuiscono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piattaforme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privilegiate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nello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studio di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fenomeni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quantistici</a:t>
            </a:r>
            <a:endParaRPr lang="en-US" sz="1600" dirty="0">
              <a:solidFill>
                <a:srgbClr val="16233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7" name="Text 3"/>
          <p:cNvSpPr txBox="1"/>
          <p:nvPr/>
        </p:nvSpPr>
        <p:spPr>
          <a:xfrm>
            <a:off x="3014121" y="3855515"/>
            <a:ext cx="2392528" cy="1897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■"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computer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quantistici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mappando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ciascuno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spin ½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direttamente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 qubit,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offrono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percorso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aggirare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</a:t>
            </a:r>
            <a:endParaRPr lang="en-US" sz="1600" b="0" dirty="0">
              <a:solidFill>
                <a:srgbClr val="16233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buSzPct val="100000"/>
            </a:pPr>
            <a:endParaRPr lang="en-US" sz="1600" dirty="0"/>
          </a:p>
        </p:txBody>
      </p:sp>
      <p:sp>
        <p:nvSpPr>
          <p:cNvPr id="9" name="Text 4"/>
          <p:cNvSpPr txBox="1"/>
          <p:nvPr/>
        </p:nvSpPr>
        <p:spPr>
          <a:xfrm>
            <a:off x="9159087" y="3868893"/>
            <a:ext cx="2392528" cy="1897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■"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Essi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permettono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effciente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delle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proprietà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statiche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</a:t>
            </a:r>
            <a:r>
              <a:rPr lang="en-US" sz="1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fondamentale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e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dinamiche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</a:t>
            </a:r>
            <a:r>
              <a:rPr lang="en-US" sz="1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eccitati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di </a:t>
            </a:r>
            <a:r>
              <a:rPr lang="en-US" sz="1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sistemi</a:t>
            </a:r>
            <a:r>
              <a:rPr lang="en-US" sz="1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quantistici</a:t>
            </a:r>
            <a:r>
              <a:rPr lang="en-US" sz="1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interagenti</a:t>
            </a:r>
            <a:endParaRPr lang="en-US" sz="1600" b="1" dirty="0"/>
          </a:p>
        </p:txBody>
      </p:sp>
      <p:pic>
        <p:nvPicPr>
          <p:cNvPr id="10" name="Image 3" descr="/home/claude/deck/assets/hilbert_grow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753" y="1897076"/>
            <a:ext cx="2606040" cy="1713823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9159087" y="1490472"/>
            <a:ext cx="2392528" cy="1897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■"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loro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diventa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rapidamente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intrattabile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crescere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spin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coinvolti</a:t>
            </a:r>
            <a:endParaRPr lang="en-US" sz="1600" dirty="0"/>
          </a:p>
        </p:txBody>
      </p:sp>
      <p:sp>
        <p:nvSpPr>
          <p:cNvPr id="12" name="Shape 6"/>
          <p:cNvSpPr/>
          <p:nvPr/>
        </p:nvSpPr>
        <p:spPr>
          <a:xfrm>
            <a:off x="640080" y="5861731"/>
            <a:ext cx="10911535" cy="658368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7"/>
          <p:cNvSpPr txBox="1"/>
          <p:nvPr/>
        </p:nvSpPr>
        <p:spPr>
          <a:xfrm>
            <a:off x="640080" y="5861731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</a:t>
            </a:r>
            <a:r>
              <a:rPr lang="en-US" sz="14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spazio</a:t>
            </a:r>
            <a:r>
              <a:rPr lang="en-US" sz="14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Hilbert </a:t>
            </a:r>
            <a:r>
              <a:rPr lang="en-US" sz="14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ℋ</a:t>
            </a:r>
            <a:r>
              <a:rPr lang="en-US" sz="14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4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cresce</a:t>
            </a:r>
            <a:r>
              <a:rPr lang="en-US" sz="14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come 2</a:t>
            </a:r>
            <a:r>
              <a:rPr lang="en-US" sz="1400" b="1" baseline="30000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(con N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numero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spin). La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diagonalizzazione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esatta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già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poche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decine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particelle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esaurisce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risorse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supercomputers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classici</a:t>
            </a:r>
            <a:endParaRPr lang="en-US" sz="14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6C853E2-69BB-A737-4158-C200FBF94F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640591"/>
            <a:ext cx="1991478" cy="1999476"/>
          </a:xfrm>
          <a:prstGeom prst="rect">
            <a:avLst/>
          </a:prstGeom>
        </p:spPr>
      </p:pic>
      <p:pic>
        <p:nvPicPr>
          <p:cNvPr id="17" name="Picture 16" descr="The image depicts a polar coordinate diagram with a circle, an arrow indicating direction, and a point marked at a specific position, likely illustrating complex numbers or vector direction in polar form.&#10;&#10;AI-generated content may be incorrect.">
            <a:extLst>
              <a:ext uri="{FF2B5EF4-FFF2-40B4-BE49-F238E27FC236}">
                <a16:creationId xmlns:a16="http://schemas.microsoft.com/office/drawing/2014/main" id="{827E5CC9-23E0-D692-7E01-D78C8D5ADE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866003"/>
            <a:ext cx="1990800" cy="1764791"/>
          </a:xfrm>
          <a:prstGeom prst="rect">
            <a:avLst/>
          </a:prstGeom>
        </p:spPr>
      </p:pic>
      <p:pic>
        <p:nvPicPr>
          <p:cNvPr id="19" name="Picture 18" descr="The diagram illustrates a phase diagram with axes for S (spin quantum number) and M (magnetic quantum number), depicting transitions between different quantum states and their corresponding energy levels.&#10;&#10;AI-generated content may be incorrect.">
            <a:extLst>
              <a:ext uri="{FF2B5EF4-FFF2-40B4-BE49-F238E27FC236}">
                <a16:creationId xmlns:a16="http://schemas.microsoft.com/office/drawing/2014/main" id="{6CABA6C0-B66E-87A8-99AE-2A8C18B295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8079" y="3908104"/>
            <a:ext cx="1691961" cy="1090581"/>
          </a:xfrm>
          <a:prstGeom prst="rect">
            <a:avLst/>
          </a:prstGeom>
        </p:spPr>
      </p:pic>
      <p:pic>
        <p:nvPicPr>
          <p:cNvPr id="21" name="Picture 20" descr="The diagram shows a comparison of magnetization over time for different numbers of turns in a coil, illustrating the relationship between coil turns and magnetic field strength.&#10;&#10;AI-generated content may be incorrect.">
            <a:extLst>
              <a:ext uri="{FF2B5EF4-FFF2-40B4-BE49-F238E27FC236}">
                <a16:creationId xmlns:a16="http://schemas.microsoft.com/office/drawing/2014/main" id="{62D8E6C9-4CC4-8295-1935-46A8632501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64768" y="4595979"/>
            <a:ext cx="1781023" cy="1034815"/>
          </a:xfrm>
          <a:prstGeom prst="rect">
            <a:avLst/>
          </a:prstGeom>
        </p:spPr>
      </p:pic>
      <p:sp>
        <p:nvSpPr>
          <p:cNvPr id="6" name="Desc HA dimero">
            <a:extLst>
              <a:ext uri="{FF2B5EF4-FFF2-40B4-BE49-F238E27FC236}">
                <a16:creationId xmlns:a16="http://schemas.microsoft.com/office/drawing/2014/main" id="{0372A8A6-9823-8578-2EF5-595D23930FAC}"/>
              </a:ext>
            </a:extLst>
          </p:cNvPr>
          <p:cNvSpPr txBox="1"/>
          <p:nvPr/>
        </p:nvSpPr>
        <p:spPr>
          <a:xfrm>
            <a:off x="1945605" y="6493840"/>
            <a:ext cx="8300484" cy="338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 dirty="0" err="1">
                <a:solidFill>
                  <a:srgbClr val="5B6B84"/>
                </a:solidFill>
              </a:rPr>
              <a:t>Peruzzo</a:t>
            </a:r>
            <a:r>
              <a:rPr lang="en-US" sz="1100" i="1" dirty="0">
                <a:solidFill>
                  <a:srgbClr val="5B6B84"/>
                </a:solidFill>
              </a:rPr>
              <a:t> et al., Nat. Commun. 5, 4213 (2014); Chiesa et al., Rep. Prog. Phys. 87, 034501 (2024); Chicco et al., JACS 146, 1053 (2024)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515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Obiettivi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097006" y="1521823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04800" indent="-304800">
              <a:buSzPct val="100000"/>
              <a:buChar char="■"/>
            </a:pPr>
            <a:r>
              <a:rPr lang="en-US" dirty="0" err="1"/>
              <a:t>Estendere</a:t>
            </a:r>
            <a:r>
              <a:rPr lang="en-US" dirty="0"/>
              <a:t> la </a:t>
            </a:r>
            <a:r>
              <a:rPr lang="en-US" dirty="0" err="1"/>
              <a:t>simulazione</a:t>
            </a:r>
            <a:r>
              <a:rPr lang="en-US" dirty="0"/>
              <a:t> ad un </a:t>
            </a:r>
            <a:r>
              <a:rPr lang="en-US" dirty="0" err="1"/>
              <a:t>triangolo</a:t>
            </a:r>
            <a:r>
              <a:rPr lang="en-US" dirty="0"/>
              <a:t> o ad </a:t>
            </a:r>
            <a:r>
              <a:rPr lang="en-US" dirty="0" err="1"/>
              <a:t>una</a:t>
            </a:r>
            <a:r>
              <a:rPr lang="en-US" dirty="0"/>
              <a:t> catena di </a:t>
            </a:r>
            <a:r>
              <a:rPr lang="en-US" dirty="0" err="1"/>
              <a:t>tre</a:t>
            </a:r>
            <a:r>
              <a:rPr lang="en-US" dirty="0"/>
              <a:t> spin </a:t>
            </a:r>
            <a:r>
              <a:rPr lang="en-US" dirty="0" err="1"/>
              <a:t>interagenti</a:t>
            </a:r>
            <a:endParaRPr lang="en-US" dirty="0"/>
          </a:p>
        </p:txBody>
      </p:sp>
      <p:sp>
        <p:nvSpPr>
          <p:cNvPr id="6" name="Text 4"/>
          <p:cNvSpPr txBox="1"/>
          <p:nvPr/>
        </p:nvSpPr>
        <p:spPr>
          <a:xfrm>
            <a:off x="606494" y="4181697"/>
            <a:ext cx="5055568" cy="11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04800" indent="-304800">
              <a:buSzPct val="100000"/>
              <a:buChar char="■"/>
            </a:pPr>
            <a:r>
              <a:rPr lang="en-US" dirty="0" err="1"/>
              <a:t>Aggiungere</a:t>
            </a:r>
            <a:r>
              <a:rPr lang="en-US" dirty="0"/>
              <a:t> il </a:t>
            </a:r>
            <a:r>
              <a:rPr lang="en-US" dirty="0" err="1"/>
              <a:t>rumore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deriva</a:t>
            </a:r>
            <a:r>
              <a:rPr lang="en-US" dirty="0"/>
              <a:t> </a:t>
            </a:r>
            <a:r>
              <a:rPr lang="en-US" dirty="0" err="1"/>
              <a:t>dalla</a:t>
            </a:r>
            <a:r>
              <a:rPr lang="en-US" dirty="0"/>
              <a:t> </a:t>
            </a:r>
            <a:r>
              <a:rPr lang="en-US" dirty="0" err="1"/>
              <a:t>interazione</a:t>
            </a:r>
            <a:r>
              <a:rPr lang="en-US" dirty="0"/>
              <a:t> non </a:t>
            </a:r>
            <a:r>
              <a:rPr lang="en-US" dirty="0" err="1"/>
              <a:t>voluta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hardware </a:t>
            </a:r>
            <a:r>
              <a:rPr lang="en-US" dirty="0" err="1"/>
              <a:t>quantistico</a:t>
            </a:r>
            <a:r>
              <a:rPr lang="en-US" dirty="0"/>
              <a:t> e </a:t>
            </a:r>
            <a:r>
              <a:rPr lang="en-US" dirty="0" err="1"/>
              <a:t>ambiente</a:t>
            </a:r>
            <a:endParaRPr lang="en-US" dirty="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08C972C1-A68F-A424-B6E8-E8E790D220C1}"/>
              </a:ext>
            </a:extLst>
          </p:cNvPr>
          <p:cNvSpPr txBox="1"/>
          <p:nvPr/>
        </p:nvSpPr>
        <p:spPr>
          <a:xfrm>
            <a:off x="671566" y="1521823"/>
            <a:ext cx="49925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04800" indent="-304800">
              <a:buSzPct val="100000"/>
              <a:buChar char="■"/>
            </a:pPr>
            <a:r>
              <a:rPr lang="en-US" dirty="0" err="1"/>
              <a:t>Studiare</a:t>
            </a:r>
            <a:r>
              <a:rPr lang="en-US" dirty="0"/>
              <a:t> come </a:t>
            </a:r>
            <a:r>
              <a:rPr lang="en-US" dirty="0" err="1"/>
              <a:t>caso</a:t>
            </a:r>
            <a:r>
              <a:rPr lang="en-US" dirty="0"/>
              <a:t> </a:t>
            </a:r>
            <a:r>
              <a:rPr lang="en-US" dirty="0" err="1"/>
              <a:t>prototipo</a:t>
            </a:r>
            <a:r>
              <a:rPr lang="en-US" dirty="0"/>
              <a:t> un </a:t>
            </a:r>
            <a:r>
              <a:rPr lang="en-US" dirty="0" err="1"/>
              <a:t>dimero</a:t>
            </a:r>
            <a:r>
              <a:rPr lang="en-US" dirty="0"/>
              <a:t> di spin: </a:t>
            </a:r>
            <a:r>
              <a:rPr lang="en-US" dirty="0" err="1"/>
              <a:t>stato</a:t>
            </a:r>
            <a:r>
              <a:rPr lang="en-US" dirty="0"/>
              <a:t> </a:t>
            </a:r>
            <a:r>
              <a:rPr lang="en-US" dirty="0" err="1"/>
              <a:t>fondamentale</a:t>
            </a:r>
            <a:r>
              <a:rPr lang="en-US" dirty="0"/>
              <a:t> e </a:t>
            </a:r>
            <a:r>
              <a:rPr lang="en-US" dirty="0" err="1"/>
              <a:t>dinamica</a:t>
            </a:r>
            <a:r>
              <a:rPr lang="en-US" dirty="0"/>
              <a:t> (</a:t>
            </a:r>
            <a:r>
              <a:rPr lang="en-US" dirty="0" err="1"/>
              <a:t>noisless</a:t>
            </a:r>
            <a:r>
              <a:rPr lang="en-US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ADE1FD8-EB97-E210-0592-6017625E3919}"/>
                  </a:ext>
                </a:extLst>
              </p:cNvPr>
              <p:cNvSpPr txBox="1"/>
              <p:nvPr/>
            </p:nvSpPr>
            <p:spPr>
              <a:xfrm>
                <a:off x="857250" y="2421437"/>
                <a:ext cx="4807829" cy="21200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400" dirty="0"/>
                  <a:t>Due soli spin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>
                            <a:solidFill>
                              <a:srgbClr val="16233A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i="1">
                            <a:solidFill>
                              <a:srgbClr val="16233A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400" i="1">
                            <a:solidFill>
                              <a:srgbClr val="16233A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1400" dirty="0"/>
                  <a:t> </a:t>
                </a:r>
                <a:r>
                  <a:rPr lang="en-US" sz="1400" dirty="0" err="1"/>
                  <a:t>accoppiati</a:t>
                </a:r>
                <a:r>
                  <a:rPr lang="en-US" sz="1400" dirty="0"/>
                  <a:t>, </a:t>
                </a:r>
                <a:r>
                  <a:rPr lang="en-US" sz="1400" dirty="0" err="1"/>
                  <a:t>mappati</a:t>
                </a:r>
                <a:r>
                  <a:rPr lang="en-US" sz="1400" dirty="0"/>
                  <a:t> </a:t>
                </a:r>
                <a:r>
                  <a:rPr lang="en-US" sz="1400" dirty="0" err="1"/>
                  <a:t>direttamente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su</a:t>
                </a:r>
                <a:r>
                  <a:rPr lang="en-US" sz="1400" dirty="0"/>
                  <a:t> </a:t>
                </a:r>
                <a:r>
                  <a:rPr lang="en-US" sz="1400" b="1" dirty="0"/>
                  <a:t>2 qubit</a:t>
                </a:r>
                <a:r>
                  <a:rPr lang="en-US" sz="1400" dirty="0"/>
                  <a:t>.</a:t>
                </a:r>
              </a:p>
              <a:p>
                <a:pPr algn="just"/>
                <a:r>
                  <a:rPr lang="en-US" sz="1400" dirty="0" err="1"/>
                  <a:t>Hamiltoniana</a:t>
                </a:r>
                <a:r>
                  <a:rPr lang="en-US" sz="1400" dirty="0"/>
                  <a:t> in termini delle </a:t>
                </a:r>
                <a:r>
                  <a:rPr lang="en-US" sz="1400" dirty="0" err="1"/>
                  <a:t>matrici</a:t>
                </a:r>
                <a:r>
                  <a:rPr lang="en-US" sz="1400" dirty="0"/>
                  <a:t> di Pauli:</a:t>
                </a:r>
              </a:p>
              <a:p>
                <a:pPr algn="just"/>
                <a:endParaRPr lang="en-US" sz="1400" dirty="0"/>
              </a:p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US" sz="1400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1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𝐽</m:t>
                      </m:r>
                      <m:r>
                        <m:rPr>
                          <m:nor/>
                        </m:rPr>
                        <a:rPr lang="en-US" sz="1400" i="0"/>
                        <m:t> 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b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b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4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𝑏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</m:e>
                      </m:d>
                      <m:r>
                        <a:rPr lang="en-US" sz="14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1400" b="0" dirty="0"/>
              </a:p>
              <a:p>
                <a:pPr lvl="0" algn="just"/>
                <a:endParaRPr lang="en-US" sz="1400" dirty="0"/>
              </a:p>
              <a:p>
                <a:pPr algn="just"/>
                <a:r>
                  <a:rPr lang="en-US" sz="1400" dirty="0" err="1"/>
                  <a:t>tre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parametri</a:t>
                </a:r>
                <a:r>
                  <a:rPr lang="en-US" sz="1400" dirty="0"/>
                  <a:t> </a:t>
                </a:r>
                <a:r>
                  <a:rPr lang="en-US" sz="1400" dirty="0" err="1"/>
                  <a:t>fisici</a:t>
                </a:r>
                <a:r>
                  <a:rPr lang="en-US" sz="1400" dirty="0"/>
                  <a:t>: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US" sz="1400" dirty="0"/>
                  <a:t> (</a:t>
                </a:r>
                <a:r>
                  <a:rPr lang="en-US" sz="1400" dirty="0" err="1"/>
                  <a:t>accoppiamento</a:t>
                </a:r>
                <a:r>
                  <a:rPr lang="en-US" sz="1400" dirty="0"/>
                  <a:t>),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1400" dirty="0"/>
                  <a:t> (campo),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1400" dirty="0"/>
                  <a:t> (</a:t>
                </a:r>
                <a:r>
                  <a:rPr lang="en-US" sz="1400" dirty="0" err="1"/>
                  <a:t>interazione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Dzyaloshinskii</a:t>
                </a:r>
                <a:r>
                  <a:rPr lang="en-US" sz="1400" dirty="0"/>
                  <a:t>–Moriya) </a:t>
                </a:r>
                <a:r>
                  <a:rPr lang="en-US" sz="1400" dirty="0" err="1"/>
                  <a:t>sufficienti</a:t>
                </a:r>
                <a:r>
                  <a:rPr lang="en-US" sz="1400" dirty="0"/>
                  <a:t> a </a:t>
                </a:r>
                <a:r>
                  <a:rPr lang="en-US" sz="1400" dirty="0" err="1"/>
                  <a:t>produrre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una</a:t>
                </a:r>
                <a:r>
                  <a:rPr lang="en-US" sz="1400" dirty="0"/>
                  <a:t> </a:t>
                </a:r>
                <a:r>
                  <a:rPr lang="en-US" sz="1400" dirty="0" err="1"/>
                  <a:t>fisica</a:t>
                </a:r>
                <a:r>
                  <a:rPr lang="en-US" sz="1400" dirty="0"/>
                  <a:t> non </a:t>
                </a:r>
                <a:r>
                  <a:rPr lang="en-US" sz="1400" dirty="0" err="1"/>
                  <a:t>banale</a:t>
                </a:r>
                <a:r>
                  <a:rPr lang="en-US" sz="1400" dirty="0"/>
                  <a:t>.</a:t>
                </a:r>
              </a:p>
              <a:p>
                <a:pPr marL="304800" indent="-304800" algn="just">
                  <a:buSzPct val="100000"/>
                  <a:buChar char="■"/>
                </a:pPr>
                <a:endParaRPr lang="en-US" sz="1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ADE1FD8-EB97-E210-0592-6017625E39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250" y="2421437"/>
                <a:ext cx="4807829" cy="2120068"/>
              </a:xfrm>
              <a:prstGeom prst="rect">
                <a:avLst/>
              </a:prstGeom>
              <a:blipFill>
                <a:blip r:embed="rId3"/>
                <a:stretch>
                  <a:fillRect l="-381" r="-5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1E3D762-0137-95C8-2AA3-3DB7C6CE0B1F}"/>
                  </a:ext>
                </a:extLst>
              </p:cNvPr>
              <p:cNvSpPr txBox="1"/>
              <p:nvPr/>
            </p:nvSpPr>
            <p:spPr>
              <a:xfrm>
                <a:off x="6343650" y="2390503"/>
                <a:ext cx="5485698" cy="21897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400" dirty="0"/>
                  <a:t>Tre spin</a:t>
                </a:r>
                <a:r>
                  <a:rPr lang="en-US" sz="1400" dirty="0">
                    <a:solidFill>
                      <a:srgbClr val="16233A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>
                            <a:solidFill>
                              <a:srgbClr val="16233A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i="1">
                            <a:solidFill>
                              <a:srgbClr val="16233A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400" i="1">
                            <a:solidFill>
                              <a:srgbClr val="16233A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1400" dirty="0"/>
                  <a:t> </a:t>
                </a:r>
                <a:r>
                  <a:rPr lang="en-US" sz="1400" dirty="0" err="1"/>
                  <a:t>disposti</a:t>
                </a:r>
                <a:r>
                  <a:rPr lang="en-US" sz="1400" dirty="0"/>
                  <a:t> a </a:t>
                </a:r>
                <a:r>
                  <a:rPr lang="en-US" sz="1400" dirty="0" err="1"/>
                  <a:t>triangolo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isoscele</a:t>
                </a:r>
                <a:r>
                  <a:rPr lang="en-US" sz="1400" dirty="0"/>
                  <a:t> (</a:t>
                </a:r>
                <a:r>
                  <a:rPr lang="en-US" sz="1400" dirty="0" err="1"/>
                  <a:t>anello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chiuso</a:t>
                </a:r>
                <a:r>
                  <a:rPr lang="en-US" sz="1400" dirty="0"/>
                  <a:t>). </a:t>
                </a:r>
                <a:r>
                  <a:rPr lang="en-US" sz="1400" dirty="0" err="1"/>
                  <a:t>Hamiltoniana</a:t>
                </a:r>
                <a:r>
                  <a:rPr lang="en-US" sz="1400" dirty="0"/>
                  <a:t> in termini delle </a:t>
                </a:r>
                <a:r>
                  <a:rPr lang="en-US" sz="1400" dirty="0" err="1"/>
                  <a:t>matrici</a:t>
                </a:r>
                <a:r>
                  <a:rPr lang="en-US" sz="1400" dirty="0"/>
                  <a:t> di Pauli</a:t>
                </a:r>
                <a:br>
                  <a:rPr lang="en-US" sz="1400" dirty="0"/>
                </a:br>
                <a:endParaRPr lang="en-US" sz="1400" dirty="0"/>
              </a:p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US" sz="1200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𝐽</m:t>
                      </m:r>
                      <m:r>
                        <m:rPr>
                          <m:nor/>
                        </m:rPr>
                        <a:rPr lang="en-US" sz="1200" i="0"/>
                        <m:t> 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b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20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b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20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12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𝑏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</m:e>
                      </m:d>
                      <m:r>
                        <a:rPr lang="en-US" sz="12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𝐷</m:t>
                      </m:r>
                      <m:r>
                        <m:rPr>
                          <m:nor/>
                        </m:rPr>
                        <a:rPr lang="en-US" sz="1200" i="0"/>
                        <m:t>  </m:t>
                      </m:r>
                      <m:nary>
                        <m:naryPr>
                          <m:chr m:val="∑"/>
                          <m:grow m:val="on"/>
                          <m:supHide m:val="on"/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begChr m:val="⟨"/>
                              <m:endChr m:val="⟩"/>
                              <m:sepChr m:val=",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sub>
                        <m:sup/>
                        <m:e>
                          <m:r>
                            <m:rPr>
                              <m:nor/>
                            </m:rPr>
                            <a:rPr lang="en-US" sz="1200" i="0"/>
                            <m:t> </m:t>
                          </m:r>
                        </m:e>
                      </m:nary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1200" b="0" dirty="0"/>
              </a:p>
              <a:p>
                <a:pPr algn="just"/>
                <a:endParaRPr lang="en-US" sz="1400" dirty="0"/>
              </a:p>
              <a:p>
                <a:pPr algn="just"/>
                <a:r>
                  <a:rPr lang="en-US" sz="1400" dirty="0"/>
                  <a:t>un </a:t>
                </a:r>
                <a:r>
                  <a:rPr lang="en-US" sz="1400" dirty="0" err="1"/>
                  <a:t>legame</a:t>
                </a:r>
                <a:r>
                  <a:rPr lang="en-US" sz="1400" dirty="0"/>
                  <a:t> in </a:t>
                </a:r>
                <a:r>
                  <a:rPr lang="en-US" sz="1400" dirty="0" err="1"/>
                  <a:t>più</a:t>
                </a:r>
                <a:r>
                  <a:rPr lang="en-US" sz="1400" dirty="0"/>
                  <a:t> rispetto al </a:t>
                </a:r>
                <a:r>
                  <a:rPr lang="en-US" sz="1400" dirty="0" err="1"/>
                  <a:t>dimero</a:t>
                </a:r>
                <a:r>
                  <a:rPr lang="en-US" sz="1400" dirty="0"/>
                  <a:t>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en-US" sz="140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1400" dirty="0"/>
                  <a:t>), </a:t>
                </a:r>
                <a:r>
                  <a:rPr lang="en-US" sz="1400" dirty="0" err="1"/>
                  <a:t>sufficiente</a:t>
                </a:r>
                <a:r>
                  <a:rPr lang="en-US" sz="1400" dirty="0"/>
                  <a:t> a </a:t>
                </a:r>
                <a:r>
                  <a:rPr lang="en-US" sz="1400" dirty="0" err="1"/>
                  <a:t>introdurre</a:t>
                </a:r>
                <a:r>
                  <a:rPr lang="en-US" sz="1400" dirty="0"/>
                  <a:t> un </a:t>
                </a:r>
                <a:r>
                  <a:rPr lang="en-US" sz="1400" dirty="0" err="1"/>
                  <a:t>fenomeno</a:t>
                </a:r>
                <a:r>
                  <a:rPr lang="en-US" sz="1400" dirty="0"/>
                  <a:t> del </a:t>
                </a:r>
                <a:r>
                  <a:rPr lang="en-US" sz="1400" dirty="0" err="1"/>
                  <a:t>tutto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assente</a:t>
                </a:r>
                <a:r>
                  <a:rPr lang="en-US" sz="1400" dirty="0"/>
                  <a:t> a due spin: la </a:t>
                </a:r>
                <a:r>
                  <a:rPr lang="en-US" sz="1400" b="1" dirty="0" err="1"/>
                  <a:t>frustrazione</a:t>
                </a:r>
                <a:r>
                  <a:rPr lang="en-US" sz="1400" b="1" dirty="0"/>
                  <a:t> </a:t>
                </a:r>
                <a:r>
                  <a:rPr lang="en-US" sz="1400" b="1" dirty="0" err="1"/>
                  <a:t>geometrica</a:t>
                </a:r>
                <a:r>
                  <a:rPr lang="en-US" sz="1400" dirty="0"/>
                  <a:t>.</a:t>
                </a:r>
              </a:p>
              <a:p>
                <a:pPr algn="just" rtl="0">
                  <a:buNone/>
                </a:pPr>
                <a:endParaRPr lang="en-US" sz="1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1E3D762-0137-95C8-2AA3-3DB7C6CE0B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3650" y="2390503"/>
                <a:ext cx="5485698" cy="2189702"/>
              </a:xfrm>
              <a:prstGeom prst="rect">
                <a:avLst/>
              </a:prstGeom>
              <a:blipFill>
                <a:blip r:embed="rId4"/>
                <a:stretch>
                  <a:fillRect l="-333" r="-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7C4AF3E-EA4E-9ADF-4264-78ADB52E8F5A}"/>
                  </a:ext>
                </a:extLst>
              </p:cNvPr>
              <p:cNvSpPr txBox="1"/>
              <p:nvPr/>
            </p:nvSpPr>
            <p:spPr>
              <a:xfrm>
                <a:off x="859261" y="5212708"/>
                <a:ext cx="4805818" cy="14769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it-IT" sz="1400" dirty="0"/>
                  <a:t>Modellizzazione degli effetti dell'ambiente tramite il formalismo dei canali quantistici, descritti dagli operatori di Kraus</a:t>
                </a:r>
                <a14:m>
                  <m:oMath xmlns:m="http://schemas.openxmlformats.org/officeDocument/2006/math">
                    <m:r>
                      <a:rPr lang="en-US" sz="1400" b="0" i="0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it-IT" sz="1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400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it-IT" sz="1400" i="1" dirty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4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sz="1400" dirty="0"/>
                  <a:t>nella mappa non unitaria</a:t>
                </a:r>
              </a:p>
              <a:p>
                <a:pPr algn="just"/>
                <a:endParaRPr lang="it-IT" sz="1400" dirty="0"/>
              </a:p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en-US" sz="1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400" i="0" dirty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sz="14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en-US" sz="1400" i="1" dirty="0"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en-US" sz="1400" i="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0" dirty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sSubSup>
                        <m:sSubSupPr>
                          <m:ctrlPr>
                            <a:rPr lang="en-US" sz="14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sz="1400" i="0" dirty="0">
                              <a:latin typeface="Cambria Math" panose="02040503050406030204" pitchFamily="18" charset="0"/>
                            </a:rPr>
                            <m:t>†</m:t>
                          </m:r>
                        </m:sup>
                      </m:sSubSup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7C4AF3E-EA4E-9ADF-4264-78ADB52E8F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261" y="5212708"/>
                <a:ext cx="4805818" cy="1476943"/>
              </a:xfrm>
              <a:prstGeom prst="rect">
                <a:avLst/>
              </a:prstGeom>
              <a:blipFill>
                <a:blip r:embed="rId5"/>
                <a:stretch>
                  <a:fillRect l="-381" t="-826" r="-381" b="-690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28788" y="711105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</a:t>
            </a:r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</a:t>
            </a:r>
            <a:r>
              <a:rPr lang="en-US" sz="3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Quantistica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28788" y="1488345"/>
            <a:ext cx="10911535" cy="548640"/>
          </a:xfrm>
          <a:prstGeom prst="roundRect">
            <a:avLst>
              <a:gd name="adj" fmla="val 1333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28788" y="1488345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della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dimensione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dello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spazio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Hilbert al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crescere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N ha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risposta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628787" y="2864478"/>
            <a:ext cx="4076120" cy="47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79400" indent="-279400">
              <a:buSzPct val="100000"/>
              <a:buChar char="■"/>
            </a:pPr>
            <a:r>
              <a:rPr lang="en-US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Feynman (1982)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F2C4C30-539D-7809-69F6-71DB02378B85}"/>
              </a:ext>
            </a:extLst>
          </p:cNvPr>
          <p:cNvSpPr txBox="1"/>
          <p:nvPr/>
        </p:nvSpPr>
        <p:spPr>
          <a:xfrm>
            <a:off x="809870" y="3336856"/>
            <a:ext cx="390068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dirty="0"/>
              <a:t>"un computer </a:t>
            </a:r>
            <a:r>
              <a:rPr lang="en-US" sz="1400" dirty="0" err="1"/>
              <a:t>quantistico</a:t>
            </a:r>
            <a:r>
              <a:rPr lang="en-US" sz="1400" dirty="0"/>
              <a:t> </a:t>
            </a:r>
            <a:r>
              <a:rPr lang="en-US" sz="1400" dirty="0" err="1"/>
              <a:t>dovrebbe</a:t>
            </a:r>
            <a:r>
              <a:rPr lang="en-US" sz="1400" dirty="0"/>
              <a:t> </a:t>
            </a:r>
            <a:r>
              <a:rPr lang="en-US" sz="1400" dirty="0" err="1"/>
              <a:t>poter</a:t>
            </a:r>
            <a:r>
              <a:rPr lang="en-US" sz="1400" dirty="0"/>
              <a:t> </a:t>
            </a:r>
            <a:r>
              <a:rPr lang="en-US" sz="1400" dirty="0" err="1"/>
              <a:t>simulare</a:t>
            </a:r>
            <a:r>
              <a:rPr lang="en-US" sz="1400" dirty="0"/>
              <a:t> </a:t>
            </a:r>
            <a:r>
              <a:rPr lang="en-US" sz="1400" dirty="0" err="1"/>
              <a:t>qualsiasi</a:t>
            </a:r>
            <a:r>
              <a:rPr lang="en-US" sz="1400" dirty="0"/>
              <a:t> </a:t>
            </a:r>
            <a:r>
              <a:rPr lang="en-US" sz="1400" dirty="0" err="1"/>
              <a:t>sistema</a:t>
            </a:r>
            <a:r>
              <a:rPr lang="en-US" sz="1400" dirty="0"/>
              <a:t> </a:t>
            </a:r>
            <a:r>
              <a:rPr lang="en-US" sz="1400" dirty="0" err="1"/>
              <a:t>quantistico</a:t>
            </a:r>
            <a:r>
              <a:rPr lang="en-US" sz="1400" dirty="0"/>
              <a:t> locale in modo </a:t>
            </a:r>
            <a:r>
              <a:rPr lang="en-US" sz="1400" dirty="0" err="1"/>
              <a:t>efficiente</a:t>
            </a:r>
            <a:r>
              <a:rPr lang="en-US" sz="1400" dirty="0"/>
              <a:t>"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1757B0E-C20E-962C-76D7-E7164CA457B1}"/>
                  </a:ext>
                </a:extLst>
              </p:cNvPr>
              <p:cNvSpPr txBox="1"/>
              <p:nvPr/>
            </p:nvSpPr>
            <p:spPr>
              <a:xfrm>
                <a:off x="5560829" y="2318744"/>
                <a:ext cx="5901070" cy="47772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1400" b="1" dirty="0" err="1"/>
                  <a:t>Decomposizione</a:t>
                </a:r>
                <a:r>
                  <a:rPr lang="en-US" sz="1400" b="1" dirty="0"/>
                  <a:t> di Suzuki - Trotter:</a:t>
                </a:r>
                <a:r>
                  <a:rPr lang="en-US" sz="1400" dirty="0"/>
                  <a:t> per </a:t>
                </a:r>
                <a:r>
                  <a:rPr lang="en-US" sz="1400" dirty="0" err="1"/>
                  <a:t>una</a:t>
                </a:r>
                <a:r>
                  <a:rPr lang="en-US" sz="1400" dirty="0"/>
                  <a:t> </a:t>
                </a:r>
                <a:r>
                  <a:rPr lang="en-US" sz="1400" dirty="0" err="1"/>
                  <a:t>Hamiltoniana</a:t>
                </a:r>
                <a:r>
                  <a:rPr lang="en-US" sz="1400" dirty="0"/>
                  <a:t> somma di </a:t>
                </a:r>
                <a:r>
                  <a:rPr lang="en-US" sz="1400" dirty="0" err="1"/>
                  <a:t>operatori</a:t>
                </a:r>
                <a:r>
                  <a:rPr lang="en-US" sz="1400" dirty="0"/>
                  <a:t> </a:t>
                </a:r>
                <a:r>
                  <a:rPr lang="en-US" sz="1400" dirty="0" err="1"/>
                  <a:t>locali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US" sz="1400" i="1" dirty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1400" dirty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  <m:r>
                      <a:rPr lang="en-US" sz="1400" b="0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 dirty="0"/>
                  <a:t>in generale </a:t>
                </a:r>
                <a:r>
                  <a:rPr lang="en-US" sz="1400" dirty="0" err="1"/>
                  <a:t>i</a:t>
                </a:r>
                <a:r>
                  <a:rPr lang="en-US" sz="1400" dirty="0"/>
                  <a:t> </a:t>
                </a:r>
                <a:r>
                  <a:rPr lang="en-US" sz="1400" dirty="0" err="1"/>
                  <a:t>singoli</a:t>
                </a:r>
                <a:r>
                  <a:rPr lang="en-US" sz="1400" dirty="0"/>
                  <a:t> termini </a:t>
                </a:r>
                <a:r>
                  <a:rPr lang="en-US" sz="1400" b="1" dirty="0"/>
                  <a:t>non </a:t>
                </a:r>
                <a:r>
                  <a:rPr lang="en-US" sz="1400" b="1" dirty="0" err="1"/>
                  <a:t>commutano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400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  <m:r>
                          <a:rPr lang="en-US" sz="1400" dirty="0">
                            <a:latin typeface="Cambria Math" panose="02040503050406030204" pitchFamily="18" charset="0"/>
                          </a:rPr>
                          <m:t>≠0</m:t>
                        </m:r>
                      </m:e>
                    </m:d>
                  </m:oMath>
                </a14:m>
                <a:r>
                  <a:rPr lang="en-US" sz="1400" dirty="0"/>
                  <a:t>, </a:t>
                </a:r>
                <a:r>
                  <a:rPr lang="en-US" sz="1400" dirty="0" err="1"/>
                  <a:t>l'esponenziale</a:t>
                </a:r>
                <a:r>
                  <a:rPr lang="en-US" sz="1400" dirty="0"/>
                  <a:t> della somma </a:t>
                </a:r>
                <a:r>
                  <a:rPr lang="en-US" sz="1400" b="1" dirty="0"/>
                  <a:t>non è</a:t>
                </a:r>
                <a:r>
                  <a:rPr lang="en-US" sz="1400" dirty="0"/>
                  <a:t> il </a:t>
                </a:r>
                <a:r>
                  <a:rPr lang="en-US" sz="1400" dirty="0" err="1"/>
                  <a:t>prodotto</a:t>
                </a:r>
                <a:r>
                  <a:rPr lang="en-US" sz="1400" dirty="0"/>
                  <a:t> degli </a:t>
                </a:r>
                <a:r>
                  <a:rPr lang="en-US" sz="1400" dirty="0" err="1"/>
                  <a:t>esponenziali</a:t>
                </a:r>
                <a:endParaRPr lang="en-US" sz="1400" dirty="0"/>
              </a:p>
              <a:p>
                <a:pPr algn="just"/>
                <a:endParaRPr lang="en-US" sz="1400" dirty="0"/>
              </a:p>
              <a:p>
                <a:pPr algn="just"/>
                <a:r>
                  <a:rPr lang="en-US" sz="1400" dirty="0"/>
                  <a:t>	 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400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𝑖</m:t>
                        </m:r>
                        <m:d>
                          <m:d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limLoc m:val="undOvr"/>
                                <m:supHide m:val="on"/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  <m:sup/>
                              <m:e>
                                <m:sSub>
                                  <m:sSubPr>
                                    <m:ctrlPr>
                                      <a:rPr lang="en-US" sz="1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 dirty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sz="1400" i="1" dirty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nary>
                          </m:e>
                        </m:d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sz="1400" dirty="0">
                        <a:latin typeface="Cambria Math" panose="02040503050406030204" pitchFamily="18" charset="0"/>
                      </a:rPr>
                      <m:t>≠</m:t>
                    </m:r>
                    <m:nary>
                      <m:naryPr>
                        <m:chr m:val="∏"/>
                        <m:limLoc m:val="undOvr"/>
                        <m:supHide m:val="on"/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1400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sSub>
                              <m:sSubPr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sz="1400" dirty="0"/>
                  <a:t> </a:t>
                </a:r>
              </a:p>
              <a:p>
                <a:pPr algn="just"/>
                <a:endParaRPr lang="en-US" sz="1400" dirty="0"/>
              </a:p>
              <a:p>
                <a:pPr algn="just"/>
                <a:r>
                  <a:rPr lang="en-US" sz="1400" dirty="0"/>
                  <a:t>Per </a:t>
                </a:r>
                <a:r>
                  <a:rPr lang="en-US" sz="1400" dirty="0" err="1"/>
                  <a:t>mappare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questa</a:t>
                </a:r>
                <a:r>
                  <a:rPr lang="en-US" sz="1400" dirty="0"/>
                  <a:t> </a:t>
                </a:r>
                <a:r>
                  <a:rPr lang="en-US" sz="1400" dirty="0" err="1"/>
                  <a:t>evoluzione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su</a:t>
                </a:r>
                <a:r>
                  <a:rPr lang="en-US" sz="1400" dirty="0"/>
                  <a:t> </a:t>
                </a:r>
                <a:r>
                  <a:rPr lang="en-US" sz="1400" dirty="0" err="1"/>
                  <a:t>porte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quantistiche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logiche</a:t>
                </a:r>
                <a:r>
                  <a:rPr lang="en-US" sz="1400" dirty="0"/>
                  <a:t>, </a:t>
                </a:r>
                <a:r>
                  <a:rPr lang="en-US" sz="1400" dirty="0" err="1"/>
                  <a:t>si</a:t>
                </a:r>
                <a:r>
                  <a:rPr lang="en-US" sz="1400" dirty="0"/>
                  <a:t> divide il tempo </a:t>
                </a:r>
                <a:r>
                  <a:rPr lang="en-US" sz="1400" dirty="0" err="1"/>
                  <a:t>totale</a:t>
                </a:r>
                <a:r>
                  <a:rPr lang="en-US" sz="1400" dirty="0"/>
                  <a:t> t in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400" dirty="0"/>
                  <a:t> </a:t>
                </a:r>
                <a:r>
                  <a:rPr lang="en-US" sz="1400" dirty="0" err="1"/>
                  <a:t>piccoli</a:t>
                </a:r>
                <a:r>
                  <a:rPr lang="en-US" sz="1400" dirty="0"/>
                  <a:t> intervalli </a:t>
                </a:r>
                <a:r>
                  <a:rPr lang="en-US" sz="1400" dirty="0" err="1"/>
                  <a:t>temporali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US" sz="1400" i="1" dirty="0">
                        <a:latin typeface="Cambria Math" panose="02040503050406030204" pitchFamily="18" charset="0"/>
                      </a:rPr>
                      <m:t>𝛥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40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400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400" dirty="0"/>
                  <a:t>. Sotto </a:t>
                </a:r>
                <a:r>
                  <a:rPr lang="en-US" sz="1400" dirty="0" err="1"/>
                  <a:t>l'ipotesi</a:t>
                </a:r>
                <a:r>
                  <a:rPr lang="en-US" sz="1400" dirty="0"/>
                  <a:t> di </a:t>
                </a:r>
                <a14:m>
                  <m:oMath xmlns:m="http://schemas.openxmlformats.org/officeDocument/2006/math">
                    <m:r>
                      <a:rPr lang="en-US" sz="1400" i="1" dirty="0">
                        <a:latin typeface="Cambria Math" panose="02040503050406030204" pitchFamily="18" charset="0"/>
                      </a:rPr>
                      <m:t>𝛥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400" dirty="0">
                        <a:latin typeface="Cambria Math" panose="02040503050406030204" pitchFamily="18" charset="0"/>
                      </a:rPr>
                      <m:t>→0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𝑜𝑣𝑣𝑒𝑟</m:t>
                        </m:r>
                        <m:r>
                          <m:rPr>
                            <m:sty m:val="p"/>
                          </m:rPr>
                          <a:rPr lang="en-US" sz="1400" i="1" dirty="0">
                            <a:latin typeface="Cambria Math" panose="02040503050406030204" pitchFamily="18" charset="0"/>
                          </a:rPr>
                          <m:t>o</m:t>
                        </m:r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1400" dirty="0">
                            <a:latin typeface="Cambria Math" panose="02040503050406030204" pitchFamily="18" charset="0"/>
                          </a:rPr>
                          <m:t>→∞</m:t>
                        </m:r>
                      </m:e>
                    </m:d>
                  </m:oMath>
                </a14:m>
                <a:r>
                  <a:rPr lang="en-US" sz="1400" dirty="0"/>
                  <a:t>, </a:t>
                </a:r>
                <a:r>
                  <a:rPr lang="en-US" sz="1400" dirty="0" err="1"/>
                  <a:t>si</a:t>
                </a:r>
                <a:r>
                  <a:rPr lang="en-US" sz="1400" dirty="0"/>
                  <a:t> </a:t>
                </a:r>
                <a:r>
                  <a:rPr lang="en-US" sz="1400" dirty="0" err="1"/>
                  <a:t>applica</a:t>
                </a:r>
                <a:r>
                  <a:rPr lang="en-US" sz="1400" dirty="0"/>
                  <a:t> la </a:t>
                </a:r>
                <a:r>
                  <a:rPr lang="en-US" sz="1400" b="1" dirty="0"/>
                  <a:t>formula Totter</a:t>
                </a:r>
                <a:endParaRPr lang="en-US" sz="1400" dirty="0"/>
              </a:p>
              <a:p>
                <a:pPr algn="just"/>
                <a:br>
                  <a:rPr lang="en-US" sz="1400" dirty="0"/>
                </a:b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1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400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𝑖𝐻𝑡</m:t>
                          </m:r>
                        </m:sup>
                      </m:sSup>
                      <m:r>
                        <a:rPr lang="en-US" sz="1400" dirty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400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400" dirty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400" dirty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sz="1400" dirty="0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∏"/>
                                      <m:limLoc m:val="undOvr"/>
                                      <m:supHide m:val="on"/>
                                      <m:ctrlPr>
                                        <a:rPr lang="en-US" sz="1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sz="1400" i="1" dirty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/>
                                    <m:e>
                                      <m:sSup>
                                        <m:sSupPr>
                                          <m:ctrlPr>
                                            <a:rPr lang="en-US" sz="14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400" i="1" dirty="0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p>
                                          <m:r>
                                            <a:rPr lang="en-US" sz="1400" dirty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sz="1400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400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400" i="1" dirty="0">
                                                  <a:latin typeface="Cambria Math" panose="02040503050406030204" pitchFamily="18" charset="0"/>
                                                </a:rPr>
                                                <m:t>𝐻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400" i="1" dirty="0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  <m:f>
                                            <m:fPr>
                                              <m:ctrlPr>
                                                <a:rPr lang="en-US" sz="1400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sz="1400" i="1" dirty="0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𝑁</m:t>
                                              </m:r>
                                            </m:den>
                                          </m:f>
                                        </m:sup>
                                      </m:sSup>
                                    </m:e>
                                  </m:nary>
                                </m:e>
                              </m:d>
                            </m:e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en-US" sz="1400" dirty="0"/>
              </a:p>
              <a:p>
                <a:pPr algn="just"/>
                <a:endParaRPr lang="en-US" sz="1400" dirty="0"/>
              </a:p>
              <a:p>
                <a:pPr algn="just"/>
                <a:r>
                  <a:rPr lang="en-US" sz="1400" dirty="0"/>
                  <a:t>Per un </a:t>
                </a:r>
                <a:r>
                  <a:rPr lang="en-US" sz="1400" dirty="0" err="1"/>
                  <a:t>numero</a:t>
                </a:r>
                <a:r>
                  <a:rPr lang="en-US" sz="1400" dirty="0"/>
                  <a:t> di step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400" dirty="0"/>
                  <a:t> finito, </a:t>
                </a:r>
                <a:r>
                  <a:rPr lang="en-US" sz="1400" dirty="0" err="1"/>
                  <a:t>l'approssimazione</a:t>
                </a:r>
                <a:r>
                  <a:rPr lang="en-US" sz="1400" dirty="0"/>
                  <a:t> al primo </a:t>
                </a:r>
                <a:r>
                  <a:rPr lang="en-US" sz="1400" dirty="0" err="1"/>
                  <a:t>ordine</a:t>
                </a:r>
                <a:r>
                  <a:rPr lang="en-US" sz="1400" dirty="0"/>
                  <a:t> introduce un </a:t>
                </a:r>
                <a:r>
                  <a:rPr lang="en-US" sz="1400" dirty="0" err="1"/>
                  <a:t>errore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controllabile</a:t>
                </a:r>
                <a:r>
                  <a:rPr lang="en-US" sz="1400" dirty="0"/>
                  <a:t> (</a:t>
                </a:r>
                <a:r>
                  <a:rPr lang="en-US" sz="1400" dirty="0" err="1"/>
                  <a:t>errore</a:t>
                </a:r>
                <a:r>
                  <a:rPr lang="en-US" sz="1400" dirty="0"/>
                  <a:t> di Trotter) legato ai </a:t>
                </a:r>
                <a:r>
                  <a:rPr lang="en-US" sz="1400" dirty="0" err="1"/>
                  <a:t>commutatori</a:t>
                </a:r>
                <a:endParaRPr lang="en-US" sz="1400" dirty="0"/>
              </a:p>
              <a:p>
                <a:pPr algn="just"/>
                <a:endParaRPr lang="en-US" sz="1400" dirty="0"/>
              </a:p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US" sz="1400" i="1"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𝑖𝐻</m:t>
                          </m:r>
                          <m:r>
                            <m:rPr>
                              <m:sty m:val="p"/>
                            </m:rPr>
                            <a:rPr lang="en-US" sz="1400" i="1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sz="1400">
                          <a:latin typeface="Cambria Math" panose="02040503050406030204" pitchFamily="18" charset="0"/>
                        </a:rPr>
                        <m:t>≈</m:t>
                      </m:r>
                      <m:sSup>
                        <m:s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US" sz="140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US" sz="140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  <m:r>
                        <a:rPr lang="en-US" sz="1400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400" i="1" dirty="0">
                          <a:latin typeface="Cambria Math" panose="02040503050406030204" pitchFamily="18" charset="0"/>
                        </a:rPr>
                        <m:t>O</m:t>
                      </m:r>
                      <m:d>
                        <m:dPr>
                          <m:ctrlPr>
                            <a:rPr lang="en-US" sz="1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US" sz="1400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</m:e>
                      </m:d>
                      <m:r>
                        <a:rPr lang="en-US" sz="140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sz="1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40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sz="1400" dirty="0"/>
              </a:p>
              <a:p>
                <a:pPr algn="just"/>
                <a:endParaRPr lang="en-US" sz="1400" dirty="0"/>
              </a:p>
              <a:p>
                <a:pPr algn="just"/>
                <a:endParaRPr lang="en-US" sz="1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1757B0E-C20E-962C-76D7-E7164CA457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0829" y="2318744"/>
                <a:ext cx="5901070" cy="4777270"/>
              </a:xfrm>
              <a:prstGeom prst="rect">
                <a:avLst/>
              </a:prstGeom>
              <a:blipFill>
                <a:blip r:embed="rId3"/>
                <a:stretch>
                  <a:fillRect l="-310" t="-1913" r="-3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Desc HA dimero">
            <a:extLst>
              <a:ext uri="{FF2B5EF4-FFF2-40B4-BE49-F238E27FC236}">
                <a16:creationId xmlns:a16="http://schemas.microsoft.com/office/drawing/2014/main" id="{488356C8-D2B5-A1E3-C22D-0A0B7E6FA194}"/>
              </a:ext>
            </a:extLst>
          </p:cNvPr>
          <p:cNvSpPr txBox="1"/>
          <p:nvPr/>
        </p:nvSpPr>
        <p:spPr>
          <a:xfrm>
            <a:off x="640080" y="6446520"/>
            <a:ext cx="3257589" cy="338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 dirty="0">
                <a:solidFill>
                  <a:srgbClr val="5B6B84"/>
                </a:solidFill>
              </a:rPr>
              <a:t>Lloyd, Science 273, 1073 (1996)</a:t>
            </a: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04B988AC-3E27-D498-3480-97C1AE0072CF}"/>
              </a:ext>
            </a:extLst>
          </p:cNvPr>
          <p:cNvSpPr txBox="1"/>
          <p:nvPr/>
        </p:nvSpPr>
        <p:spPr>
          <a:xfrm>
            <a:off x="640080" y="4519177"/>
            <a:ext cx="4064827" cy="47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79400" indent="-279400">
              <a:buSzPct val="100000"/>
              <a:buChar char="■"/>
            </a:pPr>
            <a:r>
              <a:rPr lang="en-US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Lloyd (1996)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16C4B60-1D1B-89FB-E6B8-D615E00CF821}"/>
              </a:ext>
            </a:extLst>
          </p:cNvPr>
          <p:cNvSpPr txBox="1"/>
          <p:nvPr/>
        </p:nvSpPr>
        <p:spPr>
          <a:xfrm>
            <a:off x="809870" y="4990012"/>
            <a:ext cx="38893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dirty="0"/>
              <a:t>lo fa </a:t>
            </a:r>
            <a:r>
              <a:rPr lang="en-US" sz="1400" dirty="0" err="1"/>
              <a:t>usando</a:t>
            </a:r>
            <a:r>
              <a:rPr lang="en-US" sz="1400" dirty="0"/>
              <a:t> </a:t>
            </a:r>
            <a:r>
              <a:rPr lang="en-US" sz="1400" dirty="0" err="1"/>
              <a:t>esattamente</a:t>
            </a:r>
            <a:r>
              <a:rPr lang="en-US" sz="1400" dirty="0"/>
              <a:t> la </a:t>
            </a:r>
            <a:r>
              <a:rPr lang="en-US" sz="1400" dirty="0" err="1"/>
              <a:t>decomposizione</a:t>
            </a:r>
            <a:r>
              <a:rPr lang="en-US" sz="1400" dirty="0"/>
              <a:t> di Trotter come </a:t>
            </a:r>
            <a:r>
              <a:rPr lang="en-US" sz="1400" dirty="0" err="1"/>
              <a:t>strumento</a:t>
            </a:r>
            <a:r>
              <a:rPr lang="en-US" sz="1400" dirty="0"/>
              <a:t> della </a:t>
            </a:r>
            <a:r>
              <a:rPr lang="en-US" sz="1400" dirty="0" err="1"/>
              <a:t>dimostrazione</a:t>
            </a:r>
            <a:r>
              <a:rPr lang="en-US" sz="1400" dirty="0"/>
              <a:t> 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Variational Quantum </a:t>
            </a:r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Eigensolver</a:t>
            </a:r>
            <a:r>
              <a:rPr lang="en-US" sz="3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(VQE)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67032" y="1457880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13432" y="1457880"/>
            <a:ext cx="10965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ibrido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quantistico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-classico per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trovare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fondamentale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un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Hamiltoniano</a:t>
            </a:r>
            <a:endParaRPr lang="en-US" sz="2100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0B77664-07E3-BF79-6E15-C980E588CBC9}"/>
                  </a:ext>
                </a:extLst>
              </p:cNvPr>
              <p:cNvSpPr txBox="1"/>
              <p:nvPr/>
            </p:nvSpPr>
            <p:spPr>
              <a:xfrm>
                <a:off x="613432" y="2932825"/>
                <a:ext cx="3862875" cy="29166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1400" dirty="0"/>
                  <a:t>Il Variational Quantum </a:t>
                </a:r>
                <a:r>
                  <a:rPr lang="en-US" sz="1400" dirty="0" err="1"/>
                  <a:t>Eigensolver</a:t>
                </a:r>
                <a:r>
                  <a:rPr lang="en-US" sz="1400" dirty="0"/>
                  <a:t> </a:t>
                </a:r>
                <a:r>
                  <a:rPr lang="en-US" sz="1400" dirty="0" err="1"/>
                  <a:t>sfrutta</a:t>
                </a:r>
                <a:r>
                  <a:rPr lang="en-US" sz="1400" dirty="0"/>
                  <a:t> il </a:t>
                </a:r>
                <a:r>
                  <a:rPr lang="en-US" sz="1400" b="1" dirty="0"/>
                  <a:t>Principio </a:t>
                </a:r>
                <a:r>
                  <a:rPr lang="en-US" sz="1400" b="1" dirty="0" err="1"/>
                  <a:t>Variazionale</a:t>
                </a:r>
                <a:endParaRPr lang="en-US" sz="1400" dirty="0"/>
              </a:p>
              <a:p>
                <a:pPr algn="just"/>
                <a:endParaRPr lang="en-US" sz="1400" dirty="0"/>
              </a:p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⟨"/>
                              <m:endChr m:val="⟩"/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d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d>
                            <m:dPr>
                              <m:begChr m:val="⟨"/>
                              <m:endChr m:val="⟩"/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d>
                        </m:den>
                      </m:f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  <a:p>
                <a:pPr algn="just"/>
                <a:endParaRPr lang="en-US" sz="1400" dirty="0"/>
              </a:p>
              <a:p>
                <a:pPr algn="just"/>
                <a:r>
                  <a:rPr lang="en-US" sz="1400" dirty="0"/>
                  <a:t>il computer </a:t>
                </a:r>
                <a:r>
                  <a:rPr lang="en-US" sz="1400" dirty="0" err="1"/>
                  <a:t>quantistico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prepara</a:t>
                </a:r>
                <a:r>
                  <a:rPr lang="en-US" sz="1400" dirty="0"/>
                  <a:t> lo </a:t>
                </a:r>
                <a:r>
                  <a:rPr lang="en-US" sz="1400" dirty="0" err="1"/>
                  <a:t>stato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variazionale</a:t>
                </a:r>
                <a14:m>
                  <m:oMath xmlns:m="http://schemas.openxmlformats.org/officeDocument/2006/math">
                    <m:r>
                      <a:rPr lang="en-US" sz="14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1400" i="0" dirty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sz="1400" dirty="0"/>
                  <a:t> (</a:t>
                </a:r>
                <a:r>
                  <a:rPr lang="en-US" sz="1400" i="1" dirty="0"/>
                  <a:t>Ansatz</a:t>
                </a:r>
                <a:r>
                  <a:rPr lang="en-US" sz="1400" dirty="0"/>
                  <a:t>) e </a:t>
                </a:r>
                <a:r>
                  <a:rPr lang="en-US" sz="1400" dirty="0" err="1"/>
                  <a:t>misura</a:t>
                </a:r>
                <a:r>
                  <a:rPr lang="en-US" sz="1400" dirty="0"/>
                  <a:t> il </a:t>
                </a:r>
                <a:r>
                  <a:rPr lang="en-US" sz="1400" dirty="0" err="1"/>
                  <a:t>valore</a:t>
                </a:r>
                <a:r>
                  <a:rPr lang="en-US" sz="1400" dirty="0"/>
                  <a:t> di </a:t>
                </a:r>
                <a:r>
                  <a:rPr lang="en-US" sz="1400" dirty="0" err="1"/>
                  <a:t>aspettazione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dell'energia</a:t>
                </a:r>
                <a:r>
                  <a:rPr lang="en-US" sz="1400" dirty="0"/>
                  <a:t>.</a:t>
                </a:r>
              </a:p>
              <a:p>
                <a:pPr algn="just"/>
                <a:r>
                  <a:rPr lang="en-US" sz="1400" dirty="0" err="1"/>
                  <a:t>L'ottimizzatore</a:t>
                </a:r>
                <a:r>
                  <a:rPr lang="en-US" sz="1400" dirty="0"/>
                  <a:t> classico </a:t>
                </a:r>
                <a:r>
                  <a:rPr lang="en-US" sz="1400" dirty="0" err="1"/>
                  <a:t>aggiorna</a:t>
                </a:r>
                <a:r>
                  <a:rPr lang="en-US" sz="1400" dirty="0"/>
                  <a:t> </a:t>
                </a:r>
                <a:r>
                  <a:rPr lang="en-US" sz="1400" dirty="0" err="1"/>
                  <a:t>i</a:t>
                </a:r>
                <a:r>
                  <a:rPr lang="en-US" sz="1400" dirty="0"/>
                  <a:t> </a:t>
                </a:r>
                <a:r>
                  <a:rPr lang="en-US" sz="1400" dirty="0" err="1"/>
                  <a:t>parametri</a:t>
                </a:r>
                <a:r>
                  <a:rPr lang="en-US" sz="1400" dirty="0"/>
                  <a:t> θ per </a:t>
                </a:r>
                <a:r>
                  <a:rPr lang="en-US" sz="1400" dirty="0" err="1"/>
                  <a:t>convergere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allo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stato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fondamentale</a:t>
                </a:r>
                <a:r>
                  <a:rPr lang="en-US" sz="1400" dirty="0"/>
                  <a:t> E₀.</a:t>
                </a:r>
                <a:br>
                  <a:rPr lang="en-US" sz="1400" dirty="0"/>
                </a:br>
                <a:endParaRPr lang="en-US" sz="1400" dirty="0"/>
              </a:p>
              <a:p>
                <a:pPr algn="just"/>
                <a:endParaRPr lang="en-US" sz="1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0B77664-07E3-BF79-6E15-C980E588CB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432" y="2932825"/>
                <a:ext cx="3862875" cy="2916632"/>
              </a:xfrm>
              <a:prstGeom prst="rect">
                <a:avLst/>
              </a:prstGeom>
              <a:blipFill>
                <a:blip r:embed="rId3"/>
                <a:stretch>
                  <a:fillRect l="-474" t="-418" r="-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B920F1B5-B27E-939F-033A-307E3B04F8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0019" y="2423425"/>
            <a:ext cx="6868853" cy="3935432"/>
          </a:xfrm>
          <a:prstGeom prst="rect">
            <a:avLst/>
          </a:prstGeom>
        </p:spPr>
      </p:pic>
      <p:sp>
        <p:nvSpPr>
          <p:cNvPr id="7" name="Desc HA dimero">
            <a:extLst>
              <a:ext uri="{FF2B5EF4-FFF2-40B4-BE49-F238E27FC236}">
                <a16:creationId xmlns:a16="http://schemas.microsoft.com/office/drawing/2014/main" id="{AB5A24D4-B68B-731D-1D46-ACE02FF345E6}"/>
              </a:ext>
            </a:extLst>
          </p:cNvPr>
          <p:cNvSpPr txBox="1"/>
          <p:nvPr/>
        </p:nvSpPr>
        <p:spPr>
          <a:xfrm>
            <a:off x="9007615" y="6455089"/>
            <a:ext cx="2570953" cy="338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100" i="1" dirty="0" err="1">
                <a:solidFill>
                  <a:srgbClr val="5B6B84"/>
                </a:solidFill>
              </a:rPr>
              <a:t>Peruzzo</a:t>
            </a:r>
            <a:r>
              <a:rPr lang="fr-FR" sz="1100" i="1" dirty="0">
                <a:solidFill>
                  <a:srgbClr val="5B6B84"/>
                </a:solidFill>
              </a:rPr>
              <a:t> et al., Nat. Commun. 5, 4213 (2014)</a:t>
            </a:r>
            <a:endParaRPr lang="en-US" sz="1100" i="1" dirty="0">
              <a:solidFill>
                <a:srgbClr val="5B6B84"/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TRODUZIONE"/>
          <p:cNvSpPr txBox="1"/>
          <p:nvPr/>
        </p:nvSpPr>
        <p:spPr>
          <a:xfrm>
            <a:off x="640080" y="40233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3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VQE - Ansatz"/>
              <p:cNvSpPr txBox="1"/>
              <p:nvPr/>
            </p:nvSpPr>
            <p:spPr>
              <a:xfrm>
                <a:off x="640079" y="713232"/>
                <a:ext cx="10911535" cy="7772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32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VQE – Preparazione </a:t>
                </a:r>
                <a:r>
                  <a:rPr lang="en-US" sz="32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dello</a:t>
                </a:r>
                <a:r>
                  <a:rPr lang="en-US" sz="32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32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stato</a:t>
                </a:r>
                <a:r>
                  <a:rPr lang="en-US" sz="32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32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parametrizzato</a:t>
                </a:r>
                <a:r>
                  <a:rPr lang="en-US" sz="32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b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sz="3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3200" i="1" dirty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sz="32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- Ansatz</a:t>
                </a:r>
                <a:endParaRPr lang="en-US" sz="3200" dirty="0"/>
              </a:p>
            </p:txBody>
          </p:sp>
        </mc:Choice>
        <mc:Fallback xmlns="">
          <p:sp>
            <p:nvSpPr>
              <p:cNvPr id="3" name="VQE - Ansatz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79" y="713232"/>
                <a:ext cx="10911535" cy="777240"/>
              </a:xfrm>
              <a:prstGeom prst="rect">
                <a:avLst/>
              </a:prstGeom>
              <a:blipFill>
                <a:blip r:embed="rId3"/>
                <a:stretch>
                  <a:fillRect l="-2235" b="-13281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hape 2"/>
          <p:cNvSpPr/>
          <p:nvPr/>
        </p:nvSpPr>
        <p:spPr>
          <a:xfrm>
            <a:off x="640080" y="1488483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itle Circuito Dimero">
            <a:extLst>
              <a:ext uri="{FF2B5EF4-FFF2-40B4-BE49-F238E27FC236}">
                <a16:creationId xmlns:a16="http://schemas.microsoft.com/office/drawing/2014/main" id="{BE6BF56F-A15E-A307-5156-A586A89A37E6}"/>
              </a:ext>
            </a:extLst>
          </p:cNvPr>
          <p:cNvSpPr txBox="1"/>
          <p:nvPr/>
        </p:nvSpPr>
        <p:spPr>
          <a:xfrm>
            <a:off x="566927" y="1549058"/>
            <a:ext cx="10911535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Circuito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Quantistico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Dimero</a:t>
            </a:r>
            <a:endParaRPr lang="en-US" i="1" dirty="0"/>
          </a:p>
        </p:txBody>
      </p:sp>
      <p:pic>
        <p:nvPicPr>
          <p:cNvPr id="45" name="Circuito HA" descr="/home/claude/deck/assets/thesis_figs/circ_ha_hi-1.png">
            <a:extLst>
              <a:ext uri="{FF2B5EF4-FFF2-40B4-BE49-F238E27FC236}">
                <a16:creationId xmlns:a16="http://schemas.microsoft.com/office/drawing/2014/main" id="{1EE5CC7D-46B7-29D4-4BB4-0B636AD009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130814"/>
            <a:ext cx="3320851" cy="1325880"/>
          </a:xfrm>
          <a:prstGeom prst="rect">
            <a:avLst/>
          </a:prstGeom>
        </p:spPr>
      </p:pic>
      <p:pic>
        <p:nvPicPr>
          <p:cNvPr id="47" name="Circuito PMA base" descr="/home/claude/deck/assets/thesis_figs/circ_pma_base-1.png">
            <a:extLst>
              <a:ext uri="{FF2B5EF4-FFF2-40B4-BE49-F238E27FC236}">
                <a16:creationId xmlns:a16="http://schemas.microsoft.com/office/drawing/2014/main" id="{3E2C2FE4-0132-06CB-74A2-3D08E99ACA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0347" y="3205105"/>
            <a:ext cx="4278335" cy="1325880"/>
          </a:xfrm>
          <a:prstGeom prst="rect">
            <a:avLst/>
          </a:prstGeom>
        </p:spPr>
      </p:pic>
      <p:pic>
        <p:nvPicPr>
          <p:cNvPr id="49" name="Circuito PMA esteso" descr="/home/claude/deck/assets/thesis_figs/circ_pma_esteso_hi-1.png">
            <a:extLst>
              <a:ext uri="{FF2B5EF4-FFF2-40B4-BE49-F238E27FC236}">
                <a16:creationId xmlns:a16="http://schemas.microsoft.com/office/drawing/2014/main" id="{AA570C23-D55D-0B01-C6FF-459811ABB1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9392" y="3169587"/>
            <a:ext cx="2321794" cy="1325880"/>
          </a:xfrm>
          <a:prstGeom prst="rect">
            <a:avLst/>
          </a:prstGeom>
        </p:spPr>
      </p:pic>
      <p:sp>
        <p:nvSpPr>
          <p:cNvPr id="51" name="Desc HA dimero">
            <a:extLst>
              <a:ext uri="{FF2B5EF4-FFF2-40B4-BE49-F238E27FC236}">
                <a16:creationId xmlns:a16="http://schemas.microsoft.com/office/drawing/2014/main" id="{19DF8F39-8D23-F2FB-317C-4BFF77513A58}"/>
              </a:ext>
            </a:extLst>
          </p:cNvPr>
          <p:cNvSpPr txBox="1"/>
          <p:nvPr/>
        </p:nvSpPr>
        <p:spPr>
          <a:xfrm>
            <a:off x="640080" y="4511558"/>
            <a:ext cx="33208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— 6 parametri</a:t>
            </a:r>
            <a:endParaRPr lang="en-US" sz="1200" dirty="0"/>
          </a:p>
        </p:txBody>
      </p:sp>
      <p:sp>
        <p:nvSpPr>
          <p:cNvPr id="55" name="Desc PMA Esteso dimero">
            <a:extLst>
              <a:ext uri="{FF2B5EF4-FFF2-40B4-BE49-F238E27FC236}">
                <a16:creationId xmlns:a16="http://schemas.microsoft.com/office/drawing/2014/main" id="{69D0F071-C2D3-1EB2-B6CF-6A9D81968424}"/>
              </a:ext>
            </a:extLst>
          </p:cNvPr>
          <p:cNvSpPr txBox="1"/>
          <p:nvPr/>
        </p:nvSpPr>
        <p:spPr>
          <a:xfrm>
            <a:off x="4502891" y="4541941"/>
            <a:ext cx="23217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 esteso — 3 parametri</a:t>
            </a:r>
            <a:endParaRPr lang="en-US" sz="1200" dirty="0"/>
          </a:p>
        </p:txBody>
      </p:sp>
      <p:sp>
        <p:nvSpPr>
          <p:cNvPr id="57" name="Desc PMA base dimero">
            <a:extLst>
              <a:ext uri="{FF2B5EF4-FFF2-40B4-BE49-F238E27FC236}">
                <a16:creationId xmlns:a16="http://schemas.microsoft.com/office/drawing/2014/main" id="{3379060A-576D-FF4D-C03B-A96DE92705BB}"/>
              </a:ext>
            </a:extLst>
          </p:cNvPr>
          <p:cNvSpPr txBox="1"/>
          <p:nvPr/>
        </p:nvSpPr>
        <p:spPr>
          <a:xfrm>
            <a:off x="7150347" y="4530985"/>
            <a:ext cx="4278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 base — 1 parametro (2 rami, b/J ≶ 2)</a:t>
            </a:r>
            <a:endParaRPr lang="en-US" sz="1200" dirty="0"/>
          </a:p>
        </p:txBody>
      </p:sp>
      <p:sp>
        <p:nvSpPr>
          <p:cNvPr id="58" name="Nota HA dimero">
            <a:extLst>
              <a:ext uri="{FF2B5EF4-FFF2-40B4-BE49-F238E27FC236}">
                <a16:creationId xmlns:a16="http://schemas.microsoft.com/office/drawing/2014/main" id="{C4DA91CF-8ACC-CBFC-7DBB-B57CF5694554}"/>
              </a:ext>
            </a:extLst>
          </p:cNvPr>
          <p:cNvSpPr txBox="1"/>
          <p:nvPr/>
        </p:nvSpPr>
        <p:spPr>
          <a:xfrm>
            <a:off x="1014984" y="5184572"/>
            <a:ext cx="29459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</a:t>
            </a:r>
            <a:r>
              <a:rPr lang="en-US" sz="1200" dirty="0"/>
              <a:t>: </a:t>
            </a:r>
            <a:r>
              <a:rPr lang="en-US" sz="1200" dirty="0" err="1"/>
              <a:t>termine</a:t>
            </a:r>
            <a:r>
              <a:rPr lang="en-US" sz="1200" dirty="0"/>
              <a:t> di </a:t>
            </a:r>
            <a:r>
              <a:rPr lang="en-US" sz="1200" dirty="0" err="1"/>
              <a:t>confronto</a:t>
            </a:r>
            <a:r>
              <a:rPr lang="en-US" sz="1200" dirty="0"/>
              <a:t> (baseline </a:t>
            </a:r>
            <a:r>
              <a:rPr lang="en-US" sz="1200" dirty="0" err="1"/>
              <a:t>generica</a:t>
            </a:r>
            <a:r>
              <a:rPr lang="en-US" sz="1200" dirty="0"/>
              <a:t>, senza </a:t>
            </a:r>
            <a:r>
              <a:rPr lang="en-US" sz="1200" dirty="0" err="1"/>
              <a:t>usare</a:t>
            </a:r>
            <a:r>
              <a:rPr lang="en-US" sz="1200" dirty="0"/>
              <a:t> la </a:t>
            </a:r>
            <a:r>
              <a:rPr lang="en-US" sz="1200" dirty="0" err="1"/>
              <a:t>fisica</a:t>
            </a:r>
            <a:r>
              <a:rPr lang="en-US" sz="1200" dirty="0"/>
              <a:t> del </a:t>
            </a:r>
            <a:r>
              <a:rPr lang="en-US" sz="1200" dirty="0" err="1"/>
              <a:t>problema</a:t>
            </a:r>
            <a:r>
              <a:rPr lang="en-US" sz="1200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sto preparazione dimero">
                <a:extLst>
                  <a:ext uri="{FF2B5EF4-FFF2-40B4-BE49-F238E27FC236}">
                    <a16:creationId xmlns:a16="http://schemas.microsoft.com/office/drawing/2014/main" id="{484C8D53-7FD2-B924-14BD-0593E4C50EAC}"/>
                  </a:ext>
                </a:extLst>
              </p:cNvPr>
              <p:cNvSpPr txBox="1"/>
              <p:nvPr/>
            </p:nvSpPr>
            <p:spPr>
              <a:xfrm>
                <a:off x="640080" y="2243297"/>
                <a:ext cx="10911535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500" dirty="0"/>
                  <a:t>Tre </a:t>
                </a:r>
                <a:r>
                  <a:rPr lang="en-US" sz="1500" dirty="0" err="1"/>
                  <a:t>circuiti</a:t>
                </a:r>
                <a:r>
                  <a:rPr lang="en-US" sz="1500" dirty="0"/>
                  <a:t> </a:t>
                </a:r>
                <a14:m>
                  <m:oMath xmlns:m="http://schemas.openxmlformats.org/officeDocument/2006/math">
                    <m:r>
                      <a:rPr lang="en-US" sz="1500" i="1" dirty="0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sz="15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sz="1500" dirty="0"/>
                  <a:t>, </a:t>
                </a:r>
                <a:r>
                  <a:rPr lang="en-US" sz="1500" dirty="0" err="1"/>
                  <a:t>che</a:t>
                </a:r>
                <a:r>
                  <a:rPr lang="en-US" sz="1500" dirty="0"/>
                  <a:t> a </a:t>
                </a:r>
                <a:r>
                  <a:rPr lang="en-US" sz="1500" dirty="0" err="1"/>
                  <a:t>partire</a:t>
                </a:r>
                <a:r>
                  <a:rPr lang="en-US" sz="1500" dirty="0"/>
                  <a:t> da </a:t>
                </a:r>
                <a14:m>
                  <m:oMath xmlns:m="http://schemas.openxmlformats.org/officeDocument/2006/math">
                    <m:r>
                      <a:rPr lang="en-US" sz="1500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500" i="0" dirty="0">
                        <a:latin typeface="Cambria Math" panose="02040503050406030204" pitchFamily="18" charset="0"/>
                      </a:rPr>
                      <m:t>00⟩</m:t>
                    </m:r>
                  </m:oMath>
                </a14:m>
                <a:r>
                  <a:rPr lang="en-US" sz="1500" dirty="0"/>
                  <a:t> </a:t>
                </a:r>
                <a:r>
                  <a:rPr lang="en-US" sz="1500" dirty="0" err="1"/>
                  <a:t>preparano</a:t>
                </a:r>
                <a:r>
                  <a:rPr lang="en-US" sz="15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5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𝜓</m:t>
                        </m:r>
                        <m:d>
                          <m:dPr>
                            <m:ctrlPr>
                              <a:rPr lang="en-US" sz="15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r>
                          <a:rPr lang="en-US" sz="1500" i="0" dirty="0">
                            <a:latin typeface="Cambria Math" panose="02040503050406030204" pitchFamily="18" charset="0"/>
                          </a:rPr>
                          <m:t>⟩=</m:t>
                        </m:r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𝑈</m:t>
                        </m:r>
                        <m:d>
                          <m:dPr>
                            <m:ctrlPr>
                              <a:rPr lang="en-US" sz="15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  <m:r>
                      <a:rPr lang="en-US" sz="1500" i="0" dirty="0">
                        <a:latin typeface="Cambria Math" panose="02040503050406030204" pitchFamily="18" charset="0"/>
                      </a:rPr>
                      <m:t>00⟩</m:t>
                    </m:r>
                  </m:oMath>
                </a14:m>
                <a:r>
                  <a:rPr lang="en-US" sz="1500" dirty="0"/>
                  <a:t>, </a:t>
                </a:r>
                <a:r>
                  <a:rPr lang="en-US" sz="1500" dirty="0" err="1"/>
                  <a:t>confrontati</a:t>
                </a:r>
                <a:r>
                  <a:rPr lang="en-US" sz="1500" dirty="0"/>
                  <a:t> </a:t>
                </a:r>
                <a:r>
                  <a:rPr lang="en-US" sz="1500" dirty="0" err="1"/>
                  <a:t>sulla</a:t>
                </a:r>
                <a:r>
                  <a:rPr lang="en-US" sz="1500" dirty="0"/>
                  <a:t> fidelity </a:t>
                </a:r>
                <a14:m>
                  <m:oMath xmlns:m="http://schemas.openxmlformats.org/officeDocument/2006/math">
                    <m:r>
                      <a:rPr lang="en-US" sz="150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1500" i="0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1500" i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0" dirty="0">
                            <a:latin typeface="Cambria Math" panose="02040503050406030204" pitchFamily="18" charset="0"/>
                          </a:rPr>
                          <m:t>⟨</m:t>
                        </m:r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𝜓</m:t>
                        </m:r>
                        <m:d>
                          <m:dPr>
                            <m:ctrlPr>
                              <a:rPr lang="en-US" sz="15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  <m:r>
                      <a:rPr lang="en-US" sz="1500" i="1" dirty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sz="1500" i="0" dirty="0">
                        <a:latin typeface="Cambria Math" panose="02040503050406030204" pitchFamily="18" charset="0"/>
                      </a:rPr>
                      <m:t>₀⟩|²</m:t>
                    </m:r>
                  </m:oMath>
                </a14:m>
                <a:r>
                  <a:rPr lang="en-US" sz="1500" dirty="0"/>
                  <a:t> rispetto </a:t>
                </a:r>
                <a:r>
                  <a:rPr lang="en-US" sz="1500" dirty="0" err="1"/>
                  <a:t>allo</a:t>
                </a:r>
                <a:r>
                  <a:rPr lang="en-US" sz="1500" dirty="0"/>
                  <a:t> </a:t>
                </a:r>
                <a:r>
                  <a:rPr lang="en-US" sz="1500" dirty="0" err="1"/>
                  <a:t>stato</a:t>
                </a:r>
                <a:r>
                  <a:rPr lang="en-US" sz="1500" dirty="0"/>
                  <a:t> </a:t>
                </a:r>
                <a:r>
                  <a:rPr lang="en-US" sz="1500" dirty="0" err="1"/>
                  <a:t>fondamentale</a:t>
                </a:r>
                <a:r>
                  <a:rPr lang="en-US" sz="1500" dirty="0"/>
                  <a:t> </a:t>
                </a:r>
                <a:r>
                  <a:rPr lang="en-US" sz="1500" dirty="0" err="1"/>
                  <a:t>vero</a:t>
                </a:r>
                <a:endParaRPr lang="en-US" sz="1500" dirty="0"/>
              </a:p>
            </p:txBody>
          </p:sp>
        </mc:Choice>
        <mc:Fallback xmlns="">
          <p:sp>
            <p:nvSpPr>
              <p:cNvPr id="61" name="Testo preparazione dimero">
                <a:extLst>
                  <a:ext uri="{FF2B5EF4-FFF2-40B4-BE49-F238E27FC236}">
                    <a16:creationId xmlns:a16="http://schemas.microsoft.com/office/drawing/2014/main" id="{484C8D53-7FD2-B924-14BD-0593E4C50E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2243297"/>
                <a:ext cx="10911535" cy="553998"/>
              </a:xfrm>
              <a:prstGeom prst="rect">
                <a:avLst/>
              </a:prstGeom>
              <a:blipFill>
                <a:blip r:embed="rId7"/>
                <a:stretch>
                  <a:fillRect t="-2198" b="-109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rimitiva RBS">
            <a:extLst>
              <a:ext uri="{FF2B5EF4-FFF2-40B4-BE49-F238E27FC236}">
                <a16:creationId xmlns:a16="http://schemas.microsoft.com/office/drawing/2014/main" id="{873D5CD8-F838-21B0-87B1-2B4C6961C71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78920" y="4960878"/>
            <a:ext cx="2321794" cy="11252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Espressione RBS">
                <a:extLst>
                  <a:ext uri="{FF2B5EF4-FFF2-40B4-BE49-F238E27FC236}">
                    <a16:creationId xmlns:a16="http://schemas.microsoft.com/office/drawing/2014/main" id="{BFEA6134-4C48-E54A-4F06-D5A4E00D0403}"/>
                  </a:ext>
                </a:extLst>
              </p:cNvPr>
              <p:cNvSpPr txBox="1"/>
              <p:nvPr/>
            </p:nvSpPr>
            <p:spPr>
              <a:xfrm>
                <a:off x="4591455" y="6121682"/>
                <a:ext cx="2931268" cy="4989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𝑅𝐵𝑆</m:t>
                    </m:r>
                    <m:d>
                      <m:dPr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d>
                    <m:r>
                      <a:rPr lang="en-US" sz="1200" i="1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𝜑</m:t>
                        </m:r>
                        <m:d>
                          <m:dPr>
                            <m:ctrlPr>
                              <a:rPr lang="en-US" sz="12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bSup>
                            <m:sSubSup>
                              <m:sSubSupPr>
                                <m:ctrlP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p>
                            </m:sSubSup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p>
                            </m:sSubSup>
                            <m:sSubSup>
                              <m:sSubSupPr>
                                <m:ctrlP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bSup>
                          </m:e>
                        </m:d>
                      </m:sup>
                    </m:sSup>
                  </m:oMath>
                </a14:m>
                <a:r>
                  <a:rPr lang="en-US" sz="1200" dirty="0"/>
                  <a:t> - </a:t>
                </a:r>
                <a:r>
                  <a:rPr lang="en-US" sz="1200" dirty="0" err="1"/>
                  <a:t>rotazione</a:t>
                </a:r>
                <a:r>
                  <a:rPr lang="en-US" sz="1200" dirty="0"/>
                  <a:t> </a:t>
                </a:r>
                <a:r>
                  <a:rPr lang="en-US" sz="1200" dirty="0" err="1"/>
                  <a:t>reale</a:t>
                </a:r>
                <a:r>
                  <a:rPr lang="en-US" sz="1200" dirty="0"/>
                  <a:t> - Reconfigurable Beam Splitter</a:t>
                </a:r>
              </a:p>
            </p:txBody>
          </p:sp>
        </mc:Choice>
        <mc:Fallback xmlns="">
          <p:sp>
            <p:nvSpPr>
              <p:cNvPr id="8" name="Espressione RBS">
                <a:extLst>
                  <a:ext uri="{FF2B5EF4-FFF2-40B4-BE49-F238E27FC236}">
                    <a16:creationId xmlns:a16="http://schemas.microsoft.com/office/drawing/2014/main" id="{BFEA6134-4C48-E54A-4F06-D5A4E00D04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1455" y="6121682"/>
                <a:ext cx="2931268" cy="498983"/>
              </a:xfrm>
              <a:prstGeom prst="rect">
                <a:avLst/>
              </a:prstGeom>
              <a:blipFill>
                <a:blip r:embed="rId9"/>
                <a:stretch>
                  <a:fillRect b="-85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rimitiva W">
            <a:extLst>
              <a:ext uri="{FF2B5EF4-FFF2-40B4-BE49-F238E27FC236}">
                <a16:creationId xmlns:a16="http://schemas.microsoft.com/office/drawing/2014/main" id="{B65FF388-D5E2-6034-32EE-E3F69E9BD06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26393" y="4993529"/>
            <a:ext cx="1627923" cy="112074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Espressione W">
                <a:extLst>
                  <a:ext uri="{FF2B5EF4-FFF2-40B4-BE49-F238E27FC236}">
                    <a16:creationId xmlns:a16="http://schemas.microsoft.com/office/drawing/2014/main" id="{7BD904AA-68DA-BB45-2757-10D370F7DF55}"/>
                  </a:ext>
                </a:extLst>
              </p:cNvPr>
              <p:cNvSpPr txBox="1"/>
              <p:nvPr/>
            </p:nvSpPr>
            <p:spPr>
              <a:xfrm>
                <a:off x="8142373" y="6126071"/>
                <a:ext cx="2540714" cy="314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𝑊</m:t>
                    </m:r>
                    <m:d>
                      <m:dPr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1200" i="0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200" i="0" dirty="0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𝜃</m:t>
                        </m:r>
                        <m:sSubSup>
                          <m:sSubSupPr>
                            <m:ctrlPr>
                              <a:rPr lang="en-US" sz="12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200" i="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bSup>
                        <m:sSubSup>
                          <m:sSubSupPr>
                            <m:ctrlPr>
                              <a:rPr lang="en-US" sz="12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200" i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</m:sSubSup>
                      </m:sup>
                    </m:sSup>
                  </m:oMath>
                </a14:m>
                <a:r>
                  <a:rPr lang="en-US" sz="1200" dirty="0"/>
                  <a:t> - </a:t>
                </a:r>
                <a:r>
                  <a:rPr lang="en-US" sz="1200" dirty="0" err="1"/>
                  <a:t>rotazione</a:t>
                </a:r>
                <a:r>
                  <a:rPr lang="en-US" sz="1200" dirty="0"/>
                  <a:t> </a:t>
                </a:r>
                <a:r>
                  <a:rPr lang="en-US" sz="1200" dirty="0" err="1"/>
                  <a:t>reale</a:t>
                </a:r>
                <a:endParaRPr lang="en-US" sz="1200" dirty="0"/>
              </a:p>
            </p:txBody>
          </p:sp>
        </mc:Choice>
        <mc:Fallback xmlns="">
          <p:sp>
            <p:nvSpPr>
              <p:cNvPr id="12" name="Espressione W">
                <a:extLst>
                  <a:ext uri="{FF2B5EF4-FFF2-40B4-BE49-F238E27FC236}">
                    <a16:creationId xmlns:a16="http://schemas.microsoft.com/office/drawing/2014/main" id="{7BD904AA-68DA-BB45-2757-10D370F7DF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2373" y="6126071"/>
                <a:ext cx="2540714" cy="314317"/>
              </a:xfrm>
              <a:prstGeom prst="rect">
                <a:avLst/>
              </a:prstGeom>
              <a:blipFill>
                <a:blip r:embed="rId11"/>
                <a:stretch>
                  <a:fillRect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TRODUZIONE"/>
          <p:cNvSpPr txBox="1"/>
          <p:nvPr/>
        </p:nvSpPr>
        <p:spPr>
          <a:xfrm>
            <a:off x="640080" y="40233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3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VQE - Ansatz"/>
              <p:cNvSpPr txBox="1"/>
              <p:nvPr/>
            </p:nvSpPr>
            <p:spPr>
              <a:xfrm>
                <a:off x="640079" y="713232"/>
                <a:ext cx="10865993" cy="7772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32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VQE – Preparazione </a:t>
                </a:r>
                <a:r>
                  <a:rPr lang="en-US" sz="32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dello</a:t>
                </a:r>
                <a:r>
                  <a:rPr lang="en-US" sz="32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32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stato</a:t>
                </a:r>
                <a:r>
                  <a:rPr lang="en-US" sz="32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32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parametrizzato</a:t>
                </a:r>
                <a:r>
                  <a:rPr lang="en-US" sz="32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b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sz="3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3200" i="1" dirty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sz="32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- Ansatz</a:t>
                </a:r>
                <a:endParaRPr lang="en-US" sz="3200" dirty="0"/>
              </a:p>
            </p:txBody>
          </p:sp>
        </mc:Choice>
        <mc:Fallback xmlns="">
          <p:sp>
            <p:nvSpPr>
              <p:cNvPr id="3" name="VQE - Ansatz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79" y="713232"/>
                <a:ext cx="10865993" cy="777240"/>
              </a:xfrm>
              <a:prstGeom prst="rect">
                <a:avLst/>
              </a:prstGeom>
              <a:blipFill>
                <a:blip r:embed="rId3"/>
                <a:stretch>
                  <a:fillRect l="-2245" b="-13281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hape 2"/>
          <p:cNvSpPr/>
          <p:nvPr/>
        </p:nvSpPr>
        <p:spPr>
          <a:xfrm>
            <a:off x="625463" y="1499572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itle Circuito Trimero">
            <a:extLst>
              <a:ext uri="{FF2B5EF4-FFF2-40B4-BE49-F238E27FC236}">
                <a16:creationId xmlns:a16="http://schemas.microsoft.com/office/drawing/2014/main" id="{6F06D79C-D78E-4C9A-C7FB-7D704A6485B9}"/>
              </a:ext>
            </a:extLst>
          </p:cNvPr>
          <p:cNvSpPr txBox="1"/>
          <p:nvPr/>
        </p:nvSpPr>
        <p:spPr>
          <a:xfrm>
            <a:off x="579921" y="1556999"/>
            <a:ext cx="10911535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Circuito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Quantistico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Trimero</a:t>
            </a:r>
            <a:endParaRPr lang="en-US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sto preparazione trimero">
                <a:extLst>
                  <a:ext uri="{FF2B5EF4-FFF2-40B4-BE49-F238E27FC236}">
                    <a16:creationId xmlns:a16="http://schemas.microsoft.com/office/drawing/2014/main" id="{505067FF-8756-102D-C3C1-5E6B2B24EAA0}"/>
                  </a:ext>
                </a:extLst>
              </p:cNvPr>
              <p:cNvSpPr txBox="1"/>
              <p:nvPr/>
            </p:nvSpPr>
            <p:spPr>
              <a:xfrm>
                <a:off x="625463" y="2225751"/>
                <a:ext cx="10911535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500" dirty="0"/>
                  <a:t>Due </a:t>
                </a:r>
                <a:r>
                  <a:rPr lang="en-US" sz="1500" dirty="0" err="1"/>
                  <a:t>circuiti</a:t>
                </a:r>
                <a:r>
                  <a:rPr lang="en-US" sz="1500" dirty="0"/>
                  <a:t> </a:t>
                </a:r>
                <a14:m>
                  <m:oMath xmlns:m="http://schemas.openxmlformats.org/officeDocument/2006/math">
                    <m:r>
                      <a:rPr lang="en-US" sz="1500" i="1" dirty="0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sz="15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sz="1500" dirty="0"/>
                  <a:t>, </a:t>
                </a:r>
                <a:r>
                  <a:rPr lang="en-US" sz="1500" dirty="0" err="1"/>
                  <a:t>che</a:t>
                </a:r>
                <a:r>
                  <a:rPr lang="en-US" sz="1500" dirty="0"/>
                  <a:t> a </a:t>
                </a:r>
                <a:r>
                  <a:rPr lang="en-US" sz="1500" dirty="0" err="1"/>
                  <a:t>partire</a:t>
                </a:r>
                <a:r>
                  <a:rPr lang="en-US" sz="1500" dirty="0"/>
                  <a:t> da </a:t>
                </a:r>
                <a14:m>
                  <m:oMath xmlns:m="http://schemas.openxmlformats.org/officeDocument/2006/math">
                    <m:r>
                      <a:rPr lang="en-US" sz="1500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500" i="0" dirty="0">
                        <a:latin typeface="Cambria Math" panose="02040503050406030204" pitchFamily="18" charset="0"/>
                      </a:rPr>
                      <m:t>00</m:t>
                    </m:r>
                    <m:r>
                      <a:rPr lang="en-US" sz="1500" b="0" i="0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500" i="0" dirty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sz="1500" dirty="0"/>
                  <a:t> </a:t>
                </a:r>
                <a:r>
                  <a:rPr lang="en-US" sz="1500" dirty="0" err="1"/>
                  <a:t>preparano</a:t>
                </a:r>
                <a:r>
                  <a:rPr lang="en-US" sz="15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5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𝜓</m:t>
                        </m:r>
                        <m:d>
                          <m:dPr>
                            <m:ctrlPr>
                              <a:rPr lang="en-US" sz="15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r>
                          <a:rPr lang="en-US" sz="1500" i="0" dirty="0">
                            <a:latin typeface="Cambria Math" panose="02040503050406030204" pitchFamily="18" charset="0"/>
                          </a:rPr>
                          <m:t>⟩=</m:t>
                        </m:r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𝑈</m:t>
                        </m:r>
                        <m:d>
                          <m:dPr>
                            <m:ctrlPr>
                              <a:rPr lang="en-US" sz="15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  <m:r>
                      <a:rPr lang="en-US" sz="1500" i="0" dirty="0">
                        <a:latin typeface="Cambria Math" panose="02040503050406030204" pitchFamily="18" charset="0"/>
                      </a:rPr>
                      <m:t>00</m:t>
                    </m:r>
                    <m:r>
                      <a:rPr lang="en-US" sz="1500" b="0" i="0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500" i="0" dirty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sz="1500" dirty="0"/>
                  <a:t>, </a:t>
                </a:r>
                <a:r>
                  <a:rPr lang="en-US" sz="1500" dirty="0" err="1"/>
                  <a:t>confrontati</a:t>
                </a:r>
                <a:r>
                  <a:rPr lang="en-US" sz="1500" dirty="0"/>
                  <a:t> </a:t>
                </a:r>
                <a:r>
                  <a:rPr lang="en-US" sz="1500" dirty="0" err="1"/>
                  <a:t>sulla</a:t>
                </a:r>
                <a:r>
                  <a:rPr lang="en-US" sz="1500" dirty="0"/>
                  <a:t> fidelity </a:t>
                </a:r>
                <a14:m>
                  <m:oMath xmlns:m="http://schemas.openxmlformats.org/officeDocument/2006/math">
                    <m:r>
                      <a:rPr lang="en-US" sz="150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1500" i="0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1500" i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0" dirty="0">
                            <a:latin typeface="Cambria Math" panose="02040503050406030204" pitchFamily="18" charset="0"/>
                          </a:rPr>
                          <m:t>⟨</m:t>
                        </m:r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𝜓</m:t>
                        </m:r>
                        <m:d>
                          <m:dPr>
                            <m:ctrlPr>
                              <a:rPr lang="en-US" sz="15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  <m:r>
                      <a:rPr lang="en-US" sz="1500" i="1" dirty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sz="1500" i="0" dirty="0">
                        <a:latin typeface="Cambria Math" panose="02040503050406030204" pitchFamily="18" charset="0"/>
                      </a:rPr>
                      <m:t>₀⟩|²</m:t>
                    </m:r>
                  </m:oMath>
                </a14:m>
                <a:r>
                  <a:rPr lang="en-US" sz="1500" dirty="0"/>
                  <a:t> rispetto </a:t>
                </a:r>
                <a:r>
                  <a:rPr lang="en-US" sz="1500" dirty="0" err="1"/>
                  <a:t>allo</a:t>
                </a:r>
                <a:r>
                  <a:rPr lang="en-US" sz="1500" dirty="0"/>
                  <a:t> </a:t>
                </a:r>
                <a:r>
                  <a:rPr lang="en-US" sz="1500" dirty="0" err="1"/>
                  <a:t>stato</a:t>
                </a:r>
                <a:r>
                  <a:rPr lang="en-US" sz="1500" dirty="0"/>
                  <a:t> </a:t>
                </a:r>
                <a:r>
                  <a:rPr lang="en-US" sz="1500" dirty="0" err="1"/>
                  <a:t>fondamentale</a:t>
                </a:r>
                <a:r>
                  <a:rPr lang="en-US" sz="1500" dirty="0"/>
                  <a:t> </a:t>
                </a:r>
                <a:r>
                  <a:rPr lang="en-US" sz="1500" dirty="0" err="1"/>
                  <a:t>vero</a:t>
                </a:r>
                <a:endParaRPr lang="en-US" sz="1500" dirty="0"/>
              </a:p>
            </p:txBody>
          </p:sp>
        </mc:Choice>
        <mc:Fallback xmlns="">
          <p:sp>
            <p:nvSpPr>
              <p:cNvPr id="8" name="Testo preparazione trimero">
                <a:extLst>
                  <a:ext uri="{FF2B5EF4-FFF2-40B4-BE49-F238E27FC236}">
                    <a16:creationId xmlns:a16="http://schemas.microsoft.com/office/drawing/2014/main" id="{505067FF-8756-102D-C3C1-5E6B2B24EA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463" y="2225751"/>
                <a:ext cx="10911535" cy="553998"/>
              </a:xfrm>
              <a:prstGeom prst="rect">
                <a:avLst/>
              </a:prstGeom>
              <a:blipFill>
                <a:blip r:embed="rId4"/>
                <a:stretch>
                  <a:fillRect t="-2198" b="-120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Circuito W-2q.6 trimero">
            <a:extLst>
              <a:ext uri="{FF2B5EF4-FFF2-40B4-BE49-F238E27FC236}">
                <a16:creationId xmlns:a16="http://schemas.microsoft.com/office/drawing/2014/main" id="{F7B5B225-88A3-5B3C-1336-0AA3661D68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5173" y="3171404"/>
            <a:ext cx="5571825" cy="2290057"/>
          </a:xfrm>
          <a:prstGeom prst="rect">
            <a:avLst/>
          </a:prstGeom>
        </p:spPr>
      </p:pic>
      <p:pic>
        <p:nvPicPr>
          <p:cNvPr id="12" name="Circuito RBS-2q.6 trimero">
            <a:extLst>
              <a:ext uri="{FF2B5EF4-FFF2-40B4-BE49-F238E27FC236}">
                <a16:creationId xmlns:a16="http://schemas.microsoft.com/office/drawing/2014/main" id="{5ED0C11D-CCC9-E8F0-7A2F-87A8DE0AE6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538" y="3213350"/>
            <a:ext cx="5349299" cy="22481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Nota PMA esteso trimero">
                <a:extLst>
                  <a:ext uri="{FF2B5EF4-FFF2-40B4-BE49-F238E27FC236}">
                    <a16:creationId xmlns:a16="http://schemas.microsoft.com/office/drawing/2014/main" id="{D2943A68-9707-5CF2-981F-EBC027B2CA3D}"/>
                  </a:ext>
                </a:extLst>
              </p:cNvPr>
              <p:cNvSpPr txBox="1"/>
              <p:nvPr/>
            </p:nvSpPr>
            <p:spPr>
              <a:xfrm>
                <a:off x="787968" y="5689801"/>
                <a:ext cx="4818888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RBS-2q.6 (PMA </a:t>
                </a:r>
                <a:r>
                  <a:rPr lang="en-US" sz="14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esteso</a:t>
                </a:r>
                <a:r>
                  <a:rPr lang="en-US" sz="14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- </a:t>
                </a:r>
                <a:r>
                  <a:rPr lang="en-US" sz="14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trimero</a:t>
                </a:r>
                <a:r>
                  <a:rPr lang="en-US" sz="14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)</a:t>
                </a:r>
                <a:r>
                  <a:rPr lang="en-US" sz="1400" b="1" dirty="0"/>
                  <a:t>: </a:t>
                </a:r>
                <a:r>
                  <a:rPr lang="en-US" sz="1400" dirty="0"/>
                  <a:t>RBS + </a:t>
                </a:r>
                <a:r>
                  <a:rPr lang="en-US" sz="1400" dirty="0" err="1"/>
                  <a:t>tre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rotazioni</a:t>
                </a:r>
                <a:r>
                  <a:rPr lang="en-US" sz="1400" dirty="0"/>
                  <a:t> </a:t>
                </a:r>
                <a:r>
                  <a:rPr lang="en-US" sz="1400" dirty="0" err="1"/>
                  <a:t>indipendenti</a:t>
                </a:r>
                <a:r>
                  <a:rPr lang="en-US" sz="1400" dirty="0"/>
                  <a:t> sui </a:t>
                </a:r>
                <a:r>
                  <a:rPr lang="en-US" sz="1400" dirty="0" err="1"/>
                  <a:t>tre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legami</a:t>
                </a:r>
                <a:r>
                  <a:rPr lang="en-US" sz="1400" dirty="0"/>
                  <a:t> del </a:t>
                </a:r>
                <a:r>
                  <a:rPr lang="en-US" sz="1400" dirty="0" err="1"/>
                  <a:t>triangolo</a:t>
                </a:r>
                <a:r>
                  <a:rPr lang="en-US" sz="1400" dirty="0"/>
                  <a:t> - </a:t>
                </a:r>
                <a:r>
                  <a:rPr lang="en-US" sz="1400" dirty="0" err="1"/>
                  <a:t>stessa</a:t>
                </a:r>
                <a:r>
                  <a:rPr lang="en-US" sz="1400" dirty="0"/>
                  <a:t> idea del </a:t>
                </a:r>
                <a:r>
                  <a:rPr lang="en-US" sz="1400" dirty="0" err="1"/>
                  <a:t>dimero</a:t>
                </a:r>
                <a:r>
                  <a:rPr lang="en-US" sz="1400" dirty="0"/>
                  <a:t>, </a:t>
                </a:r>
                <a:r>
                  <a:rPr lang="en-US" sz="1400" dirty="0" err="1"/>
                  <a:t>estesa</a:t>
                </a:r>
                <a:r>
                  <a:rPr lang="en-US" sz="1400" dirty="0"/>
                  <a:t> a </a:t>
                </a:r>
                <a:r>
                  <a:rPr lang="en-US" sz="1400" dirty="0" err="1"/>
                  <a:t>tre</a:t>
                </a:r>
                <a:r>
                  <a:rPr lang="en-US" sz="1400" dirty="0"/>
                  <a:t> spin: </a:t>
                </a:r>
                <a14:m>
                  <m:oMath xmlns:m="http://schemas.openxmlformats.org/officeDocument/2006/math">
                    <m:r>
                      <a:rPr lang="en-US" sz="1400">
                        <a:latin typeface="Cambria Math" panose="02040503050406030204" pitchFamily="18" charset="0"/>
                      </a:rPr>
                      <m:t>ℱ</m:t>
                    </m:r>
                    <m:r>
                      <a:rPr lang="en-US" sz="1400" b="0" i="0" smtClean="0">
                        <a:latin typeface="Cambria Math" panose="02040503050406030204" pitchFamily="18" charset="0"/>
                      </a:rPr>
                      <m:t> &lt; 1</m:t>
                    </m:r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15" name="Nota PMA esteso trimero">
                <a:extLst>
                  <a:ext uri="{FF2B5EF4-FFF2-40B4-BE49-F238E27FC236}">
                    <a16:creationId xmlns:a16="http://schemas.microsoft.com/office/drawing/2014/main" id="{D2943A68-9707-5CF2-981F-EBC027B2CA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968" y="5689801"/>
                <a:ext cx="4818888" cy="738664"/>
              </a:xfrm>
              <a:prstGeom prst="rect">
                <a:avLst/>
              </a:prstGeom>
              <a:blipFill>
                <a:blip r:embed="rId7"/>
                <a:stretch>
                  <a:fillRect l="-379" t="-820" b="-7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Nota PMA esteso trmero">
                <a:extLst>
                  <a:ext uri="{FF2B5EF4-FFF2-40B4-BE49-F238E27FC236}">
                    <a16:creationId xmlns:a16="http://schemas.microsoft.com/office/drawing/2014/main" id="{FCC1EC33-E840-6462-6166-E66176B5B039}"/>
                  </a:ext>
                </a:extLst>
              </p:cNvPr>
              <p:cNvSpPr txBox="1"/>
              <p:nvPr/>
            </p:nvSpPr>
            <p:spPr>
              <a:xfrm>
                <a:off x="6341641" y="5689801"/>
                <a:ext cx="481888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W-2q.6 (</a:t>
                </a:r>
                <a:r>
                  <a:rPr lang="en-US" sz="14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circuito</a:t>
                </a:r>
                <a:r>
                  <a:rPr lang="en-US" sz="14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14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scelto</a:t>
                </a:r>
                <a:r>
                  <a:rPr lang="en-US" sz="14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- </a:t>
                </a:r>
                <a:r>
                  <a:rPr lang="en-US" sz="14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trimero</a:t>
                </a:r>
                <a:r>
                  <a:rPr lang="en-US" sz="14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)</a:t>
                </a:r>
                <a:r>
                  <a:rPr lang="en-US" sz="1400" b="1" dirty="0"/>
                  <a:t>: </a:t>
                </a:r>
                <a:r>
                  <a:rPr lang="en-US" sz="1400" dirty="0" err="1"/>
                  <a:t>Stessa</a:t>
                </a:r>
                <a:r>
                  <a:rPr lang="en-US" sz="1400" dirty="0"/>
                  <a:t> </a:t>
                </a:r>
                <a:r>
                  <a:rPr lang="en-US" sz="1400" dirty="0" err="1"/>
                  <a:t>struttura</a:t>
                </a:r>
                <a:r>
                  <a:rPr lang="en-US" sz="1400" dirty="0"/>
                  <a:t>, </a:t>
                </a:r>
                <a:r>
                  <a:rPr lang="en-US" sz="1400" dirty="0" err="1"/>
                  <a:t>blocco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1400" dirty="0"/>
                  <a:t> al </a:t>
                </a:r>
                <a:r>
                  <a:rPr lang="en-US" sz="1400" dirty="0" err="1"/>
                  <a:t>posto</a:t>
                </a:r>
                <a:r>
                  <a:rPr lang="en-US" sz="1400" dirty="0"/>
                  <a:t> di RBS: </a:t>
                </a:r>
                <a14:m>
                  <m:oMath xmlns:m="http://schemas.openxmlformats.org/officeDocument/2006/math">
                    <m:r>
                      <a:rPr lang="en-US" sz="1400">
                        <a:latin typeface="Cambria Math" panose="02040503050406030204" pitchFamily="18" charset="0"/>
                      </a:rPr>
                      <m:t>ℱ</m:t>
                    </m:r>
                    <m:r>
                      <a:rPr lang="en-US" sz="140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17" name="Nota PMA esteso trmero">
                <a:extLst>
                  <a:ext uri="{FF2B5EF4-FFF2-40B4-BE49-F238E27FC236}">
                    <a16:creationId xmlns:a16="http://schemas.microsoft.com/office/drawing/2014/main" id="{FCC1EC33-E840-6462-6166-E66176B5B0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1641" y="5689801"/>
                <a:ext cx="4818888" cy="523220"/>
              </a:xfrm>
              <a:prstGeom prst="rect">
                <a:avLst/>
              </a:prstGeom>
              <a:blipFill>
                <a:blip r:embed="rId8"/>
                <a:stretch>
                  <a:fillRect l="-379" t="-1163" b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3028" y="713232"/>
            <a:ext cx="1089921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Dimero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3029" y="2132507"/>
            <a:ext cx="4772165" cy="1654107"/>
          </a:xfrm>
          <a:prstGeom prst="roundRect">
            <a:avLst>
              <a:gd name="adj" fmla="val 3846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930068" y="6363293"/>
            <a:ext cx="4326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degradazione dipende anche da D, non solo </a:t>
            </a:r>
            <a:r>
              <a:rPr lang="en-US" sz="115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dalla</a:t>
            </a: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vicinanza</a:t>
            </a: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all'incrocio</a:t>
            </a:r>
            <a:endParaRPr lang="en-US" sz="1150" dirty="0"/>
          </a:p>
        </p:txBody>
      </p:sp>
      <p:pic>
        <p:nvPicPr>
          <p:cNvPr id="16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1648" y="3866713"/>
            <a:ext cx="4824656" cy="2991287"/>
          </a:xfrm>
          <a:prstGeom prst="rect">
            <a:avLst/>
          </a:prstGeom>
        </p:spPr>
      </p:pic>
      <p:sp>
        <p:nvSpPr>
          <p:cNvPr id="17" name="Shape 9">
            <a:extLst>
              <a:ext uri="{FF2B5EF4-FFF2-40B4-BE49-F238E27FC236}">
                <a16:creationId xmlns:a16="http://schemas.microsoft.com/office/drawing/2014/main" id="{488AC17E-E47C-B563-1AFB-E9465463B42C}"/>
              </a:ext>
            </a:extLst>
          </p:cNvPr>
          <p:cNvSpPr/>
          <p:nvPr/>
        </p:nvSpPr>
        <p:spPr>
          <a:xfrm>
            <a:off x="6693156" y="2132507"/>
            <a:ext cx="4800600" cy="1667487"/>
          </a:xfrm>
          <a:prstGeom prst="roundRect">
            <a:avLst>
              <a:gd name="adj" fmla="val 6061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DD0AA3B3-009A-1CDA-FC09-2F110BD262B8}"/>
              </a:ext>
            </a:extLst>
          </p:cNvPr>
          <p:cNvSpPr txBox="1"/>
          <p:nvPr/>
        </p:nvSpPr>
        <p:spPr>
          <a:xfrm>
            <a:off x="974634" y="2204874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di </a:t>
            </a:r>
            <a:r>
              <a:rPr lang="en-US" sz="15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incrocio</a:t>
            </a:r>
            <a:r>
              <a:rPr lang="en-US" sz="15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b_c</a:t>
            </a:r>
            <a:endParaRPr lang="en-US" sz="1500" dirty="0"/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DE642882-4920-C1DD-C760-857BEC43D5FF}"/>
              </a:ext>
            </a:extLst>
          </p:cNvPr>
          <p:cNvSpPr txBox="1"/>
          <p:nvPr/>
        </p:nvSpPr>
        <p:spPr>
          <a:xfrm>
            <a:off x="4277705" y="2930649"/>
            <a:ext cx="11774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Minimo</a:t>
            </a: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assoluto</a:t>
            </a:r>
            <a:endParaRPr lang="en-US" sz="1150" dirty="0"/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9C1EF0B7-F5C7-5CAB-D386-063FB5455466}"/>
              </a:ext>
            </a:extLst>
          </p:cNvPr>
          <p:cNvSpPr txBox="1"/>
          <p:nvPr/>
        </p:nvSpPr>
        <p:spPr>
          <a:xfrm>
            <a:off x="974634" y="253405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b/J = 0.2,  D/J = 0.2</a:t>
            </a:r>
            <a:endParaRPr lang="en-US" sz="1300" dirty="0"/>
          </a:p>
        </p:txBody>
      </p:sp>
      <p:sp>
        <p:nvSpPr>
          <p:cNvPr id="26" name="Text 6">
            <a:extLst>
              <a:ext uri="{FF2B5EF4-FFF2-40B4-BE49-F238E27FC236}">
                <a16:creationId xmlns:a16="http://schemas.microsoft.com/office/drawing/2014/main" id="{589AEB8D-7E20-4EE9-583F-AAF655D143C6}"/>
              </a:ext>
            </a:extLst>
          </p:cNvPr>
          <p:cNvSpPr txBox="1"/>
          <p:nvPr/>
        </p:nvSpPr>
        <p:spPr>
          <a:xfrm>
            <a:off x="975360" y="283894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(6 par.):  F = 1.000000</a:t>
            </a:r>
            <a:endParaRPr lang="en-US" sz="1350" dirty="0"/>
          </a:p>
        </p:txBody>
      </p:sp>
      <p:sp>
        <p:nvSpPr>
          <p:cNvPr id="27" name="Text 7">
            <a:extLst>
              <a:ext uri="{FF2B5EF4-FFF2-40B4-BE49-F238E27FC236}">
                <a16:creationId xmlns:a16="http://schemas.microsoft.com/office/drawing/2014/main" id="{2CBC856D-E0D5-332F-2C6A-5028E5F70E25}"/>
              </a:ext>
            </a:extLst>
          </p:cNvPr>
          <p:cNvSpPr txBox="1"/>
          <p:nvPr/>
        </p:nvSpPr>
        <p:spPr>
          <a:xfrm>
            <a:off x="975360" y="3149416"/>
            <a:ext cx="3147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 base (1 par.):  F = 0.701</a:t>
            </a:r>
            <a:endParaRPr lang="en-US" sz="1350" dirty="0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7916E202-C893-D83E-E888-CD095B062221}"/>
              </a:ext>
            </a:extLst>
          </p:cNvPr>
          <p:cNvSpPr txBox="1"/>
          <p:nvPr/>
        </p:nvSpPr>
        <p:spPr>
          <a:xfrm>
            <a:off x="975360" y="345946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 esteso (3 par.):  F = 1.000000 (12 </a:t>
            </a:r>
            <a:r>
              <a:rPr lang="en-US" sz="135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cifre</a:t>
            </a: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50" dirty="0"/>
          </a:p>
        </p:txBody>
      </p:sp>
      <p:sp>
        <p:nvSpPr>
          <p:cNvPr id="29" name="Text 3"/>
          <p:cNvSpPr txBox="1"/>
          <p:nvPr/>
        </p:nvSpPr>
        <p:spPr>
          <a:xfrm>
            <a:off x="7056145" y="222316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di </a:t>
            </a:r>
            <a:r>
              <a:rPr lang="en-US" sz="15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lavoro</a:t>
            </a:r>
            <a:endParaRPr lang="en-US" sz="1500" dirty="0"/>
          </a:p>
        </p:txBody>
      </p:sp>
      <p:sp>
        <p:nvSpPr>
          <p:cNvPr id="30" name="Text 4"/>
          <p:cNvSpPr txBox="1"/>
          <p:nvPr/>
        </p:nvSpPr>
        <p:spPr>
          <a:xfrm>
            <a:off x="7056145" y="253405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b/J = 0.35,  D/J = 0.80</a:t>
            </a:r>
            <a:endParaRPr lang="en-US" sz="1300" dirty="0"/>
          </a:p>
        </p:txBody>
      </p:sp>
      <p:sp>
        <p:nvSpPr>
          <p:cNvPr id="31" name="Text 6"/>
          <p:cNvSpPr txBox="1"/>
          <p:nvPr/>
        </p:nvSpPr>
        <p:spPr>
          <a:xfrm>
            <a:off x="7040728" y="283894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(6 par.):  F = 1.000000</a:t>
            </a:r>
            <a:endParaRPr lang="en-US" sz="1350" dirty="0"/>
          </a:p>
        </p:txBody>
      </p:sp>
      <p:sp>
        <p:nvSpPr>
          <p:cNvPr id="32" name="Text 7"/>
          <p:cNvSpPr txBox="1"/>
          <p:nvPr/>
        </p:nvSpPr>
        <p:spPr>
          <a:xfrm>
            <a:off x="7056145" y="314941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 base (1 par.):  F = 0.940</a:t>
            </a:r>
            <a:endParaRPr lang="en-US" sz="1350" dirty="0"/>
          </a:p>
        </p:txBody>
      </p:sp>
      <p:sp>
        <p:nvSpPr>
          <p:cNvPr id="33" name="Text 8"/>
          <p:cNvSpPr txBox="1"/>
          <p:nvPr/>
        </p:nvSpPr>
        <p:spPr>
          <a:xfrm>
            <a:off x="7034671" y="345698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 esteso (3 par.):  F = 1.000000 (12 </a:t>
            </a:r>
            <a:r>
              <a:rPr lang="en-US" sz="135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cifre</a:t>
            </a: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3838D7-7D73-76E0-9DD6-9FB484B859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4844" y="3929150"/>
            <a:ext cx="4361066" cy="2565333"/>
          </a:xfrm>
          <a:prstGeom prst="rect">
            <a:avLst/>
          </a:prstGeom>
        </p:spPr>
      </p:pic>
      <p:sp>
        <p:nvSpPr>
          <p:cNvPr id="7" name="Shape 2">
            <a:extLst>
              <a:ext uri="{FF2B5EF4-FFF2-40B4-BE49-F238E27FC236}">
                <a16:creationId xmlns:a16="http://schemas.microsoft.com/office/drawing/2014/main" id="{DCA06EA8-36E8-D670-F396-71CA9D378364}"/>
              </a:ext>
            </a:extLst>
          </p:cNvPr>
          <p:cNvSpPr/>
          <p:nvPr/>
        </p:nvSpPr>
        <p:spPr>
          <a:xfrm>
            <a:off x="655295" y="1431627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itle Circuito Trimero">
            <a:extLst>
              <a:ext uri="{FF2B5EF4-FFF2-40B4-BE49-F238E27FC236}">
                <a16:creationId xmlns:a16="http://schemas.microsoft.com/office/drawing/2014/main" id="{78B8907C-D744-5EDC-938C-7982696992D8}"/>
              </a:ext>
            </a:extLst>
          </p:cNvPr>
          <p:cNvSpPr txBox="1"/>
          <p:nvPr/>
        </p:nvSpPr>
        <p:spPr>
          <a:xfrm>
            <a:off x="609753" y="1489054"/>
            <a:ext cx="10911535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Confronto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Ansatz e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sensibilità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termine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DM</a:t>
            </a:r>
            <a:endParaRPr lang="en-US" i="1" dirty="0"/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EFB4FAC2-0E80-E610-7ECF-FBA3D1B90421}"/>
              </a:ext>
            </a:extLst>
          </p:cNvPr>
          <p:cNvSpPr txBox="1"/>
          <p:nvPr/>
        </p:nvSpPr>
        <p:spPr>
          <a:xfrm>
            <a:off x="9532686" y="2303016"/>
            <a:ext cx="1961070" cy="71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Scelto</a:t>
            </a: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15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dimostrare</a:t>
            </a: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</a:t>
            </a: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 </a:t>
            </a:r>
            <a:r>
              <a:rPr lang="en-US" sz="115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PMA base non è solo un </a:t>
            </a:r>
            <a:r>
              <a:rPr lang="en-US" sz="115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</a:t>
            </a:r>
            <a:r>
              <a:rPr lang="en-US" sz="115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vicinanza</a:t>
            </a: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15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b_c</a:t>
            </a:r>
            <a:endParaRPr lang="en-US" sz="1150" dirty="0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300" dirty="0"/>
          </a:p>
        </p:txBody>
      </p:sp>
      <p:sp>
        <p:nvSpPr>
          <p:cNvPr id="12" name="VQE - Ansatz">
            <a:extLst>
              <a:ext uri="{FF2B5EF4-FFF2-40B4-BE49-F238E27FC236}">
                <a16:creationId xmlns:a16="http://schemas.microsoft.com/office/drawing/2014/main" id="{5F79BB14-D1EB-7791-7349-0B3851189112}"/>
              </a:ext>
            </a:extLst>
          </p:cNvPr>
          <p:cNvSpPr txBox="1"/>
          <p:nvPr/>
        </p:nvSpPr>
        <p:spPr>
          <a:xfrm>
            <a:off x="640080" y="713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</a:t>
            </a:r>
            <a:r>
              <a:rPr lang="en-US" sz="3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Statica</a:t>
            </a:r>
            <a:endParaRPr lang="en-US" sz="36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A09C46F-1D81-6637-ED9D-5535D92130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2411" y="2148840"/>
            <a:ext cx="4507586" cy="3393948"/>
          </a:xfrm>
          <a:prstGeom prst="rect">
            <a:avLst/>
          </a:prstGeom>
        </p:spPr>
      </p:pic>
      <p:sp>
        <p:nvSpPr>
          <p:cNvPr id="20" name="Shape 2">
            <a:extLst>
              <a:ext uri="{FF2B5EF4-FFF2-40B4-BE49-F238E27FC236}">
                <a16:creationId xmlns:a16="http://schemas.microsoft.com/office/drawing/2014/main" id="{F4718F5B-C55B-64DF-D81B-F8C8C54FCCF3}"/>
              </a:ext>
            </a:extLst>
          </p:cNvPr>
          <p:cNvSpPr/>
          <p:nvPr/>
        </p:nvSpPr>
        <p:spPr>
          <a:xfrm>
            <a:off x="652779" y="1490472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Primitive a due qubit">
            <a:extLst>
              <a:ext uri="{FF2B5EF4-FFF2-40B4-BE49-F238E27FC236}">
                <a16:creationId xmlns:a16="http://schemas.microsoft.com/office/drawing/2014/main" id="{F1723D25-7A93-CFC7-BD25-4E48F41785D7}"/>
              </a:ext>
            </a:extLst>
          </p:cNvPr>
          <p:cNvSpPr txBox="1"/>
          <p:nvPr/>
        </p:nvSpPr>
        <p:spPr>
          <a:xfrm>
            <a:off x="652778" y="1490472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Livelli di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energia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approssimazione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VQE e gap</a:t>
            </a:r>
            <a:endParaRPr lang="en-US" sz="2100" i="1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CB885715-53D8-A5AD-AE37-C85FD523B19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29206" y="2148842"/>
            <a:ext cx="4370992" cy="3393946"/>
          </a:xfrm>
          <a:prstGeom prst="rect">
            <a:avLst/>
          </a:prstGeom>
        </p:spPr>
      </p:pic>
      <p:graphicFrame>
        <p:nvGraphicFramePr>
          <p:cNvPr id="28" name="Table 0">
            <a:extLst>
              <a:ext uri="{FF2B5EF4-FFF2-40B4-BE49-F238E27FC236}">
                <a16:creationId xmlns:a16="http://schemas.microsoft.com/office/drawing/2014/main" id="{7C30B9A2-D73B-A487-8EDD-4C2653116ECD}"/>
              </a:ext>
            </a:extLst>
          </p:cNvPr>
          <p:cNvGraphicFramePr>
            <a:graphicFrameLocks noGrp="1"/>
          </p:cNvGraphicFramePr>
          <p:nvPr/>
        </p:nvGraphicFramePr>
        <p:xfrm>
          <a:off x="6126481" y="5542788"/>
          <a:ext cx="5437829" cy="1203960"/>
        </p:xfrm>
        <a:graphic>
          <a:graphicData uri="http://schemas.openxmlformats.org/drawingml/2006/table">
            <a:tbl>
              <a:tblPr/>
              <a:tblGrid>
                <a:gridCol w="5924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2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2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13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48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668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56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S₁₂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Energia (b=0)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Valore (J=1,J'=0.4)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 (M)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1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3/2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 + 2J'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+3/2, +1/2, −1/2, −3/2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1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 − 4J'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+1/2, −1/2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1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−3J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+1/2, −1/2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2" name="Table 0">
            <a:extLst>
              <a:ext uri="{FF2B5EF4-FFF2-40B4-BE49-F238E27FC236}">
                <a16:creationId xmlns:a16="http://schemas.microsoft.com/office/drawing/2014/main" id="{3A297860-CA20-BB7D-CC53-DBD5D8A49B2F}"/>
              </a:ext>
            </a:extLst>
          </p:cNvPr>
          <p:cNvGraphicFramePr>
            <a:graphicFrameLocks noGrp="1"/>
          </p:cNvGraphicFramePr>
          <p:nvPr/>
        </p:nvGraphicFramePr>
        <p:xfrm>
          <a:off x="498764" y="5542788"/>
          <a:ext cx="4381243" cy="1203960"/>
        </p:xfrm>
        <a:graphic>
          <a:graphicData uri="http://schemas.openxmlformats.org/drawingml/2006/table">
            <a:tbl>
              <a:tblPr/>
              <a:tblGrid>
                <a:gridCol w="807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72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11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67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83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011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Valore (J=1)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 (M)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11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Tripletto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 + 2bM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dipende da 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 0, −1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37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Singoletto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−3J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−3.0 (costante)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300" dirty="0"/>
          </a:p>
        </p:txBody>
      </p:sp>
      <p:sp>
        <p:nvSpPr>
          <p:cNvPr id="12" name="VQE - Ansatz">
            <a:extLst>
              <a:ext uri="{FF2B5EF4-FFF2-40B4-BE49-F238E27FC236}">
                <a16:creationId xmlns:a16="http://schemas.microsoft.com/office/drawing/2014/main" id="{5F79BB14-D1EB-7791-7349-0B3851189112}"/>
              </a:ext>
            </a:extLst>
          </p:cNvPr>
          <p:cNvSpPr txBox="1"/>
          <p:nvPr/>
        </p:nvSpPr>
        <p:spPr>
          <a:xfrm>
            <a:off x="640080" y="713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</a:t>
            </a:r>
            <a:r>
              <a:rPr lang="en-US" sz="3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Dinamica</a:t>
            </a:r>
            <a:endParaRPr lang="en-US" sz="3600" dirty="0"/>
          </a:p>
        </p:txBody>
      </p:sp>
      <p:sp>
        <p:nvSpPr>
          <p:cNvPr id="20" name="Shape 2">
            <a:extLst>
              <a:ext uri="{FF2B5EF4-FFF2-40B4-BE49-F238E27FC236}">
                <a16:creationId xmlns:a16="http://schemas.microsoft.com/office/drawing/2014/main" id="{F4718F5B-C55B-64DF-D81B-F8C8C54FCCF3}"/>
              </a:ext>
            </a:extLst>
          </p:cNvPr>
          <p:cNvSpPr/>
          <p:nvPr/>
        </p:nvSpPr>
        <p:spPr>
          <a:xfrm>
            <a:off x="652779" y="1490472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Primitive a due qubit">
            <a:extLst>
              <a:ext uri="{FF2B5EF4-FFF2-40B4-BE49-F238E27FC236}">
                <a16:creationId xmlns:a16="http://schemas.microsoft.com/office/drawing/2014/main" id="{F1723D25-7A93-CFC7-BD25-4E48F41785D7}"/>
              </a:ext>
            </a:extLst>
          </p:cNvPr>
          <p:cNvSpPr txBox="1"/>
          <p:nvPr/>
        </p:nvSpPr>
        <p:spPr>
          <a:xfrm>
            <a:off x="652778" y="1490472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Trotter: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dinamica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convergenza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dimero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trimero</a:t>
            </a:r>
            <a:endParaRPr lang="en-US" sz="2100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635F32-38C9-142C-E9B9-9BBB6AC38F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534" y="2139695"/>
            <a:ext cx="5382271" cy="23451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8DA67D3-E7A5-C13E-0658-3EDB1A3715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1093" y="2139695"/>
            <a:ext cx="5443220" cy="234477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840B33C-239B-8E60-76CB-5263CC5B132F}"/>
                  </a:ext>
                </a:extLst>
              </p:cNvPr>
              <p:cNvSpPr txBox="1"/>
              <p:nvPr/>
            </p:nvSpPr>
            <p:spPr>
              <a:xfrm>
                <a:off x="6322981" y="4603338"/>
                <a:ext cx="5241333" cy="18228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1400" dirty="0"/>
              </a:p>
              <a:p>
                <a:pPr lvl="0"/>
                <a14:m>
                  <m:oMath xmlns:m="http://schemas.openxmlformats.org/officeDocument/2006/math">
                    <m:r>
                      <a:rPr lang="en-US" sz="1400">
                        <a:latin typeface="Cambria Math" panose="02040503050406030204" pitchFamily="18" charset="0"/>
                      </a:rPr>
                      <m:t>∥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𝑐𝑖𝑟𝑐𝑢𝑖𝑡𝑜</m:t>
                        </m:r>
                      </m:sub>
                    </m:sSub>
                    <m:r>
                      <a:rPr lang="en-US" sz="140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𝑒𝑠𝑎𝑡𝑡𝑜</m:t>
                        </m:r>
                      </m:sub>
                    </m:sSub>
                    <m:r>
                      <a:rPr lang="en-US" sz="1400">
                        <a:latin typeface="Cambria Math" panose="02040503050406030204" pitchFamily="18" charset="0"/>
                      </a:rPr>
                      <m:t>∥</m:t>
                    </m:r>
                  </m:oMath>
                </a14:m>
                <a:r>
                  <a:rPr lang="en-US" sz="1400" dirty="0"/>
                  <a:t>: </a:t>
                </a:r>
                <a:r>
                  <a:rPr lang="en-US" sz="1400" dirty="0" err="1"/>
                  <a:t>quanto</a:t>
                </a:r>
                <a:r>
                  <a:rPr lang="en-US" sz="1400" dirty="0"/>
                  <a:t> il </a:t>
                </a:r>
                <a:r>
                  <a:rPr lang="en-US" sz="1400" dirty="0" err="1"/>
                  <a:t>circuito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approssima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4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𝑖𝐻𝑡</m:t>
                        </m:r>
                      </m:sup>
                    </m:sSup>
                  </m:oMath>
                </a14:m>
                <a:r>
                  <a:rPr lang="en-US" sz="1400" dirty="0"/>
                  <a:t> </a:t>
                </a:r>
                <a:r>
                  <a:rPr lang="en-US" sz="1400" b="1" dirty="0"/>
                  <a:t>in generale</a:t>
                </a:r>
                <a:r>
                  <a:rPr lang="en-US" sz="1400" dirty="0"/>
                  <a:t> (</a:t>
                </a:r>
                <a:r>
                  <a:rPr lang="en-US" sz="1400" dirty="0" err="1"/>
                  <a:t>caso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peggiore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su</a:t>
                </a:r>
                <a:r>
                  <a:rPr lang="en-US" sz="1400" dirty="0"/>
                  <a:t> </a:t>
                </a:r>
                <a:r>
                  <a:rPr lang="en-US" sz="1400" dirty="0" err="1"/>
                  <a:t>qualunque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stato</a:t>
                </a:r>
                <a:r>
                  <a:rPr lang="en-US" sz="1400" dirty="0"/>
                  <a:t>) — </a:t>
                </a:r>
                <a:r>
                  <a:rPr lang="en-US" sz="1400" dirty="0" err="1"/>
                  <a:t>pendenza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US" sz="140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1400" dirty="0"/>
                  <a:t>−1.</a:t>
                </a:r>
              </a:p>
              <a:p>
                <a:pPr lvl="0"/>
                <a:endParaRPr lang="en-US" sz="1400" dirty="0"/>
              </a:p>
              <a:p>
                <a:pPr lvl="0"/>
                <a14:m>
                  <m:oMath xmlns:m="http://schemas.openxmlformats.org/officeDocument/2006/math">
                    <m:r>
                      <a:rPr lang="en-US" sz="140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sz="1400">
                        <a:latin typeface="Cambria Math" panose="02040503050406030204" pitchFamily="18" charset="0"/>
                      </a:rPr>
                      <m:t>ℱ</m:t>
                    </m:r>
                  </m:oMath>
                </a14:m>
                <a:r>
                  <a:rPr lang="en-US" sz="1400" dirty="0"/>
                  <a:t>: </a:t>
                </a:r>
                <a:r>
                  <a:rPr lang="en-US" sz="1400" dirty="0" err="1"/>
                  <a:t>quanto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sbaglia</a:t>
                </a:r>
                <a:r>
                  <a:rPr lang="en-US" sz="1400" dirty="0"/>
                  <a:t> </a:t>
                </a:r>
                <a:r>
                  <a:rPr lang="en-US" sz="1400" b="1" dirty="0" err="1"/>
                  <a:t>sullo</a:t>
                </a:r>
                <a:r>
                  <a:rPr lang="en-US" sz="1400" b="1" dirty="0"/>
                  <a:t> </a:t>
                </a:r>
                <a:r>
                  <a:rPr lang="en-US" sz="1400" b="1" dirty="0" err="1"/>
                  <a:t>stato</a:t>
                </a:r>
                <a:r>
                  <a:rPr lang="en-US" sz="1400" b="1" dirty="0"/>
                  <a:t> </a:t>
                </a:r>
                <a:r>
                  <a:rPr lang="en-US" sz="1400" b="1" dirty="0" err="1"/>
                  <a:t>iniziale</a:t>
                </a:r>
                <a:r>
                  <a:rPr lang="en-US" sz="1400" b="1" dirty="0"/>
                  <a:t> </a:t>
                </a:r>
                <a:r>
                  <a:rPr lang="en-US" sz="1400" b="1" dirty="0" err="1"/>
                  <a:t>specifico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che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usiamo</a:t>
                </a:r>
                <a:r>
                  <a:rPr lang="en-US" sz="1400" dirty="0"/>
                  <a:t> (∣00⟩ o ∣000⟩) — </a:t>
                </a:r>
                <a:r>
                  <a:rPr lang="en-US" sz="1400" dirty="0" err="1"/>
                  <a:t>pendenza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US" sz="1400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en-US" sz="1400" dirty="0"/>
                  <a:t>, </a:t>
                </a:r>
                <a:r>
                  <a:rPr lang="en-US" sz="1400" dirty="0" err="1"/>
                  <a:t>perché</a:t>
                </a:r>
                <a:r>
                  <a:rPr lang="en-US" sz="1400" dirty="0"/>
                  <a:t> è </a:t>
                </a:r>
                <a:r>
                  <a:rPr lang="en-US" sz="1400" dirty="0" err="1"/>
                  <a:t>essenzialmente</a:t>
                </a:r>
                <a:r>
                  <a:rPr lang="en-US" sz="1400" dirty="0"/>
                  <a:t> il </a:t>
                </a:r>
                <a:r>
                  <a:rPr lang="en-US" sz="1400" dirty="0" err="1"/>
                  <a:t>quadrato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dell'errore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sull'ampiezza</a:t>
                </a:r>
                <a:r>
                  <a:rPr lang="en-US" sz="1400" dirty="0"/>
                  <a:t>.</a:t>
                </a:r>
              </a:p>
              <a:p>
                <a:endParaRPr lang="en-US" sz="1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840B33C-239B-8E60-76CB-5263CC5B13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2981" y="4603338"/>
                <a:ext cx="5241333" cy="1822807"/>
              </a:xfrm>
              <a:prstGeom prst="rect">
                <a:avLst/>
              </a:prstGeom>
              <a:blipFill>
                <a:blip r:embed="rId5"/>
                <a:stretch>
                  <a:fillRect l="-349" r="-2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50458C2-6980-59D4-2538-994A71279422}"/>
                  </a:ext>
                </a:extLst>
              </p:cNvPr>
              <p:cNvSpPr txBox="1"/>
              <p:nvPr/>
            </p:nvSpPr>
            <p:spPr>
              <a:xfrm>
                <a:off x="652779" y="4802342"/>
                <a:ext cx="5164362" cy="16004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Si </a:t>
                </a:r>
                <a:r>
                  <a:rPr lang="en-US" sz="1400" dirty="0" err="1"/>
                  <a:t>inizializza</a:t>
                </a:r>
                <a:r>
                  <a:rPr lang="en-US" sz="1400" dirty="0"/>
                  <a:t> il </a:t>
                </a:r>
                <a:r>
                  <a:rPr lang="en-US" sz="1400" dirty="0" err="1"/>
                  <a:t>sistema</a:t>
                </a:r>
                <a:r>
                  <a:rPr lang="en-US" sz="1400" dirty="0"/>
                  <a:t> </a:t>
                </a:r>
                <a:r>
                  <a:rPr lang="en-US" sz="1400" dirty="0" err="1"/>
                  <a:t>fuori</a:t>
                </a:r>
                <a:r>
                  <a:rPr lang="en-US" sz="1400" dirty="0"/>
                  <a:t> </a:t>
                </a:r>
                <a:r>
                  <a:rPr lang="en-US" sz="1400" dirty="0" err="1"/>
                  <a:t>equilibrio</a:t>
                </a:r>
                <a:r>
                  <a:rPr lang="en-US" sz="1400" dirty="0"/>
                  <a:t> (es. ∣00⟩ per il </a:t>
                </a:r>
                <a:r>
                  <a:rPr lang="en-US" sz="1400" dirty="0" err="1"/>
                  <a:t>dimero</a:t>
                </a:r>
                <a:r>
                  <a:rPr lang="en-US" sz="1400" dirty="0"/>
                  <a:t>, ∣000⟩ per il </a:t>
                </a:r>
                <a:r>
                  <a:rPr lang="en-US" sz="1400" dirty="0" err="1"/>
                  <a:t>trimero</a:t>
                </a:r>
                <a:r>
                  <a:rPr lang="en-US" sz="1400" dirty="0"/>
                  <a:t>) e </a:t>
                </a:r>
                <a:r>
                  <a:rPr lang="en-US" sz="1400" dirty="0" err="1"/>
                  <a:t>si</a:t>
                </a:r>
                <a:r>
                  <a:rPr lang="en-US" sz="1400" dirty="0"/>
                  <a:t> </a:t>
                </a:r>
                <a:r>
                  <a:rPr lang="en-US" sz="1400" dirty="0" err="1"/>
                  <a:t>osserva</a:t>
                </a:r>
                <a:r>
                  <a:rPr lang="en-US" sz="1400" dirty="0"/>
                  <a:t> come evolve </a:t>
                </a:r>
                <a:r>
                  <a:rPr lang="en-US" sz="1400" dirty="0" err="1"/>
                  <a:t>nel</a:t>
                </a:r>
                <a:r>
                  <a:rPr lang="en-US" sz="1400" dirty="0"/>
                  <a:t> tempo sotto la </a:t>
                </a:r>
                <a:r>
                  <a:rPr lang="en-US" sz="1400" dirty="0" err="1"/>
                  <a:t>dinamica</a:t>
                </a:r>
                <a:r>
                  <a:rPr lang="en-US" sz="1400" dirty="0"/>
                  <a:t> di Trotter.</a:t>
                </a:r>
              </a:p>
              <a:p>
                <a:endParaRPr lang="en-US" sz="1400" dirty="0"/>
              </a:p>
              <a:p>
                <a:r>
                  <a:rPr lang="en-US" sz="1400" b="1" dirty="0"/>
                  <a:t>Per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40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1400" dirty="0"/>
                  <a:t> </a:t>
                </a:r>
                <a:r>
                  <a:rPr lang="en-US" sz="1400" dirty="0" err="1"/>
                  <a:t>l'Hamiltoniana</a:t>
                </a:r>
                <a:r>
                  <a:rPr lang="en-US" sz="1400" dirty="0"/>
                  <a:t> non </a:t>
                </a:r>
                <a:r>
                  <a:rPr lang="en-US" sz="1400" dirty="0" err="1"/>
                  <a:t>commuta</a:t>
                </a:r>
                <a:r>
                  <a:rPr lang="en-US" sz="1400" dirty="0"/>
                  <a:t> con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  <m:sup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𝑡𝑜𝑡</m:t>
                        </m:r>
                      </m:sup>
                    </m:sSubSup>
                  </m:oMath>
                </a14:m>
                <a:r>
                  <a:rPr lang="en-US" sz="1400" dirty="0"/>
                  <a:t>​ a causa del </a:t>
                </a:r>
                <a:r>
                  <a:rPr lang="en-US" sz="1400" dirty="0" err="1"/>
                  <a:t>termine</a:t>
                </a:r>
                <a:r>
                  <a:rPr lang="en-US" sz="1400" dirty="0"/>
                  <a:t> DM. </a:t>
                </a:r>
                <a:r>
                  <a:rPr lang="en-US" sz="1400" dirty="0" err="1"/>
                  <a:t>Quindi</a:t>
                </a:r>
                <a:r>
                  <a:rPr lang="en-US" sz="1400" dirty="0"/>
                  <a:t> lo </a:t>
                </a:r>
                <a:r>
                  <a:rPr lang="en-US" sz="1400" dirty="0" err="1"/>
                  <a:t>stato</a:t>
                </a:r>
                <a:r>
                  <a:rPr lang="en-US" sz="1400" dirty="0"/>
                  <a:t> evolve in </a:t>
                </a:r>
                <a:r>
                  <a:rPr lang="en-US" sz="1400" dirty="0" err="1"/>
                  <a:t>una</a:t>
                </a:r>
                <a:r>
                  <a:rPr lang="en-US" sz="1400" dirty="0"/>
                  <a:t> </a:t>
                </a:r>
                <a:r>
                  <a:rPr lang="en-US" sz="1400" b="1" dirty="0" err="1"/>
                  <a:t>sovrapposizione</a:t>
                </a:r>
                <a:r>
                  <a:rPr lang="en-US" sz="1400" dirty="0"/>
                  <a:t> di </a:t>
                </a:r>
                <a:r>
                  <a:rPr lang="en-US" sz="1400" dirty="0" err="1"/>
                  <a:t>autostati</a:t>
                </a:r>
                <a:r>
                  <a:rPr lang="en-US" sz="1400" dirty="0"/>
                  <a:t> con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1400" dirty="0"/>
                  <a:t> diversi.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50458C2-6980-59D4-2538-994A712794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779" y="4802342"/>
                <a:ext cx="5164362" cy="1600438"/>
              </a:xfrm>
              <a:prstGeom prst="rect">
                <a:avLst/>
              </a:prstGeom>
              <a:blipFill>
                <a:blip r:embed="rId6"/>
                <a:stretch>
                  <a:fillRect l="-354" t="-1145" b="-3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300" dirty="0"/>
          </a:p>
        </p:txBody>
      </p:sp>
      <p:sp>
        <p:nvSpPr>
          <p:cNvPr id="12" name="VQE - Ansatz">
            <a:extLst>
              <a:ext uri="{FF2B5EF4-FFF2-40B4-BE49-F238E27FC236}">
                <a16:creationId xmlns:a16="http://schemas.microsoft.com/office/drawing/2014/main" id="{5F79BB14-D1EB-7791-7349-0B3851189112}"/>
              </a:ext>
            </a:extLst>
          </p:cNvPr>
          <p:cNvSpPr txBox="1"/>
          <p:nvPr/>
        </p:nvSpPr>
        <p:spPr>
          <a:xfrm>
            <a:off x="640080" y="713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</a:t>
            </a:r>
            <a:r>
              <a:rPr lang="en-US" sz="3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Dinamica</a:t>
            </a:r>
            <a:r>
              <a:rPr lang="en-US" sz="3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Rumorosa</a:t>
            </a:r>
            <a:endParaRPr lang="en-US" sz="3600" dirty="0"/>
          </a:p>
        </p:txBody>
      </p:sp>
      <p:sp>
        <p:nvSpPr>
          <p:cNvPr id="20" name="Shape 2">
            <a:extLst>
              <a:ext uri="{FF2B5EF4-FFF2-40B4-BE49-F238E27FC236}">
                <a16:creationId xmlns:a16="http://schemas.microsoft.com/office/drawing/2014/main" id="{F4718F5B-C55B-64DF-D81B-F8C8C54FCCF3}"/>
              </a:ext>
            </a:extLst>
          </p:cNvPr>
          <p:cNvSpPr/>
          <p:nvPr/>
        </p:nvSpPr>
        <p:spPr>
          <a:xfrm>
            <a:off x="652779" y="1490472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Primitive a due qubit">
                <a:extLst>
                  <a:ext uri="{FF2B5EF4-FFF2-40B4-BE49-F238E27FC236}">
                    <a16:creationId xmlns:a16="http://schemas.microsoft.com/office/drawing/2014/main" id="{F1723D25-7A93-CFC7-BD25-4E48F41785D7}"/>
                  </a:ext>
                </a:extLst>
              </p:cNvPr>
              <p:cNvSpPr txBox="1"/>
              <p:nvPr/>
            </p:nvSpPr>
            <p:spPr>
              <a:xfrm>
                <a:off x="652778" y="1490472"/>
                <a:ext cx="10911535" cy="53035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b="1" i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Funzioni di correlazione dinamica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dirty="0" smtClean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1" dirty="0" smtClean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b="1" i="1" dirty="0" smtClean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𝛼𝛽</m:t>
                        </m:r>
                      </m:sup>
                    </m:sSup>
                    <m:d>
                      <m:dPr>
                        <m:ctrlPr>
                          <a:rPr lang="en-US" b="1" i="1" dirty="0" smtClean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dirty="0" smtClean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1" i="1" dirty="0" smtClean="0">
                        <a:solidFill>
                          <a:srgbClr val="173A5E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b="1" i="1" dirty="0" smtClean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 dirty="0" smtClean="0">
                                <a:solidFill>
                                  <a:srgbClr val="173A5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 smtClean="0">
                                <a:solidFill>
                                  <a:srgbClr val="173A5E"/>
                                </a:solidFill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b="1" i="1" dirty="0" smtClean="0">
                                <a:solidFill>
                                  <a:srgbClr val="173A5E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d>
                          <m:dPr>
                            <m:begChr m:val="|"/>
                            <m:endChr m:val="|"/>
                            <m:ctrlPr>
                              <a:rPr lang="en-US" b="1" i="1" dirty="0" smtClean="0">
                                <a:solidFill>
                                  <a:srgbClr val="173A5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b="1" i="1" dirty="0" smtClean="0">
                                <a:solidFill>
                                  <a:srgbClr val="173A5E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sSup>
                              <m:sSupPr>
                                <m:ctrlPr>
                                  <a:rPr lang="en-US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e>
                        </m:d>
                        <m:sSub>
                          <m:sSubPr>
                            <m:ctrlPr>
                              <a:rPr lang="en-US" b="1" i="1" dirty="0" smtClean="0">
                                <a:solidFill>
                                  <a:srgbClr val="173A5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 smtClean="0">
                                <a:solidFill>
                                  <a:srgbClr val="173A5E"/>
                                </a:solidFill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b="1" i="1" dirty="0" smtClean="0">
                                <a:solidFill>
                                  <a:srgbClr val="173A5E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i="1" dirty="0"/>
                  <a:t> </a:t>
                </a:r>
                <a:r>
                  <a:rPr lang="en-US" b="1" i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- Canali di </a:t>
                </a:r>
                <a:r>
                  <a:rPr lang="en-US" b="1" i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rumore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173A5E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1" i="1" dirty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b="1" i="1" dirty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1" i="1" dirty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en-US" i="1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b="1" i="1" dirty="0" smtClean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1" i="1" dirty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en-US" b="1" i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1" i="1" dirty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𝑟𝑒𝑎𝑑𝑜𝑢𝑡</m:t>
                        </m:r>
                      </m:sub>
                    </m:sSub>
                  </m:oMath>
                </a14:m>
                <a:endParaRPr lang="en-US" i="1" dirty="0"/>
              </a:p>
            </p:txBody>
          </p:sp>
        </mc:Choice>
        <mc:Fallback xmlns="">
          <p:sp>
            <p:nvSpPr>
              <p:cNvPr id="23" name="Primitive a due qubit">
                <a:extLst>
                  <a:ext uri="{FF2B5EF4-FFF2-40B4-BE49-F238E27FC236}">
                    <a16:creationId xmlns:a16="http://schemas.microsoft.com/office/drawing/2014/main" id="{F1723D25-7A93-CFC7-BD25-4E48F41785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778" y="1490472"/>
                <a:ext cx="10911535" cy="530352"/>
              </a:xfrm>
              <a:prstGeom prst="rect">
                <a:avLst/>
              </a:prstGeom>
              <a:blipFill>
                <a:blip r:embed="rId3"/>
                <a:stretch>
                  <a:fillRect b="-2299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A4C6A78A-257D-587D-1AF8-AC1AEDA7EB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685" y="2020824"/>
            <a:ext cx="4629013" cy="253377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246AD95-B561-7223-B5C7-D57F6C230011}"/>
              </a:ext>
            </a:extLst>
          </p:cNvPr>
          <p:cNvSpPr txBox="1"/>
          <p:nvPr/>
        </p:nvSpPr>
        <p:spPr>
          <a:xfrm>
            <a:off x="640080" y="5686939"/>
            <a:ext cx="47842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 err="1"/>
              <a:t>Simulatore</a:t>
            </a:r>
            <a:r>
              <a:rPr lang="en-US" sz="1400" dirty="0"/>
              <a:t> con </a:t>
            </a:r>
            <a:r>
              <a:rPr lang="en-US" sz="1400" dirty="0" err="1"/>
              <a:t>rumore</a:t>
            </a:r>
            <a:r>
              <a:rPr lang="en-US" sz="1400" dirty="0"/>
              <a:t>: ogni gate e ogni </a:t>
            </a:r>
            <a:r>
              <a:rPr lang="en-US" sz="1400" dirty="0" err="1"/>
              <a:t>lettura</a:t>
            </a:r>
            <a:r>
              <a:rPr lang="en-US" sz="1400" dirty="0"/>
              <a:t> introduce </a:t>
            </a:r>
            <a:r>
              <a:rPr lang="en-US" sz="1400" dirty="0" err="1"/>
              <a:t>errore</a:t>
            </a:r>
            <a:endParaRPr lang="en-US" sz="1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B1517B-B1BD-BF3C-6426-E8C970564BB0}"/>
              </a:ext>
            </a:extLst>
          </p:cNvPr>
          <p:cNvSpPr txBox="1"/>
          <p:nvPr/>
        </p:nvSpPr>
        <p:spPr>
          <a:xfrm>
            <a:off x="627684" y="6335756"/>
            <a:ext cx="47842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 err="1"/>
              <a:t>Modello</a:t>
            </a:r>
            <a:r>
              <a:rPr lang="en-US" sz="1400" dirty="0"/>
              <a:t> </a:t>
            </a:r>
            <a:r>
              <a:rPr lang="en-US" sz="1400" dirty="0" err="1"/>
              <a:t>minimale</a:t>
            </a:r>
            <a:r>
              <a:rPr lang="en-US" sz="1400" dirty="0"/>
              <a:t>: 2 </a:t>
            </a:r>
            <a:r>
              <a:rPr lang="en-US" sz="1400" dirty="0" err="1"/>
              <a:t>canali</a:t>
            </a:r>
            <a:r>
              <a:rPr lang="en-US" sz="1400" dirty="0"/>
              <a:t>- </a:t>
            </a:r>
            <a:r>
              <a:rPr lang="en-US" sz="1400" dirty="0" err="1"/>
              <a:t>depolarizzante</a:t>
            </a:r>
            <a:r>
              <a:rPr lang="en-US" sz="1400" dirty="0"/>
              <a:t> (gate) + </a:t>
            </a:r>
            <a:r>
              <a:rPr lang="en-US" sz="1400" dirty="0" err="1"/>
              <a:t>lettura</a:t>
            </a:r>
            <a:endParaRPr lang="en-US" sz="1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479C275-42D6-7C3E-A776-775F5D436A7C}"/>
              </a:ext>
            </a:extLst>
          </p:cNvPr>
          <p:cNvSpPr txBox="1"/>
          <p:nvPr/>
        </p:nvSpPr>
        <p:spPr>
          <a:xfrm>
            <a:off x="6709144" y="5036014"/>
            <a:ext cx="4855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 err="1"/>
              <a:t>Parametri</a:t>
            </a:r>
            <a:r>
              <a:rPr lang="en-US" sz="1400" dirty="0"/>
              <a:t> </a:t>
            </a:r>
            <a:r>
              <a:rPr lang="en-US" sz="1400" dirty="0" err="1"/>
              <a:t>calibrati</a:t>
            </a:r>
            <a:r>
              <a:rPr lang="en-US" sz="1400" dirty="0"/>
              <a:t> </a:t>
            </a:r>
            <a:r>
              <a:rPr lang="en-US" sz="1400" dirty="0" err="1"/>
              <a:t>su</a:t>
            </a:r>
            <a:r>
              <a:rPr lang="en-US" sz="1400" dirty="0"/>
              <a:t> </a:t>
            </a:r>
            <a:r>
              <a:rPr lang="en-US" sz="1400" dirty="0" err="1"/>
              <a:t>ibm_torino</a:t>
            </a:r>
            <a:r>
              <a:rPr lang="en-US" sz="1400" dirty="0"/>
              <a:t> (IBM Heron r1, 133 qubit):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FB850E4-AF86-6D3F-F8BE-73BFF7A8E481}"/>
              </a:ext>
            </a:extLst>
          </p:cNvPr>
          <p:cNvSpPr txBox="1"/>
          <p:nvPr/>
        </p:nvSpPr>
        <p:spPr>
          <a:xfrm>
            <a:off x="640080" y="5090499"/>
            <a:ext cx="47842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/>
              <a:t>È un </a:t>
            </a:r>
            <a:r>
              <a:rPr lang="en-US" sz="1400" dirty="0" err="1"/>
              <a:t>numero</a:t>
            </a:r>
            <a:r>
              <a:rPr lang="en-US" sz="1400" dirty="0"/>
              <a:t> </a:t>
            </a:r>
            <a:r>
              <a:rPr lang="en-US" sz="1400" dirty="0" err="1"/>
              <a:t>complesso</a:t>
            </a:r>
            <a:r>
              <a:rPr lang="en-US" sz="1400" dirty="0"/>
              <a:t> - </a:t>
            </a:r>
            <a:r>
              <a:rPr lang="en-US" sz="1400" dirty="0" err="1"/>
              <a:t>si</a:t>
            </a:r>
            <a:r>
              <a:rPr lang="en-US" sz="1400" dirty="0"/>
              <a:t> </a:t>
            </a:r>
            <a:r>
              <a:rPr lang="en-US" sz="1400" dirty="0" err="1"/>
              <a:t>misura</a:t>
            </a:r>
            <a:r>
              <a:rPr lang="en-US" sz="1400" dirty="0"/>
              <a:t> con </a:t>
            </a:r>
            <a:r>
              <a:rPr lang="en-US" sz="1400" dirty="0" err="1"/>
              <a:t>un'ancilla</a:t>
            </a:r>
            <a:r>
              <a:rPr lang="en-US" sz="1400" dirty="0"/>
              <a:t> in </a:t>
            </a:r>
            <a:r>
              <a:rPr lang="en-US" sz="1400" dirty="0" err="1"/>
              <a:t>sovrapposizione</a:t>
            </a:r>
            <a:endParaRPr lang="en-US" sz="1400" dirty="0"/>
          </a:p>
        </p:txBody>
      </p:sp>
      <p:pic>
        <p:nvPicPr>
          <p:cNvPr id="3" name="Picture 2" descr="Эволюция IBM: от табулирующих машин до суперкомпьютеров">
            <a:extLst>
              <a:ext uri="{FF2B5EF4-FFF2-40B4-BE49-F238E27FC236}">
                <a16:creationId xmlns:a16="http://schemas.microsoft.com/office/drawing/2014/main" id="{E258CBB9-D963-B64F-189B-9C94C9813BE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0366" t="18086" r="2096" b="16150"/>
          <a:stretch>
            <a:fillRect/>
          </a:stretch>
        </p:blipFill>
        <p:spPr>
          <a:xfrm>
            <a:off x="9345500" y="5343791"/>
            <a:ext cx="1817029" cy="144117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1F559DF-42C3-57E8-BF1C-C34E5DA36C5A}"/>
                  </a:ext>
                </a:extLst>
              </p:cNvPr>
              <p:cNvSpPr txBox="1"/>
              <p:nvPr/>
            </p:nvSpPr>
            <p:spPr>
              <a:xfrm>
                <a:off x="7194520" y="5613719"/>
                <a:ext cx="2099930" cy="779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en-US" sz="1400">
                          <a:latin typeface="Cambria Math" panose="02040503050406030204" pitchFamily="18" charset="0"/>
                        </a:rPr>
                        <m:t>=2.9×</m:t>
                      </m:r>
                      <m:sSup>
                        <m:sSupPr>
                          <m:ctrlPr>
                            <a:rPr lang="en-US" sz="140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−4</m:t>
                          </m:r>
                        </m:sup>
                      </m:sSup>
                    </m:oMath>
                    <m:oMath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en-US" sz="1400">
                          <a:latin typeface="Cambria Math" panose="02040503050406030204" pitchFamily="18" charset="0"/>
                        </a:rPr>
                        <m:t>=3.8×</m:t>
                      </m:r>
                      <m:sSup>
                        <m:sSupPr>
                          <m:ctrlPr>
                            <a:rPr lang="en-US" sz="140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−3</m:t>
                          </m:r>
                        </m:sup>
                      </m:sSup>
                    </m:oMath>
                    <m:oMath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𝑟𝑒𝑎𝑑𝑜𝑢𝑡</m:t>
                          </m:r>
                        </m:sub>
                      </m:sSub>
                      <m:r>
                        <a:rPr lang="en-US" sz="1400">
                          <a:latin typeface="Cambria Math" panose="02040503050406030204" pitchFamily="18" charset="0"/>
                        </a:rPr>
                        <m:t>=2.3×</m:t>
                      </m:r>
                      <m:sSup>
                        <m:sSupPr>
                          <m:ctrlPr>
                            <a:rPr lang="en-US" sz="140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1F559DF-42C3-57E8-BF1C-C34E5DA36C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4520" y="5613719"/>
                <a:ext cx="2099930" cy="77944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Desc HA dimero">
            <a:extLst>
              <a:ext uri="{FF2B5EF4-FFF2-40B4-BE49-F238E27FC236}">
                <a16:creationId xmlns:a16="http://schemas.microsoft.com/office/drawing/2014/main" id="{62B5EC75-CEC5-4C96-79EC-377A6B83806E}"/>
              </a:ext>
            </a:extLst>
          </p:cNvPr>
          <p:cNvSpPr txBox="1"/>
          <p:nvPr/>
        </p:nvSpPr>
        <p:spPr>
          <a:xfrm>
            <a:off x="627684" y="4583930"/>
            <a:ext cx="46039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la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reale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circuito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è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identico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con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un’unica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differenza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l’ultimo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gate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sull’ancilla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è H</a:t>
            </a:r>
            <a:endParaRPr lang="en-US" sz="1200" dirty="0"/>
          </a:p>
        </p:txBody>
      </p:sp>
      <p:pic>
        <p:nvPicPr>
          <p:cNvPr id="8" name="Picture 7" descr="The diagram displays a correlation function plot, showing two different scenarios: one with noise (Trotter+rumore, N=20) and one without noise (Trotter, N=20), across a range of time units (t).&#10;&#10;AI-generated content may be incorrect.">
            <a:extLst>
              <a:ext uri="{FF2B5EF4-FFF2-40B4-BE49-F238E27FC236}">
                <a16:creationId xmlns:a16="http://schemas.microsoft.com/office/drawing/2014/main" id="{C6661771-F176-396D-0B97-59F67AE73A4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9771" y="2078984"/>
            <a:ext cx="4756776" cy="2803994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300" dirty="0"/>
          </a:p>
        </p:txBody>
      </p:sp>
      <p:sp>
        <p:nvSpPr>
          <p:cNvPr id="12" name="VQE - Ansatz">
            <a:extLst>
              <a:ext uri="{FF2B5EF4-FFF2-40B4-BE49-F238E27FC236}">
                <a16:creationId xmlns:a16="http://schemas.microsoft.com/office/drawing/2014/main" id="{5F79BB14-D1EB-7791-7349-0B3851189112}"/>
              </a:ext>
            </a:extLst>
          </p:cNvPr>
          <p:cNvSpPr txBox="1"/>
          <p:nvPr/>
        </p:nvSpPr>
        <p:spPr>
          <a:xfrm>
            <a:off x="640080" y="713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Dinamica</a:t>
            </a:r>
            <a:r>
              <a:rPr lang="en-US" sz="3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Correlatori</a:t>
            </a:r>
            <a:r>
              <a:rPr lang="en-US" sz="3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sotto Rumore</a:t>
            </a:r>
            <a:endParaRPr lang="en-US" sz="3600" dirty="0"/>
          </a:p>
        </p:txBody>
      </p:sp>
      <p:sp>
        <p:nvSpPr>
          <p:cNvPr id="20" name="Shape 2">
            <a:extLst>
              <a:ext uri="{FF2B5EF4-FFF2-40B4-BE49-F238E27FC236}">
                <a16:creationId xmlns:a16="http://schemas.microsoft.com/office/drawing/2014/main" id="{F4718F5B-C55B-64DF-D81B-F8C8C54FCCF3}"/>
              </a:ext>
            </a:extLst>
          </p:cNvPr>
          <p:cNvSpPr/>
          <p:nvPr/>
        </p:nvSpPr>
        <p:spPr>
          <a:xfrm>
            <a:off x="652779" y="1490472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Primitive a due qubit">
            <a:extLst>
              <a:ext uri="{FF2B5EF4-FFF2-40B4-BE49-F238E27FC236}">
                <a16:creationId xmlns:a16="http://schemas.microsoft.com/office/drawing/2014/main" id="{F1723D25-7A93-CFC7-BD25-4E48F41785D7}"/>
              </a:ext>
            </a:extLst>
          </p:cNvPr>
          <p:cNvSpPr txBox="1"/>
          <p:nvPr/>
        </p:nvSpPr>
        <p:spPr>
          <a:xfrm>
            <a:off x="652778" y="1490472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00" b="1" i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Preparazione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VQE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rumorosa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Trotter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rumoroso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Misura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rumorosa</a:t>
            </a:r>
            <a:endParaRPr lang="en-US" sz="2100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C354B9-9594-A124-F417-10AAB2CF1E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2778" y="2267711"/>
            <a:ext cx="3585569" cy="228932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7B0FB15-F805-6F7F-4AB6-04416F6B227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0080" y="4557039"/>
            <a:ext cx="3027141" cy="219913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F2D453B-68D4-FF21-2449-0EF66E63F00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928869" y="2188662"/>
            <a:ext cx="2984509" cy="2439560"/>
          </a:xfrm>
          <a:prstGeom prst="rect">
            <a:avLst/>
          </a:prstGeom>
        </p:spPr>
      </p:pic>
      <p:sp>
        <p:nvSpPr>
          <p:cNvPr id="25" name="Desc HA dimero">
            <a:extLst>
              <a:ext uri="{FF2B5EF4-FFF2-40B4-BE49-F238E27FC236}">
                <a16:creationId xmlns:a16="http://schemas.microsoft.com/office/drawing/2014/main" id="{CC103478-1A2D-592F-5BDD-F418F8581675}"/>
              </a:ext>
            </a:extLst>
          </p:cNvPr>
          <p:cNvSpPr txBox="1"/>
          <p:nvPr/>
        </p:nvSpPr>
        <p:spPr>
          <a:xfrm>
            <a:off x="6381486" y="2223806"/>
            <a:ext cx="1974697" cy="9035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VQE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ottimizzati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senza 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circuito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rumoroso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poi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quelli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ottimizzati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circuito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rumoroso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passati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 Trotter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rumoroso</a:t>
            </a:r>
            <a:endParaRPr lang="en-US" sz="1200" dirty="0"/>
          </a:p>
        </p:txBody>
      </p:sp>
      <p:sp>
        <p:nvSpPr>
          <p:cNvPr id="43" name="Desc HA dimero">
            <a:extLst>
              <a:ext uri="{FF2B5EF4-FFF2-40B4-BE49-F238E27FC236}">
                <a16:creationId xmlns:a16="http://schemas.microsoft.com/office/drawing/2014/main" id="{15DD6FB7-9B2D-3B59-A430-6431E4611D36}"/>
              </a:ext>
            </a:extLst>
          </p:cNvPr>
          <p:cNvSpPr txBox="1"/>
          <p:nvPr/>
        </p:nvSpPr>
        <p:spPr>
          <a:xfrm>
            <a:off x="4008579" y="3185453"/>
            <a:ext cx="825934" cy="382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Dimero</a:t>
            </a:r>
            <a:endParaRPr lang="en-US" sz="1200" dirty="0"/>
          </a:p>
        </p:txBody>
      </p:sp>
      <p:sp>
        <p:nvSpPr>
          <p:cNvPr id="45" name="Desc HA dimero">
            <a:extLst>
              <a:ext uri="{FF2B5EF4-FFF2-40B4-BE49-F238E27FC236}">
                <a16:creationId xmlns:a16="http://schemas.microsoft.com/office/drawing/2014/main" id="{D103FC39-DA99-5F93-68A4-A6E8688D90C2}"/>
              </a:ext>
            </a:extLst>
          </p:cNvPr>
          <p:cNvSpPr txBox="1"/>
          <p:nvPr/>
        </p:nvSpPr>
        <p:spPr>
          <a:xfrm>
            <a:off x="4008579" y="5408232"/>
            <a:ext cx="711922" cy="382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Trimero</a:t>
            </a:r>
            <a:endParaRPr lang="en-US" sz="1200" dirty="0"/>
          </a:p>
        </p:txBody>
      </p:sp>
      <p:sp>
        <p:nvSpPr>
          <p:cNvPr id="47" name="Desc HA dimero">
            <a:extLst>
              <a:ext uri="{FF2B5EF4-FFF2-40B4-BE49-F238E27FC236}">
                <a16:creationId xmlns:a16="http://schemas.microsoft.com/office/drawing/2014/main" id="{88FC02DC-F79A-C344-488E-3EC716C654DF}"/>
              </a:ext>
            </a:extLst>
          </p:cNvPr>
          <p:cNvSpPr txBox="1"/>
          <p:nvPr/>
        </p:nvSpPr>
        <p:spPr>
          <a:xfrm>
            <a:off x="1862564" y="2138945"/>
            <a:ext cx="1974842" cy="764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Fidelity di Trotter - solo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rumore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gate (1q+2q) -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readout: è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fedeltà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non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misura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via ancilla…</a:t>
            </a:r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Desc HA dimero">
                <a:extLst>
                  <a:ext uri="{FF2B5EF4-FFF2-40B4-BE49-F238E27FC236}">
                    <a16:creationId xmlns:a16="http://schemas.microsoft.com/office/drawing/2014/main" id="{9956ACE5-EDDB-562E-73B3-7C0C3C3F5F1D}"/>
                  </a:ext>
                </a:extLst>
              </p:cNvPr>
              <p:cNvSpPr txBox="1"/>
              <p:nvPr/>
            </p:nvSpPr>
            <p:spPr>
              <a:xfrm>
                <a:off x="1857441" y="4835163"/>
                <a:ext cx="2097305" cy="76445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20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… Il </a:t>
                </a:r>
                <a:r>
                  <a:rPr lang="en-US" sz="1200" i="1" dirty="0" err="1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compromesso</a:t>
                </a:r>
                <a:r>
                  <a:rPr lang="en-US" sz="120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1200" i="1" dirty="0" err="1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fra</a:t>
                </a:r>
                <a:r>
                  <a:rPr lang="en-US" sz="120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1200" i="1" dirty="0" err="1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errore</a:t>
                </a:r>
                <a:r>
                  <a:rPr lang="en-US" sz="120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di Trotter e </a:t>
                </a:r>
                <a:r>
                  <a:rPr lang="en-US" sz="1200" i="1" dirty="0" err="1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rumore</a:t>
                </a:r>
                <a:r>
                  <a:rPr lang="en-US" sz="120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di gate – </a:t>
                </a:r>
                <a:r>
                  <a:rPr lang="en-US" sz="1200" i="1" dirty="0" err="1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creato</a:t>
                </a:r>
                <a:r>
                  <a:rPr lang="en-US" sz="120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dal </a:t>
                </a:r>
                <a:r>
                  <a:rPr lang="en-US" sz="1200" i="1" dirty="0" err="1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rumore</a:t>
                </a:r>
                <a:r>
                  <a:rPr lang="en-US" sz="120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: senza </a:t>
                </a:r>
                <a:r>
                  <a:rPr lang="en-US" sz="1200" i="1" dirty="0" err="1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rumore</a:t>
                </a:r>
                <a:r>
                  <a:rPr lang="en-US" sz="120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, </a:t>
                </a:r>
                <a:r>
                  <a:rPr lang="en-US" sz="1200" i="1" dirty="0" err="1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l’ottimo</a:t>
                </a:r>
                <a:r>
                  <a:rPr lang="en-US" sz="120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1200" i="1" dirty="0" err="1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sarebbe</a:t>
                </a:r>
                <a:r>
                  <a:rPr lang="en-US" sz="120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20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endParaRPr lang="en-US" sz="1200" dirty="0"/>
              </a:p>
            </p:txBody>
          </p:sp>
        </mc:Choice>
        <mc:Fallback xmlns="">
          <p:sp>
            <p:nvSpPr>
              <p:cNvPr id="57" name="Desc HA dimero">
                <a:extLst>
                  <a:ext uri="{FF2B5EF4-FFF2-40B4-BE49-F238E27FC236}">
                    <a16:creationId xmlns:a16="http://schemas.microsoft.com/office/drawing/2014/main" id="{9956ACE5-EDDB-562E-73B3-7C0C3C3F5F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7441" y="4835163"/>
                <a:ext cx="2097305" cy="764455"/>
              </a:xfrm>
              <a:prstGeom prst="rect">
                <a:avLst/>
              </a:prstGeom>
              <a:blipFill>
                <a:blip r:embed="rId6"/>
                <a:stretch>
                  <a:fillRect l="-4651" t="-3968" r="-872" b="-9524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5" name="Picture 64" descr="The graph shows a curve with a peak around 0.8, decreasing towards 0.5, and it includes two lines representing different noise-aware Trotter approximations.&#10;&#10;AI-generated content may be incorrect.">
            <a:extLst>
              <a:ext uri="{FF2B5EF4-FFF2-40B4-BE49-F238E27FC236}">
                <a16:creationId xmlns:a16="http://schemas.microsoft.com/office/drawing/2014/main" id="{80B94AAF-EFDF-2ECE-71F3-DA86EC756E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7759" y="4628222"/>
            <a:ext cx="2867453" cy="2199138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BBAFE481-EBFF-7158-1003-E9BBF1CBDB0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554713" y="2432794"/>
            <a:ext cx="2984509" cy="3059805"/>
          </a:xfrm>
          <a:prstGeom prst="rect">
            <a:avLst/>
          </a:prstGeom>
        </p:spPr>
      </p:pic>
      <p:sp>
        <p:nvSpPr>
          <p:cNvPr id="77" name="Desc HA dimero">
            <a:extLst>
              <a:ext uri="{FF2B5EF4-FFF2-40B4-BE49-F238E27FC236}">
                <a16:creationId xmlns:a16="http://schemas.microsoft.com/office/drawing/2014/main" id="{75D2E58B-2D6C-09C7-3AC8-FD069B387AF8}"/>
              </a:ext>
            </a:extLst>
          </p:cNvPr>
          <p:cNvSpPr txBox="1"/>
          <p:nvPr/>
        </p:nvSpPr>
        <p:spPr>
          <a:xfrm>
            <a:off x="8808225" y="5599618"/>
            <a:ext cx="2730997" cy="949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Ansatz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canonico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VQE,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stessa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calibrazione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rumore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la Maggiore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profondità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(6 CNOT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2)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dà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degradazione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fidelity quasi doppia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Conclusioni</a:t>
            </a:r>
            <a:endParaRPr lang="en-US" sz="3800" dirty="0"/>
          </a:p>
        </p:txBody>
      </p:sp>
      <p:sp>
        <p:nvSpPr>
          <p:cNvPr id="11" name="Shape 9"/>
          <p:cNvSpPr/>
          <p:nvPr/>
        </p:nvSpPr>
        <p:spPr>
          <a:xfrm>
            <a:off x="685800" y="1691132"/>
            <a:ext cx="10865814" cy="3623215"/>
          </a:xfrm>
          <a:prstGeom prst="roundRect">
            <a:avLst>
              <a:gd name="adj" fmla="val 3922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3" name="Text 11"/>
          <p:cNvSpPr txBox="1"/>
          <p:nvPr/>
        </p:nvSpPr>
        <p:spPr>
          <a:xfrm>
            <a:off x="1371597" y="1999234"/>
            <a:ext cx="9436397" cy="642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FontTx/>
              <a:buChar char="■"/>
            </a:pPr>
            <a:r>
              <a:rPr lang="en-US" dirty="0"/>
              <a:t>Ho </a:t>
            </a:r>
            <a:r>
              <a:rPr lang="en-US" dirty="0" err="1"/>
              <a:t>studiato</a:t>
            </a:r>
            <a:r>
              <a:rPr lang="en-US" dirty="0"/>
              <a:t> </a:t>
            </a:r>
            <a:r>
              <a:rPr lang="en-US" dirty="0" err="1"/>
              <a:t>sistemi</a:t>
            </a:r>
            <a:r>
              <a:rPr lang="en-US" dirty="0"/>
              <a:t> </a:t>
            </a:r>
            <a:r>
              <a:rPr lang="en-US" dirty="0" err="1"/>
              <a:t>modello</a:t>
            </a:r>
            <a:r>
              <a:rPr lang="en-US" dirty="0"/>
              <a:t> di spin </a:t>
            </a:r>
            <a:r>
              <a:rPr lang="en-US" dirty="0" err="1"/>
              <a:t>interagenti</a:t>
            </a:r>
            <a:r>
              <a:rPr lang="en-US" dirty="0"/>
              <a:t> come test di </a:t>
            </a:r>
            <a:r>
              <a:rPr lang="en-US" dirty="0" err="1"/>
              <a:t>algoritmi</a:t>
            </a:r>
            <a:r>
              <a:rPr lang="en-US" dirty="0"/>
              <a:t> di </a:t>
            </a:r>
            <a:r>
              <a:rPr lang="en-US" dirty="0" err="1"/>
              <a:t>simulazione</a:t>
            </a:r>
            <a:r>
              <a:rPr lang="en-US" dirty="0"/>
              <a:t> </a:t>
            </a:r>
            <a:r>
              <a:rPr lang="en-US" dirty="0" err="1"/>
              <a:t>quantistica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hardware.</a:t>
            </a:r>
          </a:p>
          <a:p>
            <a:pPr marL="203200" indent="-203200">
              <a:buSzPct val="100000"/>
              <a:buChar char="■"/>
            </a:pPr>
            <a:endParaRPr lang="en-US" dirty="0"/>
          </a:p>
        </p:txBody>
      </p:sp>
      <p:sp>
        <p:nvSpPr>
          <p:cNvPr id="14" name="Text 12"/>
          <p:cNvSpPr txBox="1"/>
          <p:nvPr/>
        </p:nvSpPr>
        <p:spPr>
          <a:xfrm>
            <a:off x="1371597" y="2889113"/>
            <a:ext cx="9436397" cy="642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■"/>
            </a:pPr>
            <a:r>
              <a:rPr lang="en-US" dirty="0"/>
              <a:t>Stato </a:t>
            </a:r>
            <a:r>
              <a:rPr lang="en-US" dirty="0" err="1"/>
              <a:t>fondamentale</a:t>
            </a:r>
            <a:r>
              <a:rPr lang="en-US" dirty="0"/>
              <a:t> </a:t>
            </a:r>
            <a:r>
              <a:rPr lang="en-US" dirty="0" err="1"/>
              <a:t>determinato</a:t>
            </a:r>
            <a:r>
              <a:rPr lang="en-US" dirty="0"/>
              <a:t> con </a:t>
            </a:r>
            <a:r>
              <a:rPr lang="en-US" dirty="0" err="1"/>
              <a:t>algoritmo</a:t>
            </a:r>
            <a:r>
              <a:rPr lang="en-US" dirty="0"/>
              <a:t> </a:t>
            </a:r>
            <a:r>
              <a:rPr lang="en-US" dirty="0" err="1"/>
              <a:t>ibrido</a:t>
            </a:r>
            <a:r>
              <a:rPr lang="en-US" dirty="0"/>
              <a:t> (VQE),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combina</a:t>
            </a:r>
            <a:r>
              <a:rPr lang="en-US" dirty="0"/>
              <a:t> hardware classico e </a:t>
            </a:r>
            <a:r>
              <a:rPr lang="en-US" dirty="0" err="1"/>
              <a:t>quantistico</a:t>
            </a:r>
            <a:r>
              <a:rPr lang="en-US" dirty="0"/>
              <a:t>.</a:t>
            </a:r>
          </a:p>
        </p:txBody>
      </p:sp>
      <p:sp>
        <p:nvSpPr>
          <p:cNvPr id="15" name="Text 13"/>
          <p:cNvSpPr txBox="1"/>
          <p:nvPr/>
        </p:nvSpPr>
        <p:spPr>
          <a:xfrm>
            <a:off x="1371595" y="3726511"/>
            <a:ext cx="9436397" cy="812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■"/>
            </a:pPr>
            <a:r>
              <a:rPr lang="en-US" dirty="0"/>
              <a:t>La performance cambia con </a:t>
            </a:r>
            <a:r>
              <a:rPr lang="en-US" dirty="0" err="1"/>
              <a:t>rumore</a:t>
            </a:r>
            <a:r>
              <a:rPr lang="en-US" dirty="0"/>
              <a:t> </a:t>
            </a:r>
            <a:r>
              <a:rPr lang="en-US" dirty="0" err="1"/>
              <a:t>realistico</a:t>
            </a:r>
            <a:r>
              <a:rPr lang="en-US" dirty="0"/>
              <a:t> </a:t>
            </a:r>
            <a:r>
              <a:rPr lang="en-US" dirty="0" err="1"/>
              <a:t>dell’hardware</a:t>
            </a:r>
            <a:r>
              <a:rPr lang="en-US" dirty="0"/>
              <a:t>. </a:t>
            </a:r>
            <a:r>
              <a:rPr lang="en-US" dirty="0" err="1"/>
              <a:t>L’ottimizzazione</a:t>
            </a:r>
            <a:r>
              <a:rPr lang="en-US" dirty="0"/>
              <a:t> VQE </a:t>
            </a:r>
            <a:r>
              <a:rPr lang="en-US" dirty="0" err="1"/>
              <a:t>dipende</a:t>
            </a:r>
            <a:r>
              <a:rPr lang="en-US" dirty="0"/>
              <a:t> dal </a:t>
            </a:r>
            <a:r>
              <a:rPr lang="en-US" dirty="0" err="1"/>
              <a:t>rumore</a:t>
            </a:r>
            <a:r>
              <a:rPr lang="en-US" dirty="0"/>
              <a:t>: </a:t>
            </a:r>
            <a:r>
              <a:rPr lang="en-US" dirty="0" err="1"/>
              <a:t>sfruttare</a:t>
            </a:r>
            <a:r>
              <a:rPr lang="en-US" dirty="0"/>
              <a:t> le </a:t>
            </a:r>
            <a:r>
              <a:rPr lang="en-US" dirty="0" err="1"/>
              <a:t>simmetrie</a:t>
            </a:r>
            <a:r>
              <a:rPr lang="en-US" dirty="0"/>
              <a:t> del </a:t>
            </a:r>
            <a:r>
              <a:rPr lang="en-US" dirty="0" err="1"/>
              <a:t>sistema</a:t>
            </a:r>
            <a:r>
              <a:rPr lang="en-US" dirty="0"/>
              <a:t> (</a:t>
            </a:r>
            <a:r>
              <a:rPr lang="en-US" dirty="0" err="1"/>
              <a:t>invece</a:t>
            </a:r>
            <a:r>
              <a:rPr lang="en-US" dirty="0"/>
              <a:t> di un ansatz </a:t>
            </a:r>
            <a:r>
              <a:rPr lang="en-US" dirty="0" err="1"/>
              <a:t>generico</a:t>
            </a:r>
            <a:r>
              <a:rPr lang="en-US" dirty="0"/>
              <a:t>) reduce I gate e </a:t>
            </a:r>
            <a:r>
              <a:rPr lang="en-US" dirty="0" err="1"/>
              <a:t>quindi</a:t>
            </a:r>
            <a:r>
              <a:rPr lang="en-US" dirty="0"/>
              <a:t> </a:t>
            </a:r>
            <a:r>
              <a:rPr lang="en-US" dirty="0" err="1"/>
              <a:t>l’errore</a:t>
            </a:r>
            <a:r>
              <a:rPr lang="en-US" dirty="0"/>
              <a:t>.</a:t>
            </a:r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F17DFE82-D9B5-4D7B-7A30-8F854853FC99}"/>
              </a:ext>
            </a:extLst>
          </p:cNvPr>
          <p:cNvSpPr txBox="1"/>
          <p:nvPr/>
        </p:nvSpPr>
        <p:spPr>
          <a:xfrm>
            <a:off x="1371594" y="4786574"/>
            <a:ext cx="9436397" cy="455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■"/>
            </a:pPr>
            <a:r>
              <a:rPr lang="en-US" dirty="0" err="1"/>
              <a:t>Gli</a:t>
            </a:r>
            <a:r>
              <a:rPr lang="en-US" dirty="0"/>
              <a:t> </a:t>
            </a:r>
            <a:r>
              <a:rPr lang="en-US" dirty="0" err="1"/>
              <a:t>stessi</a:t>
            </a:r>
            <a:r>
              <a:rPr lang="en-US" dirty="0"/>
              <a:t> </a:t>
            </a:r>
            <a:r>
              <a:rPr lang="en-US" dirty="0" err="1"/>
              <a:t>principi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estendono</a:t>
            </a:r>
            <a:r>
              <a:rPr lang="en-US" dirty="0"/>
              <a:t> a </a:t>
            </a:r>
            <a:r>
              <a:rPr lang="en-US" dirty="0" err="1"/>
              <a:t>sistemi</a:t>
            </a:r>
            <a:r>
              <a:rPr lang="en-US" dirty="0"/>
              <a:t> </a:t>
            </a:r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grandi</a:t>
            </a:r>
            <a:r>
              <a:rPr lang="en-US" dirty="0"/>
              <a:t>. </a:t>
            </a:r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C8244BA8-E1F1-EEBE-F97B-4B3F70AA9757}"/>
              </a:ext>
            </a:extLst>
          </p:cNvPr>
          <p:cNvSpPr/>
          <p:nvPr/>
        </p:nvSpPr>
        <p:spPr>
          <a:xfrm>
            <a:off x="640079" y="5702879"/>
            <a:ext cx="10911535" cy="883778"/>
          </a:xfrm>
          <a:prstGeom prst="roundRect">
            <a:avLst>
              <a:gd name="adj" fmla="val 6667"/>
            </a:avLst>
          </a:prstGeom>
          <a:solidFill>
            <a:srgbClr val="173A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E865BA36-11F4-BF6A-347C-E4BCAAC40B46}"/>
              </a:ext>
            </a:extLst>
          </p:cNvPr>
          <p:cNvSpPr txBox="1"/>
          <p:nvPr/>
        </p:nvSpPr>
        <p:spPr>
          <a:xfrm>
            <a:off x="1005839" y="5608943"/>
            <a:ext cx="10180015" cy="97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Stesso </a:t>
            </a:r>
            <a:r>
              <a:rPr lang="en-US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approccio</a:t>
            </a: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</a:t>
            </a:r>
            <a:r>
              <a:rPr lang="en-US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entrambe</a:t>
            </a: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sistemi</a:t>
            </a: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l’ansatz</a:t>
            </a: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costruito</a:t>
            </a: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sulla</a:t>
            </a: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fisica</a:t>
            </a: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simmetrie</a:t>
            </a: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il </a:t>
            </a:r>
            <a:r>
              <a:rPr lang="en-US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correlatore</a:t>
            </a: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ottenuto</a:t>
            </a: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VQE e Trotter </a:t>
            </a:r>
            <a:r>
              <a:rPr lang="en-US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insieme</a:t>
            </a: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il </a:t>
            </a:r>
            <a:r>
              <a:rPr lang="en-US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rumore</a:t>
            </a: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calibrato</a:t>
            </a: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</a:t>
            </a:r>
            <a:r>
              <a:rPr lang="en-US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hardware </a:t>
            </a:r>
            <a:r>
              <a:rPr lang="en-US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reale</a:t>
            </a:r>
            <a:r>
              <a:rPr lang="en-US" i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1578</TotalTime>
  <Words>1579</Words>
  <Application>Microsoft Office PowerPoint</Application>
  <PresentationFormat>Widescreen</PresentationFormat>
  <Paragraphs>181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 Math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simulation of molecular spin systems on quantum hardware</dc:title>
  <dc:subject>PptxGenJS Presentation</dc:subject>
  <dc:creator>Samuele Schiavi</dc:creator>
  <cp:lastModifiedBy>Samuele SCHIAVI</cp:lastModifiedBy>
  <cp:revision>103</cp:revision>
  <cp:lastPrinted>2026-09-18T20:02:30Z</cp:lastPrinted>
  <dcterms:created xsi:type="dcterms:W3CDTF">2026-09-14T09:54:52Z</dcterms:created>
  <dcterms:modified xsi:type="dcterms:W3CDTF">2026-09-18T20:46:44Z</dcterms:modified>
</cp:coreProperties>
</file>