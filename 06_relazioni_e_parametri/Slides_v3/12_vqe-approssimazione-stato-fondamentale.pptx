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80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10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930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12" name="VQE - Ansatz">
            <a:extLst>
              <a:ext uri="{FF2B5EF4-FFF2-40B4-BE49-F238E27FC236}">
                <a16:creationId xmlns:a16="http://schemas.microsoft.com/office/drawing/2014/main" id="{5F79BB14-D1EB-7791-7349-0B3851189112}"/>
              </a:ext>
            </a:extLst>
          </p:cNvPr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Statica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A09C46F-1D81-6637-ED9D-5535D92130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2411" y="2148840"/>
            <a:ext cx="4507586" cy="3393948"/>
          </a:xfrm>
          <a:prstGeom prst="rect">
            <a:avLst/>
          </a:prstGeom>
        </p:spPr>
      </p:pic>
      <p:sp>
        <p:nvSpPr>
          <p:cNvPr id="20" name="Shape 2">
            <a:extLst>
              <a:ext uri="{FF2B5EF4-FFF2-40B4-BE49-F238E27FC236}">
                <a16:creationId xmlns:a16="http://schemas.microsoft.com/office/drawing/2014/main" id="{F4718F5B-C55B-64DF-D81B-F8C8C54FCCF3}"/>
              </a:ext>
            </a:extLst>
          </p:cNvPr>
          <p:cNvSpPr/>
          <p:nvPr/>
        </p:nvSpPr>
        <p:spPr>
          <a:xfrm>
            <a:off x="652779" y="1490472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Primitive a due qubit">
            <a:extLst>
              <a:ext uri="{FF2B5EF4-FFF2-40B4-BE49-F238E27FC236}">
                <a16:creationId xmlns:a16="http://schemas.microsoft.com/office/drawing/2014/main" id="{F1723D25-7A93-CFC7-BD25-4E48F41785D7}"/>
              </a:ext>
            </a:extLst>
          </p:cNvPr>
          <p:cNvSpPr txBox="1"/>
          <p:nvPr/>
        </p:nvSpPr>
        <p:spPr>
          <a:xfrm>
            <a:off x="652778" y="1490472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di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approssimazione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VQE e gap</a:t>
            </a:r>
            <a:endParaRPr lang="en-US" sz="2100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B885715-53D8-A5AD-AE37-C85FD523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700337" y="2148840"/>
            <a:ext cx="4370992" cy="3393946"/>
          </a:xfrm>
          <a:prstGeom prst="rect">
            <a:avLst/>
          </a:prstGeom>
        </p:spPr>
      </p:pic>
      <p:graphicFrame>
        <p:nvGraphicFramePr>
          <p:cNvPr id="28" name="Table 0">
            <a:extLst>
              <a:ext uri="{FF2B5EF4-FFF2-40B4-BE49-F238E27FC236}">
                <a16:creationId xmlns:a16="http://schemas.microsoft.com/office/drawing/2014/main" id="{7C30B9A2-D73B-A487-8EDD-4C2653116ECD}"/>
              </a:ext>
            </a:extLst>
          </p:cNvPr>
          <p:cNvGraphicFramePr>
            <a:graphicFrameLocks noGrp="1"/>
          </p:cNvGraphicFramePr>
          <p:nvPr/>
        </p:nvGraphicFramePr>
        <p:xfrm>
          <a:off x="6126481" y="5542788"/>
          <a:ext cx="5437829" cy="1203960"/>
        </p:xfrm>
        <a:graphic>
          <a:graphicData uri="http://schemas.openxmlformats.org/drawingml/2006/table">
            <a:tbl>
              <a:tblPr/>
              <a:tblGrid>
                <a:gridCol w="592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3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4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56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S₁₂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(b=0)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(J=1,J'=0.4)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+ 2J'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+3/2, +1/2, −1/2, −3/2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− 4J'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+1/2, −1/2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+1/2, −1/2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2" name="Table 0">
            <a:extLst>
              <a:ext uri="{FF2B5EF4-FFF2-40B4-BE49-F238E27FC236}">
                <a16:creationId xmlns:a16="http://schemas.microsoft.com/office/drawing/2014/main" id="{3A297860-CA20-BB7D-CC53-DBD5D8A49B2F}"/>
              </a:ext>
            </a:extLst>
          </p:cNvPr>
          <p:cNvGraphicFramePr>
            <a:graphicFrameLocks noGrp="1"/>
          </p:cNvGraphicFramePr>
          <p:nvPr/>
        </p:nvGraphicFramePr>
        <p:xfrm>
          <a:off x="498764" y="5542788"/>
          <a:ext cx="4381243" cy="1203960"/>
        </p:xfrm>
        <a:graphic>
          <a:graphicData uri="http://schemas.openxmlformats.org/drawingml/2006/table">
            <a:tbl>
              <a:tblPr/>
              <a:tblGrid>
                <a:gridCol w="807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1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7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8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1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(J=1)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1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+ 2bM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dipende da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 0, −1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7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Singoletto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 (costante)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8CF0F13-CB84-B142-9213-F65E40667424}"/>
                  </a:ext>
                </a:extLst>
              </p:cNvPr>
              <p:cNvSpPr txBox="1"/>
              <p:nvPr/>
            </p:nvSpPr>
            <p:spPr>
              <a:xfrm>
                <a:off x="4962700" y="2577353"/>
                <a:ext cx="1596637" cy="2462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 err="1"/>
                  <a:t>Attivando</a:t>
                </a:r>
                <a:r>
                  <a:rPr lang="en-US" sz="1100" dirty="0"/>
                  <a:t> il </a:t>
                </a:r>
                <a:r>
                  <a:rPr lang="en-US" sz="1100" dirty="0" err="1"/>
                  <a:t>termine</a:t>
                </a:r>
                <a:r>
                  <a:rPr lang="en-US" sz="1100" dirty="0"/>
                  <a:t> DM, il punto in cui </a:t>
                </a:r>
                <a:r>
                  <a:rPr lang="en-US" sz="1100" dirty="0" err="1"/>
                  <a:t>i</a:t>
                </a:r>
                <a:r>
                  <a:rPr lang="en-US" sz="1100" dirty="0"/>
                  <a:t> due </a:t>
                </a:r>
                <a:r>
                  <a:rPr lang="en-US" sz="1100" dirty="0" err="1"/>
                  <a:t>livelli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restano</a:t>
                </a:r>
                <a:r>
                  <a:rPr lang="en-US" sz="1100" dirty="0"/>
                  <a:t> </a:t>
                </a:r>
                <a:r>
                  <a:rPr lang="en-US" sz="1100" dirty="0" err="1"/>
                  <a:t>più</a:t>
                </a:r>
                <a:r>
                  <a:rPr lang="en-US" sz="1100" dirty="0"/>
                  <a:t> </a:t>
                </a:r>
                <a:r>
                  <a:rPr lang="en-US" sz="1100" dirty="0" err="1"/>
                  <a:t>vicini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fra</a:t>
                </a:r>
                <a:r>
                  <a:rPr lang="en-US" sz="1100" dirty="0"/>
                  <a:t> loro non coincide </a:t>
                </a:r>
                <a:r>
                  <a:rPr lang="en-US" sz="1100" dirty="0" err="1"/>
                  <a:t>esattamente</a:t>
                </a:r>
                <a:r>
                  <a:rPr lang="en-US" sz="1100" dirty="0"/>
                  <a:t> con il punto in cui </a:t>
                </a:r>
                <a:r>
                  <a:rPr lang="en-US" sz="1100" dirty="0" err="1"/>
                  <a:t>si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incrociavano</a:t>
                </a:r>
                <a:r>
                  <a:rPr lang="en-US" sz="1100" dirty="0"/>
                  <a:t> prima </a:t>
                </a:r>
                <a:r>
                  <a:rPr lang="en-US" sz="1100" dirty="0" err="1"/>
                  <a:t>che</a:t>
                </a:r>
                <a:r>
                  <a:rPr lang="en-US" sz="1100" dirty="0"/>
                  <a:t> il </a:t>
                </a:r>
                <a:r>
                  <a:rPr lang="en-US" sz="1100" dirty="0" err="1"/>
                  <a:t>termine</a:t>
                </a:r>
                <a:r>
                  <a:rPr lang="en-US" sz="1100" dirty="0"/>
                  <a:t> DM fosse </a:t>
                </a:r>
                <a:r>
                  <a:rPr lang="en-US" sz="1100" dirty="0" err="1"/>
                  <a:t>acceso</a:t>
                </a:r>
                <a:r>
                  <a:rPr lang="en-US" sz="1100" dirty="0"/>
                  <a:t> - </a:t>
                </a:r>
                <a:r>
                  <a:rPr lang="en-US" sz="1100" dirty="0" err="1"/>
                  <a:t>si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sposta</a:t>
                </a:r>
                <a:r>
                  <a:rPr lang="en-US" sz="1100" dirty="0"/>
                  <a:t> </a:t>
                </a:r>
                <a:r>
                  <a:rPr lang="en-US" sz="1100" dirty="0" err="1"/>
                  <a:t>leggermente</a:t>
                </a:r>
                <a:r>
                  <a:rPr lang="en-US" sz="1100" dirty="0"/>
                  <a:t>, in </a:t>
                </a:r>
                <a:r>
                  <a:rPr lang="en-US" sz="1100" dirty="0" err="1"/>
                  <a:t>entrambi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sistemi</a:t>
                </a:r>
                <a:r>
                  <a:rPr lang="en-US" sz="1100" dirty="0"/>
                  <a:t> (</a:t>
                </a:r>
                <a:r>
                  <a:rPr lang="en-US" sz="1100" dirty="0" err="1"/>
                  <a:t>dimero</a:t>
                </a:r>
                <a:r>
                  <a:rPr lang="en-US" sz="1100" dirty="0"/>
                  <a:t>: da </a:t>
                </a:r>
                <a14:m>
                  <m:oMath xmlns:m="http://schemas.openxmlformats.org/officeDocument/2006/math">
                    <m:r>
                      <a:rPr lang="en-US" sz="11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1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2 a </a:t>
                </a:r>
                <a14:m>
                  <m:oMath xmlns:m="http://schemas.openxmlformats.org/officeDocument/2006/math">
                    <m:r>
                      <a:rPr lang="en-US" sz="1100">
                        <a:latin typeface="Cambria Math" panose="02040503050406030204" pitchFamily="18" charset="0"/>
                      </a:rPr>
                      <m:t>2.07</m:t>
                    </m:r>
                  </m:oMath>
                </a14:m>
                <a:r>
                  <a:rPr lang="en-US" sz="1100" dirty="0"/>
                  <a:t>; </a:t>
                </a:r>
                <a:r>
                  <a:rPr lang="en-US" sz="1100" dirty="0" err="1"/>
                  <a:t>trimero</a:t>
                </a:r>
                <a:r>
                  <a:rPr lang="en-US" sz="1100" dirty="0"/>
                  <a:t>: da</a:t>
                </a:r>
                <a14:m>
                  <m:oMath xmlns:m="http://schemas.openxmlformats.org/officeDocument/2006/math">
                    <m:r>
                      <a:rPr lang="en-US" sz="11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r>
                  <a:rPr lang="en-US" sz="1100" dirty="0"/>
                  <a:t> a </a:t>
                </a:r>
                <a14:m>
                  <m:oMath xmlns:m="http://schemas.openxmlformats.org/officeDocument/2006/math">
                    <m:r>
                      <a:rPr lang="en-US" sz="1100">
                        <a:latin typeface="Cambria Math" panose="02040503050406030204" pitchFamily="18" charset="0"/>
                      </a:rPr>
                      <m:t>2.41</m:t>
                    </m:r>
                  </m:oMath>
                </a14:m>
                <a:r>
                  <a:rPr lang="en-US" sz="1100" dirty="0"/>
                  <a:t>).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8CF0F13-CB84-B142-9213-F65E40667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700" y="2577353"/>
                <a:ext cx="1596637" cy="2462213"/>
              </a:xfrm>
              <a:prstGeom prst="rect">
                <a:avLst/>
              </a:prstGeom>
              <a:blipFill>
                <a:blip r:embed="rId5"/>
                <a:stretch>
                  <a:fillRect t="-248" r="-1908" b="-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185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25</cp:revision>
  <dcterms:created xsi:type="dcterms:W3CDTF">2026-09-14T17:34:23Z</dcterms:created>
  <dcterms:modified xsi:type="dcterms:W3CDTF">2026-09-17T20:23:56Z</dcterms:modified>
</cp:coreProperties>
</file>